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[0:15] Belgium — a French-speaking country in Europe, and the country that hosts the capital of the EU. Region chosen for the assignment: Europe.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The map requirement. Belgium is the red country, surrounded by France, the Netherlands, Germany and Luxembourg, with a short North Sea coast facing Britain. Small country, but it sits exactly where Germanic and Latin Europe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[0:35] Two things to stress: Belgium is fully independent — not a French territory — and it is a monarchy that also has a prime minister. The next slides explain how that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The most important slide for understanding Belgium. Gold is Dutch-speaking Flanders, red is French-speaking Wallonia, and Brussels is the bilingual capital — a French-speaking island inside Flanders. This split runs through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 The name goes straight back to Caesar. Use the quote and the King of the Belgians detail — both are easy to remember and both make the same point about people rather than territory.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One idea: for two thousand years this land was ruled from somewhere else — Rome, Burgundy, Madrid, Vienna, Paris. Independence in 1830 is very recent. Don't read every row; make that point and gesture at Waterloo.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[0:50] Worth saying out loud: in 2020 King Philippe expressed his 'deepest regrets' for the wounds of the colonial past — the first Belgian monarch to do so. Then finish on the Menin Gate: the Last Post still sounds there every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[0:50] This answers the assignment's question directly. The four boxes across the top are the whole answer: a democracy, a monarchy, federal, parliamentary. Then point at the three levels — a country of 11.8 million with six parliaments. Compulsory voting usually gets a reaction.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Two people, two different jobs. The King reigns but does not rule — no veto. De Wever governs. The 541-day record is the line people remember: use it to explain why the language split makes forming a government so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The payoff slide. A city of 1.25 million that runs a continent: the European Commission, the Council, and NATO. And it is a French-speaking island inside Dutch-speaking Flanders, which is part of why it works as neutral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[0:35] Pick two, don't read all three. Best bets: Magritte, because everyone has seen the pipe painting, and Tintin and the Smurfs, because almost nobody knows they are Belgian. Finish with the saxophone.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[0:25] Move fast, the pictures do the work. Two facts: the praline was invented in Brussels in 1912, and Belgian beer culture is on the UNESCO heritage list. The fries-are-Belgian-not-French claim usually gets a laugh.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 Bruges is the postcard, Ghent is the one locals prefer, Antwerp is the working city. The diamond figure — over 70 % of the world's rough diamonds — is the one that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[0:25] Fastest slide in the deck — do not read the boxes. Say three things: no visa for 90 days, the trains reach everything in two hours, and which language you open with matters.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 Close here. Read the gold box out loud — that is the thesis of the whole presentation. Then stop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[0:05] Leave this up during questions. Slide timings add up to about 9 minutes 15, leaving buffer in a 10-minute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OYNT-WORK/856f02cf-0e32-5bfe-bffb-9edb29b314f9/scratchpad/deckimg/grandplace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7171B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1463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FRENCH-SPEAKING WORLD PROJECT  ·  FREN 201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745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BELGIUM</a:t>
            </a:r>
            <a:endParaRPr lang="en-US" sz="6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12724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2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Kingdom of Belgium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3977640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24242C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41422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French-speaking country in the heart of Europe —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4531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capital of the European Union.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989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______________________________     Date  ____________________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Western Europe, on the North Sea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pic>
        <p:nvPicPr>
          <p:cNvPr id="7" name="Image 0" descr="/tmp/claude-0/-home-user-BOYNT-WORK/856f02cf-0e32-5bfe-bffb-9edb29b314f9/scratchpad/deckimg/map_europe_belgium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5577840" cy="43009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589195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marked in red on the blank outline map supplied with the assignment.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693408" y="1481328"/>
            <a:ext cx="4858207" cy="2103120"/>
          </a:xfrm>
          <a:prstGeom prst="roundRect">
            <a:avLst>
              <a:gd name="adj" fmla="val 3913"/>
            </a:avLst>
          </a:prstGeom>
          <a:solidFill>
            <a:srgbClr val="F4F4F6"/>
          </a:solidFill>
          <a:ln w="12700">
            <a:solidFill>
              <a:srgbClr val="E4E4E9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967728" y="1682496"/>
            <a:ext cx="4309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NEIGHBOURS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967728" y="20482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796528" y="2048256"/>
            <a:ext cx="2480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967728" y="24140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796528" y="2414016"/>
            <a:ext cx="2480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967728" y="2779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796528" y="2779776"/>
            <a:ext cx="2480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967728" y="3145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796528" y="3145536"/>
            <a:ext cx="2480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south-east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93408" y="3767328"/>
            <a:ext cx="4858207" cy="1417320"/>
          </a:xfrm>
          <a:prstGeom prst="roundRect">
            <a:avLst>
              <a:gd name="adj" fmla="val 5806"/>
            </a:avLst>
          </a:prstGeom>
          <a:solidFill>
            <a:srgbClr val="F4F4F6"/>
          </a:solidFill>
          <a:ln w="12700">
            <a:solidFill>
              <a:srgbClr val="E4E4E9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967728" y="3950208"/>
            <a:ext cx="4309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967728" y="4261104"/>
            <a:ext cx="43095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coast and farmland in the north. Rolling plateaus in the middle, where Brussels sits. Forested Ardennes hills in the south.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693408" y="5340096"/>
            <a:ext cx="4858207" cy="731520"/>
          </a:xfrm>
          <a:prstGeom prst="roundRect">
            <a:avLst>
              <a:gd name="adj" fmla="val 11250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967728" y="5522976"/>
            <a:ext cx="43095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30,689 km² — about the size of Maryland.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Belgium at a glance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2522144" cy="1234440"/>
          </a:xfrm>
          <a:prstGeom prst="roundRect">
            <a:avLst>
              <a:gd name="adj" fmla="val 666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1664208"/>
            <a:ext cx="230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 M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233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6544" y="1481328"/>
            <a:ext cx="2522144" cy="1234440"/>
          </a:xfrm>
          <a:prstGeom prst="roundRect">
            <a:avLst>
              <a:gd name="adj" fmla="val 666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46272" y="1664208"/>
            <a:ext cx="230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30,689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527984" y="2286000"/>
            <a:ext cx="233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km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3008" y="1481328"/>
            <a:ext cx="2522144" cy="1234440"/>
          </a:xfrm>
          <a:prstGeom prst="roundRect">
            <a:avLst>
              <a:gd name="adj" fmla="val 666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42736" y="1664208"/>
            <a:ext cx="230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324448" y="2286000"/>
            <a:ext cx="233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languages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29471" y="1481328"/>
            <a:ext cx="2522144" cy="1234440"/>
          </a:xfrm>
          <a:prstGeom prst="roundRect">
            <a:avLst>
              <a:gd name="adj" fmla="val 666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39199" y="1664208"/>
            <a:ext cx="230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120911" y="2286000"/>
            <a:ext cx="233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9992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name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2999232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Kingdom of Belgium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4015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3401568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Brussels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8039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3803904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since 1830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206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4206240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parliamentary constitutional monarchy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6085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State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4608576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Philippe, since 2013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010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Minister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5010912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De Wever, since 2025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4132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377440" y="5413248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Dutch, French and German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8155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2377440" y="5815584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 (€)</a:t>
            </a:r>
            <a:endParaRPr lang="en-US" sz="1300" dirty="0"/>
          </a:p>
        </p:txBody>
      </p:sp>
      <p:pic>
        <p:nvPicPr>
          <p:cNvPr id="35" name="Image 0" descr="/tmp/claude-0/-home-user-BOYNT-WORK/856f02cf-0e32-5bfe-bffb-9edb29b314f9/scratchpad/deckimg/fla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2999232"/>
            <a:ext cx="4053535" cy="173736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7498080" y="4846320"/>
            <a:ext cx="4053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tricolour of 1830 — black, yellow and red.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498080" y="5266944"/>
            <a:ext cx="4053535" cy="969264"/>
          </a:xfrm>
          <a:prstGeom prst="roundRect">
            <a:avLst>
              <a:gd name="adj" fmla="val 8491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7754112" y="5413248"/>
            <a:ext cx="35414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COUNTRY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754112" y="5669280"/>
            <a:ext cx="35414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is not a French territory. It is a sovereign state that happens to share the language.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AND LANGUAGES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country, three languages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pic>
        <p:nvPicPr>
          <p:cNvPr id="7" name="Image 0" descr="/tmp/claude-0/-home-user-BOYNT-WORK/856f02cf-0e32-5bfe-bffb-9edb29b314f9/scratchpad/deckimg/map_belgium_regions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99616"/>
            <a:ext cx="6492240" cy="42110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0" y="1481328"/>
            <a:ext cx="4099255" cy="987552"/>
          </a:xfrm>
          <a:prstGeom prst="roundRect">
            <a:avLst>
              <a:gd name="adj" fmla="val 8333"/>
            </a:avLst>
          </a:prstGeom>
          <a:solidFill>
            <a:srgbClr val="F4F4F6"/>
          </a:solidFill>
          <a:ln w="12700">
            <a:solidFill>
              <a:srgbClr val="E4E4E9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90104" y="1664208"/>
            <a:ext cx="237744" cy="237744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37576" y="1618488"/>
            <a:ext cx="32945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FLANDERS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37576" y="1901952"/>
            <a:ext cx="32945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Dutch-speaking, in the north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037576" y="2148840"/>
            <a:ext cx="32945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58 % of the population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52360" y="2615184"/>
            <a:ext cx="4099255" cy="987552"/>
          </a:xfrm>
          <a:prstGeom prst="roundRect">
            <a:avLst>
              <a:gd name="adj" fmla="val 8333"/>
            </a:avLst>
          </a:prstGeom>
          <a:solidFill>
            <a:srgbClr val="F4F4F6"/>
          </a:solidFill>
          <a:ln w="12700">
            <a:solidFill>
              <a:srgbClr val="E4E4E9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90104" y="2798064"/>
            <a:ext cx="237744" cy="23774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37576" y="2752344"/>
            <a:ext cx="32945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WALLONIA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037576" y="3035808"/>
            <a:ext cx="32945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French-speaking, in the south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037576" y="3282696"/>
            <a:ext cx="32945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32 % of the population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452360" y="3749040"/>
            <a:ext cx="4099255" cy="987552"/>
          </a:xfrm>
          <a:prstGeom prst="roundRect">
            <a:avLst>
              <a:gd name="adj" fmla="val 8333"/>
            </a:avLst>
          </a:prstGeom>
          <a:solidFill>
            <a:srgbClr val="F4F4F6"/>
          </a:solidFill>
          <a:ln w="12700">
            <a:solidFill>
              <a:srgbClr val="E4E4E9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690104" y="3931920"/>
            <a:ext cx="237744" cy="237744"/>
          </a:xfrm>
          <a:prstGeom prst="ellipse">
            <a:avLst/>
          </a:prstGeom>
          <a:solidFill>
            <a:srgbClr val="17171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37576" y="3886200"/>
            <a:ext cx="32945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BRUSSELS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037576" y="4169664"/>
            <a:ext cx="32945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Bilingual, the capital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037576" y="4416552"/>
            <a:ext cx="32945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 of the population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452360" y="4956048"/>
            <a:ext cx="4099255" cy="1005840"/>
          </a:xfrm>
          <a:prstGeom prst="roundRect">
            <a:avLst>
              <a:gd name="adj" fmla="val 8182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708392" y="5120640"/>
            <a:ext cx="358719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region has its own parliament and government. There is also a small German-speaking community of about 78,000 people in the east.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170432" y="58204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60 % of Belgians speak Dutch, 40 % speak French, and under 1 % speak German.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Belgium used to be called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BC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75688" y="1481328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Belgae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075688" y="1737360"/>
            <a:ext cx="5468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Caesar writes about the Belgae, the tribes living here. Every later name comes from theirs.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243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BC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75688" y="2596896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Gallia Belgica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075688" y="2852928"/>
            <a:ext cx="5468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 makes the territory a province and gives the name to a piece of land for the first 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39896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398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1556–1794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075688" y="3712464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Spanish, then Austrian Netherlands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075688" y="3968496"/>
            <a:ext cx="5468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 from Madrid and then from Vienna — the Catholic southern half of the Low Countries.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855464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855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075688" y="482803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Kingdom of Belgium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2075688" y="5084064"/>
            <a:ext cx="5468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name. In Dutch, Koninkrijk België; in German, Königreich Belgien.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55280" y="1481328"/>
            <a:ext cx="3596335" cy="2148840"/>
          </a:xfrm>
          <a:prstGeom prst="roundRect">
            <a:avLst>
              <a:gd name="adj" fmla="val 3830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47888" y="1810512"/>
            <a:ext cx="301111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F2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“Of all these peoples, the bravest are the Belgae.”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3054096"/>
            <a:ext cx="3011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Caesar, 57 BC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55280" y="3858768"/>
            <a:ext cx="3596335" cy="2103120"/>
          </a:xfrm>
          <a:prstGeom prst="roundRect">
            <a:avLst>
              <a:gd name="adj" fmla="val 3913"/>
            </a:avLst>
          </a:prstGeom>
          <a:solidFill>
            <a:srgbClr val="F4F4F6"/>
          </a:solidFill>
          <a:ln w="12700">
            <a:solidFill>
              <a:srgbClr val="E4E4E9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47888" y="4059936"/>
            <a:ext cx="30111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 WORTH KNOWING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4389120"/>
            <a:ext cx="30111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is King of the Belgians, not King of Belgium. The crown belongs to a people, not to a piece of land — and that wording was chosen deliberately in 1831.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PART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Ruled by everyone else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pic>
        <p:nvPicPr>
          <p:cNvPr id="7" name="Image 0" descr="/tmp/claude-0/-home-user-BOYNT-WORK/856f02cf-0e32-5bfe-bffb-9edb29b314f9/scratchpad/deckimg/waterlo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5138928"/>
            <a:ext cx="5470855" cy="1719072"/>
          </a:xfrm>
          <a:prstGeom prst="rect">
            <a:avLst/>
          </a:prstGeom>
          <a:solidFill>
            <a:srgbClr val="17171B">
              <a:alpha val="88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040880" y="5394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LION'S MOUND, WATERLOO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570585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Napoleon was defeated here on 18 June 1815, 15 km south of Brussels.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150876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15087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BC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938528" y="1481328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 conquers the Belgae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938528" y="1737360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 becomes a Roman province and stays Roman for four hundred years.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2414016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24140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c.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938528" y="2386584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Franks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938528" y="2642616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Frankish kings take over and rule from the Meuse valley — Charlemagne's family heartland.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331927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319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11th–15th c.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938528" y="329184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cloth cities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938528" y="3547872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Bruges, Ghent and Ypres grow wealthy weaving wool, and Flemish painting has its golden age.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422452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2245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1556–1794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938528" y="419709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Spanish, then Austrian rule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1938528" y="445312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Catholic south splits away from the Protestant Dutch north — the border we still have today.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5129784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51297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1795–1815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938528" y="5102352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France, then Waterloo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1938528" y="5358384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annexes the land and makes French official. Napoleon falls at Waterloo in 1815.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PART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Independence, empire and war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pic>
        <p:nvPicPr>
          <p:cNvPr id="7" name="Image 0" descr="/tmp/claude-0/-home-user-BOYNT-WORK/856f02cf-0e32-5bfe-bffb-9edb29b314f9/scratchpad/deckimg/ypres_men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5138928"/>
            <a:ext cx="5470855" cy="1719072"/>
          </a:xfrm>
          <a:prstGeom prst="rect">
            <a:avLst/>
          </a:prstGeom>
          <a:solidFill>
            <a:srgbClr val="17171B">
              <a:alpha val="88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040880" y="5394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MENIN GATE, YPRES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570585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memorial to 54,000 missing soldiers. The Last Post has sounded here every evening since 1928.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150876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15087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1830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938528" y="1481328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 and independence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938528" y="1737360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Riots in Brussels drive out the Dutch. Independence is declared on 4 October.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2414016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24140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1831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938528" y="2386584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king and a constitution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938528" y="2642616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Leopold I is sworn in on 21 July — a date that is still the national day.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331927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319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1885–1960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938528" y="329184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Congo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938528" y="3547872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Leopold II runs the Congo as a brutal private colony; Belgium takes it over in 1908. The Congo becomes independent in 1960.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422452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2245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1914–1945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938528" y="419709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Invaded twice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1938528" y="445312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breaks Belgian neutrality in 1914 and again in 1940. The Western Front settles into Flanders.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5129784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51297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1970–2014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938528" y="5102352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state reforms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1938528" y="5358384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between Dutch and French speakers turns a single unified state into today's federation.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ORGANISATION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Belgium is governed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2535860" cy="914400"/>
          </a:xfrm>
          <a:prstGeom prst="roundRect">
            <a:avLst>
              <a:gd name="adj" fmla="val 9000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645920"/>
            <a:ext cx="2261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DEMOCRACY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11680"/>
            <a:ext cx="2352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dictatorship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31972" y="1481328"/>
            <a:ext cx="2535860" cy="914400"/>
          </a:xfrm>
          <a:prstGeom prst="roundRect">
            <a:avLst>
              <a:gd name="adj" fmla="val 9000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69132" y="1645920"/>
            <a:ext cx="2261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MONARCHY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3412" y="2011680"/>
            <a:ext cx="2352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republic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23864" y="1481328"/>
            <a:ext cx="2535860" cy="914400"/>
          </a:xfrm>
          <a:prstGeom prst="roundRect">
            <a:avLst>
              <a:gd name="adj" fmla="val 9000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61024" y="1645920"/>
            <a:ext cx="2261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15304" y="2011680"/>
            <a:ext cx="2352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central state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15755" y="1481328"/>
            <a:ext cx="2535860" cy="914400"/>
          </a:xfrm>
          <a:prstGeom prst="roundRect">
            <a:avLst>
              <a:gd name="adj" fmla="val 9000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52915" y="1645920"/>
            <a:ext cx="2261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PARLIAMENTARY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07195" y="2011680"/>
            <a:ext cx="2352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answers to parliament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670048"/>
            <a:ext cx="10911535" cy="969264"/>
          </a:xfrm>
          <a:prstGeom prst="roundRect">
            <a:avLst>
              <a:gd name="adj" fmla="val 8491"/>
            </a:avLst>
          </a:prstGeom>
          <a:solidFill>
            <a:srgbClr val="F4F4F6"/>
          </a:solidFill>
          <a:ln w="12700">
            <a:solidFill>
              <a:srgbClr val="E4E4E9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2953512"/>
            <a:ext cx="402336" cy="40233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499616" y="2816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FEDERAL GOVERNMENT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499616" y="31089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Defence, justice, police, foreign affairs, taxes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2889504"/>
            <a:ext cx="6202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Philippe as Head of State, Prime Minister Bart De Wever, and a Chamber of 150 elected members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767328"/>
            <a:ext cx="10911535" cy="969264"/>
          </a:xfrm>
          <a:prstGeom prst="roundRect">
            <a:avLst>
              <a:gd name="adj" fmla="val 8491"/>
            </a:avLst>
          </a:prstGeom>
          <a:solidFill>
            <a:srgbClr val="F4F4F6"/>
          </a:solidFill>
          <a:ln w="12700">
            <a:solidFill>
              <a:srgbClr val="E4E4E9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4050792"/>
            <a:ext cx="402336" cy="40233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499616" y="3913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REGIONS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499616" y="42062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Economy, transport, housing, environment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3986784"/>
            <a:ext cx="6202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Flanders, Wallonia and Brussels-Capital — each with its own parliament and government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864608"/>
            <a:ext cx="10911535" cy="969264"/>
          </a:xfrm>
          <a:prstGeom prst="roundRect">
            <a:avLst>
              <a:gd name="adj" fmla="val 8491"/>
            </a:avLst>
          </a:prstGeom>
          <a:solidFill>
            <a:srgbClr val="F4F4F6"/>
          </a:solidFill>
          <a:ln w="12700">
            <a:solidFill>
              <a:srgbClr val="E4E4E9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5148072"/>
            <a:ext cx="402336" cy="40233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" y="5148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499616" y="5010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COMMUNITIES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1499616" y="53035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culture and language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074920" y="5084064"/>
            <a:ext cx="6202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Flemish, French and German-speaking communities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170432" y="5888736"/>
            <a:ext cx="103811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is compulsory from age 18, and every federal government is a coalition.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leads Belgium today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pic>
        <p:nvPicPr>
          <p:cNvPr id="7" name="Image 0" descr="/tmp/claude-0/-home-user-BOYNT-WORK/856f02cf-0e32-5bfe-bffb-9edb29b314f9/scratchpad/deckimg/royalpala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5285232"/>
            <a:ext cx="5470855" cy="1572768"/>
          </a:xfrm>
          <a:prstGeom prst="rect">
            <a:avLst/>
          </a:prstGeom>
          <a:solidFill>
            <a:srgbClr val="17171B">
              <a:alpha val="88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040880" y="55229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ROYAL PALACE, BRUSSELS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58338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King's official workplace. The royal family lives at Laeken, outside the city.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1481328"/>
            <a:ext cx="5806440" cy="2084832"/>
          </a:xfrm>
          <a:prstGeom prst="roundRect">
            <a:avLst>
              <a:gd name="adj" fmla="val 3947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32688" y="1682496"/>
            <a:ext cx="5221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STATE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1975104"/>
            <a:ext cx="5221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Philippe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2596896"/>
            <a:ext cx="5221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4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seventh King of the Belgians, on the throne since 2013. His heir, Princess Elisabeth, will be Belgium's first reigning queen.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" y="3163824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signs laws but cannot veto them.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767328"/>
            <a:ext cx="5806440" cy="2084832"/>
          </a:xfrm>
          <a:prstGeom prst="roundRect">
            <a:avLst>
              <a:gd name="adj" fmla="val 3947"/>
            </a:avLst>
          </a:prstGeom>
          <a:solidFill>
            <a:srgbClr val="F4F4F6"/>
          </a:solidFill>
          <a:ln w="12700">
            <a:solidFill>
              <a:srgbClr val="E4E4E9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32688" y="3968496"/>
            <a:ext cx="5221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GOVERNMENT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32688" y="4261104"/>
            <a:ext cx="5221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Bart De Wever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" y="4882896"/>
            <a:ext cx="5221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Minister since February 2025, leading a coalition of five parties. He answers to parliament, not to the King.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" y="5449824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once went 541 days without an elected government.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Brussels — capital of Belgium and of Europe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pic>
        <p:nvPicPr>
          <p:cNvPr id="7" name="Image 0" descr="/tmp/claude-0/-home-user-BOYNT-WORK/856f02cf-0e32-5bfe-bffb-9edb29b314f9/scratchpad/deckimg/brussels_aeri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81328"/>
            <a:ext cx="4160520" cy="2889504"/>
          </a:xfrm>
          <a:prstGeom prst="rect">
            <a:avLst/>
          </a:prstGeom>
        </p:spPr>
      </p:pic>
      <p:pic>
        <p:nvPicPr>
          <p:cNvPr id="8" name="Image 1" descr="/tmp/claude-0/-home-user-BOYNT-WORK/856f02cf-0e32-5bfe-bffb-9edb29b314f9/scratchpad/deckimg/berlaymon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0056" y="1481328"/>
            <a:ext cx="2340864" cy="28895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446227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Brussels, with the Atomium on the horizon. Right: the Berlaymont, home of the European Commission.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452360" y="1481328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million people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452360" y="1755648"/>
            <a:ext cx="40992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Brussels-Capital Region; about 2.1 million in the wider area.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414016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Officially bilingual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2688336"/>
            <a:ext cx="40992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and Dutch are equal, but about 80 % of residents speak French.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3346704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of the EU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452360" y="3621024"/>
            <a:ext cx="40992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to the European Commission and the Council of the EU.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452360" y="4279392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headquarters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452360" y="4553712"/>
            <a:ext cx="40992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1967. Belgium was a founding member of NATO in 1949.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5102352"/>
            <a:ext cx="10911535" cy="932688"/>
          </a:xfrm>
          <a:prstGeom prst="roundRect">
            <a:avLst>
              <a:gd name="adj" fmla="val 8824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932688" y="5230368"/>
            <a:ext cx="10326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IN BRUSSELS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932688" y="5486400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Grand-Place, a UNESCO World Heritage site  ·  Manneken Pis  ·  the Atomium  ·  the Magritte Museum  ·  the Belgian Comic Strip Center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Painting, comics and music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81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1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10512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van Eyck, Pieter Bruegel and Peter Paul Rubens all worked here. In the 20th century René Magritte made Belgian surrealism famous with the painting of a pipe labelled “this is not a pipe”.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54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1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8328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invented the modern European comic and calls it the ninth art. Tintin, the Smurfs and Lucky Luke are all Belgian. Brussels has a comic museum and a trail of painted murals.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26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1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AND FILM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956048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Adolphe Sax, born in Dinant in 1814, invented the saxophone. The Dardenne brothers have won the top prize at Cannes twice.</a:t>
            </a:r>
            <a:endParaRPr lang="en-US" sz="1250" dirty="0"/>
          </a:p>
        </p:txBody>
      </p:sp>
      <p:pic>
        <p:nvPicPr>
          <p:cNvPr id="13" name="Image 0" descr="/tmp/claude-0/-home-user-BOYNT-WORK/856f02cf-0e32-5bfe-bffb-9edb29b314f9/scratchpad/deckimg/antwerp_cathedr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1481328"/>
            <a:ext cx="3596335" cy="20574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955280" y="3621024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Cathedral of Our Lady, Antwerp — it holds four Rubens altarpieces.</a:t>
            </a:r>
            <a:endParaRPr lang="en-US" sz="950" dirty="0"/>
          </a:p>
        </p:txBody>
      </p:sp>
      <p:pic>
        <p:nvPicPr>
          <p:cNvPr id="15" name="Image 1" descr="/tmp/claude-0/-home-user-BOYNT-WORK/856f02cf-0e32-5bfe-bffb-9edb29b314f9/scratchpad/deckimg/mannekenpi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55280" y="4087368"/>
            <a:ext cx="3596335" cy="1600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955280" y="5769864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Manneken Pis, Brussels — cast in bronze in 1619.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AND DRINK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Belgium is famous for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pic>
        <p:nvPicPr>
          <p:cNvPr id="7" name="Image 0" descr="/tmp/claude-0/-home-user-BOYNT-WORK/856f02cf-0e32-5bfe-bffb-9edb29b314f9/scratchpad/deckimg/chocola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81328"/>
            <a:ext cx="2508428" cy="2057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758184"/>
            <a:ext cx="2508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087368"/>
            <a:ext cx="25084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filled praline was invented in Brussels in 1912. Belgium has hundreds of chocolate makers.</a:t>
            </a:r>
            <a:endParaRPr lang="en-US" sz="1150" dirty="0"/>
          </a:p>
        </p:txBody>
      </p:sp>
      <p:pic>
        <p:nvPicPr>
          <p:cNvPr id="10" name="Image 1" descr="/tmp/claude-0/-home-user-BOYNT-WORK/856f02cf-0e32-5bfe-bffb-9edb29b314f9/scratchpad/deckimg/waffle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41116" y="1481328"/>
            <a:ext cx="2508428" cy="2057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41116" y="3758184"/>
            <a:ext cx="2508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WAFFLES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41116" y="4087368"/>
            <a:ext cx="25084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rival kinds: the light Brussels waffle, and the dense Liège waffle made with pearl sugar.</a:t>
            </a:r>
            <a:endParaRPr lang="en-US" sz="1150" dirty="0"/>
          </a:p>
        </p:txBody>
      </p:sp>
      <p:pic>
        <p:nvPicPr>
          <p:cNvPr id="13" name="Image 2" descr="/tmp/claude-0/-home-user-BOYNT-WORK/856f02cf-0e32-5bfe-bffb-9edb29b314f9/scratchpad/deckimg/frite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42152" y="1481328"/>
            <a:ext cx="2508428" cy="2057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42152" y="3758184"/>
            <a:ext cx="2508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242152" y="4087368"/>
            <a:ext cx="25084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Belgians say they invented them. They fry them twice and serve them in a paper cone with mayonnaise.</a:t>
            </a:r>
            <a:endParaRPr lang="en-US" sz="1150" dirty="0"/>
          </a:p>
        </p:txBody>
      </p:sp>
      <p:pic>
        <p:nvPicPr>
          <p:cNvPr id="16" name="Image 3" descr="/tmp/claude-0/-home-user-BOYNT-WORK/856f02cf-0e32-5bfe-bffb-9edb29b314f9/scratchpad/deckimg/be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43187" y="1481328"/>
            <a:ext cx="2508428" cy="2057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43187" y="3758184"/>
            <a:ext cx="2508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9043187" y="4087368"/>
            <a:ext cx="25084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thousand Belgian beers. UNESCO added Belgian beer culture to its heritage list in 2016.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40080" y="5266944"/>
            <a:ext cx="10911535" cy="786384"/>
          </a:xfrm>
          <a:prstGeom prst="roundRect">
            <a:avLst>
              <a:gd name="adj" fmla="val 10465"/>
            </a:avLst>
          </a:prstGeom>
          <a:solidFill>
            <a:srgbClr val="17171B"/>
          </a:solidFill>
          <a:ln w="12700">
            <a:solidFill>
              <a:srgbClr val="17171B"/>
            </a:solidFill>
            <a:prstDash val="solid"/>
          </a:ln>
          <a:effectLst>
            <a:outerShdw sx="100000" sy="100000" kx="0" ky="0" algn="bl" rotWithShape="0" blurRad="127000" dist="25400" dir="5400000">
              <a:srgbClr val="9A9AA6">
                <a:alpha val="2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932688" y="5431536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Belgian dishes: mussels and fries, beef stewed in beer, waterzooi, and speculoos biscuits.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TO VISIT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cities worth the trip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pic>
        <p:nvPicPr>
          <p:cNvPr id="7" name="Image 0" descr="/tmp/claude-0/-home-user-BOYNT-WORK/856f02cf-0e32-5bfe-bffb-9edb29b314f9/scratchpad/deckimg/brug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81328"/>
            <a:ext cx="3381146" cy="2468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18795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535424"/>
            <a:ext cx="33811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the Venice of the North. The whole historic centre is a UNESCO World Heritage site — medieval brick houses, canals and a famous belfry.</a:t>
            </a:r>
            <a:endParaRPr lang="en-US" sz="1150" dirty="0"/>
          </a:p>
        </p:txBody>
      </p:sp>
      <p:pic>
        <p:nvPicPr>
          <p:cNvPr id="10" name="Image 1" descr="/tmp/claude-0/-home-user-BOYNT-WORK/856f02cf-0e32-5bfe-bffb-9edb29b314f9/scratchpad/deckimg/ghen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05274" y="1481328"/>
            <a:ext cx="3381146" cy="2468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05274" y="418795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GHENT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405274" y="4535424"/>
            <a:ext cx="33811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city rather than a museum. A medieval castle, guild houses along the river, and van Eyck's Ghent Altarpiece in the cathedral.</a:t>
            </a:r>
            <a:endParaRPr lang="en-US" sz="1150" dirty="0"/>
          </a:p>
        </p:txBody>
      </p:sp>
      <p:pic>
        <p:nvPicPr>
          <p:cNvPr id="13" name="Image 2" descr="/tmp/claude-0/-home-user-BOYNT-WORK/856f02cf-0e32-5bfe-bffb-9edb29b314f9/scratchpad/deckimg/antwerp_stati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0469" y="1481328"/>
            <a:ext cx="3381146" cy="2468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70469" y="418795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ANTWERP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170469" y="4535424"/>
            <a:ext cx="33811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Rubens' city and Belgium's port. Its central station is called the railway cathedral, and over 70 % of the world's rough diamonds pass through here.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1170432" y="5797296"/>
            <a:ext cx="103811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has 13 UNESCO World Heritage sites in a country the size of Maryland.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INFORMATION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visitor needs to know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17904"/>
            <a:ext cx="438912" cy="43891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17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499616"/>
            <a:ext cx="465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810512"/>
            <a:ext cx="465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euro. Cards work almost everywhere, and tipping is not expected.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8728" y="1517904"/>
            <a:ext cx="438912" cy="43891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78728" y="1517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900520" y="1499616"/>
            <a:ext cx="465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900520" y="1810512"/>
            <a:ext cx="465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is in the Schengen area. Americans can stay 90 days without a visa. Fly into Brussels.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2688336"/>
            <a:ext cx="438912" cy="43891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688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670048"/>
            <a:ext cx="465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AROUND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2980944"/>
            <a:ext cx="465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densest rail networks in the world — almost nowhere is more than two hours away.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8728" y="2688336"/>
            <a:ext cx="438912" cy="43891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2688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900520" y="2670048"/>
            <a:ext cx="465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900520" y="2980944"/>
            <a:ext cx="465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in the south and in Brussels, Dutch in the north. English is widely spoken in cities.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858768"/>
            <a:ext cx="438912" cy="43891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858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3840480"/>
            <a:ext cx="465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GO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151376"/>
            <a:ext cx="465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to September for the weather, December for the Christmas markets. Bring a raincoat.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78728" y="3858768"/>
            <a:ext cx="438912" cy="43891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78728" y="3858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900520" y="3840480"/>
            <a:ext cx="465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MISS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900520" y="4151376"/>
            <a:ext cx="465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Grand-Place at night, a canal boat in Bruges, and fries from a street stand.</a:t>
            </a:r>
            <a:endParaRPr lang="en-US" sz="1150" dirty="0"/>
          </a:p>
        </p:txBody>
      </p:sp>
      <p:pic>
        <p:nvPicPr>
          <p:cNvPr id="31" name="Image 0" descr="/tmp/claude-0/-home-user-BOYNT-WORK/856f02cf-0e32-5bfe-bffb-9edb29b314f9/scratchpad/deckimg/dina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5157216"/>
            <a:ext cx="10911535" cy="749808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170432" y="5980176"/>
            <a:ext cx="103811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Dinant, on the Meuse river — the birthplace of Adolphe Sax.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OYNT-WORK/856f02cf-0e32-5bfe-bffb-9edb29b314f9/scratchpad/deckimg/grandplace.jp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AND THE FRENCH-SPEAKING WORLD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96112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French-speaking country at the centre of Europe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3393338" cy="1920240"/>
          </a:xfrm>
          <a:prstGeom prst="roundRect">
            <a:avLst>
              <a:gd name="adj" fmla="val 4286"/>
            </a:avLst>
          </a:prstGeom>
          <a:solidFill>
            <a:srgbClr val="24242C">
              <a:alpha val="88000"/>
            </a:srgbClr>
          </a:solidFill>
          <a:ln w="12700">
            <a:solidFill>
              <a:srgbClr val="42424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2084832"/>
            <a:ext cx="2881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million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2688336"/>
            <a:ext cx="28812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Belgians speak French as their first language — about 40 % of the country, living in Wallonia and Brussels.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99178" y="1874520"/>
            <a:ext cx="3393338" cy="1920240"/>
          </a:xfrm>
          <a:prstGeom prst="roundRect">
            <a:avLst>
              <a:gd name="adj" fmla="val 4286"/>
            </a:avLst>
          </a:prstGeom>
          <a:solidFill>
            <a:srgbClr val="24242C">
              <a:alpha val="88000"/>
            </a:srgbClr>
          </a:solidFill>
          <a:ln w="12700">
            <a:solidFill>
              <a:srgbClr val="42424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55210" y="2084832"/>
            <a:ext cx="2881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seats</a:t>
            </a:r>
            <a:endParaRPr lang="en-US" sz="2500" dirty="0"/>
          </a:p>
        </p:txBody>
      </p:sp>
      <p:sp>
        <p:nvSpPr>
          <p:cNvPr id="10" name="Text 7"/>
          <p:cNvSpPr txBox="1"/>
          <p:nvPr/>
        </p:nvSpPr>
        <p:spPr>
          <a:xfrm>
            <a:off x="4655210" y="2688336"/>
            <a:ext cx="28812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helped found the international organisation of French-speaking countries, and holds two seats in it.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58277" y="1874520"/>
            <a:ext cx="3393338" cy="1920240"/>
          </a:xfrm>
          <a:prstGeom prst="roundRect">
            <a:avLst>
              <a:gd name="adj" fmla="val 4286"/>
            </a:avLst>
          </a:prstGeom>
          <a:solidFill>
            <a:srgbClr val="24242C">
              <a:alpha val="88000"/>
            </a:srgbClr>
          </a:solidFill>
          <a:ln w="12700">
            <a:solidFill>
              <a:srgbClr val="4242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4309" y="2084832"/>
            <a:ext cx="2881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French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8414309" y="2688336"/>
            <a:ext cx="28812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Belgians say septante for 70 and nonante for 90, where France says soixante-dix and quatre-vingt-dix.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069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Belgian French has its own words: un GSM for a mobile phone, une drache for a downpour, un kot for a student room.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754880"/>
            <a:ext cx="10911535" cy="1078992"/>
          </a:xfrm>
          <a:prstGeom prst="roundRect">
            <a:avLst>
              <a:gd name="adj" fmla="val 7627"/>
            </a:avLst>
          </a:prstGeom>
          <a:solidFill>
            <a:srgbClr val="E3B2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69264" y="4937760"/>
            <a:ext cx="102531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is where Germanic and Latin Europe meet. It is a small, young country that has learned to hold three languages and six parliaments together — and it houses the capital of Europe while doing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these facts come from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6163056"/>
            <a:ext cx="384048" cy="384048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163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6245352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 ·  FREN 201  ·  French-Speaking World Project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99616"/>
            <a:ext cx="329184" cy="329184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14996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belgium.be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499616"/>
            <a:ext cx="6339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Belgian government's official portal — history, regions and institutions.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066544"/>
            <a:ext cx="329184" cy="329184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2066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monarchie.be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066544"/>
            <a:ext cx="6339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Belgian Monarchy — the King's role and duties.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633472"/>
            <a:ext cx="329184" cy="329184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premier.be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633472"/>
            <a:ext cx="6339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Prime Minister — the current federal government.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329184" cy="329184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european-union.europa.eu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200400"/>
            <a:ext cx="6339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 country profile: Belgium.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767328"/>
            <a:ext cx="329184" cy="329184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" y="3767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whc.unesco.org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767328"/>
            <a:ext cx="6339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World Heritage Centre — Belgium's listed sites and its beer culture.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334256"/>
            <a:ext cx="329184" cy="329184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" y="4334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Britannica  ·  CIA World Factbook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4334256"/>
            <a:ext cx="6339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area, borders and geography.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901184"/>
            <a:ext cx="329184" cy="329184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4901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" y="49011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visitflanders.com  ·  visitwallonia.be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4901184"/>
            <a:ext cx="6339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tourist boards — visitor information.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70432" y="5705856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0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 licensed from Adobe Stock. Both maps were drawn from the blank outline map supplied with the assignment; language boundaries are approximate.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Belgium</dc:title>
  <dc:subject>PptxGenJS Presentation</dc:subject>
  <dc:creator>FREN 201 — Projet Francophonie</dc:creator>
  <cp:lastModifiedBy>FREN 201 — Projet Francophonie</cp:lastModifiedBy>
  <cp:revision>1</cp:revision>
  <dcterms:created xsi:type="dcterms:W3CDTF">2026-09-04T01:11:42Z</dcterms:created>
  <dcterms:modified xsi:type="dcterms:W3CDTF">2026-09-04T01:11:42Z</dcterms:modified>
</cp:coreProperties>
</file>