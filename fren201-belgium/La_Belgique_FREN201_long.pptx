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Lst>
  <p:notesMasterIdLst>
    <p:notesMasterId r:id="rId23"/>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notesMaster" Target="notesMasters/notesMaster1.xml"/><Relationship Id="rId24" Type="http://schemas.openxmlformats.org/officeDocument/2006/relationships/presProps" Target="presProps.xml"/><Relationship Id="rId25" Type="http://schemas.openxmlformats.org/officeDocument/2006/relationships/viewProps" Target="viewProps.xml"/><Relationship Id="rId26" Type="http://schemas.openxmlformats.org/officeDocument/2006/relationships/theme" Target="theme/theme1.xml"/><Relationship Id="rId27"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FREN 201 Francophonie project. Region chosen: Europe. Country: Belgium — a French-speaking country in Western Europe.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Roadmap of the presentation — every item required by the assignment is covered.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Assignment requirement: mark the chosen country on a blank map of the region and show what surrounds it. Belgium sits between France, Germany, Luxembourg and the Netherlands, with a short North Sea coast.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Key figures. Population 11.8 million; area 30,689 km2 — roughly the size of Maryland.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Climate: temperate maritime — mild, grey and wet, about 800 mm of rain a year. Two major rivers: the Scheldt (l'Escaut) and the Meuse.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Federalisation ran through six state reforms from 1970 onward. Article 1 of the Constitution now reads: Belgium is a federal State composed of Communities and Regions.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key takeaway: for nearly 2,000 years this land was ruled from somewhere else — Rome, Burgundy, Madrid, Vienna, Paris, The Hague. Independence in 1830 is very recent.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Article 1 of the Constitution: Belgium is a federal State composed of Communities and Regions. Six state reforms: 1970, 1980, 1988-89, 1993, 2001 and 2011-14.</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Conclusion: Belgium's identity is built on being a meeting point rather than a single nation.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jpg"/><Relationship Id="rId2" Type="http://schemas.openxmlformats.org/officeDocument/2006/relationships/slideLayout" Target="../slideLayouts/slideLayout1.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png"/><Relationship Id="rId2" Type="http://schemas.openxmlformats.org/officeDocument/2006/relationships/slideLayout" Target="../slideLayouts/slideLayout1.xml"/><Relationship Id="rId3"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jpg"/><Relationship Id="rId2" Type="http://schemas.openxmlformats.org/officeDocument/2006/relationships/slideLayout" Target="../slideLayouts/slideLayout1.xml"/><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jpg"/><Relationship Id="rId2" Type="http://schemas.openxmlformats.org/officeDocument/2006/relationships/image" Target="../media/image-5-2.jpg"/><Relationship Id="rId3" Type="http://schemas.openxmlformats.org/officeDocument/2006/relationships/slideLayout" Target="../slideLayouts/slideLayout1.xml"/><Relationship Id="rId4"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slideLayout" Target="../slideLayouts/slideLayout1.xml"/><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jpg"/><Relationship Id="rId2" Type="http://schemas.openxmlformats.org/officeDocument/2006/relationships/slideLayout" Target="../slideLayouts/slideLayout1.xml"/><Relationship Id="rId3"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jpg"/><Relationship Id="rId2" Type="http://schemas.openxmlformats.org/officeDocument/2006/relationships/slideLayout" Target="../slideLayouts/slideLayout1.xml"/><Relationship Id="rId3"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image" Target="../media/image-11-1.jpg"/><Relationship Id="rId2" Type="http://schemas.openxmlformats.org/officeDocument/2006/relationships/slideLayout" Target="../slideLayouts/slideLayout1.xml"/><Relationship Id="rId3"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image" Target="../media/image-13-1.jpg"/><Relationship Id="rId2" Type="http://schemas.openxmlformats.org/officeDocument/2006/relationships/slideLayout" Target="../slideLayouts/slideLayout1.xml"/><Relationship Id="rId3"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image" Target="../media/image-15-1.jpg"/><Relationship Id="rId2" Type="http://schemas.openxmlformats.org/officeDocument/2006/relationships/slideLayout" Target="../slideLayouts/slideLayout1.xml"/><Relationship Id="rId3"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image" Target="../media/image-16-1.jpg"/><Relationship Id="rId2" Type="http://schemas.openxmlformats.org/officeDocument/2006/relationships/image" Target="../media/image-16-2.jpg"/><Relationship Id="rId3" Type="http://schemas.openxmlformats.org/officeDocument/2006/relationships/slideLayout" Target="../slideLayouts/slideLayout1.xml"/><Relationship Id="rId4"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image" Target="../media/image-17-1.jpg"/><Relationship Id="rId2" Type="http://schemas.openxmlformats.org/officeDocument/2006/relationships/image" Target="../media/image-17-2.jpg"/><Relationship Id="rId3" Type="http://schemas.openxmlformats.org/officeDocument/2006/relationships/image" Target="../media/image-17-3.jpg"/><Relationship Id="rId4" Type="http://schemas.openxmlformats.org/officeDocument/2006/relationships/image" Target="../media/image-17-4.jpg"/><Relationship Id="rId5" Type="http://schemas.openxmlformats.org/officeDocument/2006/relationships/slideLayout" Target="../slideLayouts/slideLayout1.xml"/><Relationship Id="rId6"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image" Target="../media/image-18-1.jpg"/><Relationship Id="rId2" Type="http://schemas.openxmlformats.org/officeDocument/2006/relationships/image" Target="../media/image-18-2.jpg"/><Relationship Id="rId3" Type="http://schemas.openxmlformats.org/officeDocument/2006/relationships/image" Target="../media/image-18-3.jpg"/><Relationship Id="rId4" Type="http://schemas.openxmlformats.org/officeDocument/2006/relationships/slideLayout" Target="../slideLayouts/slideLayout1.xml"/><Relationship Id="rId5"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image" Target="../media/image-19-1.jpg"/><Relationship Id="rId2" Type="http://schemas.openxmlformats.org/officeDocument/2006/relationships/slideLayout" Target="../slideLayouts/slideLayout1.xml"/><Relationship Id="rId3"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image" Target="../media/image-20-1.jpg"/><Relationship Id="rId2" Type="http://schemas.openxmlformats.org/officeDocument/2006/relationships/slideLayout" Target="../slideLayouts/slideLayout1.xml"/><Relationship Id="rId3"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1.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17171B"/>
        </a:solidFill>
      </p:bgPr>
    </p:bg>
    <p:spTree>
      <p:nvGrpSpPr>
        <p:cNvPr id="1" name=""/>
        <p:cNvGrpSpPr/>
        <p:nvPr/>
      </p:nvGrpSpPr>
      <p:grpSpPr>
        <a:xfrm>
          <a:off x="0" y="0"/>
          <a:ext cx="0" cy="0"/>
          <a:chOff x="0" y="0"/>
          <a:chExt cx="0" cy="0"/>
        </a:xfrm>
      </p:grpSpPr>
      <p:pic>
        <p:nvPicPr>
          <p:cNvPr id="2" name="Image 0" descr="/tmp/claude-0/-home-user-BOYNT-WORK/856f02cf-0e32-5bfe-bffb-9edb29b314f9/scratchpad/deckimg/grandplace.jpg">    </p:cNvPr>
          <p:cNvPicPr>
            <a:picLocks noChangeAspect="1"/>
          </p:cNvPicPr>
          <p:nvPr/>
        </p:nvPicPr>
        <p:blipFill>
          <a:blip r:embed="rId1">
            <a:alphaModFix amt="38000"/>
          </a:blip>
          <a:srcRect l="0" r="0" t="0" b="0"/>
          <a:stretch/>
        </p:blipFill>
        <p:spPr>
          <a:xfrm>
            <a:off x="0" y="0"/>
            <a:ext cx="12191695" cy="6858000"/>
          </a:xfrm>
          <a:prstGeom prst="rect">
            <a:avLst/>
          </a:prstGeom>
        </p:spPr>
      </p:pic>
      <p:sp>
        <p:nvSpPr>
          <p:cNvPr id="3" name="Shape 0"/>
          <p:cNvSpPr/>
          <p:nvPr/>
        </p:nvSpPr>
        <p:spPr>
          <a:xfrm>
            <a:off x="0" y="0"/>
            <a:ext cx="6309360" cy="6858000"/>
          </a:xfrm>
          <a:prstGeom prst="rect">
            <a:avLst/>
          </a:prstGeom>
          <a:solidFill>
            <a:srgbClr val="17171B">
              <a:alpha val="78000"/>
            </a:srgbClr>
          </a:solidFill>
          <a:ln/>
        </p:spPr>
      </p:sp>
      <p:sp>
        <p:nvSpPr>
          <p:cNvPr id="4" name="Text 1"/>
          <p:cNvSpPr txBox="1"/>
          <p:nvPr/>
        </p:nvSpPr>
        <p:spPr>
          <a:xfrm>
            <a:off x="640080" y="1417320"/>
            <a:ext cx="5669280" cy="274320"/>
          </a:xfrm>
          <a:prstGeom prst="rect">
            <a:avLst/>
          </a:prstGeom>
          <a:noFill/>
          <a:ln/>
        </p:spPr>
        <p:txBody>
          <a:bodyPr wrap="square" lIns="0" tIns="0" rIns="0" bIns="0" rtlCol="0" anchor="ctr"/>
          <a:lstStyle/>
          <a:p>
            <a:pPr indent="0" marL="0">
              <a:buNone/>
            </a:pPr>
            <a:r>
              <a:rPr lang="en-US" sz="1250" b="1" spc="240" kern="0" dirty="0">
                <a:solidFill>
                  <a:srgbClr val="E3B23C"/>
                </a:solidFill>
                <a:latin typeface="Calibri" pitchFamily="34" charset="0"/>
                <a:ea typeface="Calibri" pitchFamily="34" charset="-122"/>
                <a:cs typeface="Calibri" pitchFamily="34" charset="-120"/>
              </a:rPr>
              <a:t>PROJET FRANCOPHONIE  ·  FREN 201</a:t>
            </a:r>
            <a:endParaRPr lang="en-US" sz="1250" dirty="0"/>
          </a:p>
        </p:txBody>
      </p:sp>
      <p:sp>
        <p:nvSpPr>
          <p:cNvPr id="5" name="Text 2"/>
          <p:cNvSpPr txBox="1"/>
          <p:nvPr/>
        </p:nvSpPr>
        <p:spPr>
          <a:xfrm>
            <a:off x="640080" y="1847088"/>
            <a:ext cx="6949440" cy="1005840"/>
          </a:xfrm>
          <a:prstGeom prst="rect">
            <a:avLst/>
          </a:prstGeom>
          <a:noFill/>
          <a:ln/>
        </p:spPr>
        <p:txBody>
          <a:bodyPr wrap="square" lIns="0" tIns="0" rIns="0" bIns="0" rtlCol="0" anchor="ctr"/>
          <a:lstStyle/>
          <a:p>
            <a:pPr indent="0" marL="0">
              <a:buNone/>
            </a:pPr>
            <a:r>
              <a:rPr lang="en-US" sz="6000" b="1" spc="100" kern="0" dirty="0">
                <a:solidFill>
                  <a:srgbClr val="FFFFFF"/>
                </a:solidFill>
                <a:latin typeface="Cambria" pitchFamily="34" charset="0"/>
                <a:ea typeface="Cambria" pitchFamily="34" charset="-122"/>
                <a:cs typeface="Cambria" pitchFamily="34" charset="-120"/>
              </a:rPr>
              <a:t>LA BELGIQUE</a:t>
            </a:r>
            <a:endParaRPr lang="en-US" sz="6000" dirty="0"/>
          </a:p>
        </p:txBody>
      </p:sp>
      <p:sp>
        <p:nvSpPr>
          <p:cNvPr id="6" name="Text 3"/>
          <p:cNvSpPr txBox="1"/>
          <p:nvPr/>
        </p:nvSpPr>
        <p:spPr>
          <a:xfrm>
            <a:off x="640080" y="3035808"/>
            <a:ext cx="5852160" cy="411480"/>
          </a:xfrm>
          <a:prstGeom prst="rect">
            <a:avLst/>
          </a:prstGeom>
          <a:noFill/>
          <a:ln/>
        </p:spPr>
        <p:txBody>
          <a:bodyPr wrap="square" lIns="0" tIns="0" rIns="0" bIns="0" rtlCol="0" anchor="ctr"/>
          <a:lstStyle/>
          <a:p>
            <a:pPr indent="0" marL="0">
              <a:buNone/>
            </a:pPr>
            <a:r>
              <a:rPr lang="en-US" sz="2200" i="1" dirty="0">
                <a:solidFill>
                  <a:srgbClr val="F2D68C"/>
                </a:solidFill>
                <a:latin typeface="Cambria" pitchFamily="34" charset="0"/>
                <a:ea typeface="Cambria" pitchFamily="34" charset="-122"/>
                <a:cs typeface="Cambria" pitchFamily="34" charset="-120"/>
              </a:rPr>
              <a:t>Le Royaume de Belgique</a:t>
            </a:r>
            <a:endParaRPr lang="en-US" sz="2200" dirty="0"/>
          </a:p>
        </p:txBody>
      </p:sp>
      <p:sp>
        <p:nvSpPr>
          <p:cNvPr id="7" name="Text 4"/>
          <p:cNvSpPr txBox="1"/>
          <p:nvPr/>
        </p:nvSpPr>
        <p:spPr>
          <a:xfrm>
            <a:off x="640080" y="3493008"/>
            <a:ext cx="5852160" cy="274320"/>
          </a:xfrm>
          <a:prstGeom prst="rect">
            <a:avLst/>
          </a:prstGeom>
          <a:noFill/>
          <a:ln/>
        </p:spPr>
        <p:txBody>
          <a:bodyPr wrap="square" lIns="0" tIns="0" rIns="0" bIns="0" rtlCol="0" anchor="ctr"/>
          <a:lstStyle/>
          <a:p>
            <a:pPr indent="0" marL="0">
              <a:buNone/>
            </a:pPr>
            <a:r>
              <a:rPr lang="en-US" sz="1250" dirty="0">
                <a:solidFill>
                  <a:srgbClr val="BDBDC6"/>
                </a:solidFill>
                <a:latin typeface="Calibri" pitchFamily="34" charset="0"/>
                <a:ea typeface="Calibri" pitchFamily="34" charset="-122"/>
                <a:cs typeface="Calibri" pitchFamily="34" charset="-120"/>
              </a:rPr>
              <a:t>Koninkrijk België  ·  Königreich Belgien  ·  Kingdom of Belgium</a:t>
            </a:r>
            <a:endParaRPr lang="en-US" sz="1250" dirty="0"/>
          </a:p>
        </p:txBody>
      </p:sp>
      <p:sp>
        <p:nvSpPr>
          <p:cNvPr id="8" name="Shape 5"/>
          <p:cNvSpPr/>
          <p:nvPr/>
        </p:nvSpPr>
        <p:spPr>
          <a:xfrm>
            <a:off x="640080" y="4114800"/>
            <a:ext cx="5120640" cy="914400"/>
          </a:xfrm>
          <a:prstGeom prst="roundRect">
            <a:avLst>
              <a:gd name="adj" fmla="val 9000"/>
            </a:avLst>
          </a:prstGeom>
          <a:solidFill>
            <a:srgbClr val="24242C"/>
          </a:solidFill>
          <a:ln w="12700">
            <a:solidFill>
              <a:srgbClr val="3A3A44"/>
            </a:solidFill>
            <a:prstDash val="solid"/>
          </a:ln>
        </p:spPr>
      </p:sp>
      <p:sp>
        <p:nvSpPr>
          <p:cNvPr id="9" name="Text 6"/>
          <p:cNvSpPr txBox="1"/>
          <p:nvPr/>
        </p:nvSpPr>
        <p:spPr>
          <a:xfrm>
            <a:off x="896112" y="4261104"/>
            <a:ext cx="4617720" cy="274320"/>
          </a:xfrm>
          <a:prstGeom prst="rect">
            <a:avLst/>
          </a:prstGeom>
          <a:noFill/>
          <a:ln/>
        </p:spPr>
        <p:txBody>
          <a:bodyPr wrap="square" lIns="0" tIns="0" rIns="0" bIns="0" rtlCol="0" anchor="ctr"/>
          <a:lstStyle/>
          <a:p>
            <a:pPr indent="0" marL="0">
              <a:buNone/>
            </a:pPr>
            <a:r>
              <a:rPr lang="en-US" sz="1200" dirty="0">
                <a:solidFill>
                  <a:srgbClr val="BDBDC6"/>
                </a:solidFill>
                <a:latin typeface="Calibri" pitchFamily="34" charset="0"/>
                <a:ea typeface="Calibri" pitchFamily="34" charset="-122"/>
                <a:cs typeface="Calibri" pitchFamily="34" charset="-120"/>
              </a:rPr>
              <a:t>A French-speaking country in the heart of Europe —</a:t>
            </a:r>
            <a:endParaRPr lang="en-US" sz="1200" dirty="0"/>
          </a:p>
        </p:txBody>
      </p:sp>
      <p:sp>
        <p:nvSpPr>
          <p:cNvPr id="10" name="Text 7"/>
          <p:cNvSpPr txBox="1"/>
          <p:nvPr/>
        </p:nvSpPr>
        <p:spPr>
          <a:xfrm>
            <a:off x="896112" y="4535424"/>
            <a:ext cx="4617720" cy="274320"/>
          </a:xfrm>
          <a:prstGeom prst="rect">
            <a:avLst/>
          </a:prstGeom>
          <a:noFill/>
          <a:ln/>
        </p:spPr>
        <p:txBody>
          <a:bodyPr wrap="square" lIns="0" tIns="0" rIns="0" bIns="0" rtlCol="0" anchor="ctr"/>
          <a:lstStyle/>
          <a:p>
            <a:pPr indent="0" marL="0">
              <a:buNone/>
            </a:pPr>
            <a:r>
              <a:rPr lang="en-US" sz="1200" dirty="0">
                <a:solidFill>
                  <a:srgbClr val="BDBDC6"/>
                </a:solidFill>
                <a:latin typeface="Calibri" pitchFamily="34" charset="0"/>
                <a:ea typeface="Calibri" pitchFamily="34" charset="-122"/>
                <a:cs typeface="Calibri" pitchFamily="34" charset="-120"/>
              </a:rPr>
              <a:t>and the capital of the European Union.</a:t>
            </a:r>
            <a:endParaRPr lang="en-US" sz="1200" dirty="0"/>
          </a:p>
        </p:txBody>
      </p:sp>
      <p:sp>
        <p:nvSpPr>
          <p:cNvPr id="11" name="Text 8"/>
          <p:cNvSpPr txBox="1"/>
          <p:nvPr/>
        </p:nvSpPr>
        <p:spPr>
          <a:xfrm>
            <a:off x="640080" y="5989320"/>
            <a:ext cx="6583680" cy="274320"/>
          </a:xfrm>
          <a:prstGeom prst="rect">
            <a:avLst/>
          </a:prstGeom>
          <a:noFill/>
          <a:ln/>
        </p:spPr>
        <p:txBody>
          <a:bodyPr wrap="square" lIns="0" tIns="0" rIns="0" bIns="0" rtlCol="0" anchor="ctr"/>
          <a:lstStyle/>
          <a:p>
            <a:pPr indent="0" marL="0">
              <a:buNone/>
            </a:pPr>
            <a:r>
              <a:rPr lang="en-US" sz="1100" dirty="0">
                <a:solidFill>
                  <a:srgbClr val="8A8A96"/>
                </a:solidFill>
                <a:latin typeface="Calibri" pitchFamily="34" charset="0"/>
                <a:ea typeface="Calibri" pitchFamily="34" charset="-122"/>
                <a:cs typeface="Calibri" pitchFamily="34" charset="-120"/>
              </a:rPr>
              <a:t>Nom  ______________________________     Date  ____________________</a:t>
            </a:r>
            <a:endParaRPr lang="en-US" sz="11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640080" y="402336"/>
            <a:ext cx="10911535" cy="237744"/>
          </a:xfrm>
          <a:prstGeom prst="rect">
            <a:avLst/>
          </a:prstGeom>
          <a:noFill/>
          <a:ln/>
        </p:spPr>
        <p:txBody>
          <a:bodyPr wrap="square" lIns="0" tIns="0" rIns="0" bIns="0" rtlCol="0" anchor="ctr"/>
          <a:lstStyle/>
          <a:p>
            <a:pPr indent="0" marL="0">
              <a:buNone/>
            </a:pPr>
            <a:r>
              <a:rPr lang="en-US" sz="1150" b="1" spc="220" kern="0" dirty="0">
                <a:solidFill>
                  <a:srgbClr val="E3B23C"/>
                </a:solidFill>
                <a:latin typeface="Calibri" pitchFamily="34" charset="0"/>
                <a:ea typeface="Calibri" pitchFamily="34" charset="-122"/>
                <a:cs typeface="Calibri" pitchFamily="34" charset="-120"/>
              </a:rPr>
              <a:t>AU SOMMAIRE</a:t>
            </a:r>
            <a:endParaRPr lang="en-US" sz="1150" dirty="0"/>
          </a:p>
        </p:txBody>
      </p:sp>
      <p:sp>
        <p:nvSpPr>
          <p:cNvPr id="3" name="Text 1"/>
          <p:cNvSpPr txBox="1"/>
          <p:nvPr/>
        </p:nvSpPr>
        <p:spPr>
          <a:xfrm>
            <a:off x="640080" y="676656"/>
            <a:ext cx="10911535" cy="603504"/>
          </a:xfrm>
          <a:prstGeom prst="rect">
            <a:avLst/>
          </a:prstGeom>
          <a:noFill/>
          <a:ln/>
        </p:spPr>
        <p:txBody>
          <a:bodyPr wrap="square" lIns="0" tIns="0" rIns="0" bIns="0" rtlCol="0" anchor="ctr"/>
          <a:lstStyle/>
          <a:p>
            <a:pPr indent="0" marL="0">
              <a:buNone/>
            </a:pPr>
            <a:r>
              <a:rPr lang="en-US" sz="3100" b="1" dirty="0">
                <a:solidFill>
                  <a:srgbClr val="17171B"/>
                </a:solidFill>
                <a:latin typeface="Cambria" pitchFamily="34" charset="0"/>
                <a:ea typeface="Cambria" pitchFamily="34" charset="-122"/>
                <a:cs typeface="Cambria" pitchFamily="34" charset="-120"/>
              </a:rPr>
              <a:t>What this presentation covers</a:t>
            </a:r>
            <a:endParaRPr lang="en-US" sz="3100" dirty="0"/>
          </a:p>
        </p:txBody>
      </p:sp>
      <p:sp>
        <p:nvSpPr>
          <p:cNvPr id="4" name="Shape 2"/>
          <p:cNvSpPr/>
          <p:nvPr/>
        </p:nvSpPr>
        <p:spPr>
          <a:xfrm>
            <a:off x="640080" y="6163056"/>
            <a:ext cx="384048" cy="384048"/>
          </a:xfrm>
          <a:prstGeom prst="ellipse">
            <a:avLst/>
          </a:prstGeom>
          <a:solidFill>
            <a:srgbClr val="E3B23C"/>
          </a:solidFill>
          <a:ln/>
        </p:spPr>
      </p:sp>
      <p:sp>
        <p:nvSpPr>
          <p:cNvPr id="5" name="Text 3"/>
          <p:cNvSpPr txBox="1"/>
          <p:nvPr/>
        </p:nvSpPr>
        <p:spPr>
          <a:xfrm>
            <a:off x="640080" y="6163056"/>
            <a:ext cx="384048" cy="384048"/>
          </a:xfrm>
          <a:prstGeom prst="rect">
            <a:avLst/>
          </a:prstGeom>
          <a:noFill/>
          <a:ln/>
        </p:spPr>
        <p:txBody>
          <a:bodyPr wrap="square" lIns="0" tIns="0" rIns="0" bIns="0" rtlCol="0" anchor="ctr"/>
          <a:lstStyle/>
          <a:p>
            <a:pPr algn="ctr" indent="0" marL="0">
              <a:buNone/>
            </a:pPr>
            <a:r>
              <a:rPr lang="en-US" sz="1200" b="1" dirty="0">
                <a:solidFill>
                  <a:srgbClr val="17171B"/>
                </a:solidFill>
                <a:latin typeface="Calibri" pitchFamily="34" charset="0"/>
                <a:ea typeface="Calibri" pitchFamily="34" charset="-122"/>
                <a:cs typeface="Calibri" pitchFamily="34" charset="-120"/>
              </a:rPr>
              <a:t>2</a:t>
            </a:r>
            <a:endParaRPr lang="en-US" sz="1200" dirty="0"/>
          </a:p>
        </p:txBody>
      </p:sp>
      <p:sp>
        <p:nvSpPr>
          <p:cNvPr id="6" name="Text 4"/>
          <p:cNvSpPr txBox="1"/>
          <p:nvPr/>
        </p:nvSpPr>
        <p:spPr>
          <a:xfrm>
            <a:off x="6035040" y="6245352"/>
            <a:ext cx="5516575" cy="237744"/>
          </a:xfrm>
          <a:prstGeom prst="rect">
            <a:avLst/>
          </a:prstGeom>
          <a:noFill/>
          <a:ln/>
        </p:spPr>
        <p:txBody>
          <a:bodyPr wrap="square" lIns="0" tIns="0" rIns="0" bIns="0" rtlCol="0" anchor="ctr"/>
          <a:lstStyle/>
          <a:p>
            <a:pPr algn="r" indent="0" marL="0">
              <a:buNone/>
            </a:pPr>
            <a:r>
              <a:rPr lang="en-US" sz="900" dirty="0">
                <a:solidFill>
                  <a:srgbClr val="70707C"/>
                </a:solidFill>
                <a:latin typeface="Calibri" pitchFamily="34" charset="0"/>
                <a:ea typeface="Calibri" pitchFamily="34" charset="-122"/>
                <a:cs typeface="Calibri" pitchFamily="34" charset="-120"/>
              </a:rPr>
              <a:t>La Belgique  ·  FREN 201  ·  Projet Francophonie</a:t>
            </a:r>
            <a:endParaRPr lang="en-US" sz="900" dirty="0"/>
          </a:p>
        </p:txBody>
      </p:sp>
      <p:sp>
        <p:nvSpPr>
          <p:cNvPr id="7" name="Shape 5"/>
          <p:cNvSpPr/>
          <p:nvPr/>
        </p:nvSpPr>
        <p:spPr>
          <a:xfrm>
            <a:off x="640080" y="1527048"/>
            <a:ext cx="365760" cy="365760"/>
          </a:xfrm>
          <a:prstGeom prst="ellipse">
            <a:avLst/>
          </a:prstGeom>
          <a:solidFill>
            <a:srgbClr val="E3B23C"/>
          </a:solidFill>
          <a:ln/>
        </p:spPr>
      </p:sp>
      <p:sp>
        <p:nvSpPr>
          <p:cNvPr id="8" name="Text 6"/>
          <p:cNvSpPr txBox="1"/>
          <p:nvPr/>
        </p:nvSpPr>
        <p:spPr>
          <a:xfrm>
            <a:off x="640080" y="1527048"/>
            <a:ext cx="365760" cy="365760"/>
          </a:xfrm>
          <a:prstGeom prst="rect">
            <a:avLst/>
          </a:prstGeom>
          <a:noFill/>
          <a:ln/>
        </p:spPr>
        <p:txBody>
          <a:bodyPr wrap="square" lIns="0" tIns="0" rIns="0" bIns="0" rtlCol="0" anchor="ctr"/>
          <a:lstStyle/>
          <a:p>
            <a:pPr algn="ctr" indent="0" marL="0">
              <a:buNone/>
            </a:pPr>
            <a:r>
              <a:rPr lang="en-US" sz="1150" b="1" dirty="0">
                <a:solidFill>
                  <a:srgbClr val="17171B"/>
                </a:solidFill>
                <a:latin typeface="Calibri" pitchFamily="34" charset="0"/>
                <a:ea typeface="Calibri" pitchFamily="34" charset="-122"/>
                <a:cs typeface="Calibri" pitchFamily="34" charset="-120"/>
              </a:rPr>
              <a:t>1</a:t>
            </a:r>
            <a:endParaRPr lang="en-US" sz="1150" dirty="0"/>
          </a:p>
        </p:txBody>
      </p:sp>
      <p:sp>
        <p:nvSpPr>
          <p:cNvPr id="9" name="Text 7"/>
          <p:cNvSpPr txBox="1"/>
          <p:nvPr/>
        </p:nvSpPr>
        <p:spPr>
          <a:xfrm>
            <a:off x="1170432" y="1490472"/>
            <a:ext cx="4681728" cy="274320"/>
          </a:xfrm>
          <a:prstGeom prst="rect">
            <a:avLst/>
          </a:prstGeom>
          <a:noFill/>
          <a:ln/>
        </p:spPr>
        <p:txBody>
          <a:bodyPr wrap="square" lIns="0" tIns="0" rIns="0" bIns="0" rtlCol="0" anchor="ctr"/>
          <a:lstStyle/>
          <a:p>
            <a:pPr indent="0" marL="0">
              <a:buNone/>
            </a:pPr>
            <a:r>
              <a:rPr lang="en-US" sz="1350" b="1" dirty="0">
                <a:solidFill>
                  <a:srgbClr val="17171B"/>
                </a:solidFill>
                <a:latin typeface="Calibri" pitchFamily="34" charset="0"/>
                <a:ea typeface="Calibri" pitchFamily="34" charset="-122"/>
                <a:cs typeface="Calibri" pitchFamily="34" charset="-120"/>
              </a:rPr>
              <a:t>Où se trouve la Belgique ?</a:t>
            </a:r>
            <a:endParaRPr lang="en-US" sz="1350" dirty="0"/>
          </a:p>
        </p:txBody>
      </p:sp>
      <p:sp>
        <p:nvSpPr>
          <p:cNvPr id="10" name="Text 8"/>
          <p:cNvSpPr txBox="1"/>
          <p:nvPr/>
        </p:nvSpPr>
        <p:spPr>
          <a:xfrm>
            <a:off x="1170432" y="1764792"/>
            <a:ext cx="4681728" cy="274320"/>
          </a:xfrm>
          <a:prstGeom prst="rect">
            <a:avLst/>
          </a:prstGeom>
          <a:noFill/>
          <a:ln/>
        </p:spPr>
        <p:txBody>
          <a:bodyPr wrap="square" lIns="0" tIns="0" rIns="0" bIns="0" rtlCol="0" anchor="ctr"/>
          <a:lstStyle/>
          <a:p>
            <a:pPr indent="0" marL="0">
              <a:buNone/>
            </a:pPr>
            <a:r>
              <a:rPr lang="en-US" sz="1100" dirty="0">
                <a:solidFill>
                  <a:srgbClr val="70707C"/>
                </a:solidFill>
                <a:latin typeface="Calibri" pitchFamily="34" charset="0"/>
                <a:ea typeface="Calibri" pitchFamily="34" charset="-122"/>
                <a:cs typeface="Calibri" pitchFamily="34" charset="-120"/>
              </a:rPr>
              <a:t>Location, neighbours and the map</a:t>
            </a:r>
            <a:endParaRPr lang="en-US" sz="1100" dirty="0"/>
          </a:p>
        </p:txBody>
      </p:sp>
      <p:sp>
        <p:nvSpPr>
          <p:cNvPr id="11" name="Shape 9"/>
          <p:cNvSpPr/>
          <p:nvPr/>
        </p:nvSpPr>
        <p:spPr>
          <a:xfrm>
            <a:off x="640080" y="2249424"/>
            <a:ext cx="365760" cy="365760"/>
          </a:xfrm>
          <a:prstGeom prst="ellipse">
            <a:avLst/>
          </a:prstGeom>
          <a:solidFill>
            <a:srgbClr val="E3B23C"/>
          </a:solidFill>
          <a:ln/>
        </p:spPr>
      </p:sp>
      <p:sp>
        <p:nvSpPr>
          <p:cNvPr id="12" name="Text 10"/>
          <p:cNvSpPr txBox="1"/>
          <p:nvPr/>
        </p:nvSpPr>
        <p:spPr>
          <a:xfrm>
            <a:off x="640080" y="2249424"/>
            <a:ext cx="365760" cy="365760"/>
          </a:xfrm>
          <a:prstGeom prst="rect">
            <a:avLst/>
          </a:prstGeom>
          <a:noFill/>
          <a:ln/>
        </p:spPr>
        <p:txBody>
          <a:bodyPr wrap="square" lIns="0" tIns="0" rIns="0" bIns="0" rtlCol="0" anchor="ctr"/>
          <a:lstStyle/>
          <a:p>
            <a:pPr algn="ctr" indent="0" marL="0">
              <a:buNone/>
            </a:pPr>
            <a:r>
              <a:rPr lang="en-US" sz="1150" b="1" dirty="0">
                <a:solidFill>
                  <a:srgbClr val="17171B"/>
                </a:solidFill>
                <a:latin typeface="Calibri" pitchFamily="34" charset="0"/>
                <a:ea typeface="Calibri" pitchFamily="34" charset="-122"/>
                <a:cs typeface="Calibri" pitchFamily="34" charset="-120"/>
              </a:rPr>
              <a:t>2</a:t>
            </a:r>
            <a:endParaRPr lang="en-US" sz="1150" dirty="0"/>
          </a:p>
        </p:txBody>
      </p:sp>
      <p:sp>
        <p:nvSpPr>
          <p:cNvPr id="13" name="Text 11"/>
          <p:cNvSpPr txBox="1"/>
          <p:nvPr/>
        </p:nvSpPr>
        <p:spPr>
          <a:xfrm>
            <a:off x="1170432" y="2212848"/>
            <a:ext cx="4681728" cy="274320"/>
          </a:xfrm>
          <a:prstGeom prst="rect">
            <a:avLst/>
          </a:prstGeom>
          <a:noFill/>
          <a:ln/>
        </p:spPr>
        <p:txBody>
          <a:bodyPr wrap="square" lIns="0" tIns="0" rIns="0" bIns="0" rtlCol="0" anchor="ctr"/>
          <a:lstStyle/>
          <a:p>
            <a:pPr indent="0" marL="0">
              <a:buNone/>
            </a:pPr>
            <a:r>
              <a:rPr lang="en-US" sz="1350" b="1" dirty="0">
                <a:solidFill>
                  <a:srgbClr val="17171B"/>
                </a:solidFill>
                <a:latin typeface="Calibri" pitchFamily="34" charset="0"/>
                <a:ea typeface="Calibri" pitchFamily="34" charset="-122"/>
                <a:cs typeface="Calibri" pitchFamily="34" charset="-120"/>
              </a:rPr>
              <a:t>La Belgique en chiffres</a:t>
            </a:r>
            <a:endParaRPr lang="en-US" sz="1350" dirty="0"/>
          </a:p>
        </p:txBody>
      </p:sp>
      <p:sp>
        <p:nvSpPr>
          <p:cNvPr id="14" name="Text 12"/>
          <p:cNvSpPr txBox="1"/>
          <p:nvPr/>
        </p:nvSpPr>
        <p:spPr>
          <a:xfrm>
            <a:off x="1170432" y="2487168"/>
            <a:ext cx="4681728" cy="274320"/>
          </a:xfrm>
          <a:prstGeom prst="rect">
            <a:avLst/>
          </a:prstGeom>
          <a:noFill/>
          <a:ln/>
        </p:spPr>
        <p:txBody>
          <a:bodyPr wrap="square" lIns="0" tIns="0" rIns="0" bIns="0" rtlCol="0" anchor="ctr"/>
          <a:lstStyle/>
          <a:p>
            <a:pPr indent="0" marL="0">
              <a:buNone/>
            </a:pPr>
            <a:r>
              <a:rPr lang="en-US" sz="1100" dirty="0">
                <a:solidFill>
                  <a:srgbClr val="70707C"/>
                </a:solidFill>
                <a:latin typeface="Calibri" pitchFamily="34" charset="0"/>
                <a:ea typeface="Calibri" pitchFamily="34" charset="-122"/>
                <a:cs typeface="Calibri" pitchFamily="34" charset="-120"/>
              </a:rPr>
              <a:t>The country's identity card</a:t>
            </a:r>
            <a:endParaRPr lang="en-US" sz="1100" dirty="0"/>
          </a:p>
        </p:txBody>
      </p:sp>
      <p:sp>
        <p:nvSpPr>
          <p:cNvPr id="15" name="Shape 13"/>
          <p:cNvSpPr/>
          <p:nvPr/>
        </p:nvSpPr>
        <p:spPr>
          <a:xfrm>
            <a:off x="640080" y="2971800"/>
            <a:ext cx="365760" cy="365760"/>
          </a:xfrm>
          <a:prstGeom prst="ellipse">
            <a:avLst/>
          </a:prstGeom>
          <a:solidFill>
            <a:srgbClr val="E3B23C"/>
          </a:solidFill>
          <a:ln/>
        </p:spPr>
      </p:sp>
      <p:sp>
        <p:nvSpPr>
          <p:cNvPr id="16" name="Text 14"/>
          <p:cNvSpPr txBox="1"/>
          <p:nvPr/>
        </p:nvSpPr>
        <p:spPr>
          <a:xfrm>
            <a:off x="640080" y="2971800"/>
            <a:ext cx="365760" cy="365760"/>
          </a:xfrm>
          <a:prstGeom prst="rect">
            <a:avLst/>
          </a:prstGeom>
          <a:noFill/>
          <a:ln/>
        </p:spPr>
        <p:txBody>
          <a:bodyPr wrap="square" lIns="0" tIns="0" rIns="0" bIns="0" rtlCol="0" anchor="ctr"/>
          <a:lstStyle/>
          <a:p>
            <a:pPr algn="ctr" indent="0" marL="0">
              <a:buNone/>
            </a:pPr>
            <a:r>
              <a:rPr lang="en-US" sz="1150" b="1" dirty="0">
                <a:solidFill>
                  <a:srgbClr val="17171B"/>
                </a:solidFill>
                <a:latin typeface="Calibri" pitchFamily="34" charset="0"/>
                <a:ea typeface="Calibri" pitchFamily="34" charset="-122"/>
                <a:cs typeface="Calibri" pitchFamily="34" charset="-120"/>
              </a:rPr>
              <a:t>3</a:t>
            </a:r>
            <a:endParaRPr lang="en-US" sz="1150" dirty="0"/>
          </a:p>
        </p:txBody>
      </p:sp>
      <p:sp>
        <p:nvSpPr>
          <p:cNvPr id="17" name="Text 15"/>
          <p:cNvSpPr txBox="1"/>
          <p:nvPr/>
        </p:nvSpPr>
        <p:spPr>
          <a:xfrm>
            <a:off x="1170432" y="2935224"/>
            <a:ext cx="4681728" cy="274320"/>
          </a:xfrm>
          <a:prstGeom prst="rect">
            <a:avLst/>
          </a:prstGeom>
          <a:noFill/>
          <a:ln/>
        </p:spPr>
        <p:txBody>
          <a:bodyPr wrap="square" lIns="0" tIns="0" rIns="0" bIns="0" rtlCol="0" anchor="ctr"/>
          <a:lstStyle/>
          <a:p>
            <a:pPr indent="0" marL="0">
              <a:buNone/>
            </a:pPr>
            <a:r>
              <a:rPr lang="en-US" sz="1350" b="1" dirty="0">
                <a:solidFill>
                  <a:srgbClr val="17171B"/>
                </a:solidFill>
                <a:latin typeface="Calibri" pitchFamily="34" charset="0"/>
                <a:ea typeface="Calibri" pitchFamily="34" charset="-122"/>
                <a:cs typeface="Calibri" pitchFamily="34" charset="-120"/>
              </a:rPr>
              <a:t>Géographie et paysages</a:t>
            </a:r>
            <a:endParaRPr lang="en-US" sz="1350" dirty="0"/>
          </a:p>
        </p:txBody>
      </p:sp>
      <p:sp>
        <p:nvSpPr>
          <p:cNvPr id="18" name="Text 16"/>
          <p:cNvSpPr txBox="1"/>
          <p:nvPr/>
        </p:nvSpPr>
        <p:spPr>
          <a:xfrm>
            <a:off x="1170432" y="3209544"/>
            <a:ext cx="4681728" cy="274320"/>
          </a:xfrm>
          <a:prstGeom prst="rect">
            <a:avLst/>
          </a:prstGeom>
          <a:noFill/>
          <a:ln/>
        </p:spPr>
        <p:txBody>
          <a:bodyPr wrap="square" lIns="0" tIns="0" rIns="0" bIns="0" rtlCol="0" anchor="ctr"/>
          <a:lstStyle/>
          <a:p>
            <a:pPr indent="0" marL="0">
              <a:buNone/>
            </a:pPr>
            <a:r>
              <a:rPr lang="en-US" sz="1100" dirty="0">
                <a:solidFill>
                  <a:srgbClr val="70707C"/>
                </a:solidFill>
                <a:latin typeface="Calibri" pitchFamily="34" charset="0"/>
                <a:ea typeface="Calibri" pitchFamily="34" charset="-122"/>
                <a:cs typeface="Calibri" pitchFamily="34" charset="-120"/>
              </a:rPr>
              <a:t>Three landscapes, one small country</a:t>
            </a:r>
            <a:endParaRPr lang="en-US" sz="1100" dirty="0"/>
          </a:p>
        </p:txBody>
      </p:sp>
      <p:sp>
        <p:nvSpPr>
          <p:cNvPr id="19" name="Shape 17"/>
          <p:cNvSpPr/>
          <p:nvPr/>
        </p:nvSpPr>
        <p:spPr>
          <a:xfrm>
            <a:off x="640080" y="3694176"/>
            <a:ext cx="365760" cy="365760"/>
          </a:xfrm>
          <a:prstGeom prst="ellipse">
            <a:avLst/>
          </a:prstGeom>
          <a:solidFill>
            <a:srgbClr val="E3B23C"/>
          </a:solidFill>
          <a:ln/>
        </p:spPr>
      </p:sp>
      <p:sp>
        <p:nvSpPr>
          <p:cNvPr id="20" name="Text 18"/>
          <p:cNvSpPr txBox="1"/>
          <p:nvPr/>
        </p:nvSpPr>
        <p:spPr>
          <a:xfrm>
            <a:off x="640080" y="3694176"/>
            <a:ext cx="365760" cy="365760"/>
          </a:xfrm>
          <a:prstGeom prst="rect">
            <a:avLst/>
          </a:prstGeom>
          <a:noFill/>
          <a:ln/>
        </p:spPr>
        <p:txBody>
          <a:bodyPr wrap="square" lIns="0" tIns="0" rIns="0" bIns="0" rtlCol="0" anchor="ctr"/>
          <a:lstStyle/>
          <a:p>
            <a:pPr algn="ctr" indent="0" marL="0">
              <a:buNone/>
            </a:pPr>
            <a:r>
              <a:rPr lang="en-US" sz="1150" b="1" dirty="0">
                <a:solidFill>
                  <a:srgbClr val="17171B"/>
                </a:solidFill>
                <a:latin typeface="Calibri" pitchFamily="34" charset="0"/>
                <a:ea typeface="Calibri" pitchFamily="34" charset="-122"/>
                <a:cs typeface="Calibri" pitchFamily="34" charset="-120"/>
              </a:rPr>
              <a:t>4</a:t>
            </a:r>
            <a:endParaRPr lang="en-US" sz="1150" dirty="0"/>
          </a:p>
        </p:txBody>
      </p:sp>
      <p:sp>
        <p:nvSpPr>
          <p:cNvPr id="21" name="Text 19"/>
          <p:cNvSpPr txBox="1"/>
          <p:nvPr/>
        </p:nvSpPr>
        <p:spPr>
          <a:xfrm>
            <a:off x="1170432" y="3657600"/>
            <a:ext cx="4681728" cy="274320"/>
          </a:xfrm>
          <a:prstGeom prst="rect">
            <a:avLst/>
          </a:prstGeom>
          <a:noFill/>
          <a:ln/>
        </p:spPr>
        <p:txBody>
          <a:bodyPr wrap="square" lIns="0" tIns="0" rIns="0" bIns="0" rtlCol="0" anchor="ctr"/>
          <a:lstStyle/>
          <a:p>
            <a:pPr indent="0" marL="0">
              <a:buNone/>
            </a:pPr>
            <a:r>
              <a:rPr lang="en-US" sz="1350" b="1" dirty="0">
                <a:solidFill>
                  <a:srgbClr val="17171B"/>
                </a:solidFill>
                <a:latin typeface="Calibri" pitchFamily="34" charset="0"/>
                <a:ea typeface="Calibri" pitchFamily="34" charset="-122"/>
                <a:cs typeface="Calibri" pitchFamily="34" charset="-120"/>
              </a:rPr>
              <a:t>Régions, communautés, langues</a:t>
            </a:r>
            <a:endParaRPr lang="en-US" sz="1350" dirty="0"/>
          </a:p>
        </p:txBody>
      </p:sp>
      <p:sp>
        <p:nvSpPr>
          <p:cNvPr id="22" name="Text 20"/>
          <p:cNvSpPr txBox="1"/>
          <p:nvPr/>
        </p:nvSpPr>
        <p:spPr>
          <a:xfrm>
            <a:off x="1170432" y="3931920"/>
            <a:ext cx="4681728" cy="274320"/>
          </a:xfrm>
          <a:prstGeom prst="rect">
            <a:avLst/>
          </a:prstGeom>
          <a:noFill/>
          <a:ln/>
        </p:spPr>
        <p:txBody>
          <a:bodyPr wrap="square" lIns="0" tIns="0" rIns="0" bIns="0" rtlCol="0" anchor="ctr"/>
          <a:lstStyle/>
          <a:p>
            <a:pPr indent="0" marL="0">
              <a:buNone/>
            </a:pPr>
            <a:r>
              <a:rPr lang="en-US" sz="1100" dirty="0">
                <a:solidFill>
                  <a:srgbClr val="70707C"/>
                </a:solidFill>
                <a:latin typeface="Calibri" pitchFamily="34" charset="0"/>
                <a:ea typeface="Calibri" pitchFamily="34" charset="-122"/>
                <a:cs typeface="Calibri" pitchFamily="34" charset="-120"/>
              </a:rPr>
              <a:t>How one country holds three languages</a:t>
            </a:r>
            <a:endParaRPr lang="en-US" sz="1100" dirty="0"/>
          </a:p>
        </p:txBody>
      </p:sp>
      <p:sp>
        <p:nvSpPr>
          <p:cNvPr id="23" name="Shape 21"/>
          <p:cNvSpPr/>
          <p:nvPr/>
        </p:nvSpPr>
        <p:spPr>
          <a:xfrm>
            <a:off x="640080" y="4416552"/>
            <a:ext cx="365760" cy="365760"/>
          </a:xfrm>
          <a:prstGeom prst="ellipse">
            <a:avLst/>
          </a:prstGeom>
          <a:solidFill>
            <a:srgbClr val="E3B23C"/>
          </a:solidFill>
          <a:ln/>
        </p:spPr>
      </p:sp>
      <p:sp>
        <p:nvSpPr>
          <p:cNvPr id="24" name="Text 22"/>
          <p:cNvSpPr txBox="1"/>
          <p:nvPr/>
        </p:nvSpPr>
        <p:spPr>
          <a:xfrm>
            <a:off x="640080" y="4416552"/>
            <a:ext cx="365760" cy="365760"/>
          </a:xfrm>
          <a:prstGeom prst="rect">
            <a:avLst/>
          </a:prstGeom>
          <a:noFill/>
          <a:ln/>
        </p:spPr>
        <p:txBody>
          <a:bodyPr wrap="square" lIns="0" tIns="0" rIns="0" bIns="0" rtlCol="0" anchor="ctr"/>
          <a:lstStyle/>
          <a:p>
            <a:pPr algn="ctr" indent="0" marL="0">
              <a:buNone/>
            </a:pPr>
            <a:r>
              <a:rPr lang="en-US" sz="1150" b="1" dirty="0">
                <a:solidFill>
                  <a:srgbClr val="17171B"/>
                </a:solidFill>
                <a:latin typeface="Calibri" pitchFamily="34" charset="0"/>
                <a:ea typeface="Calibri" pitchFamily="34" charset="-122"/>
                <a:cs typeface="Calibri" pitchFamily="34" charset="-120"/>
              </a:rPr>
              <a:t>5</a:t>
            </a:r>
            <a:endParaRPr lang="en-US" sz="1150" dirty="0"/>
          </a:p>
        </p:txBody>
      </p:sp>
      <p:sp>
        <p:nvSpPr>
          <p:cNvPr id="25" name="Text 23"/>
          <p:cNvSpPr txBox="1"/>
          <p:nvPr/>
        </p:nvSpPr>
        <p:spPr>
          <a:xfrm>
            <a:off x="1170432" y="4379976"/>
            <a:ext cx="4681728" cy="274320"/>
          </a:xfrm>
          <a:prstGeom prst="rect">
            <a:avLst/>
          </a:prstGeom>
          <a:noFill/>
          <a:ln/>
        </p:spPr>
        <p:txBody>
          <a:bodyPr wrap="square" lIns="0" tIns="0" rIns="0" bIns="0" rtlCol="0" anchor="ctr"/>
          <a:lstStyle/>
          <a:p>
            <a:pPr indent="0" marL="0">
              <a:buNone/>
            </a:pPr>
            <a:r>
              <a:rPr lang="en-US" sz="1350" b="1" dirty="0">
                <a:solidFill>
                  <a:srgbClr val="17171B"/>
                </a:solidFill>
                <a:latin typeface="Calibri" pitchFamily="34" charset="0"/>
                <a:ea typeface="Calibri" pitchFamily="34" charset="-122"/>
                <a:cs typeface="Calibri" pitchFamily="34" charset="-120"/>
              </a:rPr>
              <a:t>Le nom, hier et aujourd'hui</a:t>
            </a:r>
            <a:endParaRPr lang="en-US" sz="1350" dirty="0"/>
          </a:p>
        </p:txBody>
      </p:sp>
      <p:sp>
        <p:nvSpPr>
          <p:cNvPr id="26" name="Text 24"/>
          <p:cNvSpPr txBox="1"/>
          <p:nvPr/>
        </p:nvSpPr>
        <p:spPr>
          <a:xfrm>
            <a:off x="1170432" y="4654296"/>
            <a:ext cx="4681728" cy="274320"/>
          </a:xfrm>
          <a:prstGeom prst="rect">
            <a:avLst/>
          </a:prstGeom>
          <a:noFill/>
          <a:ln/>
        </p:spPr>
        <p:txBody>
          <a:bodyPr wrap="square" lIns="0" tIns="0" rIns="0" bIns="0" rtlCol="0" anchor="ctr"/>
          <a:lstStyle/>
          <a:p>
            <a:pPr indent="0" marL="0">
              <a:buNone/>
            </a:pPr>
            <a:r>
              <a:rPr lang="en-US" sz="1100" dirty="0">
                <a:solidFill>
                  <a:srgbClr val="70707C"/>
                </a:solidFill>
                <a:latin typeface="Calibri" pitchFamily="34" charset="0"/>
                <a:ea typeface="Calibri" pitchFamily="34" charset="-122"/>
                <a:cs typeface="Calibri" pitchFamily="34" charset="-120"/>
              </a:rPr>
              <a:t>From the Belgae to the Kingdom of Belgium</a:t>
            </a:r>
            <a:endParaRPr lang="en-US" sz="1100" dirty="0"/>
          </a:p>
        </p:txBody>
      </p:sp>
      <p:sp>
        <p:nvSpPr>
          <p:cNvPr id="27" name="Shape 25"/>
          <p:cNvSpPr/>
          <p:nvPr/>
        </p:nvSpPr>
        <p:spPr>
          <a:xfrm>
            <a:off x="640080" y="5138928"/>
            <a:ext cx="365760" cy="365760"/>
          </a:xfrm>
          <a:prstGeom prst="ellipse">
            <a:avLst/>
          </a:prstGeom>
          <a:solidFill>
            <a:srgbClr val="E3B23C"/>
          </a:solidFill>
          <a:ln/>
        </p:spPr>
      </p:sp>
      <p:sp>
        <p:nvSpPr>
          <p:cNvPr id="28" name="Text 26"/>
          <p:cNvSpPr txBox="1"/>
          <p:nvPr/>
        </p:nvSpPr>
        <p:spPr>
          <a:xfrm>
            <a:off x="640080" y="5138928"/>
            <a:ext cx="365760" cy="365760"/>
          </a:xfrm>
          <a:prstGeom prst="rect">
            <a:avLst/>
          </a:prstGeom>
          <a:noFill/>
          <a:ln/>
        </p:spPr>
        <p:txBody>
          <a:bodyPr wrap="square" lIns="0" tIns="0" rIns="0" bIns="0" rtlCol="0" anchor="ctr"/>
          <a:lstStyle/>
          <a:p>
            <a:pPr algn="ctr" indent="0" marL="0">
              <a:buNone/>
            </a:pPr>
            <a:r>
              <a:rPr lang="en-US" sz="1150" b="1" dirty="0">
                <a:solidFill>
                  <a:srgbClr val="17171B"/>
                </a:solidFill>
                <a:latin typeface="Calibri" pitchFamily="34" charset="0"/>
                <a:ea typeface="Calibri" pitchFamily="34" charset="-122"/>
                <a:cs typeface="Calibri" pitchFamily="34" charset="-120"/>
              </a:rPr>
              <a:t>6</a:t>
            </a:r>
            <a:endParaRPr lang="en-US" sz="1150" dirty="0"/>
          </a:p>
        </p:txBody>
      </p:sp>
      <p:sp>
        <p:nvSpPr>
          <p:cNvPr id="29" name="Text 27"/>
          <p:cNvSpPr txBox="1"/>
          <p:nvPr/>
        </p:nvSpPr>
        <p:spPr>
          <a:xfrm>
            <a:off x="1170432" y="5102352"/>
            <a:ext cx="4681728" cy="274320"/>
          </a:xfrm>
          <a:prstGeom prst="rect">
            <a:avLst/>
          </a:prstGeom>
          <a:noFill/>
          <a:ln/>
        </p:spPr>
        <p:txBody>
          <a:bodyPr wrap="square" lIns="0" tIns="0" rIns="0" bIns="0" rtlCol="0" anchor="ctr"/>
          <a:lstStyle/>
          <a:p>
            <a:pPr indent="0" marL="0">
              <a:buNone/>
            </a:pPr>
            <a:r>
              <a:rPr lang="en-US" sz="1350" b="1" dirty="0">
                <a:solidFill>
                  <a:srgbClr val="17171B"/>
                </a:solidFill>
                <a:latin typeface="Calibri" pitchFamily="34" charset="0"/>
                <a:ea typeface="Calibri" pitchFamily="34" charset="-122"/>
                <a:cs typeface="Calibri" pitchFamily="34" charset="-120"/>
              </a:rPr>
              <a:t>Histoire</a:t>
            </a:r>
            <a:endParaRPr lang="en-US" sz="1350" dirty="0"/>
          </a:p>
        </p:txBody>
      </p:sp>
      <p:sp>
        <p:nvSpPr>
          <p:cNvPr id="30" name="Text 28"/>
          <p:cNvSpPr txBox="1"/>
          <p:nvPr/>
        </p:nvSpPr>
        <p:spPr>
          <a:xfrm>
            <a:off x="1170432" y="5376672"/>
            <a:ext cx="4681728" cy="274320"/>
          </a:xfrm>
          <a:prstGeom prst="rect">
            <a:avLst/>
          </a:prstGeom>
          <a:noFill/>
          <a:ln/>
        </p:spPr>
        <p:txBody>
          <a:bodyPr wrap="square" lIns="0" tIns="0" rIns="0" bIns="0" rtlCol="0" anchor="ctr"/>
          <a:lstStyle/>
          <a:p>
            <a:pPr indent="0" marL="0">
              <a:buNone/>
            </a:pPr>
            <a:r>
              <a:rPr lang="en-US" sz="1100" dirty="0">
                <a:solidFill>
                  <a:srgbClr val="70707C"/>
                </a:solidFill>
                <a:latin typeface="Calibri" pitchFamily="34" charset="0"/>
                <a:ea typeface="Calibri" pitchFamily="34" charset="-122"/>
                <a:cs typeface="Calibri" pitchFamily="34" charset="-120"/>
              </a:rPr>
              <a:t>Rome, the Habsburgs, France, independence, the wars</a:t>
            </a:r>
            <a:endParaRPr lang="en-US" sz="1100" dirty="0"/>
          </a:p>
        </p:txBody>
      </p:sp>
      <p:sp>
        <p:nvSpPr>
          <p:cNvPr id="31" name="Shape 29"/>
          <p:cNvSpPr/>
          <p:nvPr/>
        </p:nvSpPr>
        <p:spPr>
          <a:xfrm>
            <a:off x="6336792" y="1527048"/>
            <a:ext cx="365760" cy="365760"/>
          </a:xfrm>
          <a:prstGeom prst="ellipse">
            <a:avLst/>
          </a:prstGeom>
          <a:solidFill>
            <a:srgbClr val="E3B23C"/>
          </a:solidFill>
          <a:ln/>
        </p:spPr>
      </p:sp>
      <p:sp>
        <p:nvSpPr>
          <p:cNvPr id="32" name="Text 30"/>
          <p:cNvSpPr txBox="1"/>
          <p:nvPr/>
        </p:nvSpPr>
        <p:spPr>
          <a:xfrm>
            <a:off x="6336792" y="1527048"/>
            <a:ext cx="365760" cy="365760"/>
          </a:xfrm>
          <a:prstGeom prst="rect">
            <a:avLst/>
          </a:prstGeom>
          <a:noFill/>
          <a:ln/>
        </p:spPr>
        <p:txBody>
          <a:bodyPr wrap="square" lIns="0" tIns="0" rIns="0" bIns="0" rtlCol="0" anchor="ctr"/>
          <a:lstStyle/>
          <a:p>
            <a:pPr algn="ctr" indent="0" marL="0">
              <a:buNone/>
            </a:pPr>
            <a:r>
              <a:rPr lang="en-US" sz="1150" b="1" dirty="0">
                <a:solidFill>
                  <a:srgbClr val="17171B"/>
                </a:solidFill>
                <a:latin typeface="Calibri" pitchFamily="34" charset="0"/>
                <a:ea typeface="Calibri" pitchFamily="34" charset="-122"/>
                <a:cs typeface="Calibri" pitchFamily="34" charset="-120"/>
              </a:rPr>
              <a:t>7</a:t>
            </a:r>
            <a:endParaRPr lang="en-US" sz="1150" dirty="0"/>
          </a:p>
        </p:txBody>
      </p:sp>
      <p:sp>
        <p:nvSpPr>
          <p:cNvPr id="33" name="Text 31"/>
          <p:cNvSpPr txBox="1"/>
          <p:nvPr/>
        </p:nvSpPr>
        <p:spPr>
          <a:xfrm>
            <a:off x="6867144" y="1490472"/>
            <a:ext cx="4681728" cy="274320"/>
          </a:xfrm>
          <a:prstGeom prst="rect">
            <a:avLst/>
          </a:prstGeom>
          <a:noFill/>
          <a:ln/>
        </p:spPr>
        <p:txBody>
          <a:bodyPr wrap="square" lIns="0" tIns="0" rIns="0" bIns="0" rtlCol="0" anchor="ctr"/>
          <a:lstStyle/>
          <a:p>
            <a:pPr indent="0" marL="0">
              <a:buNone/>
            </a:pPr>
            <a:r>
              <a:rPr lang="en-US" sz="1350" b="1" dirty="0">
                <a:solidFill>
                  <a:srgbClr val="17171B"/>
                </a:solidFill>
                <a:latin typeface="Calibri" pitchFamily="34" charset="0"/>
                <a:ea typeface="Calibri" pitchFamily="34" charset="-122"/>
                <a:cs typeface="Calibri" pitchFamily="34" charset="-120"/>
              </a:rPr>
              <a:t>Statut et alliances</a:t>
            </a:r>
            <a:endParaRPr lang="en-US" sz="1350" dirty="0"/>
          </a:p>
        </p:txBody>
      </p:sp>
      <p:sp>
        <p:nvSpPr>
          <p:cNvPr id="34" name="Text 32"/>
          <p:cNvSpPr txBox="1"/>
          <p:nvPr/>
        </p:nvSpPr>
        <p:spPr>
          <a:xfrm>
            <a:off x="6867144" y="1764792"/>
            <a:ext cx="4681728" cy="274320"/>
          </a:xfrm>
          <a:prstGeom prst="rect">
            <a:avLst/>
          </a:prstGeom>
          <a:noFill/>
          <a:ln/>
        </p:spPr>
        <p:txBody>
          <a:bodyPr wrap="square" lIns="0" tIns="0" rIns="0" bIns="0" rtlCol="0" anchor="ctr"/>
          <a:lstStyle/>
          <a:p>
            <a:pPr indent="0" marL="0">
              <a:buNone/>
            </a:pPr>
            <a:r>
              <a:rPr lang="en-US" sz="1100" dirty="0">
                <a:solidFill>
                  <a:srgbClr val="70707C"/>
                </a:solidFill>
                <a:latin typeface="Calibri" pitchFamily="34" charset="0"/>
                <a:ea typeface="Calibri" pitchFamily="34" charset="-122"/>
                <a:cs typeface="Calibri" pitchFamily="34" charset="-120"/>
              </a:rPr>
              <a:t>An independent state at the centre of Europe</a:t>
            </a:r>
            <a:endParaRPr lang="en-US" sz="1100" dirty="0"/>
          </a:p>
        </p:txBody>
      </p:sp>
      <p:sp>
        <p:nvSpPr>
          <p:cNvPr id="35" name="Shape 33"/>
          <p:cNvSpPr/>
          <p:nvPr/>
        </p:nvSpPr>
        <p:spPr>
          <a:xfrm>
            <a:off x="6336792" y="2249424"/>
            <a:ext cx="365760" cy="365760"/>
          </a:xfrm>
          <a:prstGeom prst="ellipse">
            <a:avLst/>
          </a:prstGeom>
          <a:solidFill>
            <a:srgbClr val="E3B23C"/>
          </a:solidFill>
          <a:ln/>
        </p:spPr>
      </p:sp>
      <p:sp>
        <p:nvSpPr>
          <p:cNvPr id="36" name="Text 34"/>
          <p:cNvSpPr txBox="1"/>
          <p:nvPr/>
        </p:nvSpPr>
        <p:spPr>
          <a:xfrm>
            <a:off x="6336792" y="2249424"/>
            <a:ext cx="365760" cy="365760"/>
          </a:xfrm>
          <a:prstGeom prst="rect">
            <a:avLst/>
          </a:prstGeom>
          <a:noFill/>
          <a:ln/>
        </p:spPr>
        <p:txBody>
          <a:bodyPr wrap="square" lIns="0" tIns="0" rIns="0" bIns="0" rtlCol="0" anchor="ctr"/>
          <a:lstStyle/>
          <a:p>
            <a:pPr algn="ctr" indent="0" marL="0">
              <a:buNone/>
            </a:pPr>
            <a:r>
              <a:rPr lang="en-US" sz="1150" b="1" dirty="0">
                <a:solidFill>
                  <a:srgbClr val="17171B"/>
                </a:solidFill>
                <a:latin typeface="Calibri" pitchFamily="34" charset="0"/>
                <a:ea typeface="Calibri" pitchFamily="34" charset="-122"/>
                <a:cs typeface="Calibri" pitchFamily="34" charset="-120"/>
              </a:rPr>
              <a:t>8</a:t>
            </a:r>
            <a:endParaRPr lang="en-US" sz="1150" dirty="0"/>
          </a:p>
        </p:txBody>
      </p:sp>
      <p:sp>
        <p:nvSpPr>
          <p:cNvPr id="37" name="Text 35"/>
          <p:cNvSpPr txBox="1"/>
          <p:nvPr/>
        </p:nvSpPr>
        <p:spPr>
          <a:xfrm>
            <a:off x="6867144" y="2212848"/>
            <a:ext cx="4681728" cy="274320"/>
          </a:xfrm>
          <a:prstGeom prst="rect">
            <a:avLst/>
          </a:prstGeom>
          <a:noFill/>
          <a:ln/>
        </p:spPr>
        <p:txBody>
          <a:bodyPr wrap="square" lIns="0" tIns="0" rIns="0" bIns="0" rtlCol="0" anchor="ctr"/>
          <a:lstStyle/>
          <a:p>
            <a:pPr indent="0" marL="0">
              <a:buNone/>
            </a:pPr>
            <a:r>
              <a:rPr lang="en-US" sz="1350" b="1" dirty="0">
                <a:solidFill>
                  <a:srgbClr val="17171B"/>
                </a:solidFill>
                <a:latin typeface="Calibri" pitchFamily="34" charset="0"/>
                <a:ea typeface="Calibri" pitchFamily="34" charset="-122"/>
                <a:cs typeface="Calibri" pitchFamily="34" charset="-120"/>
              </a:rPr>
              <a:t>Organisation politique</a:t>
            </a:r>
            <a:endParaRPr lang="en-US" sz="1350" dirty="0"/>
          </a:p>
        </p:txBody>
      </p:sp>
      <p:sp>
        <p:nvSpPr>
          <p:cNvPr id="38" name="Text 36"/>
          <p:cNvSpPr txBox="1"/>
          <p:nvPr/>
        </p:nvSpPr>
        <p:spPr>
          <a:xfrm>
            <a:off x="6867144" y="2487168"/>
            <a:ext cx="4681728" cy="274320"/>
          </a:xfrm>
          <a:prstGeom prst="rect">
            <a:avLst/>
          </a:prstGeom>
          <a:noFill/>
          <a:ln/>
        </p:spPr>
        <p:txBody>
          <a:bodyPr wrap="square" lIns="0" tIns="0" rIns="0" bIns="0" rtlCol="0" anchor="ctr"/>
          <a:lstStyle/>
          <a:p>
            <a:pPr indent="0" marL="0">
              <a:buNone/>
            </a:pPr>
            <a:r>
              <a:rPr lang="en-US" sz="1100" dirty="0">
                <a:solidFill>
                  <a:srgbClr val="70707C"/>
                </a:solidFill>
                <a:latin typeface="Calibri" pitchFamily="34" charset="0"/>
                <a:ea typeface="Calibri" pitchFamily="34" charset="-122"/>
                <a:cs typeface="Calibri" pitchFamily="34" charset="-120"/>
              </a:rPr>
              <a:t>A federal parliamentary constitutional monarchy</a:t>
            </a:r>
            <a:endParaRPr lang="en-US" sz="1100" dirty="0"/>
          </a:p>
        </p:txBody>
      </p:sp>
      <p:sp>
        <p:nvSpPr>
          <p:cNvPr id="39" name="Shape 37"/>
          <p:cNvSpPr/>
          <p:nvPr/>
        </p:nvSpPr>
        <p:spPr>
          <a:xfrm>
            <a:off x="6336792" y="2971800"/>
            <a:ext cx="365760" cy="365760"/>
          </a:xfrm>
          <a:prstGeom prst="ellipse">
            <a:avLst/>
          </a:prstGeom>
          <a:solidFill>
            <a:srgbClr val="E3B23C"/>
          </a:solidFill>
          <a:ln/>
        </p:spPr>
      </p:sp>
      <p:sp>
        <p:nvSpPr>
          <p:cNvPr id="40" name="Text 38"/>
          <p:cNvSpPr txBox="1"/>
          <p:nvPr/>
        </p:nvSpPr>
        <p:spPr>
          <a:xfrm>
            <a:off x="6336792" y="2971800"/>
            <a:ext cx="365760" cy="365760"/>
          </a:xfrm>
          <a:prstGeom prst="rect">
            <a:avLst/>
          </a:prstGeom>
          <a:noFill/>
          <a:ln/>
        </p:spPr>
        <p:txBody>
          <a:bodyPr wrap="square" lIns="0" tIns="0" rIns="0" bIns="0" rtlCol="0" anchor="ctr"/>
          <a:lstStyle/>
          <a:p>
            <a:pPr algn="ctr" indent="0" marL="0">
              <a:buNone/>
            </a:pPr>
            <a:r>
              <a:rPr lang="en-US" sz="1150" b="1" dirty="0">
                <a:solidFill>
                  <a:srgbClr val="17171B"/>
                </a:solidFill>
                <a:latin typeface="Calibri" pitchFamily="34" charset="0"/>
                <a:ea typeface="Calibri" pitchFamily="34" charset="-122"/>
                <a:cs typeface="Calibri" pitchFamily="34" charset="-120"/>
              </a:rPr>
              <a:t>9</a:t>
            </a:r>
            <a:endParaRPr lang="en-US" sz="1150" dirty="0"/>
          </a:p>
        </p:txBody>
      </p:sp>
      <p:sp>
        <p:nvSpPr>
          <p:cNvPr id="41" name="Text 39"/>
          <p:cNvSpPr txBox="1"/>
          <p:nvPr/>
        </p:nvSpPr>
        <p:spPr>
          <a:xfrm>
            <a:off x="6867144" y="2935224"/>
            <a:ext cx="4681728" cy="274320"/>
          </a:xfrm>
          <a:prstGeom prst="rect">
            <a:avLst/>
          </a:prstGeom>
          <a:noFill/>
          <a:ln/>
        </p:spPr>
        <p:txBody>
          <a:bodyPr wrap="square" lIns="0" tIns="0" rIns="0" bIns="0" rtlCol="0" anchor="ctr"/>
          <a:lstStyle/>
          <a:p>
            <a:pPr indent="0" marL="0">
              <a:buNone/>
            </a:pPr>
            <a:r>
              <a:rPr lang="en-US" sz="1350" b="1" dirty="0">
                <a:solidFill>
                  <a:srgbClr val="17171B"/>
                </a:solidFill>
                <a:latin typeface="Calibri" pitchFamily="34" charset="0"/>
                <a:ea typeface="Calibri" pitchFamily="34" charset="-122"/>
                <a:cs typeface="Calibri" pitchFamily="34" charset="-120"/>
              </a:rPr>
              <a:t>Le Roi et le gouvernement</a:t>
            </a:r>
            <a:endParaRPr lang="en-US" sz="1350" dirty="0"/>
          </a:p>
        </p:txBody>
      </p:sp>
      <p:sp>
        <p:nvSpPr>
          <p:cNvPr id="42" name="Text 40"/>
          <p:cNvSpPr txBox="1"/>
          <p:nvPr/>
        </p:nvSpPr>
        <p:spPr>
          <a:xfrm>
            <a:off x="6867144" y="3209544"/>
            <a:ext cx="4681728" cy="274320"/>
          </a:xfrm>
          <a:prstGeom prst="rect">
            <a:avLst/>
          </a:prstGeom>
          <a:noFill/>
          <a:ln/>
        </p:spPr>
        <p:txBody>
          <a:bodyPr wrap="square" lIns="0" tIns="0" rIns="0" bIns="0" rtlCol="0" anchor="ctr"/>
          <a:lstStyle/>
          <a:p>
            <a:pPr indent="0" marL="0">
              <a:buNone/>
            </a:pPr>
            <a:r>
              <a:rPr lang="en-US" sz="1100" dirty="0">
                <a:solidFill>
                  <a:srgbClr val="70707C"/>
                </a:solidFill>
                <a:latin typeface="Calibri" pitchFamily="34" charset="0"/>
                <a:ea typeface="Calibri" pitchFamily="34" charset="-122"/>
                <a:cs typeface="Calibri" pitchFamily="34" charset="-120"/>
              </a:rPr>
              <a:t>Who leads Belgium today</a:t>
            </a:r>
            <a:endParaRPr lang="en-US" sz="1100" dirty="0"/>
          </a:p>
        </p:txBody>
      </p:sp>
      <p:sp>
        <p:nvSpPr>
          <p:cNvPr id="43" name="Shape 41"/>
          <p:cNvSpPr/>
          <p:nvPr/>
        </p:nvSpPr>
        <p:spPr>
          <a:xfrm>
            <a:off x="6336792" y="3694176"/>
            <a:ext cx="365760" cy="365760"/>
          </a:xfrm>
          <a:prstGeom prst="ellipse">
            <a:avLst/>
          </a:prstGeom>
          <a:solidFill>
            <a:srgbClr val="E3B23C"/>
          </a:solidFill>
          <a:ln/>
        </p:spPr>
      </p:sp>
      <p:sp>
        <p:nvSpPr>
          <p:cNvPr id="44" name="Text 42"/>
          <p:cNvSpPr txBox="1"/>
          <p:nvPr/>
        </p:nvSpPr>
        <p:spPr>
          <a:xfrm>
            <a:off x="6336792" y="3694176"/>
            <a:ext cx="365760" cy="365760"/>
          </a:xfrm>
          <a:prstGeom prst="rect">
            <a:avLst/>
          </a:prstGeom>
          <a:noFill/>
          <a:ln/>
        </p:spPr>
        <p:txBody>
          <a:bodyPr wrap="square" lIns="0" tIns="0" rIns="0" bIns="0" rtlCol="0" anchor="ctr"/>
          <a:lstStyle/>
          <a:p>
            <a:pPr algn="ctr" indent="0" marL="0">
              <a:buNone/>
            </a:pPr>
            <a:r>
              <a:rPr lang="en-US" sz="1150" b="1" dirty="0">
                <a:solidFill>
                  <a:srgbClr val="17171B"/>
                </a:solidFill>
                <a:latin typeface="Calibri" pitchFamily="34" charset="0"/>
                <a:ea typeface="Calibri" pitchFamily="34" charset="-122"/>
                <a:cs typeface="Calibri" pitchFamily="34" charset="-120"/>
              </a:rPr>
              <a:t>10</a:t>
            </a:r>
            <a:endParaRPr lang="en-US" sz="1150" dirty="0"/>
          </a:p>
        </p:txBody>
      </p:sp>
      <p:sp>
        <p:nvSpPr>
          <p:cNvPr id="45" name="Text 43"/>
          <p:cNvSpPr txBox="1"/>
          <p:nvPr/>
        </p:nvSpPr>
        <p:spPr>
          <a:xfrm>
            <a:off x="6867144" y="3657600"/>
            <a:ext cx="4681728" cy="274320"/>
          </a:xfrm>
          <a:prstGeom prst="rect">
            <a:avLst/>
          </a:prstGeom>
          <a:noFill/>
          <a:ln/>
        </p:spPr>
        <p:txBody>
          <a:bodyPr wrap="square" lIns="0" tIns="0" rIns="0" bIns="0" rtlCol="0" anchor="ctr"/>
          <a:lstStyle/>
          <a:p>
            <a:pPr indent="0" marL="0">
              <a:buNone/>
            </a:pPr>
            <a:r>
              <a:rPr lang="en-US" sz="1350" b="1" dirty="0">
                <a:solidFill>
                  <a:srgbClr val="17171B"/>
                </a:solidFill>
                <a:latin typeface="Calibri" pitchFamily="34" charset="0"/>
                <a:ea typeface="Calibri" pitchFamily="34" charset="-122"/>
                <a:cs typeface="Calibri" pitchFamily="34" charset="-120"/>
              </a:rPr>
              <a:t>Bruxelles, capitale de l'Europe</a:t>
            </a:r>
            <a:endParaRPr lang="en-US" sz="1350" dirty="0"/>
          </a:p>
        </p:txBody>
      </p:sp>
      <p:sp>
        <p:nvSpPr>
          <p:cNvPr id="46" name="Text 44"/>
          <p:cNvSpPr txBox="1"/>
          <p:nvPr/>
        </p:nvSpPr>
        <p:spPr>
          <a:xfrm>
            <a:off x="6867144" y="3931920"/>
            <a:ext cx="4681728" cy="274320"/>
          </a:xfrm>
          <a:prstGeom prst="rect">
            <a:avLst/>
          </a:prstGeom>
          <a:noFill/>
          <a:ln/>
        </p:spPr>
        <p:txBody>
          <a:bodyPr wrap="square" lIns="0" tIns="0" rIns="0" bIns="0" rtlCol="0" anchor="ctr"/>
          <a:lstStyle/>
          <a:p>
            <a:pPr indent="0" marL="0">
              <a:buNone/>
            </a:pPr>
            <a:r>
              <a:rPr lang="en-US" sz="1100" dirty="0">
                <a:solidFill>
                  <a:srgbClr val="70707C"/>
                </a:solidFill>
                <a:latin typeface="Calibri" pitchFamily="34" charset="0"/>
                <a:ea typeface="Calibri" pitchFamily="34" charset="-122"/>
                <a:cs typeface="Calibri" pitchFamily="34" charset="-120"/>
              </a:rPr>
              <a:t>The EU, NATO and a bilingual city</a:t>
            </a:r>
            <a:endParaRPr lang="en-US" sz="1100" dirty="0"/>
          </a:p>
        </p:txBody>
      </p:sp>
      <p:sp>
        <p:nvSpPr>
          <p:cNvPr id="47" name="Shape 45"/>
          <p:cNvSpPr/>
          <p:nvPr/>
        </p:nvSpPr>
        <p:spPr>
          <a:xfrm>
            <a:off x="6336792" y="4416552"/>
            <a:ext cx="365760" cy="365760"/>
          </a:xfrm>
          <a:prstGeom prst="ellipse">
            <a:avLst/>
          </a:prstGeom>
          <a:solidFill>
            <a:srgbClr val="E3B23C"/>
          </a:solidFill>
          <a:ln/>
        </p:spPr>
      </p:sp>
      <p:sp>
        <p:nvSpPr>
          <p:cNvPr id="48" name="Text 46"/>
          <p:cNvSpPr txBox="1"/>
          <p:nvPr/>
        </p:nvSpPr>
        <p:spPr>
          <a:xfrm>
            <a:off x="6336792" y="4416552"/>
            <a:ext cx="365760" cy="365760"/>
          </a:xfrm>
          <a:prstGeom prst="rect">
            <a:avLst/>
          </a:prstGeom>
          <a:noFill/>
          <a:ln/>
        </p:spPr>
        <p:txBody>
          <a:bodyPr wrap="square" lIns="0" tIns="0" rIns="0" bIns="0" rtlCol="0" anchor="ctr"/>
          <a:lstStyle/>
          <a:p>
            <a:pPr algn="ctr" indent="0" marL="0">
              <a:buNone/>
            </a:pPr>
            <a:r>
              <a:rPr lang="en-US" sz="1150" b="1" dirty="0">
                <a:solidFill>
                  <a:srgbClr val="17171B"/>
                </a:solidFill>
                <a:latin typeface="Calibri" pitchFamily="34" charset="0"/>
                <a:ea typeface="Calibri" pitchFamily="34" charset="-122"/>
                <a:cs typeface="Calibri" pitchFamily="34" charset="-120"/>
              </a:rPr>
              <a:t>11</a:t>
            </a:r>
            <a:endParaRPr lang="en-US" sz="1150" dirty="0"/>
          </a:p>
        </p:txBody>
      </p:sp>
      <p:sp>
        <p:nvSpPr>
          <p:cNvPr id="49" name="Text 47"/>
          <p:cNvSpPr txBox="1"/>
          <p:nvPr/>
        </p:nvSpPr>
        <p:spPr>
          <a:xfrm>
            <a:off x="6867144" y="4379976"/>
            <a:ext cx="4681728" cy="274320"/>
          </a:xfrm>
          <a:prstGeom prst="rect">
            <a:avLst/>
          </a:prstGeom>
          <a:noFill/>
          <a:ln/>
        </p:spPr>
        <p:txBody>
          <a:bodyPr wrap="square" lIns="0" tIns="0" rIns="0" bIns="0" rtlCol="0" anchor="ctr"/>
          <a:lstStyle/>
          <a:p>
            <a:pPr indent="0" marL="0">
              <a:buNone/>
            </a:pPr>
            <a:r>
              <a:rPr lang="en-US" sz="1350" b="1" dirty="0">
                <a:solidFill>
                  <a:srgbClr val="17171B"/>
                </a:solidFill>
                <a:latin typeface="Calibri" pitchFamily="34" charset="0"/>
                <a:ea typeface="Calibri" pitchFamily="34" charset="-122"/>
                <a:cs typeface="Calibri" pitchFamily="34" charset="-120"/>
              </a:rPr>
              <a:t>Culture et gastronomie</a:t>
            </a:r>
            <a:endParaRPr lang="en-US" sz="1350" dirty="0"/>
          </a:p>
        </p:txBody>
      </p:sp>
      <p:sp>
        <p:nvSpPr>
          <p:cNvPr id="50" name="Text 48"/>
          <p:cNvSpPr txBox="1"/>
          <p:nvPr/>
        </p:nvSpPr>
        <p:spPr>
          <a:xfrm>
            <a:off x="6867144" y="4654296"/>
            <a:ext cx="4681728" cy="274320"/>
          </a:xfrm>
          <a:prstGeom prst="rect">
            <a:avLst/>
          </a:prstGeom>
          <a:noFill/>
          <a:ln/>
        </p:spPr>
        <p:txBody>
          <a:bodyPr wrap="square" lIns="0" tIns="0" rIns="0" bIns="0" rtlCol="0" anchor="ctr"/>
          <a:lstStyle/>
          <a:p>
            <a:pPr indent="0" marL="0">
              <a:buNone/>
            </a:pPr>
            <a:r>
              <a:rPr lang="en-US" sz="1100" dirty="0">
                <a:solidFill>
                  <a:srgbClr val="70707C"/>
                </a:solidFill>
                <a:latin typeface="Calibri" pitchFamily="34" charset="0"/>
                <a:ea typeface="Calibri" pitchFamily="34" charset="-122"/>
                <a:cs typeface="Calibri" pitchFamily="34" charset="-120"/>
              </a:rPr>
              <a:t>Painters, comic strips, chocolate and beer</a:t>
            </a:r>
            <a:endParaRPr lang="en-US" sz="1100" dirty="0"/>
          </a:p>
        </p:txBody>
      </p:sp>
      <p:sp>
        <p:nvSpPr>
          <p:cNvPr id="51" name="Shape 49"/>
          <p:cNvSpPr/>
          <p:nvPr/>
        </p:nvSpPr>
        <p:spPr>
          <a:xfrm>
            <a:off x="6336792" y="5138928"/>
            <a:ext cx="365760" cy="365760"/>
          </a:xfrm>
          <a:prstGeom prst="ellipse">
            <a:avLst/>
          </a:prstGeom>
          <a:solidFill>
            <a:srgbClr val="E3B23C"/>
          </a:solidFill>
          <a:ln/>
        </p:spPr>
      </p:sp>
      <p:sp>
        <p:nvSpPr>
          <p:cNvPr id="52" name="Text 50"/>
          <p:cNvSpPr txBox="1"/>
          <p:nvPr/>
        </p:nvSpPr>
        <p:spPr>
          <a:xfrm>
            <a:off x="6336792" y="5138928"/>
            <a:ext cx="365760" cy="365760"/>
          </a:xfrm>
          <a:prstGeom prst="rect">
            <a:avLst/>
          </a:prstGeom>
          <a:noFill/>
          <a:ln/>
        </p:spPr>
        <p:txBody>
          <a:bodyPr wrap="square" lIns="0" tIns="0" rIns="0" bIns="0" rtlCol="0" anchor="ctr"/>
          <a:lstStyle/>
          <a:p>
            <a:pPr algn="ctr" indent="0" marL="0">
              <a:buNone/>
            </a:pPr>
            <a:r>
              <a:rPr lang="en-US" sz="1150" b="1" dirty="0">
                <a:solidFill>
                  <a:srgbClr val="17171B"/>
                </a:solidFill>
                <a:latin typeface="Calibri" pitchFamily="34" charset="0"/>
                <a:ea typeface="Calibri" pitchFamily="34" charset="-122"/>
                <a:cs typeface="Calibri" pitchFamily="34" charset="-120"/>
              </a:rPr>
              <a:t>12</a:t>
            </a:r>
            <a:endParaRPr lang="en-US" sz="1150" dirty="0"/>
          </a:p>
        </p:txBody>
      </p:sp>
      <p:sp>
        <p:nvSpPr>
          <p:cNvPr id="53" name="Text 51"/>
          <p:cNvSpPr txBox="1"/>
          <p:nvPr/>
        </p:nvSpPr>
        <p:spPr>
          <a:xfrm>
            <a:off x="6867144" y="5102352"/>
            <a:ext cx="4681728" cy="274320"/>
          </a:xfrm>
          <a:prstGeom prst="rect">
            <a:avLst/>
          </a:prstGeom>
          <a:noFill/>
          <a:ln/>
        </p:spPr>
        <p:txBody>
          <a:bodyPr wrap="square" lIns="0" tIns="0" rIns="0" bIns="0" rtlCol="0" anchor="ctr"/>
          <a:lstStyle/>
          <a:p>
            <a:pPr indent="0" marL="0">
              <a:buNone/>
            </a:pPr>
            <a:r>
              <a:rPr lang="en-US" sz="1350" b="1" dirty="0">
                <a:solidFill>
                  <a:srgbClr val="17171B"/>
                </a:solidFill>
                <a:latin typeface="Calibri" pitchFamily="34" charset="0"/>
                <a:ea typeface="Calibri" pitchFamily="34" charset="-122"/>
                <a:cs typeface="Calibri" pitchFamily="34" charset="-120"/>
              </a:rPr>
              <a:t>Infos pratiques</a:t>
            </a:r>
            <a:endParaRPr lang="en-US" sz="1350" dirty="0"/>
          </a:p>
        </p:txBody>
      </p:sp>
      <p:sp>
        <p:nvSpPr>
          <p:cNvPr id="54" name="Text 52"/>
          <p:cNvSpPr txBox="1"/>
          <p:nvPr/>
        </p:nvSpPr>
        <p:spPr>
          <a:xfrm>
            <a:off x="6867144" y="5376672"/>
            <a:ext cx="4681728" cy="274320"/>
          </a:xfrm>
          <a:prstGeom prst="rect">
            <a:avLst/>
          </a:prstGeom>
          <a:noFill/>
          <a:ln/>
        </p:spPr>
        <p:txBody>
          <a:bodyPr wrap="square" lIns="0" tIns="0" rIns="0" bIns="0" rtlCol="0" anchor="ctr"/>
          <a:lstStyle/>
          <a:p>
            <a:pPr indent="0" marL="0">
              <a:buNone/>
            </a:pPr>
            <a:r>
              <a:rPr lang="en-US" sz="1100" dirty="0">
                <a:solidFill>
                  <a:srgbClr val="70707C"/>
                </a:solidFill>
                <a:latin typeface="Calibri" pitchFamily="34" charset="0"/>
                <a:ea typeface="Calibri" pitchFamily="34" charset="-122"/>
                <a:cs typeface="Calibri" pitchFamily="34" charset="-120"/>
              </a:rPr>
              <a:t>What a visitor needs to know</a:t>
            </a:r>
            <a:endParaRPr lang="en-US" sz="11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640080" y="402336"/>
            <a:ext cx="10911535" cy="237744"/>
          </a:xfrm>
          <a:prstGeom prst="rect">
            <a:avLst/>
          </a:prstGeom>
          <a:noFill/>
          <a:ln/>
        </p:spPr>
        <p:txBody>
          <a:bodyPr wrap="square" lIns="0" tIns="0" rIns="0" bIns="0" rtlCol="0" anchor="ctr"/>
          <a:lstStyle/>
          <a:p>
            <a:pPr indent="0" marL="0">
              <a:buNone/>
            </a:pPr>
            <a:r>
              <a:rPr lang="en-US" sz="1150" b="1" spc="220" kern="0" dirty="0">
                <a:solidFill>
                  <a:srgbClr val="E3B23C"/>
                </a:solidFill>
                <a:latin typeface="Calibri" pitchFamily="34" charset="0"/>
                <a:ea typeface="Calibri" pitchFamily="34" charset="-122"/>
                <a:cs typeface="Calibri" pitchFamily="34" charset="-120"/>
              </a:rPr>
              <a:t>OÙ SE TROUVE LA BELGIQUE ?</a:t>
            </a:r>
            <a:endParaRPr lang="en-US" sz="1150" dirty="0"/>
          </a:p>
        </p:txBody>
      </p:sp>
      <p:sp>
        <p:nvSpPr>
          <p:cNvPr id="3" name="Text 1"/>
          <p:cNvSpPr txBox="1"/>
          <p:nvPr/>
        </p:nvSpPr>
        <p:spPr>
          <a:xfrm>
            <a:off x="640080" y="676656"/>
            <a:ext cx="10911535" cy="603504"/>
          </a:xfrm>
          <a:prstGeom prst="rect">
            <a:avLst/>
          </a:prstGeom>
          <a:noFill/>
          <a:ln/>
        </p:spPr>
        <p:txBody>
          <a:bodyPr wrap="square" lIns="0" tIns="0" rIns="0" bIns="0" rtlCol="0" anchor="ctr"/>
          <a:lstStyle/>
          <a:p>
            <a:pPr indent="0" marL="0">
              <a:buNone/>
            </a:pPr>
            <a:r>
              <a:rPr lang="en-US" sz="3100" b="1" dirty="0">
                <a:solidFill>
                  <a:srgbClr val="17171B"/>
                </a:solidFill>
                <a:latin typeface="Cambria" pitchFamily="34" charset="0"/>
                <a:ea typeface="Cambria" pitchFamily="34" charset="-122"/>
                <a:cs typeface="Cambria" pitchFamily="34" charset="-120"/>
              </a:rPr>
              <a:t>Western Europe, on the North Sea</a:t>
            </a:r>
            <a:endParaRPr lang="en-US" sz="3100" dirty="0"/>
          </a:p>
        </p:txBody>
      </p:sp>
      <p:sp>
        <p:nvSpPr>
          <p:cNvPr id="4" name="Shape 2"/>
          <p:cNvSpPr/>
          <p:nvPr/>
        </p:nvSpPr>
        <p:spPr>
          <a:xfrm>
            <a:off x="640080" y="6163056"/>
            <a:ext cx="384048" cy="384048"/>
          </a:xfrm>
          <a:prstGeom prst="ellipse">
            <a:avLst/>
          </a:prstGeom>
          <a:solidFill>
            <a:srgbClr val="E3B23C"/>
          </a:solidFill>
          <a:ln/>
        </p:spPr>
      </p:sp>
      <p:sp>
        <p:nvSpPr>
          <p:cNvPr id="5" name="Text 3"/>
          <p:cNvSpPr txBox="1"/>
          <p:nvPr/>
        </p:nvSpPr>
        <p:spPr>
          <a:xfrm>
            <a:off x="640080" y="6163056"/>
            <a:ext cx="384048" cy="384048"/>
          </a:xfrm>
          <a:prstGeom prst="rect">
            <a:avLst/>
          </a:prstGeom>
          <a:noFill/>
          <a:ln/>
        </p:spPr>
        <p:txBody>
          <a:bodyPr wrap="square" lIns="0" tIns="0" rIns="0" bIns="0" rtlCol="0" anchor="ctr"/>
          <a:lstStyle/>
          <a:p>
            <a:pPr algn="ctr" indent="0" marL="0">
              <a:buNone/>
            </a:pPr>
            <a:r>
              <a:rPr lang="en-US" sz="1200" b="1" dirty="0">
                <a:solidFill>
                  <a:srgbClr val="17171B"/>
                </a:solidFill>
                <a:latin typeface="Calibri" pitchFamily="34" charset="0"/>
                <a:ea typeface="Calibri" pitchFamily="34" charset="-122"/>
                <a:cs typeface="Calibri" pitchFamily="34" charset="-120"/>
              </a:rPr>
              <a:t>3</a:t>
            </a:r>
            <a:endParaRPr lang="en-US" sz="1200" dirty="0"/>
          </a:p>
        </p:txBody>
      </p:sp>
      <p:sp>
        <p:nvSpPr>
          <p:cNvPr id="6" name="Text 4"/>
          <p:cNvSpPr txBox="1"/>
          <p:nvPr/>
        </p:nvSpPr>
        <p:spPr>
          <a:xfrm>
            <a:off x="6035040" y="6245352"/>
            <a:ext cx="5516575" cy="237744"/>
          </a:xfrm>
          <a:prstGeom prst="rect">
            <a:avLst/>
          </a:prstGeom>
          <a:noFill/>
          <a:ln/>
        </p:spPr>
        <p:txBody>
          <a:bodyPr wrap="square" lIns="0" tIns="0" rIns="0" bIns="0" rtlCol="0" anchor="ctr"/>
          <a:lstStyle/>
          <a:p>
            <a:pPr algn="r" indent="0" marL="0">
              <a:buNone/>
            </a:pPr>
            <a:r>
              <a:rPr lang="en-US" sz="900" dirty="0">
                <a:solidFill>
                  <a:srgbClr val="70707C"/>
                </a:solidFill>
                <a:latin typeface="Calibri" pitchFamily="34" charset="0"/>
                <a:ea typeface="Calibri" pitchFamily="34" charset="-122"/>
                <a:cs typeface="Calibri" pitchFamily="34" charset="-120"/>
              </a:rPr>
              <a:t>La Belgique  ·  FREN 201  ·  Projet Francophonie</a:t>
            </a:r>
            <a:endParaRPr lang="en-US" sz="900" dirty="0"/>
          </a:p>
        </p:txBody>
      </p:sp>
      <p:pic>
        <p:nvPicPr>
          <p:cNvPr id="7" name="Image 0" descr="/tmp/claude-0/-home-user-BOYNT-WORK/856f02cf-0e32-5bfe-bffb-9edb29b314f9/scratchpad/deckimg/map_europe_belgium.png">    </p:cNvPr>
          <p:cNvPicPr>
            <a:picLocks noChangeAspect="1"/>
          </p:cNvPicPr>
          <p:nvPr/>
        </p:nvPicPr>
        <p:blipFill>
          <a:blip r:embed="rId1"/>
          <a:stretch>
            <a:fillRect/>
          </a:stretch>
        </p:blipFill>
        <p:spPr>
          <a:xfrm>
            <a:off x="640080" y="1481328"/>
            <a:ext cx="5577840" cy="4300902"/>
          </a:xfrm>
          <a:prstGeom prst="rect">
            <a:avLst/>
          </a:prstGeom>
        </p:spPr>
      </p:pic>
      <p:sp>
        <p:nvSpPr>
          <p:cNvPr id="8" name="Text 5"/>
          <p:cNvSpPr txBox="1"/>
          <p:nvPr/>
        </p:nvSpPr>
        <p:spPr>
          <a:xfrm>
            <a:off x="640080" y="5891958"/>
            <a:ext cx="5577840" cy="274320"/>
          </a:xfrm>
          <a:prstGeom prst="rect">
            <a:avLst/>
          </a:prstGeom>
          <a:noFill/>
          <a:ln/>
        </p:spPr>
        <p:txBody>
          <a:bodyPr wrap="square" lIns="0" tIns="0" rIns="0" bIns="0" rtlCol="0" anchor="ctr"/>
          <a:lstStyle/>
          <a:p>
            <a:pPr indent="0" marL="0">
              <a:buNone/>
            </a:pPr>
            <a:r>
              <a:rPr lang="en-US" sz="950" i="1" dirty="0">
                <a:solidFill>
                  <a:srgbClr val="70707C"/>
                </a:solidFill>
                <a:latin typeface="Calibri" pitchFamily="34" charset="0"/>
                <a:ea typeface="Calibri" pitchFamily="34" charset="-122"/>
                <a:cs typeface="Calibri" pitchFamily="34" charset="-120"/>
              </a:rPr>
              <a:t>Belgium marked in red on the blank outline map supplied with the assignment.</a:t>
            </a:r>
            <a:endParaRPr lang="en-US" sz="950" dirty="0"/>
          </a:p>
        </p:txBody>
      </p:sp>
      <p:sp>
        <p:nvSpPr>
          <p:cNvPr id="9" name="Shape 6"/>
          <p:cNvSpPr/>
          <p:nvPr/>
        </p:nvSpPr>
        <p:spPr>
          <a:xfrm>
            <a:off x="6693408" y="1481328"/>
            <a:ext cx="4858207" cy="2286000"/>
          </a:xfrm>
          <a:prstGeom prst="roundRect">
            <a:avLst>
              <a:gd name="adj" fmla="val 3600"/>
            </a:avLst>
          </a:prstGeom>
          <a:solidFill>
            <a:srgbClr val="F4F4F6"/>
          </a:solidFill>
          <a:ln w="12700">
            <a:solidFill>
              <a:srgbClr val="E4E4E9"/>
            </a:solidFill>
            <a:prstDash val="solid"/>
          </a:ln>
          <a:effectLst>
            <a:outerShdw sx="100000" sy="100000" kx="0" ky="0" algn="bl" rotWithShape="0" blurRad="127000" dist="25400" dir="5400000">
              <a:srgbClr val="9A9AA6">
                <a:alpha val="22000"/>
              </a:srgbClr>
            </a:outerShdw>
          </a:effectLst>
        </p:spPr>
      </p:sp>
      <p:sp>
        <p:nvSpPr>
          <p:cNvPr id="10" name="Text 7"/>
          <p:cNvSpPr txBox="1"/>
          <p:nvPr/>
        </p:nvSpPr>
        <p:spPr>
          <a:xfrm>
            <a:off x="6949440" y="1627632"/>
            <a:ext cx="4346143" cy="237744"/>
          </a:xfrm>
          <a:prstGeom prst="rect">
            <a:avLst/>
          </a:prstGeom>
          <a:noFill/>
          <a:ln/>
        </p:spPr>
        <p:txBody>
          <a:bodyPr wrap="square" lIns="0" tIns="0" rIns="0" bIns="0" rtlCol="0" anchor="ctr"/>
          <a:lstStyle/>
          <a:p>
            <a:pPr indent="0" marL="0">
              <a:buNone/>
            </a:pPr>
            <a:r>
              <a:rPr lang="en-US" sz="1050" b="1" spc="110" kern="0" dirty="0">
                <a:solidFill>
                  <a:srgbClr val="E3B23C"/>
                </a:solidFill>
                <a:latin typeface="Calibri" pitchFamily="34" charset="0"/>
                <a:ea typeface="Calibri" pitchFamily="34" charset="-122"/>
                <a:cs typeface="Calibri" pitchFamily="34" charset="-120"/>
              </a:rPr>
              <a:t>LAND BORDERS  ·  1,297 km IN TOTAL</a:t>
            </a:r>
            <a:endParaRPr lang="en-US" sz="1050" dirty="0"/>
          </a:p>
        </p:txBody>
      </p:sp>
      <p:sp>
        <p:nvSpPr>
          <p:cNvPr id="11" name="Text 8"/>
          <p:cNvSpPr txBox="1"/>
          <p:nvPr/>
        </p:nvSpPr>
        <p:spPr>
          <a:xfrm>
            <a:off x="6949440" y="1920240"/>
            <a:ext cx="1298448" cy="365760"/>
          </a:xfrm>
          <a:prstGeom prst="rect">
            <a:avLst/>
          </a:prstGeom>
          <a:noFill/>
          <a:ln/>
        </p:spPr>
        <p:txBody>
          <a:bodyPr wrap="square" lIns="0" tIns="0" rIns="0" bIns="0" rtlCol="0" anchor="t"/>
          <a:lstStyle/>
          <a:p>
            <a:pPr indent="0" marL="0">
              <a:buNone/>
            </a:pPr>
            <a:r>
              <a:rPr lang="en-US" sz="1150" b="1" dirty="0">
                <a:solidFill>
                  <a:srgbClr val="17171B"/>
                </a:solidFill>
                <a:latin typeface="Calibri" pitchFamily="34" charset="0"/>
                <a:ea typeface="Calibri" pitchFamily="34" charset="-122"/>
                <a:cs typeface="Calibri" pitchFamily="34" charset="-120"/>
              </a:rPr>
              <a:t>France</a:t>
            </a:r>
            <a:endParaRPr lang="en-US" sz="1150" dirty="0"/>
          </a:p>
        </p:txBody>
      </p:sp>
      <p:sp>
        <p:nvSpPr>
          <p:cNvPr id="12" name="Text 9"/>
          <p:cNvSpPr txBox="1"/>
          <p:nvPr/>
        </p:nvSpPr>
        <p:spPr>
          <a:xfrm>
            <a:off x="8247888" y="1920240"/>
            <a:ext cx="3047695" cy="365760"/>
          </a:xfrm>
          <a:prstGeom prst="rect">
            <a:avLst/>
          </a:prstGeom>
          <a:noFill/>
          <a:ln/>
        </p:spPr>
        <p:txBody>
          <a:bodyPr wrap="square" lIns="0" tIns="0" rIns="0" bIns="0" rtlCol="0" anchor="t"/>
          <a:lstStyle/>
          <a:p>
            <a:pPr indent="0" marL="0">
              <a:buNone/>
            </a:pPr>
            <a:r>
              <a:rPr lang="en-US" sz="1150" dirty="0">
                <a:solidFill>
                  <a:srgbClr val="3E3E48"/>
                </a:solidFill>
                <a:latin typeface="Calibri" pitchFamily="34" charset="0"/>
                <a:ea typeface="Calibri" pitchFamily="34" charset="-122"/>
                <a:cs typeface="Calibri" pitchFamily="34" charset="-120"/>
              </a:rPr>
              <a:t>556 km — south and south-west</a:t>
            </a:r>
            <a:endParaRPr lang="en-US" sz="1150" dirty="0"/>
          </a:p>
        </p:txBody>
      </p:sp>
      <p:sp>
        <p:nvSpPr>
          <p:cNvPr id="13" name="Text 10"/>
          <p:cNvSpPr txBox="1"/>
          <p:nvPr/>
        </p:nvSpPr>
        <p:spPr>
          <a:xfrm>
            <a:off x="6949440" y="2286000"/>
            <a:ext cx="1298448" cy="365760"/>
          </a:xfrm>
          <a:prstGeom prst="rect">
            <a:avLst/>
          </a:prstGeom>
          <a:noFill/>
          <a:ln/>
        </p:spPr>
        <p:txBody>
          <a:bodyPr wrap="square" lIns="0" tIns="0" rIns="0" bIns="0" rtlCol="0" anchor="t"/>
          <a:lstStyle/>
          <a:p>
            <a:pPr indent="0" marL="0">
              <a:buNone/>
            </a:pPr>
            <a:r>
              <a:rPr lang="en-US" sz="1150" b="1" dirty="0">
                <a:solidFill>
                  <a:srgbClr val="17171B"/>
                </a:solidFill>
                <a:latin typeface="Calibri" pitchFamily="34" charset="0"/>
                <a:ea typeface="Calibri" pitchFamily="34" charset="-122"/>
                <a:cs typeface="Calibri" pitchFamily="34" charset="-120"/>
              </a:rPr>
              <a:t>Netherlands</a:t>
            </a:r>
            <a:endParaRPr lang="en-US" sz="1150" dirty="0"/>
          </a:p>
        </p:txBody>
      </p:sp>
      <p:sp>
        <p:nvSpPr>
          <p:cNvPr id="14" name="Text 11"/>
          <p:cNvSpPr txBox="1"/>
          <p:nvPr/>
        </p:nvSpPr>
        <p:spPr>
          <a:xfrm>
            <a:off x="8247888" y="2286000"/>
            <a:ext cx="3047695" cy="365760"/>
          </a:xfrm>
          <a:prstGeom prst="rect">
            <a:avLst/>
          </a:prstGeom>
          <a:noFill/>
          <a:ln/>
        </p:spPr>
        <p:txBody>
          <a:bodyPr wrap="square" lIns="0" tIns="0" rIns="0" bIns="0" rtlCol="0" anchor="t"/>
          <a:lstStyle/>
          <a:p>
            <a:pPr indent="0" marL="0">
              <a:buNone/>
            </a:pPr>
            <a:r>
              <a:rPr lang="en-US" sz="1150" dirty="0">
                <a:solidFill>
                  <a:srgbClr val="3E3E48"/>
                </a:solidFill>
                <a:latin typeface="Calibri" pitchFamily="34" charset="0"/>
                <a:ea typeface="Calibri" pitchFamily="34" charset="-122"/>
                <a:cs typeface="Calibri" pitchFamily="34" charset="-120"/>
              </a:rPr>
              <a:t>478 km — north</a:t>
            </a:r>
            <a:endParaRPr lang="en-US" sz="1150" dirty="0"/>
          </a:p>
        </p:txBody>
      </p:sp>
      <p:sp>
        <p:nvSpPr>
          <p:cNvPr id="15" name="Text 12"/>
          <p:cNvSpPr txBox="1"/>
          <p:nvPr/>
        </p:nvSpPr>
        <p:spPr>
          <a:xfrm>
            <a:off x="6949440" y="2651760"/>
            <a:ext cx="1298448" cy="365760"/>
          </a:xfrm>
          <a:prstGeom prst="rect">
            <a:avLst/>
          </a:prstGeom>
          <a:noFill/>
          <a:ln/>
        </p:spPr>
        <p:txBody>
          <a:bodyPr wrap="square" lIns="0" tIns="0" rIns="0" bIns="0" rtlCol="0" anchor="t"/>
          <a:lstStyle/>
          <a:p>
            <a:pPr indent="0" marL="0">
              <a:buNone/>
            </a:pPr>
            <a:r>
              <a:rPr lang="en-US" sz="1150" b="1" dirty="0">
                <a:solidFill>
                  <a:srgbClr val="17171B"/>
                </a:solidFill>
                <a:latin typeface="Calibri" pitchFamily="34" charset="0"/>
                <a:ea typeface="Calibri" pitchFamily="34" charset="-122"/>
                <a:cs typeface="Calibri" pitchFamily="34" charset="-120"/>
              </a:rPr>
              <a:t>Germany</a:t>
            </a:r>
            <a:endParaRPr lang="en-US" sz="1150" dirty="0"/>
          </a:p>
        </p:txBody>
      </p:sp>
      <p:sp>
        <p:nvSpPr>
          <p:cNvPr id="16" name="Text 13"/>
          <p:cNvSpPr txBox="1"/>
          <p:nvPr/>
        </p:nvSpPr>
        <p:spPr>
          <a:xfrm>
            <a:off x="8247888" y="2651760"/>
            <a:ext cx="3047695" cy="365760"/>
          </a:xfrm>
          <a:prstGeom prst="rect">
            <a:avLst/>
          </a:prstGeom>
          <a:noFill/>
          <a:ln/>
        </p:spPr>
        <p:txBody>
          <a:bodyPr wrap="square" lIns="0" tIns="0" rIns="0" bIns="0" rtlCol="0" anchor="t"/>
          <a:lstStyle/>
          <a:p>
            <a:pPr indent="0" marL="0">
              <a:buNone/>
            </a:pPr>
            <a:r>
              <a:rPr lang="en-US" sz="1150" dirty="0">
                <a:solidFill>
                  <a:srgbClr val="3E3E48"/>
                </a:solidFill>
                <a:latin typeface="Calibri" pitchFamily="34" charset="0"/>
                <a:ea typeface="Calibri" pitchFamily="34" charset="-122"/>
                <a:cs typeface="Calibri" pitchFamily="34" charset="-120"/>
              </a:rPr>
              <a:t>133 km — east</a:t>
            </a:r>
            <a:endParaRPr lang="en-US" sz="1150" dirty="0"/>
          </a:p>
        </p:txBody>
      </p:sp>
      <p:sp>
        <p:nvSpPr>
          <p:cNvPr id="17" name="Text 14"/>
          <p:cNvSpPr txBox="1"/>
          <p:nvPr/>
        </p:nvSpPr>
        <p:spPr>
          <a:xfrm>
            <a:off x="6949440" y="3017520"/>
            <a:ext cx="1298448" cy="365760"/>
          </a:xfrm>
          <a:prstGeom prst="rect">
            <a:avLst/>
          </a:prstGeom>
          <a:noFill/>
          <a:ln/>
        </p:spPr>
        <p:txBody>
          <a:bodyPr wrap="square" lIns="0" tIns="0" rIns="0" bIns="0" rtlCol="0" anchor="t"/>
          <a:lstStyle/>
          <a:p>
            <a:pPr indent="0" marL="0">
              <a:buNone/>
            </a:pPr>
            <a:r>
              <a:rPr lang="en-US" sz="1150" b="1" dirty="0">
                <a:solidFill>
                  <a:srgbClr val="17171B"/>
                </a:solidFill>
                <a:latin typeface="Calibri" pitchFamily="34" charset="0"/>
                <a:ea typeface="Calibri" pitchFamily="34" charset="-122"/>
                <a:cs typeface="Calibri" pitchFamily="34" charset="-120"/>
              </a:rPr>
              <a:t>Luxembourg</a:t>
            </a:r>
            <a:endParaRPr lang="en-US" sz="1150" dirty="0"/>
          </a:p>
        </p:txBody>
      </p:sp>
      <p:sp>
        <p:nvSpPr>
          <p:cNvPr id="18" name="Text 15"/>
          <p:cNvSpPr txBox="1"/>
          <p:nvPr/>
        </p:nvSpPr>
        <p:spPr>
          <a:xfrm>
            <a:off x="8247888" y="3017520"/>
            <a:ext cx="3047695" cy="365760"/>
          </a:xfrm>
          <a:prstGeom prst="rect">
            <a:avLst/>
          </a:prstGeom>
          <a:noFill/>
          <a:ln/>
        </p:spPr>
        <p:txBody>
          <a:bodyPr wrap="square" lIns="0" tIns="0" rIns="0" bIns="0" rtlCol="0" anchor="t"/>
          <a:lstStyle/>
          <a:p>
            <a:pPr indent="0" marL="0">
              <a:buNone/>
            </a:pPr>
            <a:r>
              <a:rPr lang="en-US" sz="1150" dirty="0">
                <a:solidFill>
                  <a:srgbClr val="3E3E48"/>
                </a:solidFill>
                <a:latin typeface="Calibri" pitchFamily="34" charset="0"/>
                <a:ea typeface="Calibri" pitchFamily="34" charset="-122"/>
                <a:cs typeface="Calibri" pitchFamily="34" charset="-120"/>
              </a:rPr>
              <a:t>130 km — south-east</a:t>
            </a:r>
            <a:endParaRPr lang="en-US" sz="1150" dirty="0"/>
          </a:p>
        </p:txBody>
      </p:sp>
      <p:sp>
        <p:nvSpPr>
          <p:cNvPr id="19" name="Text 16"/>
          <p:cNvSpPr txBox="1"/>
          <p:nvPr/>
        </p:nvSpPr>
        <p:spPr>
          <a:xfrm>
            <a:off x="6949440" y="3401568"/>
            <a:ext cx="4346143" cy="274320"/>
          </a:xfrm>
          <a:prstGeom prst="rect">
            <a:avLst/>
          </a:prstGeom>
          <a:noFill/>
          <a:ln/>
        </p:spPr>
        <p:txBody>
          <a:bodyPr wrap="square" lIns="0" tIns="0" rIns="0" bIns="0" rtlCol="0" anchor="ctr"/>
          <a:lstStyle/>
          <a:p>
            <a:pPr indent="0" marL="0">
              <a:buNone/>
            </a:pPr>
            <a:r>
              <a:rPr lang="en-US" sz="1100" i="1" dirty="0">
                <a:solidFill>
                  <a:srgbClr val="70707C"/>
                </a:solidFill>
                <a:latin typeface="Calibri" pitchFamily="34" charset="0"/>
                <a:ea typeface="Calibri" pitchFamily="34" charset="-122"/>
                <a:cs typeface="Calibri" pitchFamily="34" charset="-120"/>
              </a:rPr>
              <a:t>Plus 66.5 km of North Sea coastline.</a:t>
            </a:r>
            <a:endParaRPr lang="en-US" sz="1100" dirty="0"/>
          </a:p>
        </p:txBody>
      </p:sp>
      <p:sp>
        <p:nvSpPr>
          <p:cNvPr id="20" name="Shape 17"/>
          <p:cNvSpPr/>
          <p:nvPr/>
        </p:nvSpPr>
        <p:spPr>
          <a:xfrm>
            <a:off x="6693408" y="3913632"/>
            <a:ext cx="4858207" cy="1207008"/>
          </a:xfrm>
          <a:prstGeom prst="roundRect">
            <a:avLst>
              <a:gd name="adj" fmla="val 6818"/>
            </a:avLst>
          </a:prstGeom>
          <a:solidFill>
            <a:srgbClr val="F4F4F6"/>
          </a:solidFill>
          <a:ln w="12700">
            <a:solidFill>
              <a:srgbClr val="E4E4E9"/>
            </a:solidFill>
            <a:prstDash val="solid"/>
          </a:ln>
          <a:effectLst>
            <a:outerShdw sx="100000" sy="100000" kx="0" ky="0" algn="bl" rotWithShape="0" blurRad="127000" dist="25400" dir="5400000">
              <a:srgbClr val="9A9AA6">
                <a:alpha val="22000"/>
              </a:srgbClr>
            </a:outerShdw>
          </a:effectLst>
        </p:spPr>
      </p:sp>
      <p:sp>
        <p:nvSpPr>
          <p:cNvPr id="21" name="Text 18"/>
          <p:cNvSpPr txBox="1"/>
          <p:nvPr/>
        </p:nvSpPr>
        <p:spPr>
          <a:xfrm>
            <a:off x="6949440" y="4059936"/>
            <a:ext cx="4346143" cy="237744"/>
          </a:xfrm>
          <a:prstGeom prst="rect">
            <a:avLst/>
          </a:prstGeom>
          <a:noFill/>
          <a:ln/>
        </p:spPr>
        <p:txBody>
          <a:bodyPr wrap="square" lIns="0" tIns="0" rIns="0" bIns="0" rtlCol="0" anchor="ctr"/>
          <a:lstStyle/>
          <a:p>
            <a:pPr indent="0" marL="0">
              <a:buNone/>
            </a:pPr>
            <a:r>
              <a:rPr lang="en-US" sz="1050" b="1" spc="110" kern="0" dirty="0">
                <a:solidFill>
                  <a:srgbClr val="E3B23C"/>
                </a:solidFill>
                <a:latin typeface="Calibri" pitchFamily="34" charset="0"/>
                <a:ea typeface="Calibri" pitchFamily="34" charset="-122"/>
                <a:cs typeface="Calibri" pitchFamily="34" charset="-120"/>
              </a:rPr>
              <a:t>POSITION</a:t>
            </a:r>
            <a:endParaRPr lang="en-US" sz="1050" dirty="0"/>
          </a:p>
        </p:txBody>
      </p:sp>
      <p:sp>
        <p:nvSpPr>
          <p:cNvPr id="22" name="Text 19"/>
          <p:cNvSpPr txBox="1"/>
          <p:nvPr/>
        </p:nvSpPr>
        <p:spPr>
          <a:xfrm>
            <a:off x="6949440" y="4334256"/>
            <a:ext cx="4346143" cy="731520"/>
          </a:xfrm>
          <a:prstGeom prst="rect">
            <a:avLst/>
          </a:prstGeom>
          <a:noFill/>
          <a:ln/>
        </p:spPr>
        <p:txBody>
          <a:bodyPr wrap="square" lIns="0" tIns="0" rIns="0" bIns="0" rtlCol="0" anchor="ctr"/>
          <a:lstStyle/>
          <a:p>
            <a:pPr indent="0" marL="0">
              <a:lnSpc>
                <a:spcPct val="104000"/>
              </a:lnSpc>
              <a:buNone/>
            </a:pPr>
            <a:r>
              <a:rPr lang="en-US" sz="1100" dirty="0">
                <a:solidFill>
                  <a:srgbClr val="3E3E48"/>
                </a:solidFill>
                <a:latin typeface="Calibri" pitchFamily="34" charset="0"/>
                <a:ea typeface="Calibri" pitchFamily="34" charset="-122"/>
                <a:cs typeface="Calibri" pitchFamily="34" charset="-120"/>
              </a:rPr>
              <a:t>About 50° N, 4° E — the crossroads where Germanic northern Europe meets Latin southern Europe. That position made Belgium rich in trade, and made it a battlefield.</a:t>
            </a:r>
            <a:endParaRPr lang="en-US" sz="1100" dirty="0"/>
          </a:p>
        </p:txBody>
      </p:sp>
      <p:sp>
        <p:nvSpPr>
          <p:cNvPr id="23" name="Shape 20"/>
          <p:cNvSpPr/>
          <p:nvPr/>
        </p:nvSpPr>
        <p:spPr>
          <a:xfrm>
            <a:off x="6693408" y="5266944"/>
            <a:ext cx="4858207" cy="804672"/>
          </a:xfrm>
          <a:prstGeom prst="roundRect">
            <a:avLst>
              <a:gd name="adj" fmla="val 10227"/>
            </a:avLst>
          </a:prstGeom>
          <a:solidFill>
            <a:srgbClr val="17171B"/>
          </a:solidFill>
          <a:ln w="12700">
            <a:solidFill>
              <a:srgbClr val="17171B"/>
            </a:solidFill>
            <a:prstDash val="solid"/>
          </a:ln>
          <a:effectLst>
            <a:outerShdw sx="100000" sy="100000" kx="0" ky="0" algn="bl" rotWithShape="0" blurRad="127000" dist="25400" dir="5400000">
              <a:srgbClr val="9A9AA6">
                <a:alpha val="22000"/>
              </a:srgbClr>
            </a:outerShdw>
          </a:effectLst>
        </p:spPr>
      </p:sp>
      <p:sp>
        <p:nvSpPr>
          <p:cNvPr id="24" name="Text 21"/>
          <p:cNvSpPr txBox="1"/>
          <p:nvPr/>
        </p:nvSpPr>
        <p:spPr>
          <a:xfrm>
            <a:off x="6949440" y="5394960"/>
            <a:ext cx="4346143" cy="219456"/>
          </a:xfrm>
          <a:prstGeom prst="rect">
            <a:avLst/>
          </a:prstGeom>
          <a:noFill/>
          <a:ln/>
        </p:spPr>
        <p:txBody>
          <a:bodyPr wrap="square" lIns="0" tIns="0" rIns="0" bIns="0" rtlCol="0" anchor="ctr"/>
          <a:lstStyle/>
          <a:p>
            <a:pPr indent="0" marL="0">
              <a:buNone/>
            </a:pPr>
            <a:r>
              <a:rPr lang="en-US" sz="1000" b="1" spc="110" kern="0" dirty="0">
                <a:solidFill>
                  <a:srgbClr val="E3B23C"/>
                </a:solidFill>
                <a:latin typeface="Calibri" pitchFamily="34" charset="0"/>
                <a:ea typeface="Calibri" pitchFamily="34" charset="-122"/>
                <a:cs typeface="Calibri" pitchFamily="34" charset="-120"/>
              </a:rPr>
              <a:t>BY TRAIN FROM BRUSSELS</a:t>
            </a:r>
            <a:endParaRPr lang="en-US" sz="1000" dirty="0"/>
          </a:p>
        </p:txBody>
      </p:sp>
      <p:sp>
        <p:nvSpPr>
          <p:cNvPr id="25" name="Text 22"/>
          <p:cNvSpPr txBox="1"/>
          <p:nvPr/>
        </p:nvSpPr>
        <p:spPr>
          <a:xfrm>
            <a:off x="6949440" y="5650992"/>
            <a:ext cx="4346143" cy="274320"/>
          </a:xfrm>
          <a:prstGeom prst="rect">
            <a:avLst/>
          </a:prstGeom>
          <a:noFill/>
          <a:ln/>
        </p:spPr>
        <p:txBody>
          <a:bodyPr wrap="square" lIns="0" tIns="0" rIns="0" bIns="0" rtlCol="0" anchor="ctr"/>
          <a:lstStyle/>
          <a:p>
            <a:pPr indent="0" marL="0">
              <a:buNone/>
            </a:pPr>
            <a:r>
              <a:rPr lang="en-US" sz="1000" dirty="0">
                <a:solidFill>
                  <a:srgbClr val="D8D8DE"/>
                </a:solidFill>
                <a:latin typeface="Calibri" pitchFamily="34" charset="0"/>
                <a:ea typeface="Calibri" pitchFamily="34" charset="-122"/>
                <a:cs typeface="Calibri" pitchFamily="34" charset="-120"/>
              </a:rPr>
              <a:t>Paris 1 h 25  ·  London 2 h 00  ·  Amsterdam 1 h 50  ·  Cologne 1 h 50</a:t>
            </a:r>
            <a:endParaRPr lang="en-US" sz="10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640080" y="402336"/>
            <a:ext cx="10911535" cy="237744"/>
          </a:xfrm>
          <a:prstGeom prst="rect">
            <a:avLst/>
          </a:prstGeom>
          <a:noFill/>
          <a:ln/>
        </p:spPr>
        <p:txBody>
          <a:bodyPr wrap="square" lIns="0" tIns="0" rIns="0" bIns="0" rtlCol="0" anchor="ctr"/>
          <a:lstStyle/>
          <a:p>
            <a:pPr indent="0" marL="0">
              <a:buNone/>
            </a:pPr>
            <a:r>
              <a:rPr lang="en-US" sz="1150" b="1" spc="220" kern="0" dirty="0">
                <a:solidFill>
                  <a:srgbClr val="E3B23C"/>
                </a:solidFill>
                <a:latin typeface="Calibri" pitchFamily="34" charset="0"/>
                <a:ea typeface="Calibri" pitchFamily="34" charset="-122"/>
                <a:cs typeface="Calibri" pitchFamily="34" charset="-120"/>
              </a:rPr>
              <a:t>LA BELGIQUE EN CHIFFRES</a:t>
            </a:r>
            <a:endParaRPr lang="en-US" sz="1150" dirty="0"/>
          </a:p>
        </p:txBody>
      </p:sp>
      <p:sp>
        <p:nvSpPr>
          <p:cNvPr id="3" name="Text 1"/>
          <p:cNvSpPr txBox="1"/>
          <p:nvPr/>
        </p:nvSpPr>
        <p:spPr>
          <a:xfrm>
            <a:off x="640080" y="676656"/>
            <a:ext cx="10911535" cy="603504"/>
          </a:xfrm>
          <a:prstGeom prst="rect">
            <a:avLst/>
          </a:prstGeom>
          <a:noFill/>
          <a:ln/>
        </p:spPr>
        <p:txBody>
          <a:bodyPr wrap="square" lIns="0" tIns="0" rIns="0" bIns="0" rtlCol="0" anchor="ctr"/>
          <a:lstStyle/>
          <a:p>
            <a:pPr indent="0" marL="0">
              <a:buNone/>
            </a:pPr>
            <a:r>
              <a:rPr lang="en-US" sz="3100" b="1" dirty="0">
                <a:solidFill>
                  <a:srgbClr val="17171B"/>
                </a:solidFill>
                <a:latin typeface="Cambria" pitchFamily="34" charset="0"/>
                <a:ea typeface="Cambria" pitchFamily="34" charset="-122"/>
                <a:cs typeface="Cambria" pitchFamily="34" charset="-120"/>
              </a:rPr>
              <a:t>The country's identity card</a:t>
            </a:r>
            <a:endParaRPr lang="en-US" sz="3100" dirty="0"/>
          </a:p>
        </p:txBody>
      </p:sp>
      <p:sp>
        <p:nvSpPr>
          <p:cNvPr id="4" name="Shape 2"/>
          <p:cNvSpPr/>
          <p:nvPr/>
        </p:nvSpPr>
        <p:spPr>
          <a:xfrm>
            <a:off x="640080" y="6163056"/>
            <a:ext cx="384048" cy="384048"/>
          </a:xfrm>
          <a:prstGeom prst="ellipse">
            <a:avLst/>
          </a:prstGeom>
          <a:solidFill>
            <a:srgbClr val="E3B23C"/>
          </a:solidFill>
          <a:ln/>
        </p:spPr>
      </p:sp>
      <p:sp>
        <p:nvSpPr>
          <p:cNvPr id="5" name="Text 3"/>
          <p:cNvSpPr txBox="1"/>
          <p:nvPr/>
        </p:nvSpPr>
        <p:spPr>
          <a:xfrm>
            <a:off x="640080" y="6163056"/>
            <a:ext cx="384048" cy="384048"/>
          </a:xfrm>
          <a:prstGeom prst="rect">
            <a:avLst/>
          </a:prstGeom>
          <a:noFill/>
          <a:ln/>
        </p:spPr>
        <p:txBody>
          <a:bodyPr wrap="square" lIns="0" tIns="0" rIns="0" bIns="0" rtlCol="0" anchor="ctr"/>
          <a:lstStyle/>
          <a:p>
            <a:pPr algn="ctr" indent="0" marL="0">
              <a:buNone/>
            </a:pPr>
            <a:r>
              <a:rPr lang="en-US" sz="1200" b="1" dirty="0">
                <a:solidFill>
                  <a:srgbClr val="17171B"/>
                </a:solidFill>
                <a:latin typeface="Calibri" pitchFamily="34" charset="0"/>
                <a:ea typeface="Calibri" pitchFamily="34" charset="-122"/>
                <a:cs typeface="Calibri" pitchFamily="34" charset="-120"/>
              </a:rPr>
              <a:t>4</a:t>
            </a:r>
            <a:endParaRPr lang="en-US" sz="1200" dirty="0"/>
          </a:p>
        </p:txBody>
      </p:sp>
      <p:sp>
        <p:nvSpPr>
          <p:cNvPr id="6" name="Text 4"/>
          <p:cNvSpPr txBox="1"/>
          <p:nvPr/>
        </p:nvSpPr>
        <p:spPr>
          <a:xfrm>
            <a:off x="6035040" y="6245352"/>
            <a:ext cx="5516575" cy="237744"/>
          </a:xfrm>
          <a:prstGeom prst="rect">
            <a:avLst/>
          </a:prstGeom>
          <a:noFill/>
          <a:ln/>
        </p:spPr>
        <p:txBody>
          <a:bodyPr wrap="square" lIns="0" tIns="0" rIns="0" bIns="0" rtlCol="0" anchor="ctr"/>
          <a:lstStyle/>
          <a:p>
            <a:pPr algn="r" indent="0" marL="0">
              <a:buNone/>
            </a:pPr>
            <a:r>
              <a:rPr lang="en-US" sz="900" dirty="0">
                <a:solidFill>
                  <a:srgbClr val="70707C"/>
                </a:solidFill>
                <a:latin typeface="Calibri" pitchFamily="34" charset="0"/>
                <a:ea typeface="Calibri" pitchFamily="34" charset="-122"/>
                <a:cs typeface="Calibri" pitchFamily="34" charset="-120"/>
              </a:rPr>
              <a:t>La Belgique  ·  FREN 201  ·  Projet Francophonie</a:t>
            </a:r>
            <a:endParaRPr lang="en-US" sz="900" dirty="0"/>
          </a:p>
        </p:txBody>
      </p:sp>
      <p:sp>
        <p:nvSpPr>
          <p:cNvPr id="7" name="Shape 5"/>
          <p:cNvSpPr/>
          <p:nvPr/>
        </p:nvSpPr>
        <p:spPr>
          <a:xfrm>
            <a:off x="640080" y="1481328"/>
            <a:ext cx="1977481" cy="1188720"/>
          </a:xfrm>
          <a:prstGeom prst="roundRect">
            <a:avLst>
              <a:gd name="adj" fmla="val 6923"/>
            </a:avLst>
          </a:prstGeom>
          <a:solidFill>
            <a:srgbClr val="17171B"/>
          </a:solidFill>
          <a:ln w="12700">
            <a:solidFill>
              <a:srgbClr val="17171B"/>
            </a:solidFill>
            <a:prstDash val="solid"/>
          </a:ln>
          <a:effectLst>
            <a:outerShdw sx="100000" sy="100000" kx="0" ky="0" algn="bl" rotWithShape="0" blurRad="127000" dist="25400" dir="5400000">
              <a:srgbClr val="9A9AA6">
                <a:alpha val="22000"/>
              </a:srgbClr>
            </a:outerShdw>
          </a:effectLst>
        </p:spPr>
      </p:sp>
      <p:sp>
        <p:nvSpPr>
          <p:cNvPr id="8" name="Text 6"/>
          <p:cNvSpPr txBox="1"/>
          <p:nvPr/>
        </p:nvSpPr>
        <p:spPr>
          <a:xfrm>
            <a:off x="749808" y="1645920"/>
            <a:ext cx="1758025" cy="548640"/>
          </a:xfrm>
          <a:prstGeom prst="rect">
            <a:avLst/>
          </a:prstGeom>
          <a:noFill/>
          <a:ln/>
        </p:spPr>
        <p:txBody>
          <a:bodyPr wrap="square" lIns="0" tIns="0" rIns="0" bIns="0" rtlCol="0" anchor="ctr"/>
          <a:lstStyle/>
          <a:p>
            <a:pPr algn="ctr" indent="0" marL="0">
              <a:buNone/>
            </a:pPr>
            <a:r>
              <a:rPr lang="en-US" sz="3000" b="1" dirty="0">
                <a:solidFill>
                  <a:srgbClr val="E3B23C"/>
                </a:solidFill>
                <a:latin typeface="Cambria" pitchFamily="34" charset="0"/>
                <a:ea typeface="Cambria" pitchFamily="34" charset="-122"/>
                <a:cs typeface="Cambria" pitchFamily="34" charset="-120"/>
              </a:rPr>
              <a:t>11.8 M</a:t>
            </a:r>
            <a:endParaRPr lang="en-US" sz="3000" dirty="0"/>
          </a:p>
        </p:txBody>
      </p:sp>
      <p:sp>
        <p:nvSpPr>
          <p:cNvPr id="9" name="Text 7"/>
          <p:cNvSpPr txBox="1"/>
          <p:nvPr/>
        </p:nvSpPr>
        <p:spPr>
          <a:xfrm>
            <a:off x="731520" y="2249424"/>
            <a:ext cx="1794601" cy="292608"/>
          </a:xfrm>
          <a:prstGeom prst="rect">
            <a:avLst/>
          </a:prstGeom>
          <a:noFill/>
          <a:ln/>
        </p:spPr>
        <p:txBody>
          <a:bodyPr wrap="square" lIns="0" tIns="0" rIns="0" bIns="0" rtlCol="0" anchor="ctr"/>
          <a:lstStyle/>
          <a:p>
            <a:pPr algn="ctr" indent="0" marL="0">
              <a:buNone/>
            </a:pPr>
            <a:r>
              <a:rPr lang="en-US" sz="1050" dirty="0">
                <a:solidFill>
                  <a:srgbClr val="C9C9D2"/>
                </a:solidFill>
                <a:latin typeface="Calibri" pitchFamily="34" charset="0"/>
                <a:ea typeface="Calibri" pitchFamily="34" charset="-122"/>
                <a:cs typeface="Calibri" pitchFamily="34" charset="-120"/>
              </a:rPr>
              <a:t>inhabitants (2025)</a:t>
            </a:r>
            <a:endParaRPr lang="en-US" sz="1050" dirty="0"/>
          </a:p>
        </p:txBody>
      </p:sp>
      <p:sp>
        <p:nvSpPr>
          <p:cNvPr id="10" name="Shape 8"/>
          <p:cNvSpPr/>
          <p:nvPr/>
        </p:nvSpPr>
        <p:spPr>
          <a:xfrm>
            <a:off x="2873593" y="1481328"/>
            <a:ext cx="1977481" cy="1188720"/>
          </a:xfrm>
          <a:prstGeom prst="roundRect">
            <a:avLst>
              <a:gd name="adj" fmla="val 6923"/>
            </a:avLst>
          </a:prstGeom>
          <a:solidFill>
            <a:srgbClr val="17171B"/>
          </a:solidFill>
          <a:ln w="12700">
            <a:solidFill>
              <a:srgbClr val="17171B"/>
            </a:solidFill>
            <a:prstDash val="solid"/>
          </a:ln>
          <a:effectLst>
            <a:outerShdw sx="100000" sy="100000" kx="0" ky="0" algn="bl" rotWithShape="0" blurRad="127000" dist="25400" dir="5400000">
              <a:srgbClr val="9A9AA6">
                <a:alpha val="22000"/>
              </a:srgbClr>
            </a:outerShdw>
          </a:effectLst>
        </p:spPr>
      </p:sp>
      <p:sp>
        <p:nvSpPr>
          <p:cNvPr id="11" name="Text 9"/>
          <p:cNvSpPr txBox="1"/>
          <p:nvPr/>
        </p:nvSpPr>
        <p:spPr>
          <a:xfrm>
            <a:off x="2983321" y="1645920"/>
            <a:ext cx="1758025" cy="548640"/>
          </a:xfrm>
          <a:prstGeom prst="rect">
            <a:avLst/>
          </a:prstGeom>
          <a:noFill/>
          <a:ln/>
        </p:spPr>
        <p:txBody>
          <a:bodyPr wrap="square" lIns="0" tIns="0" rIns="0" bIns="0" rtlCol="0" anchor="ctr"/>
          <a:lstStyle/>
          <a:p>
            <a:pPr algn="ctr" indent="0" marL="0">
              <a:buNone/>
            </a:pPr>
            <a:r>
              <a:rPr lang="en-US" sz="3000" b="1" dirty="0">
                <a:solidFill>
                  <a:srgbClr val="E3B23C"/>
                </a:solidFill>
                <a:latin typeface="Cambria" pitchFamily="34" charset="0"/>
                <a:ea typeface="Cambria" pitchFamily="34" charset="-122"/>
                <a:cs typeface="Cambria" pitchFamily="34" charset="-120"/>
              </a:rPr>
              <a:t>30,689</a:t>
            </a:r>
            <a:endParaRPr lang="en-US" sz="3000" dirty="0"/>
          </a:p>
        </p:txBody>
      </p:sp>
      <p:sp>
        <p:nvSpPr>
          <p:cNvPr id="12" name="Text 10"/>
          <p:cNvSpPr txBox="1"/>
          <p:nvPr/>
        </p:nvSpPr>
        <p:spPr>
          <a:xfrm>
            <a:off x="2965033" y="2249424"/>
            <a:ext cx="1794601" cy="292608"/>
          </a:xfrm>
          <a:prstGeom prst="rect">
            <a:avLst/>
          </a:prstGeom>
          <a:noFill/>
          <a:ln/>
        </p:spPr>
        <p:txBody>
          <a:bodyPr wrap="square" lIns="0" tIns="0" rIns="0" bIns="0" rtlCol="0" anchor="ctr"/>
          <a:lstStyle/>
          <a:p>
            <a:pPr algn="ctr" indent="0" marL="0">
              <a:buNone/>
            </a:pPr>
            <a:r>
              <a:rPr lang="en-US" sz="1050" dirty="0">
                <a:solidFill>
                  <a:srgbClr val="C9C9D2"/>
                </a:solidFill>
                <a:latin typeface="Calibri" pitchFamily="34" charset="0"/>
                <a:ea typeface="Calibri" pitchFamily="34" charset="-122"/>
                <a:cs typeface="Calibri" pitchFamily="34" charset="-120"/>
              </a:rPr>
              <a:t>square kilometres</a:t>
            </a:r>
            <a:endParaRPr lang="en-US" sz="1050" dirty="0"/>
          </a:p>
        </p:txBody>
      </p:sp>
      <p:sp>
        <p:nvSpPr>
          <p:cNvPr id="13" name="Shape 11"/>
          <p:cNvSpPr/>
          <p:nvPr/>
        </p:nvSpPr>
        <p:spPr>
          <a:xfrm>
            <a:off x="5107107" y="1481328"/>
            <a:ext cx="1977481" cy="1188720"/>
          </a:xfrm>
          <a:prstGeom prst="roundRect">
            <a:avLst>
              <a:gd name="adj" fmla="val 6923"/>
            </a:avLst>
          </a:prstGeom>
          <a:solidFill>
            <a:srgbClr val="17171B"/>
          </a:solidFill>
          <a:ln w="12700">
            <a:solidFill>
              <a:srgbClr val="17171B"/>
            </a:solidFill>
            <a:prstDash val="solid"/>
          </a:ln>
          <a:effectLst>
            <a:outerShdw sx="100000" sy="100000" kx="0" ky="0" algn="bl" rotWithShape="0" blurRad="127000" dist="25400" dir="5400000">
              <a:srgbClr val="9A9AA6">
                <a:alpha val="22000"/>
              </a:srgbClr>
            </a:outerShdw>
          </a:effectLst>
        </p:spPr>
      </p:sp>
      <p:sp>
        <p:nvSpPr>
          <p:cNvPr id="14" name="Text 12"/>
          <p:cNvSpPr txBox="1"/>
          <p:nvPr/>
        </p:nvSpPr>
        <p:spPr>
          <a:xfrm>
            <a:off x="5216835" y="1645920"/>
            <a:ext cx="1758025" cy="548640"/>
          </a:xfrm>
          <a:prstGeom prst="rect">
            <a:avLst/>
          </a:prstGeom>
          <a:noFill/>
          <a:ln/>
        </p:spPr>
        <p:txBody>
          <a:bodyPr wrap="square" lIns="0" tIns="0" rIns="0" bIns="0" rtlCol="0" anchor="ctr"/>
          <a:lstStyle/>
          <a:p>
            <a:pPr algn="ctr" indent="0" marL="0">
              <a:buNone/>
            </a:pPr>
            <a:r>
              <a:rPr lang="en-US" sz="3000" b="1" dirty="0">
                <a:solidFill>
                  <a:srgbClr val="E3B23C"/>
                </a:solidFill>
                <a:latin typeface="Cambria" pitchFamily="34" charset="0"/>
                <a:ea typeface="Cambria" pitchFamily="34" charset="-122"/>
                <a:cs typeface="Cambria" pitchFamily="34" charset="-120"/>
              </a:rPr>
              <a:t>389</a:t>
            </a:r>
            <a:endParaRPr lang="en-US" sz="3000" dirty="0"/>
          </a:p>
        </p:txBody>
      </p:sp>
      <p:sp>
        <p:nvSpPr>
          <p:cNvPr id="15" name="Text 13"/>
          <p:cNvSpPr txBox="1"/>
          <p:nvPr/>
        </p:nvSpPr>
        <p:spPr>
          <a:xfrm>
            <a:off x="5198547" y="2249424"/>
            <a:ext cx="1794601" cy="292608"/>
          </a:xfrm>
          <a:prstGeom prst="rect">
            <a:avLst/>
          </a:prstGeom>
          <a:noFill/>
          <a:ln/>
        </p:spPr>
        <p:txBody>
          <a:bodyPr wrap="square" lIns="0" tIns="0" rIns="0" bIns="0" rtlCol="0" anchor="ctr"/>
          <a:lstStyle/>
          <a:p>
            <a:pPr algn="ctr" indent="0" marL="0">
              <a:buNone/>
            </a:pPr>
            <a:r>
              <a:rPr lang="en-US" sz="1050" dirty="0">
                <a:solidFill>
                  <a:srgbClr val="C9C9D2"/>
                </a:solidFill>
                <a:latin typeface="Calibri" pitchFamily="34" charset="0"/>
                <a:ea typeface="Calibri" pitchFamily="34" charset="-122"/>
                <a:cs typeface="Calibri" pitchFamily="34" charset="-120"/>
              </a:rPr>
              <a:t>people per km²</a:t>
            </a:r>
            <a:endParaRPr lang="en-US" sz="1050" dirty="0"/>
          </a:p>
        </p:txBody>
      </p:sp>
      <p:sp>
        <p:nvSpPr>
          <p:cNvPr id="16" name="Shape 14"/>
          <p:cNvSpPr/>
          <p:nvPr/>
        </p:nvSpPr>
        <p:spPr>
          <a:xfrm>
            <a:off x="7340620" y="1481328"/>
            <a:ext cx="1977481" cy="1188720"/>
          </a:xfrm>
          <a:prstGeom prst="roundRect">
            <a:avLst>
              <a:gd name="adj" fmla="val 6923"/>
            </a:avLst>
          </a:prstGeom>
          <a:solidFill>
            <a:srgbClr val="17171B"/>
          </a:solidFill>
          <a:ln w="12700">
            <a:solidFill>
              <a:srgbClr val="17171B"/>
            </a:solidFill>
            <a:prstDash val="solid"/>
          </a:ln>
          <a:effectLst>
            <a:outerShdw sx="100000" sy="100000" kx="0" ky="0" algn="bl" rotWithShape="0" blurRad="127000" dist="25400" dir="5400000">
              <a:srgbClr val="9A9AA6">
                <a:alpha val="22000"/>
              </a:srgbClr>
            </a:outerShdw>
          </a:effectLst>
        </p:spPr>
      </p:sp>
      <p:sp>
        <p:nvSpPr>
          <p:cNvPr id="17" name="Text 15"/>
          <p:cNvSpPr txBox="1"/>
          <p:nvPr/>
        </p:nvSpPr>
        <p:spPr>
          <a:xfrm>
            <a:off x="7450348" y="1645920"/>
            <a:ext cx="1758025" cy="548640"/>
          </a:xfrm>
          <a:prstGeom prst="rect">
            <a:avLst/>
          </a:prstGeom>
          <a:noFill/>
          <a:ln/>
        </p:spPr>
        <p:txBody>
          <a:bodyPr wrap="square" lIns="0" tIns="0" rIns="0" bIns="0" rtlCol="0" anchor="ctr"/>
          <a:lstStyle/>
          <a:p>
            <a:pPr algn="ctr" indent="0" marL="0">
              <a:buNone/>
            </a:pPr>
            <a:r>
              <a:rPr lang="en-US" sz="3000" b="1" dirty="0">
                <a:solidFill>
                  <a:srgbClr val="E3B23C"/>
                </a:solidFill>
                <a:latin typeface="Cambria" pitchFamily="34" charset="0"/>
                <a:ea typeface="Cambria" pitchFamily="34" charset="-122"/>
                <a:cs typeface="Cambria" pitchFamily="34" charset="-120"/>
              </a:rPr>
              <a:t>3</a:t>
            </a:r>
            <a:endParaRPr lang="en-US" sz="3000" dirty="0"/>
          </a:p>
        </p:txBody>
      </p:sp>
      <p:sp>
        <p:nvSpPr>
          <p:cNvPr id="18" name="Text 16"/>
          <p:cNvSpPr txBox="1"/>
          <p:nvPr/>
        </p:nvSpPr>
        <p:spPr>
          <a:xfrm>
            <a:off x="7432060" y="2249424"/>
            <a:ext cx="1794601" cy="292608"/>
          </a:xfrm>
          <a:prstGeom prst="rect">
            <a:avLst/>
          </a:prstGeom>
          <a:noFill/>
          <a:ln/>
        </p:spPr>
        <p:txBody>
          <a:bodyPr wrap="square" lIns="0" tIns="0" rIns="0" bIns="0" rtlCol="0" anchor="ctr"/>
          <a:lstStyle/>
          <a:p>
            <a:pPr algn="ctr" indent="0" marL="0">
              <a:buNone/>
            </a:pPr>
            <a:r>
              <a:rPr lang="en-US" sz="1050" dirty="0">
                <a:solidFill>
                  <a:srgbClr val="C9C9D2"/>
                </a:solidFill>
                <a:latin typeface="Calibri" pitchFamily="34" charset="0"/>
                <a:ea typeface="Calibri" pitchFamily="34" charset="-122"/>
                <a:cs typeface="Calibri" pitchFamily="34" charset="-120"/>
              </a:rPr>
              <a:t>official languages</a:t>
            </a:r>
            <a:endParaRPr lang="en-US" sz="1050" dirty="0"/>
          </a:p>
        </p:txBody>
      </p:sp>
      <p:sp>
        <p:nvSpPr>
          <p:cNvPr id="19" name="Shape 17"/>
          <p:cNvSpPr/>
          <p:nvPr/>
        </p:nvSpPr>
        <p:spPr>
          <a:xfrm>
            <a:off x="9574134" y="1481328"/>
            <a:ext cx="1977481" cy="1188720"/>
          </a:xfrm>
          <a:prstGeom prst="roundRect">
            <a:avLst>
              <a:gd name="adj" fmla="val 6923"/>
            </a:avLst>
          </a:prstGeom>
          <a:solidFill>
            <a:srgbClr val="17171B"/>
          </a:solidFill>
          <a:ln w="12700">
            <a:solidFill>
              <a:srgbClr val="17171B"/>
            </a:solidFill>
            <a:prstDash val="solid"/>
          </a:ln>
          <a:effectLst>
            <a:outerShdw sx="100000" sy="100000" kx="0" ky="0" algn="bl" rotWithShape="0" blurRad="127000" dist="25400" dir="5400000">
              <a:srgbClr val="9A9AA6">
                <a:alpha val="22000"/>
              </a:srgbClr>
            </a:outerShdw>
          </a:effectLst>
        </p:spPr>
      </p:sp>
      <p:sp>
        <p:nvSpPr>
          <p:cNvPr id="20" name="Text 18"/>
          <p:cNvSpPr txBox="1"/>
          <p:nvPr/>
        </p:nvSpPr>
        <p:spPr>
          <a:xfrm>
            <a:off x="9683862" y="1645920"/>
            <a:ext cx="1758025" cy="548640"/>
          </a:xfrm>
          <a:prstGeom prst="rect">
            <a:avLst/>
          </a:prstGeom>
          <a:noFill/>
          <a:ln/>
        </p:spPr>
        <p:txBody>
          <a:bodyPr wrap="square" lIns="0" tIns="0" rIns="0" bIns="0" rtlCol="0" anchor="ctr"/>
          <a:lstStyle/>
          <a:p>
            <a:pPr algn="ctr" indent="0" marL="0">
              <a:buNone/>
            </a:pPr>
            <a:r>
              <a:rPr lang="en-US" sz="3000" b="1" dirty="0">
                <a:solidFill>
                  <a:srgbClr val="E3B23C"/>
                </a:solidFill>
                <a:latin typeface="Cambria" pitchFamily="34" charset="0"/>
                <a:ea typeface="Cambria" pitchFamily="34" charset="-122"/>
                <a:cs typeface="Cambria" pitchFamily="34" charset="-120"/>
              </a:rPr>
              <a:t>1830</a:t>
            </a:r>
            <a:endParaRPr lang="en-US" sz="3000" dirty="0"/>
          </a:p>
        </p:txBody>
      </p:sp>
      <p:sp>
        <p:nvSpPr>
          <p:cNvPr id="21" name="Text 19"/>
          <p:cNvSpPr txBox="1"/>
          <p:nvPr/>
        </p:nvSpPr>
        <p:spPr>
          <a:xfrm>
            <a:off x="9665574" y="2249424"/>
            <a:ext cx="1794601" cy="292608"/>
          </a:xfrm>
          <a:prstGeom prst="rect">
            <a:avLst/>
          </a:prstGeom>
          <a:noFill/>
          <a:ln/>
        </p:spPr>
        <p:txBody>
          <a:bodyPr wrap="square" lIns="0" tIns="0" rIns="0" bIns="0" rtlCol="0" anchor="ctr"/>
          <a:lstStyle/>
          <a:p>
            <a:pPr algn="ctr" indent="0" marL="0">
              <a:buNone/>
            </a:pPr>
            <a:r>
              <a:rPr lang="en-US" sz="1050" dirty="0">
                <a:solidFill>
                  <a:srgbClr val="C9C9D2"/>
                </a:solidFill>
                <a:latin typeface="Calibri" pitchFamily="34" charset="0"/>
                <a:ea typeface="Calibri" pitchFamily="34" charset="-122"/>
                <a:cs typeface="Calibri" pitchFamily="34" charset="-120"/>
              </a:rPr>
              <a:t>independence declared</a:t>
            </a:r>
            <a:endParaRPr lang="en-US" sz="1050" dirty="0"/>
          </a:p>
        </p:txBody>
      </p:sp>
      <p:sp>
        <p:nvSpPr>
          <p:cNvPr id="22" name="Text 20"/>
          <p:cNvSpPr txBox="1"/>
          <p:nvPr/>
        </p:nvSpPr>
        <p:spPr>
          <a:xfrm>
            <a:off x="640080" y="2834640"/>
            <a:ext cx="6537960" cy="237744"/>
          </a:xfrm>
          <a:prstGeom prst="rect">
            <a:avLst/>
          </a:prstGeom>
          <a:noFill/>
          <a:ln/>
        </p:spPr>
        <p:txBody>
          <a:bodyPr wrap="square" lIns="0" tIns="0" rIns="0" bIns="0" rtlCol="0" anchor="ctr"/>
          <a:lstStyle/>
          <a:p>
            <a:pPr indent="0" marL="0">
              <a:buNone/>
            </a:pPr>
            <a:r>
              <a:rPr lang="en-US" sz="1050" b="1" spc="120" kern="0" dirty="0">
                <a:solidFill>
                  <a:srgbClr val="E3B23C"/>
                </a:solidFill>
                <a:latin typeface="Calibri" pitchFamily="34" charset="0"/>
                <a:ea typeface="Calibri" pitchFamily="34" charset="-122"/>
                <a:cs typeface="Calibri" pitchFamily="34" charset="-120"/>
              </a:rPr>
              <a:t>CARTE D'IDENTITÉ</a:t>
            </a:r>
            <a:endParaRPr lang="en-US" sz="1050" dirty="0"/>
          </a:p>
        </p:txBody>
      </p:sp>
      <p:sp>
        <p:nvSpPr>
          <p:cNvPr id="23" name="Text 21"/>
          <p:cNvSpPr txBox="1"/>
          <p:nvPr/>
        </p:nvSpPr>
        <p:spPr>
          <a:xfrm>
            <a:off x="640080" y="3127248"/>
            <a:ext cx="1600200" cy="320040"/>
          </a:xfrm>
          <a:prstGeom prst="rect">
            <a:avLst/>
          </a:prstGeom>
          <a:noFill/>
          <a:ln/>
        </p:spPr>
        <p:txBody>
          <a:bodyPr wrap="square" lIns="0" tIns="0" rIns="0" bIns="0" rtlCol="0" anchor="t"/>
          <a:lstStyle/>
          <a:p>
            <a:pPr indent="0" marL="0">
              <a:buNone/>
            </a:pPr>
            <a:r>
              <a:rPr lang="en-US" sz="1150" b="1" dirty="0">
                <a:solidFill>
                  <a:srgbClr val="17171B"/>
                </a:solidFill>
                <a:latin typeface="Calibri" pitchFamily="34" charset="0"/>
                <a:ea typeface="Calibri" pitchFamily="34" charset="-122"/>
                <a:cs typeface="Calibri" pitchFamily="34" charset="-120"/>
              </a:rPr>
              <a:t>Official name</a:t>
            </a:r>
            <a:endParaRPr lang="en-US" sz="1150" dirty="0"/>
          </a:p>
        </p:txBody>
      </p:sp>
      <p:sp>
        <p:nvSpPr>
          <p:cNvPr id="24" name="Text 22"/>
          <p:cNvSpPr txBox="1"/>
          <p:nvPr/>
        </p:nvSpPr>
        <p:spPr>
          <a:xfrm>
            <a:off x="2240280" y="3127248"/>
            <a:ext cx="4937760" cy="320040"/>
          </a:xfrm>
          <a:prstGeom prst="rect">
            <a:avLst/>
          </a:prstGeom>
          <a:noFill/>
          <a:ln/>
        </p:spPr>
        <p:txBody>
          <a:bodyPr wrap="square" lIns="0" tIns="0" rIns="0" bIns="0" rtlCol="0" anchor="t"/>
          <a:lstStyle/>
          <a:p>
            <a:pPr indent="0" marL="0">
              <a:buNone/>
            </a:pPr>
            <a:r>
              <a:rPr lang="en-US" sz="1150" dirty="0">
                <a:solidFill>
                  <a:srgbClr val="3E3E48"/>
                </a:solidFill>
                <a:latin typeface="Calibri" pitchFamily="34" charset="0"/>
                <a:ea typeface="Calibri" pitchFamily="34" charset="-122"/>
                <a:cs typeface="Calibri" pitchFamily="34" charset="-120"/>
              </a:rPr>
              <a:t>Royaume de Belgique · Koninkrijk België · Königreich Belgien</a:t>
            </a:r>
            <a:endParaRPr lang="en-US" sz="1150" dirty="0"/>
          </a:p>
        </p:txBody>
      </p:sp>
      <p:sp>
        <p:nvSpPr>
          <p:cNvPr id="25" name="Text 23"/>
          <p:cNvSpPr txBox="1"/>
          <p:nvPr/>
        </p:nvSpPr>
        <p:spPr>
          <a:xfrm>
            <a:off x="640080" y="3447288"/>
            <a:ext cx="1600200" cy="320040"/>
          </a:xfrm>
          <a:prstGeom prst="rect">
            <a:avLst/>
          </a:prstGeom>
          <a:noFill/>
          <a:ln/>
        </p:spPr>
        <p:txBody>
          <a:bodyPr wrap="square" lIns="0" tIns="0" rIns="0" bIns="0" rtlCol="0" anchor="t"/>
          <a:lstStyle/>
          <a:p>
            <a:pPr indent="0" marL="0">
              <a:buNone/>
            </a:pPr>
            <a:r>
              <a:rPr lang="en-US" sz="1150" b="1" dirty="0">
                <a:solidFill>
                  <a:srgbClr val="17171B"/>
                </a:solidFill>
                <a:latin typeface="Calibri" pitchFamily="34" charset="0"/>
                <a:ea typeface="Calibri" pitchFamily="34" charset="-122"/>
                <a:cs typeface="Calibri" pitchFamily="34" charset="-120"/>
              </a:rPr>
              <a:t>Capital</a:t>
            </a:r>
            <a:endParaRPr lang="en-US" sz="1150" dirty="0"/>
          </a:p>
        </p:txBody>
      </p:sp>
      <p:sp>
        <p:nvSpPr>
          <p:cNvPr id="26" name="Text 24"/>
          <p:cNvSpPr txBox="1"/>
          <p:nvPr/>
        </p:nvSpPr>
        <p:spPr>
          <a:xfrm>
            <a:off x="2240280" y="3447288"/>
            <a:ext cx="4937760" cy="320040"/>
          </a:xfrm>
          <a:prstGeom prst="rect">
            <a:avLst/>
          </a:prstGeom>
          <a:noFill/>
          <a:ln/>
        </p:spPr>
        <p:txBody>
          <a:bodyPr wrap="square" lIns="0" tIns="0" rIns="0" bIns="0" rtlCol="0" anchor="t"/>
          <a:lstStyle/>
          <a:p>
            <a:pPr indent="0" marL="0">
              <a:buNone/>
            </a:pPr>
            <a:r>
              <a:rPr lang="en-US" sz="1150" dirty="0">
                <a:solidFill>
                  <a:srgbClr val="3E3E48"/>
                </a:solidFill>
                <a:latin typeface="Calibri" pitchFamily="34" charset="0"/>
                <a:ea typeface="Calibri" pitchFamily="34" charset="-122"/>
                <a:cs typeface="Calibri" pitchFamily="34" charset="-120"/>
              </a:rPr>
              <a:t>Brussels (Bruxelles / Brussel) — officially bilingual</a:t>
            </a:r>
            <a:endParaRPr lang="en-US" sz="1150" dirty="0"/>
          </a:p>
        </p:txBody>
      </p:sp>
      <p:sp>
        <p:nvSpPr>
          <p:cNvPr id="27" name="Text 25"/>
          <p:cNvSpPr txBox="1"/>
          <p:nvPr/>
        </p:nvSpPr>
        <p:spPr>
          <a:xfrm>
            <a:off x="640080" y="3767328"/>
            <a:ext cx="1600200" cy="320040"/>
          </a:xfrm>
          <a:prstGeom prst="rect">
            <a:avLst/>
          </a:prstGeom>
          <a:noFill/>
          <a:ln/>
        </p:spPr>
        <p:txBody>
          <a:bodyPr wrap="square" lIns="0" tIns="0" rIns="0" bIns="0" rtlCol="0" anchor="t"/>
          <a:lstStyle/>
          <a:p>
            <a:pPr indent="0" marL="0">
              <a:buNone/>
            </a:pPr>
            <a:r>
              <a:rPr lang="en-US" sz="1150" b="1" dirty="0">
                <a:solidFill>
                  <a:srgbClr val="17171B"/>
                </a:solidFill>
                <a:latin typeface="Calibri" pitchFamily="34" charset="0"/>
                <a:ea typeface="Calibri" pitchFamily="34" charset="-122"/>
                <a:cs typeface="Calibri" pitchFamily="34" charset="-120"/>
              </a:rPr>
              <a:t>Status</a:t>
            </a:r>
            <a:endParaRPr lang="en-US" sz="1150" dirty="0"/>
          </a:p>
        </p:txBody>
      </p:sp>
      <p:sp>
        <p:nvSpPr>
          <p:cNvPr id="28" name="Text 26"/>
          <p:cNvSpPr txBox="1"/>
          <p:nvPr/>
        </p:nvSpPr>
        <p:spPr>
          <a:xfrm>
            <a:off x="2240280" y="3767328"/>
            <a:ext cx="4937760" cy="320040"/>
          </a:xfrm>
          <a:prstGeom prst="rect">
            <a:avLst/>
          </a:prstGeom>
          <a:noFill/>
          <a:ln/>
        </p:spPr>
        <p:txBody>
          <a:bodyPr wrap="square" lIns="0" tIns="0" rIns="0" bIns="0" rtlCol="0" anchor="t"/>
          <a:lstStyle/>
          <a:p>
            <a:pPr indent="0" marL="0">
              <a:buNone/>
            </a:pPr>
            <a:r>
              <a:rPr lang="en-US" sz="1150" dirty="0">
                <a:solidFill>
                  <a:srgbClr val="3E3E48"/>
                </a:solidFill>
                <a:latin typeface="Calibri" pitchFamily="34" charset="0"/>
                <a:ea typeface="Calibri" pitchFamily="34" charset="-122"/>
                <a:cs typeface="Calibri" pitchFamily="34" charset="-120"/>
              </a:rPr>
              <a:t>Fully independent sovereign state since 1830</a:t>
            </a:r>
            <a:endParaRPr lang="en-US" sz="1150" dirty="0"/>
          </a:p>
        </p:txBody>
      </p:sp>
      <p:sp>
        <p:nvSpPr>
          <p:cNvPr id="29" name="Text 27"/>
          <p:cNvSpPr txBox="1"/>
          <p:nvPr/>
        </p:nvSpPr>
        <p:spPr>
          <a:xfrm>
            <a:off x="640080" y="4087368"/>
            <a:ext cx="1600200" cy="320040"/>
          </a:xfrm>
          <a:prstGeom prst="rect">
            <a:avLst/>
          </a:prstGeom>
          <a:noFill/>
          <a:ln/>
        </p:spPr>
        <p:txBody>
          <a:bodyPr wrap="square" lIns="0" tIns="0" rIns="0" bIns="0" rtlCol="0" anchor="t"/>
          <a:lstStyle/>
          <a:p>
            <a:pPr indent="0" marL="0">
              <a:buNone/>
            </a:pPr>
            <a:r>
              <a:rPr lang="en-US" sz="1150" b="1" dirty="0">
                <a:solidFill>
                  <a:srgbClr val="17171B"/>
                </a:solidFill>
                <a:latin typeface="Calibri" pitchFamily="34" charset="0"/>
                <a:ea typeface="Calibri" pitchFamily="34" charset="-122"/>
                <a:cs typeface="Calibri" pitchFamily="34" charset="-120"/>
              </a:rPr>
              <a:t>Government</a:t>
            </a:r>
            <a:endParaRPr lang="en-US" sz="1150" dirty="0"/>
          </a:p>
        </p:txBody>
      </p:sp>
      <p:sp>
        <p:nvSpPr>
          <p:cNvPr id="30" name="Text 28"/>
          <p:cNvSpPr txBox="1"/>
          <p:nvPr/>
        </p:nvSpPr>
        <p:spPr>
          <a:xfrm>
            <a:off x="2240280" y="4087368"/>
            <a:ext cx="4937760" cy="320040"/>
          </a:xfrm>
          <a:prstGeom prst="rect">
            <a:avLst/>
          </a:prstGeom>
          <a:noFill/>
          <a:ln/>
        </p:spPr>
        <p:txBody>
          <a:bodyPr wrap="square" lIns="0" tIns="0" rIns="0" bIns="0" rtlCol="0" anchor="t"/>
          <a:lstStyle/>
          <a:p>
            <a:pPr indent="0" marL="0">
              <a:buNone/>
            </a:pPr>
            <a:r>
              <a:rPr lang="en-US" sz="1150" dirty="0">
                <a:solidFill>
                  <a:srgbClr val="3E3E48"/>
                </a:solidFill>
                <a:latin typeface="Calibri" pitchFamily="34" charset="0"/>
                <a:ea typeface="Calibri" pitchFamily="34" charset="-122"/>
                <a:cs typeface="Calibri" pitchFamily="34" charset="-120"/>
              </a:rPr>
              <a:t>Federal parliamentary constitutional monarchy</a:t>
            </a:r>
            <a:endParaRPr lang="en-US" sz="1150" dirty="0"/>
          </a:p>
        </p:txBody>
      </p:sp>
      <p:sp>
        <p:nvSpPr>
          <p:cNvPr id="31" name="Text 29"/>
          <p:cNvSpPr txBox="1"/>
          <p:nvPr/>
        </p:nvSpPr>
        <p:spPr>
          <a:xfrm>
            <a:off x="640080" y="4407408"/>
            <a:ext cx="1600200" cy="320040"/>
          </a:xfrm>
          <a:prstGeom prst="rect">
            <a:avLst/>
          </a:prstGeom>
          <a:noFill/>
          <a:ln/>
        </p:spPr>
        <p:txBody>
          <a:bodyPr wrap="square" lIns="0" tIns="0" rIns="0" bIns="0" rtlCol="0" anchor="t"/>
          <a:lstStyle/>
          <a:p>
            <a:pPr indent="0" marL="0">
              <a:buNone/>
            </a:pPr>
            <a:r>
              <a:rPr lang="en-US" sz="1150" b="1" dirty="0">
                <a:solidFill>
                  <a:srgbClr val="17171B"/>
                </a:solidFill>
                <a:latin typeface="Calibri" pitchFamily="34" charset="0"/>
                <a:ea typeface="Calibri" pitchFamily="34" charset="-122"/>
                <a:cs typeface="Calibri" pitchFamily="34" charset="-120"/>
              </a:rPr>
              <a:t>Head of State</a:t>
            </a:r>
            <a:endParaRPr lang="en-US" sz="1150" dirty="0"/>
          </a:p>
        </p:txBody>
      </p:sp>
      <p:sp>
        <p:nvSpPr>
          <p:cNvPr id="32" name="Text 30"/>
          <p:cNvSpPr txBox="1"/>
          <p:nvPr/>
        </p:nvSpPr>
        <p:spPr>
          <a:xfrm>
            <a:off x="2240280" y="4407408"/>
            <a:ext cx="4937760" cy="320040"/>
          </a:xfrm>
          <a:prstGeom prst="rect">
            <a:avLst/>
          </a:prstGeom>
          <a:noFill/>
          <a:ln/>
        </p:spPr>
        <p:txBody>
          <a:bodyPr wrap="square" lIns="0" tIns="0" rIns="0" bIns="0" rtlCol="0" anchor="t"/>
          <a:lstStyle/>
          <a:p>
            <a:pPr indent="0" marL="0">
              <a:buNone/>
            </a:pPr>
            <a:r>
              <a:rPr lang="en-US" sz="1150" dirty="0">
                <a:solidFill>
                  <a:srgbClr val="3E3E48"/>
                </a:solidFill>
                <a:latin typeface="Calibri" pitchFamily="34" charset="0"/>
                <a:ea typeface="Calibri" pitchFamily="34" charset="-122"/>
                <a:cs typeface="Calibri" pitchFamily="34" charset="-120"/>
              </a:rPr>
              <a:t>King Philippe, King of the Belgians (since 21 July 2013)</a:t>
            </a:r>
            <a:endParaRPr lang="en-US" sz="1150" dirty="0"/>
          </a:p>
        </p:txBody>
      </p:sp>
      <p:sp>
        <p:nvSpPr>
          <p:cNvPr id="33" name="Text 31"/>
          <p:cNvSpPr txBox="1"/>
          <p:nvPr/>
        </p:nvSpPr>
        <p:spPr>
          <a:xfrm>
            <a:off x="640080" y="4727448"/>
            <a:ext cx="1600200" cy="320040"/>
          </a:xfrm>
          <a:prstGeom prst="rect">
            <a:avLst/>
          </a:prstGeom>
          <a:noFill/>
          <a:ln/>
        </p:spPr>
        <p:txBody>
          <a:bodyPr wrap="square" lIns="0" tIns="0" rIns="0" bIns="0" rtlCol="0" anchor="t"/>
          <a:lstStyle/>
          <a:p>
            <a:pPr indent="0" marL="0">
              <a:buNone/>
            </a:pPr>
            <a:r>
              <a:rPr lang="en-US" sz="1150" b="1" dirty="0">
                <a:solidFill>
                  <a:srgbClr val="17171B"/>
                </a:solidFill>
                <a:latin typeface="Calibri" pitchFamily="34" charset="0"/>
                <a:ea typeface="Calibri" pitchFamily="34" charset="-122"/>
                <a:cs typeface="Calibri" pitchFamily="34" charset="-120"/>
              </a:rPr>
              <a:t>Prime Minister</a:t>
            </a:r>
            <a:endParaRPr lang="en-US" sz="1150" dirty="0"/>
          </a:p>
        </p:txBody>
      </p:sp>
      <p:sp>
        <p:nvSpPr>
          <p:cNvPr id="34" name="Text 32"/>
          <p:cNvSpPr txBox="1"/>
          <p:nvPr/>
        </p:nvSpPr>
        <p:spPr>
          <a:xfrm>
            <a:off x="2240280" y="4727448"/>
            <a:ext cx="4937760" cy="320040"/>
          </a:xfrm>
          <a:prstGeom prst="rect">
            <a:avLst/>
          </a:prstGeom>
          <a:noFill/>
          <a:ln/>
        </p:spPr>
        <p:txBody>
          <a:bodyPr wrap="square" lIns="0" tIns="0" rIns="0" bIns="0" rtlCol="0" anchor="t"/>
          <a:lstStyle/>
          <a:p>
            <a:pPr indent="0" marL="0">
              <a:buNone/>
            </a:pPr>
            <a:r>
              <a:rPr lang="en-US" sz="1150" dirty="0">
                <a:solidFill>
                  <a:srgbClr val="3E3E48"/>
                </a:solidFill>
                <a:latin typeface="Calibri" pitchFamily="34" charset="0"/>
                <a:ea typeface="Calibri" pitchFamily="34" charset="-122"/>
                <a:cs typeface="Calibri" pitchFamily="34" charset="-120"/>
              </a:rPr>
              <a:t>Bart De Wever (since 3 February 2025)</a:t>
            </a:r>
            <a:endParaRPr lang="en-US" sz="1150" dirty="0"/>
          </a:p>
        </p:txBody>
      </p:sp>
      <p:sp>
        <p:nvSpPr>
          <p:cNvPr id="35" name="Text 33"/>
          <p:cNvSpPr txBox="1"/>
          <p:nvPr/>
        </p:nvSpPr>
        <p:spPr>
          <a:xfrm>
            <a:off x="640080" y="5047488"/>
            <a:ext cx="1600200" cy="320040"/>
          </a:xfrm>
          <a:prstGeom prst="rect">
            <a:avLst/>
          </a:prstGeom>
          <a:noFill/>
          <a:ln/>
        </p:spPr>
        <p:txBody>
          <a:bodyPr wrap="square" lIns="0" tIns="0" rIns="0" bIns="0" rtlCol="0" anchor="t"/>
          <a:lstStyle/>
          <a:p>
            <a:pPr indent="0" marL="0">
              <a:buNone/>
            </a:pPr>
            <a:r>
              <a:rPr lang="en-US" sz="1150" b="1" dirty="0">
                <a:solidFill>
                  <a:srgbClr val="17171B"/>
                </a:solidFill>
                <a:latin typeface="Calibri" pitchFamily="34" charset="0"/>
                <a:ea typeface="Calibri" pitchFamily="34" charset="-122"/>
                <a:cs typeface="Calibri" pitchFamily="34" charset="-120"/>
              </a:rPr>
              <a:t>Currency</a:t>
            </a:r>
            <a:endParaRPr lang="en-US" sz="1150" dirty="0"/>
          </a:p>
        </p:txBody>
      </p:sp>
      <p:sp>
        <p:nvSpPr>
          <p:cNvPr id="36" name="Text 34"/>
          <p:cNvSpPr txBox="1"/>
          <p:nvPr/>
        </p:nvSpPr>
        <p:spPr>
          <a:xfrm>
            <a:off x="2240280" y="5047488"/>
            <a:ext cx="4937760" cy="320040"/>
          </a:xfrm>
          <a:prstGeom prst="rect">
            <a:avLst/>
          </a:prstGeom>
          <a:noFill/>
          <a:ln/>
        </p:spPr>
        <p:txBody>
          <a:bodyPr wrap="square" lIns="0" tIns="0" rIns="0" bIns="0" rtlCol="0" anchor="t"/>
          <a:lstStyle/>
          <a:p>
            <a:pPr indent="0" marL="0">
              <a:buNone/>
            </a:pPr>
            <a:r>
              <a:rPr lang="en-US" sz="1150" dirty="0">
                <a:solidFill>
                  <a:srgbClr val="3E3E48"/>
                </a:solidFill>
                <a:latin typeface="Calibri" pitchFamily="34" charset="0"/>
                <a:ea typeface="Calibri" pitchFamily="34" charset="-122"/>
                <a:cs typeface="Calibri" pitchFamily="34" charset="-120"/>
              </a:rPr>
              <a:t>Euro (€) — founding member of the eurozone</a:t>
            </a:r>
            <a:endParaRPr lang="en-US" sz="1150" dirty="0"/>
          </a:p>
        </p:txBody>
      </p:sp>
      <p:sp>
        <p:nvSpPr>
          <p:cNvPr id="37" name="Text 35"/>
          <p:cNvSpPr txBox="1"/>
          <p:nvPr/>
        </p:nvSpPr>
        <p:spPr>
          <a:xfrm>
            <a:off x="640080" y="5367528"/>
            <a:ext cx="1600200" cy="320040"/>
          </a:xfrm>
          <a:prstGeom prst="rect">
            <a:avLst/>
          </a:prstGeom>
          <a:noFill/>
          <a:ln/>
        </p:spPr>
        <p:txBody>
          <a:bodyPr wrap="square" lIns="0" tIns="0" rIns="0" bIns="0" rtlCol="0" anchor="t"/>
          <a:lstStyle/>
          <a:p>
            <a:pPr indent="0" marL="0">
              <a:buNone/>
            </a:pPr>
            <a:r>
              <a:rPr lang="en-US" sz="1150" b="1" dirty="0">
                <a:solidFill>
                  <a:srgbClr val="17171B"/>
                </a:solidFill>
                <a:latin typeface="Calibri" pitchFamily="34" charset="0"/>
                <a:ea typeface="Calibri" pitchFamily="34" charset="-122"/>
                <a:cs typeface="Calibri" pitchFamily="34" charset="-120"/>
              </a:rPr>
              <a:t>National day</a:t>
            </a:r>
            <a:endParaRPr lang="en-US" sz="1150" dirty="0"/>
          </a:p>
        </p:txBody>
      </p:sp>
      <p:sp>
        <p:nvSpPr>
          <p:cNvPr id="38" name="Text 36"/>
          <p:cNvSpPr txBox="1"/>
          <p:nvPr/>
        </p:nvSpPr>
        <p:spPr>
          <a:xfrm>
            <a:off x="2240280" y="5367528"/>
            <a:ext cx="4937760" cy="320040"/>
          </a:xfrm>
          <a:prstGeom prst="rect">
            <a:avLst/>
          </a:prstGeom>
          <a:noFill/>
          <a:ln/>
        </p:spPr>
        <p:txBody>
          <a:bodyPr wrap="square" lIns="0" tIns="0" rIns="0" bIns="0" rtlCol="0" anchor="t"/>
          <a:lstStyle/>
          <a:p>
            <a:pPr indent="0" marL="0">
              <a:buNone/>
            </a:pPr>
            <a:r>
              <a:rPr lang="en-US" sz="1150" dirty="0">
                <a:solidFill>
                  <a:srgbClr val="3E3E48"/>
                </a:solidFill>
                <a:latin typeface="Calibri" pitchFamily="34" charset="0"/>
                <a:ea typeface="Calibri" pitchFamily="34" charset="-122"/>
                <a:cs typeface="Calibri" pitchFamily="34" charset="-120"/>
              </a:rPr>
              <a:t>21 July — accession of Leopold I in 1831</a:t>
            </a:r>
            <a:endParaRPr lang="en-US" sz="1150" dirty="0"/>
          </a:p>
        </p:txBody>
      </p:sp>
      <p:sp>
        <p:nvSpPr>
          <p:cNvPr id="39" name="Text 37"/>
          <p:cNvSpPr txBox="1"/>
          <p:nvPr/>
        </p:nvSpPr>
        <p:spPr>
          <a:xfrm>
            <a:off x="640080" y="5687568"/>
            <a:ext cx="1600200" cy="320040"/>
          </a:xfrm>
          <a:prstGeom prst="rect">
            <a:avLst/>
          </a:prstGeom>
          <a:noFill/>
          <a:ln/>
        </p:spPr>
        <p:txBody>
          <a:bodyPr wrap="square" lIns="0" tIns="0" rIns="0" bIns="0" rtlCol="0" anchor="t"/>
          <a:lstStyle/>
          <a:p>
            <a:pPr indent="0" marL="0">
              <a:buNone/>
            </a:pPr>
            <a:r>
              <a:rPr lang="en-US" sz="1150" b="1" dirty="0">
                <a:solidFill>
                  <a:srgbClr val="17171B"/>
                </a:solidFill>
                <a:latin typeface="Calibri" pitchFamily="34" charset="0"/>
                <a:ea typeface="Calibri" pitchFamily="34" charset="-122"/>
                <a:cs typeface="Calibri" pitchFamily="34" charset="-120"/>
              </a:rPr>
              <a:t>Member of</a:t>
            </a:r>
            <a:endParaRPr lang="en-US" sz="1150" dirty="0"/>
          </a:p>
        </p:txBody>
      </p:sp>
      <p:sp>
        <p:nvSpPr>
          <p:cNvPr id="40" name="Text 38"/>
          <p:cNvSpPr txBox="1"/>
          <p:nvPr/>
        </p:nvSpPr>
        <p:spPr>
          <a:xfrm>
            <a:off x="2240280" y="5687568"/>
            <a:ext cx="4937760" cy="320040"/>
          </a:xfrm>
          <a:prstGeom prst="rect">
            <a:avLst/>
          </a:prstGeom>
          <a:noFill/>
          <a:ln/>
        </p:spPr>
        <p:txBody>
          <a:bodyPr wrap="square" lIns="0" tIns="0" rIns="0" bIns="0" rtlCol="0" anchor="t"/>
          <a:lstStyle/>
          <a:p>
            <a:pPr indent="0" marL="0">
              <a:buNone/>
            </a:pPr>
            <a:r>
              <a:rPr lang="en-US" sz="1150" dirty="0">
                <a:solidFill>
                  <a:srgbClr val="3E3E48"/>
                </a:solidFill>
                <a:latin typeface="Calibri" pitchFamily="34" charset="0"/>
                <a:ea typeface="Calibri" pitchFamily="34" charset="-122"/>
                <a:cs typeface="Calibri" pitchFamily="34" charset="-120"/>
              </a:rPr>
              <a:t>EU · NATO · UN · eurozone · Schengen · Benelux · Francophonie</a:t>
            </a:r>
            <a:endParaRPr lang="en-US" sz="1150" dirty="0"/>
          </a:p>
        </p:txBody>
      </p:sp>
      <p:pic>
        <p:nvPicPr>
          <p:cNvPr id="41" name="Image 0" descr="/tmp/claude-0/-home-user-BOYNT-WORK/856f02cf-0e32-5bfe-bffb-9edb29b314f9/scratchpad/deckimg/flag.jpg">    </p:cNvPr>
          <p:cNvPicPr>
            <a:picLocks noChangeAspect="1"/>
          </p:cNvPicPr>
          <p:nvPr/>
        </p:nvPicPr>
        <p:blipFill>
          <a:blip r:embed="rId1"/>
          <a:srcRect l="0" r="0" t="0" b="0"/>
          <a:stretch/>
        </p:blipFill>
        <p:spPr>
          <a:xfrm>
            <a:off x="7498080" y="3127248"/>
            <a:ext cx="4053535" cy="2161885"/>
          </a:xfrm>
          <a:prstGeom prst="rect">
            <a:avLst/>
          </a:prstGeom>
        </p:spPr>
      </p:pic>
      <p:sp>
        <p:nvSpPr>
          <p:cNvPr id="42" name="Text 39"/>
          <p:cNvSpPr txBox="1"/>
          <p:nvPr/>
        </p:nvSpPr>
        <p:spPr>
          <a:xfrm>
            <a:off x="7498080" y="5398861"/>
            <a:ext cx="4053535" cy="502920"/>
          </a:xfrm>
          <a:prstGeom prst="rect">
            <a:avLst/>
          </a:prstGeom>
          <a:noFill/>
          <a:ln/>
        </p:spPr>
        <p:txBody>
          <a:bodyPr wrap="square" lIns="0" tIns="0" rIns="0" bIns="0" rtlCol="0" anchor="ctr"/>
          <a:lstStyle/>
          <a:p>
            <a:pPr indent="0" marL="0">
              <a:buNone/>
            </a:pPr>
            <a:r>
              <a:rPr lang="en-US" sz="1000" i="1" dirty="0">
                <a:solidFill>
                  <a:srgbClr val="70707C"/>
                </a:solidFill>
                <a:latin typeface="Calibri" pitchFamily="34" charset="0"/>
                <a:ea typeface="Calibri" pitchFamily="34" charset="-122"/>
                <a:cs typeface="Calibri" pitchFamily="34" charset="-120"/>
              </a:rPr>
              <a:t>The tricolour of 1830 — black, yellow and red, taken from the arms of the Duchy of Brabant.</a:t>
            </a:r>
            <a:endParaRPr lang="en-US" sz="1000" dirty="0"/>
          </a:p>
        </p:txBody>
      </p:sp>
      <p:sp>
        <p:nvSpPr>
          <p:cNvPr id="43" name="Shape 40"/>
          <p:cNvSpPr/>
          <p:nvPr/>
        </p:nvSpPr>
        <p:spPr>
          <a:xfrm>
            <a:off x="7498080" y="5965789"/>
            <a:ext cx="4053535" cy="731520"/>
          </a:xfrm>
          <a:prstGeom prst="roundRect">
            <a:avLst>
              <a:gd name="adj" fmla="val 11250"/>
            </a:avLst>
          </a:prstGeom>
          <a:solidFill>
            <a:srgbClr val="17171B"/>
          </a:solidFill>
          <a:ln w="12700">
            <a:solidFill>
              <a:srgbClr val="17171B"/>
            </a:solidFill>
            <a:prstDash val="solid"/>
          </a:ln>
          <a:effectLst>
            <a:outerShdw sx="100000" sy="100000" kx="0" ky="0" algn="bl" rotWithShape="0" blurRad="127000" dist="25400" dir="5400000">
              <a:srgbClr val="9A9AA6">
                <a:alpha val="22000"/>
              </a:srgbClr>
            </a:outerShdw>
          </a:effectLst>
        </p:spPr>
      </p:sp>
      <p:sp>
        <p:nvSpPr>
          <p:cNvPr id="44" name="Text 41"/>
          <p:cNvSpPr txBox="1"/>
          <p:nvPr/>
        </p:nvSpPr>
        <p:spPr>
          <a:xfrm>
            <a:off x="7735824" y="6130381"/>
            <a:ext cx="3578047" cy="420624"/>
          </a:xfrm>
          <a:prstGeom prst="rect">
            <a:avLst/>
          </a:prstGeom>
          <a:noFill/>
          <a:ln/>
        </p:spPr>
        <p:txBody>
          <a:bodyPr wrap="square" lIns="0" tIns="0" rIns="0" bIns="0" rtlCol="0" anchor="ctr"/>
          <a:lstStyle/>
          <a:p>
            <a:pPr indent="0" marL="0">
              <a:buNone/>
            </a:pPr>
            <a:r>
              <a:rPr lang="en-US" sz="1100" dirty="0">
                <a:solidFill>
                  <a:srgbClr val="F2D68C"/>
                </a:solidFill>
                <a:latin typeface="Calibri" pitchFamily="34" charset="0"/>
                <a:ea typeface="Calibri" pitchFamily="34" charset="-122"/>
                <a:cs typeface="Calibri" pitchFamily="34" charset="-120"/>
              </a:rPr>
              <a:t>Roughly the land area of Maryland, with twice the people.</a:t>
            </a:r>
            <a:endParaRPr lang="en-US" sz="11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640080" y="402336"/>
            <a:ext cx="10911535" cy="237744"/>
          </a:xfrm>
          <a:prstGeom prst="rect">
            <a:avLst/>
          </a:prstGeom>
          <a:noFill/>
          <a:ln/>
        </p:spPr>
        <p:txBody>
          <a:bodyPr wrap="square" lIns="0" tIns="0" rIns="0" bIns="0" rtlCol="0" anchor="ctr"/>
          <a:lstStyle/>
          <a:p>
            <a:pPr indent="0" marL="0">
              <a:buNone/>
            </a:pPr>
            <a:r>
              <a:rPr lang="en-US" sz="1150" b="1" spc="220" kern="0" dirty="0">
                <a:solidFill>
                  <a:srgbClr val="E3B23C"/>
                </a:solidFill>
                <a:latin typeface="Calibri" pitchFamily="34" charset="0"/>
                <a:ea typeface="Calibri" pitchFamily="34" charset="-122"/>
                <a:cs typeface="Calibri" pitchFamily="34" charset="-120"/>
              </a:rPr>
              <a:t>GÉOGRAPHIE ET PAYSAGES</a:t>
            </a:r>
            <a:endParaRPr lang="en-US" sz="1150" dirty="0"/>
          </a:p>
        </p:txBody>
      </p:sp>
      <p:sp>
        <p:nvSpPr>
          <p:cNvPr id="3" name="Text 1"/>
          <p:cNvSpPr txBox="1"/>
          <p:nvPr/>
        </p:nvSpPr>
        <p:spPr>
          <a:xfrm>
            <a:off x="640080" y="676656"/>
            <a:ext cx="10911535" cy="603504"/>
          </a:xfrm>
          <a:prstGeom prst="rect">
            <a:avLst/>
          </a:prstGeom>
          <a:noFill/>
          <a:ln/>
        </p:spPr>
        <p:txBody>
          <a:bodyPr wrap="square" lIns="0" tIns="0" rIns="0" bIns="0" rtlCol="0" anchor="ctr"/>
          <a:lstStyle/>
          <a:p>
            <a:pPr indent="0" marL="0">
              <a:buNone/>
            </a:pPr>
            <a:r>
              <a:rPr lang="en-US" sz="3100" b="1" dirty="0">
                <a:solidFill>
                  <a:srgbClr val="17171B"/>
                </a:solidFill>
                <a:latin typeface="Cambria" pitchFamily="34" charset="0"/>
                <a:ea typeface="Cambria" pitchFamily="34" charset="-122"/>
                <a:cs typeface="Cambria" pitchFamily="34" charset="-120"/>
              </a:rPr>
              <a:t>Three landscapes in 30,689 km²</a:t>
            </a:r>
            <a:endParaRPr lang="en-US" sz="3100" dirty="0"/>
          </a:p>
        </p:txBody>
      </p:sp>
      <p:sp>
        <p:nvSpPr>
          <p:cNvPr id="4" name="Shape 2"/>
          <p:cNvSpPr/>
          <p:nvPr/>
        </p:nvSpPr>
        <p:spPr>
          <a:xfrm>
            <a:off x="640080" y="6163056"/>
            <a:ext cx="384048" cy="384048"/>
          </a:xfrm>
          <a:prstGeom prst="ellipse">
            <a:avLst/>
          </a:prstGeom>
          <a:solidFill>
            <a:srgbClr val="E3B23C"/>
          </a:solidFill>
          <a:ln/>
        </p:spPr>
      </p:sp>
      <p:sp>
        <p:nvSpPr>
          <p:cNvPr id="5" name="Text 3"/>
          <p:cNvSpPr txBox="1"/>
          <p:nvPr/>
        </p:nvSpPr>
        <p:spPr>
          <a:xfrm>
            <a:off x="640080" y="6163056"/>
            <a:ext cx="384048" cy="384048"/>
          </a:xfrm>
          <a:prstGeom prst="rect">
            <a:avLst/>
          </a:prstGeom>
          <a:noFill/>
          <a:ln/>
        </p:spPr>
        <p:txBody>
          <a:bodyPr wrap="square" lIns="0" tIns="0" rIns="0" bIns="0" rtlCol="0" anchor="ctr"/>
          <a:lstStyle/>
          <a:p>
            <a:pPr algn="ctr" indent="0" marL="0">
              <a:buNone/>
            </a:pPr>
            <a:r>
              <a:rPr lang="en-US" sz="1200" b="1" dirty="0">
                <a:solidFill>
                  <a:srgbClr val="17171B"/>
                </a:solidFill>
                <a:latin typeface="Calibri" pitchFamily="34" charset="0"/>
                <a:ea typeface="Calibri" pitchFamily="34" charset="-122"/>
                <a:cs typeface="Calibri" pitchFamily="34" charset="-120"/>
              </a:rPr>
              <a:t>5</a:t>
            </a:r>
            <a:endParaRPr lang="en-US" sz="1200" dirty="0"/>
          </a:p>
        </p:txBody>
      </p:sp>
      <p:sp>
        <p:nvSpPr>
          <p:cNvPr id="6" name="Text 4"/>
          <p:cNvSpPr txBox="1"/>
          <p:nvPr/>
        </p:nvSpPr>
        <p:spPr>
          <a:xfrm>
            <a:off x="6035040" y="6245352"/>
            <a:ext cx="5516575" cy="237744"/>
          </a:xfrm>
          <a:prstGeom prst="rect">
            <a:avLst/>
          </a:prstGeom>
          <a:noFill/>
          <a:ln/>
        </p:spPr>
        <p:txBody>
          <a:bodyPr wrap="square" lIns="0" tIns="0" rIns="0" bIns="0" rtlCol="0" anchor="ctr"/>
          <a:lstStyle/>
          <a:p>
            <a:pPr algn="r" indent="0" marL="0">
              <a:buNone/>
            </a:pPr>
            <a:r>
              <a:rPr lang="en-US" sz="900" dirty="0">
                <a:solidFill>
                  <a:srgbClr val="70707C"/>
                </a:solidFill>
                <a:latin typeface="Calibri" pitchFamily="34" charset="0"/>
                <a:ea typeface="Calibri" pitchFamily="34" charset="-122"/>
                <a:cs typeface="Calibri" pitchFamily="34" charset="-120"/>
              </a:rPr>
              <a:t>La Belgique  ·  FREN 201  ·  Projet Francophonie</a:t>
            </a:r>
            <a:endParaRPr lang="en-US" sz="900" dirty="0"/>
          </a:p>
        </p:txBody>
      </p:sp>
      <p:sp>
        <p:nvSpPr>
          <p:cNvPr id="7" name="Shape 5"/>
          <p:cNvSpPr/>
          <p:nvPr/>
        </p:nvSpPr>
        <p:spPr>
          <a:xfrm>
            <a:off x="640080" y="1481328"/>
            <a:ext cx="6400800" cy="1316736"/>
          </a:xfrm>
          <a:prstGeom prst="roundRect">
            <a:avLst>
              <a:gd name="adj" fmla="val 6250"/>
            </a:avLst>
          </a:prstGeom>
          <a:solidFill>
            <a:srgbClr val="F4F4F6"/>
          </a:solidFill>
          <a:ln w="12700">
            <a:solidFill>
              <a:srgbClr val="E4E4E9"/>
            </a:solidFill>
            <a:prstDash val="solid"/>
          </a:ln>
          <a:effectLst>
            <a:outerShdw sx="100000" sy="100000" kx="0" ky="0" algn="bl" rotWithShape="0" blurRad="127000" dist="25400" dir="5400000">
              <a:srgbClr val="9A9AA6">
                <a:alpha val="22000"/>
              </a:srgbClr>
            </a:outerShdw>
          </a:effectLst>
        </p:spPr>
      </p:sp>
      <p:sp>
        <p:nvSpPr>
          <p:cNvPr id="8" name="Shape 6"/>
          <p:cNvSpPr/>
          <p:nvPr/>
        </p:nvSpPr>
        <p:spPr>
          <a:xfrm>
            <a:off x="877824" y="1700784"/>
            <a:ext cx="384048" cy="384048"/>
          </a:xfrm>
          <a:prstGeom prst="ellipse">
            <a:avLst/>
          </a:prstGeom>
          <a:solidFill>
            <a:srgbClr val="E3B23C"/>
          </a:solidFill>
          <a:ln/>
        </p:spPr>
      </p:sp>
      <p:sp>
        <p:nvSpPr>
          <p:cNvPr id="9" name="Text 7"/>
          <p:cNvSpPr txBox="1"/>
          <p:nvPr/>
        </p:nvSpPr>
        <p:spPr>
          <a:xfrm>
            <a:off x="877824" y="1700784"/>
            <a:ext cx="384048" cy="384048"/>
          </a:xfrm>
          <a:prstGeom prst="rect">
            <a:avLst/>
          </a:prstGeom>
          <a:noFill/>
          <a:ln/>
        </p:spPr>
        <p:txBody>
          <a:bodyPr wrap="square" lIns="0" tIns="0" rIns="0" bIns="0" rtlCol="0" anchor="ctr"/>
          <a:lstStyle/>
          <a:p>
            <a:pPr algn="ctr" indent="0" marL="0">
              <a:buNone/>
            </a:pPr>
            <a:r>
              <a:rPr lang="en-US" sz="1150" b="1" dirty="0">
                <a:solidFill>
                  <a:srgbClr val="17171B"/>
                </a:solidFill>
                <a:latin typeface="Calibri" pitchFamily="34" charset="0"/>
                <a:ea typeface="Calibri" pitchFamily="34" charset="-122"/>
                <a:cs typeface="Calibri" pitchFamily="34" charset="-120"/>
              </a:rPr>
              <a:t>1</a:t>
            </a:r>
            <a:endParaRPr lang="en-US" sz="1150" dirty="0"/>
          </a:p>
        </p:txBody>
      </p:sp>
      <p:sp>
        <p:nvSpPr>
          <p:cNvPr id="10" name="Text 8"/>
          <p:cNvSpPr txBox="1"/>
          <p:nvPr/>
        </p:nvSpPr>
        <p:spPr>
          <a:xfrm>
            <a:off x="1408176" y="1664208"/>
            <a:ext cx="5394960" cy="256032"/>
          </a:xfrm>
          <a:prstGeom prst="rect">
            <a:avLst/>
          </a:prstGeom>
          <a:noFill/>
          <a:ln/>
        </p:spPr>
        <p:txBody>
          <a:bodyPr wrap="square" lIns="0" tIns="0" rIns="0" bIns="0" rtlCol="0" anchor="ctr"/>
          <a:lstStyle/>
          <a:p>
            <a:pPr indent="0" marL="0">
              <a:buNone/>
            </a:pPr>
            <a:r>
              <a:rPr lang="en-US" sz="1350" b="1" dirty="0">
                <a:solidFill>
                  <a:srgbClr val="17171B"/>
                </a:solidFill>
                <a:latin typeface="Calibri" pitchFamily="34" charset="0"/>
                <a:ea typeface="Calibri" pitchFamily="34" charset="-122"/>
                <a:cs typeface="Calibri" pitchFamily="34" charset="-120"/>
              </a:rPr>
              <a:t>BASSE-BELGIQUE</a:t>
            </a:r>
            <a:endParaRPr lang="en-US" sz="1350" dirty="0"/>
          </a:p>
        </p:txBody>
      </p:sp>
      <p:sp>
        <p:nvSpPr>
          <p:cNvPr id="11" name="Text 9"/>
          <p:cNvSpPr txBox="1"/>
          <p:nvPr/>
        </p:nvSpPr>
        <p:spPr>
          <a:xfrm>
            <a:off x="1408176" y="1920240"/>
            <a:ext cx="5394960" cy="219456"/>
          </a:xfrm>
          <a:prstGeom prst="rect">
            <a:avLst/>
          </a:prstGeom>
          <a:noFill/>
          <a:ln/>
        </p:spPr>
        <p:txBody>
          <a:bodyPr wrap="square" lIns="0" tIns="0" rIns="0" bIns="0" rtlCol="0" anchor="ctr"/>
          <a:lstStyle/>
          <a:p>
            <a:pPr indent="0" marL="0">
              <a:buNone/>
            </a:pPr>
            <a:r>
              <a:rPr lang="en-US" sz="1050" b="1" dirty="0">
                <a:solidFill>
                  <a:srgbClr val="E3B23C"/>
                </a:solidFill>
                <a:latin typeface="Calibri" pitchFamily="34" charset="0"/>
                <a:ea typeface="Calibri" pitchFamily="34" charset="-122"/>
                <a:cs typeface="Calibri" pitchFamily="34" charset="-120"/>
              </a:rPr>
              <a:t>Lower Belgium — 0 to 100 m</a:t>
            </a:r>
            <a:endParaRPr lang="en-US" sz="1050" dirty="0"/>
          </a:p>
        </p:txBody>
      </p:sp>
      <p:sp>
        <p:nvSpPr>
          <p:cNvPr id="12" name="Text 10"/>
          <p:cNvSpPr txBox="1"/>
          <p:nvPr/>
        </p:nvSpPr>
        <p:spPr>
          <a:xfrm>
            <a:off x="1408176" y="2167128"/>
            <a:ext cx="5394960" cy="548640"/>
          </a:xfrm>
          <a:prstGeom prst="rect">
            <a:avLst/>
          </a:prstGeom>
          <a:noFill/>
          <a:ln/>
        </p:spPr>
        <p:txBody>
          <a:bodyPr wrap="square" lIns="0" tIns="0" rIns="0" bIns="0" rtlCol="0" anchor="ctr"/>
          <a:lstStyle/>
          <a:p>
            <a:pPr indent="0" marL="0">
              <a:lnSpc>
                <a:spcPct val="102000"/>
              </a:lnSpc>
              <a:buNone/>
            </a:pPr>
            <a:r>
              <a:rPr lang="en-US" sz="1100" dirty="0">
                <a:solidFill>
                  <a:srgbClr val="3E3E48"/>
                </a:solidFill>
                <a:latin typeface="Calibri" pitchFamily="34" charset="0"/>
                <a:ea typeface="Calibri" pitchFamily="34" charset="-122"/>
                <a:cs typeface="Calibri" pitchFamily="34" charset="-120"/>
              </a:rPr>
              <a:t>A flat coastal plain: 66.5 km of North Sea beaches, polders reclaimed from the sea, canals and the Flemish plain. Nearly all of it is below 50 m.</a:t>
            </a:r>
            <a:endParaRPr lang="en-US" sz="1100" dirty="0"/>
          </a:p>
        </p:txBody>
      </p:sp>
      <p:sp>
        <p:nvSpPr>
          <p:cNvPr id="13" name="Shape 11"/>
          <p:cNvSpPr/>
          <p:nvPr/>
        </p:nvSpPr>
        <p:spPr>
          <a:xfrm>
            <a:off x="640080" y="2999232"/>
            <a:ext cx="6400800" cy="1316736"/>
          </a:xfrm>
          <a:prstGeom prst="roundRect">
            <a:avLst>
              <a:gd name="adj" fmla="val 6250"/>
            </a:avLst>
          </a:prstGeom>
          <a:solidFill>
            <a:srgbClr val="F4F4F6"/>
          </a:solidFill>
          <a:ln w="12700">
            <a:solidFill>
              <a:srgbClr val="E4E4E9"/>
            </a:solidFill>
            <a:prstDash val="solid"/>
          </a:ln>
          <a:effectLst>
            <a:outerShdw sx="100000" sy="100000" kx="0" ky="0" algn="bl" rotWithShape="0" blurRad="127000" dist="25400" dir="5400000">
              <a:srgbClr val="9A9AA6">
                <a:alpha val="22000"/>
              </a:srgbClr>
            </a:outerShdw>
          </a:effectLst>
        </p:spPr>
      </p:sp>
      <p:sp>
        <p:nvSpPr>
          <p:cNvPr id="14" name="Shape 12"/>
          <p:cNvSpPr/>
          <p:nvPr/>
        </p:nvSpPr>
        <p:spPr>
          <a:xfrm>
            <a:off x="877824" y="3218688"/>
            <a:ext cx="384048" cy="384048"/>
          </a:xfrm>
          <a:prstGeom prst="ellipse">
            <a:avLst/>
          </a:prstGeom>
          <a:solidFill>
            <a:srgbClr val="E3B23C"/>
          </a:solidFill>
          <a:ln/>
        </p:spPr>
      </p:sp>
      <p:sp>
        <p:nvSpPr>
          <p:cNvPr id="15" name="Text 13"/>
          <p:cNvSpPr txBox="1"/>
          <p:nvPr/>
        </p:nvSpPr>
        <p:spPr>
          <a:xfrm>
            <a:off x="877824" y="3218688"/>
            <a:ext cx="384048" cy="384048"/>
          </a:xfrm>
          <a:prstGeom prst="rect">
            <a:avLst/>
          </a:prstGeom>
          <a:noFill/>
          <a:ln/>
        </p:spPr>
        <p:txBody>
          <a:bodyPr wrap="square" lIns="0" tIns="0" rIns="0" bIns="0" rtlCol="0" anchor="ctr"/>
          <a:lstStyle/>
          <a:p>
            <a:pPr algn="ctr" indent="0" marL="0">
              <a:buNone/>
            </a:pPr>
            <a:r>
              <a:rPr lang="en-US" sz="1150" b="1" dirty="0">
                <a:solidFill>
                  <a:srgbClr val="17171B"/>
                </a:solidFill>
                <a:latin typeface="Calibri" pitchFamily="34" charset="0"/>
                <a:ea typeface="Calibri" pitchFamily="34" charset="-122"/>
                <a:cs typeface="Calibri" pitchFamily="34" charset="-120"/>
              </a:rPr>
              <a:t>2</a:t>
            </a:r>
            <a:endParaRPr lang="en-US" sz="1150" dirty="0"/>
          </a:p>
        </p:txBody>
      </p:sp>
      <p:sp>
        <p:nvSpPr>
          <p:cNvPr id="16" name="Text 14"/>
          <p:cNvSpPr txBox="1"/>
          <p:nvPr/>
        </p:nvSpPr>
        <p:spPr>
          <a:xfrm>
            <a:off x="1408176" y="3182112"/>
            <a:ext cx="5394960" cy="256032"/>
          </a:xfrm>
          <a:prstGeom prst="rect">
            <a:avLst/>
          </a:prstGeom>
          <a:noFill/>
          <a:ln/>
        </p:spPr>
        <p:txBody>
          <a:bodyPr wrap="square" lIns="0" tIns="0" rIns="0" bIns="0" rtlCol="0" anchor="ctr"/>
          <a:lstStyle/>
          <a:p>
            <a:pPr indent="0" marL="0">
              <a:buNone/>
            </a:pPr>
            <a:r>
              <a:rPr lang="en-US" sz="1350" b="1" dirty="0">
                <a:solidFill>
                  <a:srgbClr val="17171B"/>
                </a:solidFill>
                <a:latin typeface="Calibri" pitchFamily="34" charset="0"/>
                <a:ea typeface="Calibri" pitchFamily="34" charset="-122"/>
                <a:cs typeface="Calibri" pitchFamily="34" charset="-120"/>
              </a:rPr>
              <a:t>MOYENNE-BELGIQUE</a:t>
            </a:r>
            <a:endParaRPr lang="en-US" sz="1350" dirty="0"/>
          </a:p>
        </p:txBody>
      </p:sp>
      <p:sp>
        <p:nvSpPr>
          <p:cNvPr id="17" name="Text 15"/>
          <p:cNvSpPr txBox="1"/>
          <p:nvPr/>
        </p:nvSpPr>
        <p:spPr>
          <a:xfrm>
            <a:off x="1408176" y="3438144"/>
            <a:ext cx="5394960" cy="219456"/>
          </a:xfrm>
          <a:prstGeom prst="rect">
            <a:avLst/>
          </a:prstGeom>
          <a:noFill/>
          <a:ln/>
        </p:spPr>
        <p:txBody>
          <a:bodyPr wrap="square" lIns="0" tIns="0" rIns="0" bIns="0" rtlCol="0" anchor="ctr"/>
          <a:lstStyle/>
          <a:p>
            <a:pPr indent="0" marL="0">
              <a:buNone/>
            </a:pPr>
            <a:r>
              <a:rPr lang="en-US" sz="1050" b="1" dirty="0">
                <a:solidFill>
                  <a:srgbClr val="E3B23C"/>
                </a:solidFill>
                <a:latin typeface="Calibri" pitchFamily="34" charset="0"/>
                <a:ea typeface="Calibri" pitchFamily="34" charset="-122"/>
                <a:cs typeface="Calibri" pitchFamily="34" charset="-120"/>
              </a:rPr>
              <a:t>Middle Belgium — 100 to 200 m</a:t>
            </a:r>
            <a:endParaRPr lang="en-US" sz="1050" dirty="0"/>
          </a:p>
        </p:txBody>
      </p:sp>
      <p:sp>
        <p:nvSpPr>
          <p:cNvPr id="18" name="Text 16"/>
          <p:cNvSpPr txBox="1"/>
          <p:nvPr/>
        </p:nvSpPr>
        <p:spPr>
          <a:xfrm>
            <a:off x="1408176" y="3685032"/>
            <a:ext cx="5394960" cy="548640"/>
          </a:xfrm>
          <a:prstGeom prst="rect">
            <a:avLst/>
          </a:prstGeom>
          <a:noFill/>
          <a:ln/>
        </p:spPr>
        <p:txBody>
          <a:bodyPr wrap="square" lIns="0" tIns="0" rIns="0" bIns="0" rtlCol="0" anchor="ctr"/>
          <a:lstStyle/>
          <a:p>
            <a:pPr indent="0" marL="0">
              <a:lnSpc>
                <a:spcPct val="102000"/>
              </a:lnSpc>
              <a:buNone/>
            </a:pPr>
            <a:r>
              <a:rPr lang="en-US" sz="1100" dirty="0">
                <a:solidFill>
                  <a:srgbClr val="3E3E48"/>
                </a:solidFill>
                <a:latin typeface="Calibri" pitchFamily="34" charset="0"/>
                <a:ea typeface="Calibri" pitchFamily="34" charset="-122"/>
                <a:cs typeface="Calibri" pitchFamily="34" charset="-120"/>
              </a:rPr>
              <a:t>Gently rolling, very fertile loam plateaus. This is the busy, urban heart of the country: Brussels, Hainaut, Brabant and the Hesbaye farmland.</a:t>
            </a:r>
            <a:endParaRPr lang="en-US" sz="1100" dirty="0"/>
          </a:p>
        </p:txBody>
      </p:sp>
      <p:sp>
        <p:nvSpPr>
          <p:cNvPr id="19" name="Shape 17"/>
          <p:cNvSpPr/>
          <p:nvPr/>
        </p:nvSpPr>
        <p:spPr>
          <a:xfrm>
            <a:off x="640080" y="4517136"/>
            <a:ext cx="6400800" cy="1316736"/>
          </a:xfrm>
          <a:prstGeom prst="roundRect">
            <a:avLst>
              <a:gd name="adj" fmla="val 6250"/>
            </a:avLst>
          </a:prstGeom>
          <a:solidFill>
            <a:srgbClr val="F4F4F6"/>
          </a:solidFill>
          <a:ln w="12700">
            <a:solidFill>
              <a:srgbClr val="E4E4E9"/>
            </a:solidFill>
            <a:prstDash val="solid"/>
          </a:ln>
          <a:effectLst>
            <a:outerShdw sx="100000" sy="100000" kx="0" ky="0" algn="bl" rotWithShape="0" blurRad="127000" dist="25400" dir="5400000">
              <a:srgbClr val="9A9AA6">
                <a:alpha val="22000"/>
              </a:srgbClr>
            </a:outerShdw>
          </a:effectLst>
        </p:spPr>
      </p:sp>
      <p:sp>
        <p:nvSpPr>
          <p:cNvPr id="20" name="Shape 18"/>
          <p:cNvSpPr/>
          <p:nvPr/>
        </p:nvSpPr>
        <p:spPr>
          <a:xfrm>
            <a:off x="877824" y="4736592"/>
            <a:ext cx="384048" cy="384048"/>
          </a:xfrm>
          <a:prstGeom prst="ellipse">
            <a:avLst/>
          </a:prstGeom>
          <a:solidFill>
            <a:srgbClr val="E3B23C"/>
          </a:solidFill>
          <a:ln/>
        </p:spPr>
      </p:sp>
      <p:sp>
        <p:nvSpPr>
          <p:cNvPr id="21" name="Text 19"/>
          <p:cNvSpPr txBox="1"/>
          <p:nvPr/>
        </p:nvSpPr>
        <p:spPr>
          <a:xfrm>
            <a:off x="877824" y="4736592"/>
            <a:ext cx="384048" cy="384048"/>
          </a:xfrm>
          <a:prstGeom prst="rect">
            <a:avLst/>
          </a:prstGeom>
          <a:noFill/>
          <a:ln/>
        </p:spPr>
        <p:txBody>
          <a:bodyPr wrap="square" lIns="0" tIns="0" rIns="0" bIns="0" rtlCol="0" anchor="ctr"/>
          <a:lstStyle/>
          <a:p>
            <a:pPr algn="ctr" indent="0" marL="0">
              <a:buNone/>
            </a:pPr>
            <a:r>
              <a:rPr lang="en-US" sz="1150" b="1" dirty="0">
                <a:solidFill>
                  <a:srgbClr val="17171B"/>
                </a:solidFill>
                <a:latin typeface="Calibri" pitchFamily="34" charset="0"/>
                <a:ea typeface="Calibri" pitchFamily="34" charset="-122"/>
                <a:cs typeface="Calibri" pitchFamily="34" charset="-120"/>
              </a:rPr>
              <a:t>3</a:t>
            </a:r>
            <a:endParaRPr lang="en-US" sz="1150" dirty="0"/>
          </a:p>
        </p:txBody>
      </p:sp>
      <p:sp>
        <p:nvSpPr>
          <p:cNvPr id="22" name="Text 20"/>
          <p:cNvSpPr txBox="1"/>
          <p:nvPr/>
        </p:nvSpPr>
        <p:spPr>
          <a:xfrm>
            <a:off x="1408176" y="4700016"/>
            <a:ext cx="5394960" cy="256032"/>
          </a:xfrm>
          <a:prstGeom prst="rect">
            <a:avLst/>
          </a:prstGeom>
          <a:noFill/>
          <a:ln/>
        </p:spPr>
        <p:txBody>
          <a:bodyPr wrap="square" lIns="0" tIns="0" rIns="0" bIns="0" rtlCol="0" anchor="ctr"/>
          <a:lstStyle/>
          <a:p>
            <a:pPr indent="0" marL="0">
              <a:buNone/>
            </a:pPr>
            <a:r>
              <a:rPr lang="en-US" sz="1350" b="1" dirty="0">
                <a:solidFill>
                  <a:srgbClr val="17171B"/>
                </a:solidFill>
                <a:latin typeface="Calibri" pitchFamily="34" charset="0"/>
                <a:ea typeface="Calibri" pitchFamily="34" charset="-122"/>
                <a:cs typeface="Calibri" pitchFamily="34" charset="-120"/>
              </a:rPr>
              <a:t>HAUTE-BELGIQUE</a:t>
            </a:r>
            <a:endParaRPr lang="en-US" sz="1350" dirty="0"/>
          </a:p>
        </p:txBody>
      </p:sp>
      <p:sp>
        <p:nvSpPr>
          <p:cNvPr id="23" name="Text 21"/>
          <p:cNvSpPr txBox="1"/>
          <p:nvPr/>
        </p:nvSpPr>
        <p:spPr>
          <a:xfrm>
            <a:off x="1408176" y="4956048"/>
            <a:ext cx="5394960" cy="219456"/>
          </a:xfrm>
          <a:prstGeom prst="rect">
            <a:avLst/>
          </a:prstGeom>
          <a:noFill/>
          <a:ln/>
        </p:spPr>
        <p:txBody>
          <a:bodyPr wrap="square" lIns="0" tIns="0" rIns="0" bIns="0" rtlCol="0" anchor="ctr"/>
          <a:lstStyle/>
          <a:p>
            <a:pPr indent="0" marL="0">
              <a:buNone/>
            </a:pPr>
            <a:r>
              <a:rPr lang="en-US" sz="1050" b="1" dirty="0">
                <a:solidFill>
                  <a:srgbClr val="E3B23C"/>
                </a:solidFill>
                <a:latin typeface="Calibri" pitchFamily="34" charset="0"/>
                <a:ea typeface="Calibri" pitchFamily="34" charset="-122"/>
                <a:cs typeface="Calibri" pitchFamily="34" charset="-120"/>
              </a:rPr>
              <a:t>High Belgium — 200 to 700 m</a:t>
            </a:r>
            <a:endParaRPr lang="en-US" sz="1050" dirty="0"/>
          </a:p>
        </p:txBody>
      </p:sp>
      <p:sp>
        <p:nvSpPr>
          <p:cNvPr id="24" name="Text 22"/>
          <p:cNvSpPr txBox="1"/>
          <p:nvPr/>
        </p:nvSpPr>
        <p:spPr>
          <a:xfrm>
            <a:off x="1408176" y="5202936"/>
            <a:ext cx="5394960" cy="548640"/>
          </a:xfrm>
          <a:prstGeom prst="rect">
            <a:avLst/>
          </a:prstGeom>
          <a:noFill/>
          <a:ln/>
        </p:spPr>
        <p:txBody>
          <a:bodyPr wrap="square" lIns="0" tIns="0" rIns="0" bIns="0" rtlCol="0" anchor="ctr"/>
          <a:lstStyle/>
          <a:p>
            <a:pPr indent="0" marL="0">
              <a:lnSpc>
                <a:spcPct val="102000"/>
              </a:lnSpc>
              <a:buNone/>
            </a:pPr>
            <a:r>
              <a:rPr lang="en-US" sz="1100" dirty="0">
                <a:solidFill>
                  <a:srgbClr val="3E3E48"/>
                </a:solidFill>
                <a:latin typeface="Calibri" pitchFamily="34" charset="0"/>
                <a:ea typeface="Calibri" pitchFamily="34" charset="-122"/>
                <a:cs typeface="Calibri" pitchFamily="34" charset="-120"/>
              </a:rPr>
              <a:t>The Ardennes: forest, deep river valleys, caves and moorland. The Signal de Botrange, 694 m, is the highest point in the country.</a:t>
            </a:r>
            <a:endParaRPr lang="en-US" sz="1100" dirty="0"/>
          </a:p>
        </p:txBody>
      </p:sp>
      <p:pic>
        <p:nvPicPr>
          <p:cNvPr id="25" name="Image 0" descr="/tmp/claude-0/-home-user-BOYNT-WORK/856f02cf-0e32-5bfe-bffb-9edb29b314f9/scratchpad/deckimg/meuse_huy.jpg">    </p:cNvPr>
          <p:cNvPicPr>
            <a:picLocks noChangeAspect="1"/>
          </p:cNvPicPr>
          <p:nvPr/>
        </p:nvPicPr>
        <p:blipFill>
          <a:blip r:embed="rId1"/>
          <a:srcRect l="0" r="0" t="0" b="0"/>
          <a:stretch/>
        </p:blipFill>
        <p:spPr>
          <a:xfrm>
            <a:off x="7498080" y="1481328"/>
            <a:ext cx="4053535" cy="1874520"/>
          </a:xfrm>
          <a:prstGeom prst="rect">
            <a:avLst/>
          </a:prstGeom>
        </p:spPr>
      </p:pic>
      <p:sp>
        <p:nvSpPr>
          <p:cNvPr id="26" name="Text 23"/>
          <p:cNvSpPr txBox="1"/>
          <p:nvPr/>
        </p:nvSpPr>
        <p:spPr>
          <a:xfrm>
            <a:off x="7498080" y="3438144"/>
            <a:ext cx="4053535" cy="274320"/>
          </a:xfrm>
          <a:prstGeom prst="rect">
            <a:avLst/>
          </a:prstGeom>
          <a:noFill/>
          <a:ln/>
        </p:spPr>
        <p:txBody>
          <a:bodyPr wrap="square" lIns="0" tIns="0" rIns="0" bIns="0" rtlCol="0" anchor="ctr"/>
          <a:lstStyle/>
          <a:p>
            <a:pPr indent="0" marL="0">
              <a:buNone/>
            </a:pPr>
            <a:r>
              <a:rPr lang="en-US" sz="950" i="1" dirty="0">
                <a:solidFill>
                  <a:srgbClr val="70707C"/>
                </a:solidFill>
                <a:latin typeface="Calibri" pitchFamily="34" charset="0"/>
                <a:ea typeface="Calibri" pitchFamily="34" charset="-122"/>
                <a:cs typeface="Calibri" pitchFamily="34" charset="-120"/>
              </a:rPr>
              <a:t>The Meuse near Huy, Wallonia — one of Belgium's two great rivers, with the Scheldt.</a:t>
            </a:r>
            <a:endParaRPr lang="en-US" sz="950" dirty="0"/>
          </a:p>
        </p:txBody>
      </p:sp>
      <p:pic>
        <p:nvPicPr>
          <p:cNvPr id="27" name="Image 1" descr="/tmp/claude-0/-home-user-BOYNT-WORK/856f02cf-0e32-5bfe-bffb-9edb29b314f9/scratchpad/deckimg/burgreuland.jpg">    </p:cNvPr>
          <p:cNvPicPr>
            <a:picLocks noChangeAspect="1"/>
          </p:cNvPicPr>
          <p:nvPr/>
        </p:nvPicPr>
        <p:blipFill>
          <a:blip r:embed="rId2"/>
          <a:srcRect l="0" r="0" t="0" b="0"/>
          <a:stretch/>
        </p:blipFill>
        <p:spPr>
          <a:xfrm>
            <a:off x="7498080" y="3877056"/>
            <a:ext cx="4053535" cy="1874520"/>
          </a:xfrm>
          <a:prstGeom prst="rect">
            <a:avLst/>
          </a:prstGeom>
        </p:spPr>
      </p:pic>
      <p:sp>
        <p:nvSpPr>
          <p:cNvPr id="28" name="Text 24"/>
          <p:cNvSpPr txBox="1"/>
          <p:nvPr/>
        </p:nvSpPr>
        <p:spPr>
          <a:xfrm>
            <a:off x="7498080" y="5833872"/>
            <a:ext cx="4053535" cy="274320"/>
          </a:xfrm>
          <a:prstGeom prst="rect">
            <a:avLst/>
          </a:prstGeom>
          <a:noFill/>
          <a:ln/>
        </p:spPr>
        <p:txBody>
          <a:bodyPr wrap="square" lIns="0" tIns="0" rIns="0" bIns="0" rtlCol="0" anchor="ctr"/>
          <a:lstStyle/>
          <a:p>
            <a:pPr indent="0" marL="0">
              <a:buNone/>
            </a:pPr>
            <a:r>
              <a:rPr lang="en-US" sz="950" i="1" dirty="0">
                <a:solidFill>
                  <a:srgbClr val="70707C"/>
                </a:solidFill>
                <a:latin typeface="Calibri" pitchFamily="34" charset="0"/>
                <a:ea typeface="Calibri" pitchFamily="34" charset="-122"/>
                <a:cs typeface="Calibri" pitchFamily="34" charset="-120"/>
              </a:rPr>
              <a:t>Burg-Reuland in the eastern Ardennes — the German-speaking corner of Belgium.</a:t>
            </a:r>
            <a:endParaRPr lang="en-US" sz="95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640080" y="402336"/>
            <a:ext cx="10911535" cy="237744"/>
          </a:xfrm>
          <a:prstGeom prst="rect">
            <a:avLst/>
          </a:prstGeom>
          <a:noFill/>
          <a:ln/>
        </p:spPr>
        <p:txBody>
          <a:bodyPr wrap="square" lIns="0" tIns="0" rIns="0" bIns="0" rtlCol="0" anchor="ctr"/>
          <a:lstStyle/>
          <a:p>
            <a:pPr indent="0" marL="0">
              <a:buNone/>
            </a:pPr>
            <a:r>
              <a:rPr lang="en-US" sz="1150" b="1" spc="220" kern="0" dirty="0">
                <a:solidFill>
                  <a:srgbClr val="E3B23C"/>
                </a:solidFill>
                <a:latin typeface="Calibri" pitchFamily="34" charset="0"/>
                <a:ea typeface="Calibri" pitchFamily="34" charset="-122"/>
                <a:cs typeface="Calibri" pitchFamily="34" charset="-120"/>
              </a:rPr>
              <a:t>RÉGIONS, COMMUNAUTÉS, LANGUES</a:t>
            </a:r>
            <a:endParaRPr lang="en-US" sz="1150" dirty="0"/>
          </a:p>
        </p:txBody>
      </p:sp>
      <p:sp>
        <p:nvSpPr>
          <p:cNvPr id="3" name="Text 1"/>
          <p:cNvSpPr txBox="1"/>
          <p:nvPr/>
        </p:nvSpPr>
        <p:spPr>
          <a:xfrm>
            <a:off x="640080" y="676656"/>
            <a:ext cx="10911535" cy="603504"/>
          </a:xfrm>
          <a:prstGeom prst="rect">
            <a:avLst/>
          </a:prstGeom>
          <a:noFill/>
          <a:ln/>
        </p:spPr>
        <p:txBody>
          <a:bodyPr wrap="square" lIns="0" tIns="0" rIns="0" bIns="0" rtlCol="0" anchor="ctr"/>
          <a:lstStyle/>
          <a:p>
            <a:pPr indent="0" marL="0">
              <a:buNone/>
            </a:pPr>
            <a:r>
              <a:rPr lang="en-US" sz="3100" b="1" dirty="0">
                <a:solidFill>
                  <a:srgbClr val="17171B"/>
                </a:solidFill>
                <a:latin typeface="Cambria" pitchFamily="34" charset="0"/>
                <a:ea typeface="Cambria" pitchFamily="34" charset="-122"/>
                <a:cs typeface="Cambria" pitchFamily="34" charset="-120"/>
              </a:rPr>
              <a:t>One country, three languages</a:t>
            </a:r>
            <a:endParaRPr lang="en-US" sz="3100" dirty="0"/>
          </a:p>
        </p:txBody>
      </p:sp>
      <p:sp>
        <p:nvSpPr>
          <p:cNvPr id="4" name="Shape 2"/>
          <p:cNvSpPr/>
          <p:nvPr/>
        </p:nvSpPr>
        <p:spPr>
          <a:xfrm>
            <a:off x="640080" y="6163056"/>
            <a:ext cx="384048" cy="384048"/>
          </a:xfrm>
          <a:prstGeom prst="ellipse">
            <a:avLst/>
          </a:prstGeom>
          <a:solidFill>
            <a:srgbClr val="E3B23C"/>
          </a:solidFill>
          <a:ln/>
        </p:spPr>
      </p:sp>
      <p:sp>
        <p:nvSpPr>
          <p:cNvPr id="5" name="Text 3"/>
          <p:cNvSpPr txBox="1"/>
          <p:nvPr/>
        </p:nvSpPr>
        <p:spPr>
          <a:xfrm>
            <a:off x="640080" y="6163056"/>
            <a:ext cx="384048" cy="384048"/>
          </a:xfrm>
          <a:prstGeom prst="rect">
            <a:avLst/>
          </a:prstGeom>
          <a:noFill/>
          <a:ln/>
        </p:spPr>
        <p:txBody>
          <a:bodyPr wrap="square" lIns="0" tIns="0" rIns="0" bIns="0" rtlCol="0" anchor="ctr"/>
          <a:lstStyle/>
          <a:p>
            <a:pPr algn="ctr" indent="0" marL="0">
              <a:buNone/>
            </a:pPr>
            <a:r>
              <a:rPr lang="en-US" sz="1200" b="1" dirty="0">
                <a:solidFill>
                  <a:srgbClr val="17171B"/>
                </a:solidFill>
                <a:latin typeface="Calibri" pitchFamily="34" charset="0"/>
                <a:ea typeface="Calibri" pitchFamily="34" charset="-122"/>
                <a:cs typeface="Calibri" pitchFamily="34" charset="-120"/>
              </a:rPr>
              <a:t>6</a:t>
            </a:r>
            <a:endParaRPr lang="en-US" sz="1200" dirty="0"/>
          </a:p>
        </p:txBody>
      </p:sp>
      <p:sp>
        <p:nvSpPr>
          <p:cNvPr id="6" name="Text 4"/>
          <p:cNvSpPr txBox="1"/>
          <p:nvPr/>
        </p:nvSpPr>
        <p:spPr>
          <a:xfrm>
            <a:off x="6035040" y="6245352"/>
            <a:ext cx="5516575" cy="237744"/>
          </a:xfrm>
          <a:prstGeom prst="rect">
            <a:avLst/>
          </a:prstGeom>
          <a:noFill/>
          <a:ln/>
        </p:spPr>
        <p:txBody>
          <a:bodyPr wrap="square" lIns="0" tIns="0" rIns="0" bIns="0" rtlCol="0" anchor="ctr"/>
          <a:lstStyle/>
          <a:p>
            <a:pPr algn="r" indent="0" marL="0">
              <a:buNone/>
            </a:pPr>
            <a:r>
              <a:rPr lang="en-US" sz="900" dirty="0">
                <a:solidFill>
                  <a:srgbClr val="70707C"/>
                </a:solidFill>
                <a:latin typeface="Calibri" pitchFamily="34" charset="0"/>
                <a:ea typeface="Calibri" pitchFamily="34" charset="-122"/>
                <a:cs typeface="Calibri" pitchFamily="34" charset="-120"/>
              </a:rPr>
              <a:t>La Belgique  ·  FREN 201  ·  Projet Francophonie</a:t>
            </a:r>
            <a:endParaRPr lang="en-US" sz="900" dirty="0"/>
          </a:p>
        </p:txBody>
      </p:sp>
      <p:pic>
        <p:nvPicPr>
          <p:cNvPr id="7" name="Image 0" descr="/tmp/claude-0/-home-user-BOYNT-WORK/856f02cf-0e32-5bfe-bffb-9edb29b314f9/scratchpad/deckimg/map_belgium_regions.png">    </p:cNvPr>
          <p:cNvPicPr>
            <a:picLocks noChangeAspect="1"/>
          </p:cNvPicPr>
          <p:nvPr/>
        </p:nvPicPr>
        <p:blipFill>
          <a:blip r:embed="rId1"/>
          <a:stretch>
            <a:fillRect/>
          </a:stretch>
        </p:blipFill>
        <p:spPr>
          <a:xfrm>
            <a:off x="438912" y="1499616"/>
            <a:ext cx="6492240" cy="4211092"/>
          </a:xfrm>
          <a:prstGeom prst="rect">
            <a:avLst/>
          </a:prstGeom>
        </p:spPr>
      </p:pic>
      <p:sp>
        <p:nvSpPr>
          <p:cNvPr id="8" name="Shape 5"/>
          <p:cNvSpPr/>
          <p:nvPr/>
        </p:nvSpPr>
        <p:spPr>
          <a:xfrm>
            <a:off x="7452360" y="1481328"/>
            <a:ext cx="4099255" cy="987552"/>
          </a:xfrm>
          <a:prstGeom prst="roundRect">
            <a:avLst>
              <a:gd name="adj" fmla="val 8333"/>
            </a:avLst>
          </a:prstGeom>
          <a:solidFill>
            <a:srgbClr val="F4F4F6"/>
          </a:solidFill>
          <a:ln w="12700">
            <a:solidFill>
              <a:srgbClr val="E4E4E9"/>
            </a:solidFill>
            <a:prstDash val="solid"/>
          </a:ln>
          <a:effectLst>
            <a:outerShdw sx="100000" sy="100000" kx="0" ky="0" algn="bl" rotWithShape="0" blurRad="127000" dist="25400" dir="5400000">
              <a:srgbClr val="9A9AA6">
                <a:alpha val="22000"/>
              </a:srgbClr>
            </a:outerShdw>
          </a:effectLst>
        </p:spPr>
      </p:sp>
      <p:sp>
        <p:nvSpPr>
          <p:cNvPr id="9" name="Shape 6"/>
          <p:cNvSpPr/>
          <p:nvPr/>
        </p:nvSpPr>
        <p:spPr>
          <a:xfrm>
            <a:off x="7671816" y="1682496"/>
            <a:ext cx="219456" cy="219456"/>
          </a:xfrm>
          <a:prstGeom prst="ellipse">
            <a:avLst/>
          </a:prstGeom>
          <a:solidFill>
            <a:srgbClr val="E3B23C"/>
          </a:solidFill>
          <a:ln/>
        </p:spPr>
      </p:sp>
      <p:sp>
        <p:nvSpPr>
          <p:cNvPr id="10" name="Text 7"/>
          <p:cNvSpPr txBox="1"/>
          <p:nvPr/>
        </p:nvSpPr>
        <p:spPr>
          <a:xfrm>
            <a:off x="8001000" y="1636776"/>
            <a:ext cx="3331159" cy="256032"/>
          </a:xfrm>
          <a:prstGeom prst="rect">
            <a:avLst/>
          </a:prstGeom>
          <a:noFill/>
          <a:ln/>
        </p:spPr>
        <p:txBody>
          <a:bodyPr wrap="square" lIns="0" tIns="0" rIns="0" bIns="0" rtlCol="0" anchor="ctr"/>
          <a:lstStyle/>
          <a:p>
            <a:pPr indent="0" marL="0">
              <a:buNone/>
            </a:pPr>
            <a:r>
              <a:rPr lang="en-US" sz="1200" b="1" dirty="0">
                <a:solidFill>
                  <a:srgbClr val="17171B"/>
                </a:solidFill>
                <a:latin typeface="Calibri" pitchFamily="34" charset="0"/>
                <a:ea typeface="Calibri" pitchFamily="34" charset="-122"/>
                <a:cs typeface="Calibri" pitchFamily="34" charset="-120"/>
              </a:rPr>
              <a:t>FLANDRE / VLAANDEREN</a:t>
            </a:r>
            <a:endParaRPr lang="en-US" sz="1200" dirty="0"/>
          </a:p>
        </p:txBody>
      </p:sp>
      <p:sp>
        <p:nvSpPr>
          <p:cNvPr id="11" name="Text 8"/>
          <p:cNvSpPr txBox="1"/>
          <p:nvPr/>
        </p:nvSpPr>
        <p:spPr>
          <a:xfrm>
            <a:off x="8001000" y="1892808"/>
            <a:ext cx="3331159" cy="219456"/>
          </a:xfrm>
          <a:prstGeom prst="rect">
            <a:avLst/>
          </a:prstGeom>
          <a:noFill/>
          <a:ln/>
        </p:spPr>
        <p:txBody>
          <a:bodyPr wrap="square" lIns="0" tIns="0" rIns="0" bIns="0" rtlCol="0" anchor="ctr"/>
          <a:lstStyle/>
          <a:p>
            <a:pPr indent="0" marL="0">
              <a:buNone/>
            </a:pPr>
            <a:r>
              <a:rPr lang="en-US" sz="1050" dirty="0">
                <a:solidFill>
                  <a:srgbClr val="70707C"/>
                </a:solidFill>
                <a:latin typeface="Calibri" pitchFamily="34" charset="0"/>
                <a:ea typeface="Calibri" pitchFamily="34" charset="-122"/>
                <a:cs typeface="Calibri" pitchFamily="34" charset="-120"/>
              </a:rPr>
              <a:t>Dutch-speaking · north</a:t>
            </a:r>
            <a:endParaRPr lang="en-US" sz="1050" dirty="0"/>
          </a:p>
        </p:txBody>
      </p:sp>
      <p:sp>
        <p:nvSpPr>
          <p:cNvPr id="12" name="Text 9"/>
          <p:cNvSpPr txBox="1"/>
          <p:nvPr/>
        </p:nvSpPr>
        <p:spPr>
          <a:xfrm>
            <a:off x="8001000" y="2130552"/>
            <a:ext cx="3331159" cy="219456"/>
          </a:xfrm>
          <a:prstGeom prst="rect">
            <a:avLst/>
          </a:prstGeom>
          <a:noFill/>
          <a:ln/>
        </p:spPr>
        <p:txBody>
          <a:bodyPr wrap="square" lIns="0" tIns="0" rIns="0" bIns="0" rtlCol="0" anchor="ctr"/>
          <a:lstStyle/>
          <a:p>
            <a:pPr indent="0" marL="0">
              <a:buNone/>
            </a:pPr>
            <a:r>
              <a:rPr lang="en-US" sz="1050" b="1" dirty="0">
                <a:solidFill>
                  <a:srgbClr val="3E3E48"/>
                </a:solidFill>
                <a:latin typeface="Calibri" pitchFamily="34" charset="0"/>
                <a:ea typeface="Calibri" pitchFamily="34" charset="-122"/>
                <a:cs typeface="Calibri" pitchFamily="34" charset="-120"/>
              </a:rPr>
              <a:t>≈ 13,600 km²  ·  58 % of the population</a:t>
            </a:r>
            <a:endParaRPr lang="en-US" sz="1050" dirty="0"/>
          </a:p>
        </p:txBody>
      </p:sp>
      <p:sp>
        <p:nvSpPr>
          <p:cNvPr id="13" name="Shape 10"/>
          <p:cNvSpPr/>
          <p:nvPr/>
        </p:nvSpPr>
        <p:spPr>
          <a:xfrm>
            <a:off x="7452360" y="2615184"/>
            <a:ext cx="4099255" cy="987552"/>
          </a:xfrm>
          <a:prstGeom prst="roundRect">
            <a:avLst>
              <a:gd name="adj" fmla="val 8333"/>
            </a:avLst>
          </a:prstGeom>
          <a:solidFill>
            <a:srgbClr val="F4F4F6"/>
          </a:solidFill>
          <a:ln w="12700">
            <a:solidFill>
              <a:srgbClr val="E4E4E9"/>
            </a:solidFill>
            <a:prstDash val="solid"/>
          </a:ln>
          <a:effectLst>
            <a:outerShdw sx="100000" sy="100000" kx="0" ky="0" algn="bl" rotWithShape="0" blurRad="127000" dist="25400" dir="5400000">
              <a:srgbClr val="9A9AA6">
                <a:alpha val="22000"/>
              </a:srgbClr>
            </a:outerShdw>
          </a:effectLst>
        </p:spPr>
      </p:sp>
      <p:sp>
        <p:nvSpPr>
          <p:cNvPr id="14" name="Shape 11"/>
          <p:cNvSpPr/>
          <p:nvPr/>
        </p:nvSpPr>
        <p:spPr>
          <a:xfrm>
            <a:off x="7671816" y="2816352"/>
            <a:ext cx="219456" cy="219456"/>
          </a:xfrm>
          <a:prstGeom prst="ellipse">
            <a:avLst/>
          </a:prstGeom>
          <a:solidFill>
            <a:srgbClr val="C1121F"/>
          </a:solidFill>
          <a:ln/>
        </p:spPr>
      </p:sp>
      <p:sp>
        <p:nvSpPr>
          <p:cNvPr id="15" name="Text 12"/>
          <p:cNvSpPr txBox="1"/>
          <p:nvPr/>
        </p:nvSpPr>
        <p:spPr>
          <a:xfrm>
            <a:off x="8001000" y="2770632"/>
            <a:ext cx="3331159" cy="256032"/>
          </a:xfrm>
          <a:prstGeom prst="rect">
            <a:avLst/>
          </a:prstGeom>
          <a:noFill/>
          <a:ln/>
        </p:spPr>
        <p:txBody>
          <a:bodyPr wrap="square" lIns="0" tIns="0" rIns="0" bIns="0" rtlCol="0" anchor="ctr"/>
          <a:lstStyle/>
          <a:p>
            <a:pPr indent="0" marL="0">
              <a:buNone/>
            </a:pPr>
            <a:r>
              <a:rPr lang="en-US" sz="1200" b="1" dirty="0">
                <a:solidFill>
                  <a:srgbClr val="17171B"/>
                </a:solidFill>
                <a:latin typeface="Calibri" pitchFamily="34" charset="0"/>
                <a:ea typeface="Calibri" pitchFamily="34" charset="-122"/>
                <a:cs typeface="Calibri" pitchFamily="34" charset="-120"/>
              </a:rPr>
              <a:t>WALLONIE</a:t>
            </a:r>
            <a:endParaRPr lang="en-US" sz="1200" dirty="0"/>
          </a:p>
        </p:txBody>
      </p:sp>
      <p:sp>
        <p:nvSpPr>
          <p:cNvPr id="16" name="Text 13"/>
          <p:cNvSpPr txBox="1"/>
          <p:nvPr/>
        </p:nvSpPr>
        <p:spPr>
          <a:xfrm>
            <a:off x="8001000" y="3026664"/>
            <a:ext cx="3331159" cy="219456"/>
          </a:xfrm>
          <a:prstGeom prst="rect">
            <a:avLst/>
          </a:prstGeom>
          <a:noFill/>
          <a:ln/>
        </p:spPr>
        <p:txBody>
          <a:bodyPr wrap="square" lIns="0" tIns="0" rIns="0" bIns="0" rtlCol="0" anchor="ctr"/>
          <a:lstStyle/>
          <a:p>
            <a:pPr indent="0" marL="0">
              <a:buNone/>
            </a:pPr>
            <a:r>
              <a:rPr lang="en-US" sz="1050" dirty="0">
                <a:solidFill>
                  <a:srgbClr val="70707C"/>
                </a:solidFill>
                <a:latin typeface="Calibri" pitchFamily="34" charset="0"/>
                <a:ea typeface="Calibri" pitchFamily="34" charset="-122"/>
                <a:cs typeface="Calibri" pitchFamily="34" charset="-120"/>
              </a:rPr>
              <a:t>French-speaking · south</a:t>
            </a:r>
            <a:endParaRPr lang="en-US" sz="1050" dirty="0"/>
          </a:p>
        </p:txBody>
      </p:sp>
      <p:sp>
        <p:nvSpPr>
          <p:cNvPr id="17" name="Text 14"/>
          <p:cNvSpPr txBox="1"/>
          <p:nvPr/>
        </p:nvSpPr>
        <p:spPr>
          <a:xfrm>
            <a:off x="8001000" y="3264408"/>
            <a:ext cx="3331159" cy="219456"/>
          </a:xfrm>
          <a:prstGeom prst="rect">
            <a:avLst/>
          </a:prstGeom>
          <a:noFill/>
          <a:ln/>
        </p:spPr>
        <p:txBody>
          <a:bodyPr wrap="square" lIns="0" tIns="0" rIns="0" bIns="0" rtlCol="0" anchor="ctr"/>
          <a:lstStyle/>
          <a:p>
            <a:pPr indent="0" marL="0">
              <a:buNone/>
            </a:pPr>
            <a:r>
              <a:rPr lang="en-US" sz="1050" b="1" dirty="0">
                <a:solidFill>
                  <a:srgbClr val="3E3E48"/>
                </a:solidFill>
                <a:latin typeface="Calibri" pitchFamily="34" charset="0"/>
                <a:ea typeface="Calibri" pitchFamily="34" charset="-122"/>
                <a:cs typeface="Calibri" pitchFamily="34" charset="-120"/>
              </a:rPr>
              <a:t>≈ 16,900 km²  ·  32 % of the population</a:t>
            </a:r>
            <a:endParaRPr lang="en-US" sz="1050" dirty="0"/>
          </a:p>
        </p:txBody>
      </p:sp>
      <p:sp>
        <p:nvSpPr>
          <p:cNvPr id="18" name="Shape 15"/>
          <p:cNvSpPr/>
          <p:nvPr/>
        </p:nvSpPr>
        <p:spPr>
          <a:xfrm>
            <a:off x="7452360" y="3749040"/>
            <a:ext cx="4099255" cy="987552"/>
          </a:xfrm>
          <a:prstGeom prst="roundRect">
            <a:avLst>
              <a:gd name="adj" fmla="val 8333"/>
            </a:avLst>
          </a:prstGeom>
          <a:solidFill>
            <a:srgbClr val="F4F4F6"/>
          </a:solidFill>
          <a:ln w="12700">
            <a:solidFill>
              <a:srgbClr val="E4E4E9"/>
            </a:solidFill>
            <a:prstDash val="solid"/>
          </a:ln>
          <a:effectLst>
            <a:outerShdw sx="100000" sy="100000" kx="0" ky="0" algn="bl" rotWithShape="0" blurRad="127000" dist="25400" dir="5400000">
              <a:srgbClr val="9A9AA6">
                <a:alpha val="22000"/>
              </a:srgbClr>
            </a:outerShdw>
          </a:effectLst>
        </p:spPr>
      </p:sp>
      <p:sp>
        <p:nvSpPr>
          <p:cNvPr id="19" name="Shape 16"/>
          <p:cNvSpPr/>
          <p:nvPr/>
        </p:nvSpPr>
        <p:spPr>
          <a:xfrm>
            <a:off x="7671816" y="3950208"/>
            <a:ext cx="219456" cy="219456"/>
          </a:xfrm>
          <a:prstGeom prst="ellipse">
            <a:avLst/>
          </a:prstGeom>
          <a:solidFill>
            <a:srgbClr val="17171B"/>
          </a:solidFill>
          <a:ln/>
        </p:spPr>
      </p:sp>
      <p:sp>
        <p:nvSpPr>
          <p:cNvPr id="20" name="Text 17"/>
          <p:cNvSpPr txBox="1"/>
          <p:nvPr/>
        </p:nvSpPr>
        <p:spPr>
          <a:xfrm>
            <a:off x="8001000" y="3904488"/>
            <a:ext cx="3331159" cy="256032"/>
          </a:xfrm>
          <a:prstGeom prst="rect">
            <a:avLst/>
          </a:prstGeom>
          <a:noFill/>
          <a:ln/>
        </p:spPr>
        <p:txBody>
          <a:bodyPr wrap="square" lIns="0" tIns="0" rIns="0" bIns="0" rtlCol="0" anchor="ctr"/>
          <a:lstStyle/>
          <a:p>
            <a:pPr indent="0" marL="0">
              <a:buNone/>
            </a:pPr>
            <a:r>
              <a:rPr lang="en-US" sz="1200" b="1" dirty="0">
                <a:solidFill>
                  <a:srgbClr val="17171B"/>
                </a:solidFill>
                <a:latin typeface="Calibri" pitchFamily="34" charset="0"/>
                <a:ea typeface="Calibri" pitchFamily="34" charset="-122"/>
                <a:cs typeface="Calibri" pitchFamily="34" charset="-120"/>
              </a:rPr>
              <a:t>BRUXELLES-CAPITALE</a:t>
            </a:r>
            <a:endParaRPr lang="en-US" sz="1200" dirty="0"/>
          </a:p>
        </p:txBody>
      </p:sp>
      <p:sp>
        <p:nvSpPr>
          <p:cNvPr id="21" name="Text 18"/>
          <p:cNvSpPr txBox="1"/>
          <p:nvPr/>
        </p:nvSpPr>
        <p:spPr>
          <a:xfrm>
            <a:off x="8001000" y="4160520"/>
            <a:ext cx="3331159" cy="219456"/>
          </a:xfrm>
          <a:prstGeom prst="rect">
            <a:avLst/>
          </a:prstGeom>
          <a:noFill/>
          <a:ln/>
        </p:spPr>
        <p:txBody>
          <a:bodyPr wrap="square" lIns="0" tIns="0" rIns="0" bIns="0" rtlCol="0" anchor="ctr"/>
          <a:lstStyle/>
          <a:p>
            <a:pPr indent="0" marL="0">
              <a:buNone/>
            </a:pPr>
            <a:r>
              <a:rPr lang="en-US" sz="1050" dirty="0">
                <a:solidFill>
                  <a:srgbClr val="70707C"/>
                </a:solidFill>
                <a:latin typeface="Calibri" pitchFamily="34" charset="0"/>
                <a:ea typeface="Calibri" pitchFamily="34" charset="-122"/>
                <a:cs typeface="Calibri" pitchFamily="34" charset="-120"/>
              </a:rPr>
              <a:t>Bilingual French / Dutch</a:t>
            </a:r>
            <a:endParaRPr lang="en-US" sz="1050" dirty="0"/>
          </a:p>
        </p:txBody>
      </p:sp>
      <p:sp>
        <p:nvSpPr>
          <p:cNvPr id="22" name="Text 19"/>
          <p:cNvSpPr txBox="1"/>
          <p:nvPr/>
        </p:nvSpPr>
        <p:spPr>
          <a:xfrm>
            <a:off x="8001000" y="4398264"/>
            <a:ext cx="3331159" cy="219456"/>
          </a:xfrm>
          <a:prstGeom prst="rect">
            <a:avLst/>
          </a:prstGeom>
          <a:noFill/>
          <a:ln/>
        </p:spPr>
        <p:txBody>
          <a:bodyPr wrap="square" lIns="0" tIns="0" rIns="0" bIns="0" rtlCol="0" anchor="ctr"/>
          <a:lstStyle/>
          <a:p>
            <a:pPr indent="0" marL="0">
              <a:buNone/>
            </a:pPr>
            <a:r>
              <a:rPr lang="en-US" sz="1050" b="1" dirty="0">
                <a:solidFill>
                  <a:srgbClr val="3E3E48"/>
                </a:solidFill>
                <a:latin typeface="Calibri" pitchFamily="34" charset="0"/>
                <a:ea typeface="Calibri" pitchFamily="34" charset="-122"/>
                <a:cs typeface="Calibri" pitchFamily="34" charset="-120"/>
              </a:rPr>
              <a:t>162 km²  ·  11 % of the population</a:t>
            </a:r>
            <a:endParaRPr lang="en-US" sz="1050" dirty="0"/>
          </a:p>
        </p:txBody>
      </p:sp>
      <p:sp>
        <p:nvSpPr>
          <p:cNvPr id="23" name="Shape 20"/>
          <p:cNvSpPr/>
          <p:nvPr/>
        </p:nvSpPr>
        <p:spPr>
          <a:xfrm>
            <a:off x="7452360" y="4901184"/>
            <a:ext cx="4099255" cy="1060704"/>
          </a:xfrm>
          <a:prstGeom prst="roundRect">
            <a:avLst>
              <a:gd name="adj" fmla="val 7759"/>
            </a:avLst>
          </a:prstGeom>
          <a:solidFill>
            <a:srgbClr val="17171B"/>
          </a:solidFill>
          <a:ln w="12700">
            <a:solidFill>
              <a:srgbClr val="17171B"/>
            </a:solidFill>
            <a:prstDash val="solid"/>
          </a:ln>
          <a:effectLst>
            <a:outerShdw sx="100000" sy="100000" kx="0" ky="0" algn="bl" rotWithShape="0" blurRad="127000" dist="25400" dir="5400000">
              <a:srgbClr val="9A9AA6">
                <a:alpha val="22000"/>
              </a:srgbClr>
            </a:outerShdw>
          </a:effectLst>
        </p:spPr>
      </p:sp>
      <p:sp>
        <p:nvSpPr>
          <p:cNvPr id="24" name="Text 21"/>
          <p:cNvSpPr txBox="1"/>
          <p:nvPr/>
        </p:nvSpPr>
        <p:spPr>
          <a:xfrm>
            <a:off x="7690104" y="5047488"/>
            <a:ext cx="3623767" cy="219456"/>
          </a:xfrm>
          <a:prstGeom prst="rect">
            <a:avLst/>
          </a:prstGeom>
          <a:noFill/>
          <a:ln/>
        </p:spPr>
        <p:txBody>
          <a:bodyPr wrap="square" lIns="0" tIns="0" rIns="0" bIns="0" rtlCol="0" anchor="ctr"/>
          <a:lstStyle/>
          <a:p>
            <a:pPr indent="0" marL="0">
              <a:buNone/>
            </a:pPr>
            <a:r>
              <a:rPr lang="en-US" sz="1000" b="1" spc="110" kern="0" dirty="0">
                <a:solidFill>
                  <a:srgbClr val="E3B23C"/>
                </a:solidFill>
                <a:latin typeface="Calibri" pitchFamily="34" charset="0"/>
                <a:ea typeface="Calibri" pitchFamily="34" charset="-122"/>
                <a:cs typeface="Calibri" pitchFamily="34" charset="-120"/>
              </a:rPr>
              <a:t>AND THREE COMMUNITIES</a:t>
            </a:r>
            <a:endParaRPr lang="en-US" sz="1000" dirty="0"/>
          </a:p>
        </p:txBody>
      </p:sp>
      <p:sp>
        <p:nvSpPr>
          <p:cNvPr id="25" name="Text 22"/>
          <p:cNvSpPr txBox="1"/>
          <p:nvPr/>
        </p:nvSpPr>
        <p:spPr>
          <a:xfrm>
            <a:off x="7690104" y="5285232"/>
            <a:ext cx="3623767" cy="658368"/>
          </a:xfrm>
          <a:prstGeom prst="rect">
            <a:avLst/>
          </a:prstGeom>
          <a:noFill/>
          <a:ln/>
        </p:spPr>
        <p:txBody>
          <a:bodyPr wrap="square" lIns="0" tIns="0" rIns="0" bIns="0" rtlCol="0" anchor="ctr"/>
          <a:lstStyle/>
          <a:p>
            <a:pPr indent="0" marL="0">
              <a:lnSpc>
                <a:spcPct val="103000"/>
              </a:lnSpc>
              <a:buNone/>
            </a:pPr>
            <a:r>
              <a:rPr lang="en-US" sz="1050" dirty="0">
                <a:solidFill>
                  <a:srgbClr val="D2D2DA"/>
                </a:solidFill>
                <a:latin typeface="Calibri" pitchFamily="34" charset="0"/>
                <a:ea typeface="Calibri" pitchFamily="34" charset="-122"/>
                <a:cs typeface="Calibri" pitchFamily="34" charset="-120"/>
              </a:rPr>
              <a:t>Regions govern territory — economy, transport, environment. Communities govern people — language, education and culture. The German-speaking Community has about 78,000 members.</a:t>
            </a:r>
            <a:endParaRPr lang="en-US" sz="1050" dirty="0"/>
          </a:p>
        </p:txBody>
      </p:sp>
      <p:sp>
        <p:nvSpPr>
          <p:cNvPr id="26" name="Text 23"/>
          <p:cNvSpPr txBox="1"/>
          <p:nvPr/>
        </p:nvSpPr>
        <p:spPr>
          <a:xfrm>
            <a:off x="1170432" y="5820436"/>
            <a:ext cx="6492240" cy="274320"/>
          </a:xfrm>
          <a:prstGeom prst="rect">
            <a:avLst/>
          </a:prstGeom>
          <a:noFill/>
          <a:ln/>
        </p:spPr>
        <p:txBody>
          <a:bodyPr wrap="square" lIns="0" tIns="0" rIns="0" bIns="0" rtlCol="0" anchor="ctr"/>
          <a:lstStyle/>
          <a:p>
            <a:pPr indent="0" marL="0">
              <a:buNone/>
            </a:pPr>
            <a:r>
              <a:rPr lang="en-US" sz="1050" i="1" dirty="0">
                <a:solidFill>
                  <a:srgbClr val="70707C"/>
                </a:solidFill>
                <a:latin typeface="Calibri" pitchFamily="34" charset="0"/>
                <a:ea typeface="Calibri" pitchFamily="34" charset="-122"/>
                <a:cs typeface="Calibri" pitchFamily="34" charset="-120"/>
              </a:rPr>
              <a:t>Dutch is spoken by about 60 % of Belgians, French by about 40 %, German by under 1 %.</a:t>
            </a:r>
            <a:endParaRPr lang="en-US" sz="105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640080" y="402336"/>
            <a:ext cx="10911535" cy="237744"/>
          </a:xfrm>
          <a:prstGeom prst="rect">
            <a:avLst/>
          </a:prstGeom>
          <a:noFill/>
          <a:ln/>
        </p:spPr>
        <p:txBody>
          <a:bodyPr wrap="square" lIns="0" tIns="0" rIns="0" bIns="0" rtlCol="0" anchor="ctr"/>
          <a:lstStyle/>
          <a:p>
            <a:pPr indent="0" marL="0">
              <a:buNone/>
            </a:pPr>
            <a:r>
              <a:rPr lang="en-US" sz="1150" b="1" spc="220" kern="0" dirty="0">
                <a:solidFill>
                  <a:srgbClr val="E3B23C"/>
                </a:solidFill>
                <a:latin typeface="Calibri" pitchFamily="34" charset="0"/>
                <a:ea typeface="Calibri" pitchFamily="34" charset="-122"/>
                <a:cs typeface="Calibri" pitchFamily="34" charset="-120"/>
              </a:rPr>
              <a:t>LE NOM, HIER ET AUJOURD'HUI</a:t>
            </a:r>
            <a:endParaRPr lang="en-US" sz="1150" dirty="0"/>
          </a:p>
        </p:txBody>
      </p:sp>
      <p:sp>
        <p:nvSpPr>
          <p:cNvPr id="3" name="Text 1"/>
          <p:cNvSpPr txBox="1"/>
          <p:nvPr/>
        </p:nvSpPr>
        <p:spPr>
          <a:xfrm>
            <a:off x="640080" y="676656"/>
            <a:ext cx="10911535" cy="603504"/>
          </a:xfrm>
          <a:prstGeom prst="rect">
            <a:avLst/>
          </a:prstGeom>
          <a:noFill/>
          <a:ln/>
        </p:spPr>
        <p:txBody>
          <a:bodyPr wrap="square" lIns="0" tIns="0" rIns="0" bIns="0" rtlCol="0" anchor="ctr"/>
          <a:lstStyle/>
          <a:p>
            <a:pPr indent="0" marL="0">
              <a:buNone/>
            </a:pPr>
            <a:r>
              <a:rPr lang="en-US" sz="3100" b="1" dirty="0">
                <a:solidFill>
                  <a:srgbClr val="17171B"/>
                </a:solidFill>
                <a:latin typeface="Cambria" pitchFamily="34" charset="0"/>
                <a:ea typeface="Cambria" pitchFamily="34" charset="-122"/>
                <a:cs typeface="Cambria" pitchFamily="34" charset="-120"/>
              </a:rPr>
              <a:t>Former names and the name today</a:t>
            </a:r>
            <a:endParaRPr lang="en-US" sz="3100" dirty="0"/>
          </a:p>
        </p:txBody>
      </p:sp>
      <p:sp>
        <p:nvSpPr>
          <p:cNvPr id="4" name="Shape 2"/>
          <p:cNvSpPr/>
          <p:nvPr/>
        </p:nvSpPr>
        <p:spPr>
          <a:xfrm>
            <a:off x="640080" y="6163056"/>
            <a:ext cx="384048" cy="384048"/>
          </a:xfrm>
          <a:prstGeom prst="ellipse">
            <a:avLst/>
          </a:prstGeom>
          <a:solidFill>
            <a:srgbClr val="E3B23C"/>
          </a:solidFill>
          <a:ln/>
        </p:spPr>
      </p:sp>
      <p:sp>
        <p:nvSpPr>
          <p:cNvPr id="5" name="Text 3"/>
          <p:cNvSpPr txBox="1"/>
          <p:nvPr/>
        </p:nvSpPr>
        <p:spPr>
          <a:xfrm>
            <a:off x="640080" y="6163056"/>
            <a:ext cx="384048" cy="384048"/>
          </a:xfrm>
          <a:prstGeom prst="rect">
            <a:avLst/>
          </a:prstGeom>
          <a:noFill/>
          <a:ln/>
        </p:spPr>
        <p:txBody>
          <a:bodyPr wrap="square" lIns="0" tIns="0" rIns="0" bIns="0" rtlCol="0" anchor="ctr"/>
          <a:lstStyle/>
          <a:p>
            <a:pPr algn="ctr" indent="0" marL="0">
              <a:buNone/>
            </a:pPr>
            <a:r>
              <a:rPr lang="en-US" sz="1200" b="1" dirty="0">
                <a:solidFill>
                  <a:srgbClr val="17171B"/>
                </a:solidFill>
                <a:latin typeface="Calibri" pitchFamily="34" charset="0"/>
                <a:ea typeface="Calibri" pitchFamily="34" charset="-122"/>
                <a:cs typeface="Calibri" pitchFamily="34" charset="-120"/>
              </a:rPr>
              <a:t>7</a:t>
            </a:r>
            <a:endParaRPr lang="en-US" sz="1200" dirty="0"/>
          </a:p>
        </p:txBody>
      </p:sp>
      <p:sp>
        <p:nvSpPr>
          <p:cNvPr id="6" name="Text 4"/>
          <p:cNvSpPr txBox="1"/>
          <p:nvPr/>
        </p:nvSpPr>
        <p:spPr>
          <a:xfrm>
            <a:off x="6035040" y="6245352"/>
            <a:ext cx="5516575" cy="237744"/>
          </a:xfrm>
          <a:prstGeom prst="rect">
            <a:avLst/>
          </a:prstGeom>
          <a:noFill/>
          <a:ln/>
        </p:spPr>
        <p:txBody>
          <a:bodyPr wrap="square" lIns="0" tIns="0" rIns="0" bIns="0" rtlCol="0" anchor="ctr"/>
          <a:lstStyle/>
          <a:p>
            <a:pPr algn="r" indent="0" marL="0">
              <a:buNone/>
            </a:pPr>
            <a:r>
              <a:rPr lang="en-US" sz="900" dirty="0">
                <a:solidFill>
                  <a:srgbClr val="70707C"/>
                </a:solidFill>
                <a:latin typeface="Calibri" pitchFamily="34" charset="0"/>
                <a:ea typeface="Calibri" pitchFamily="34" charset="-122"/>
                <a:cs typeface="Calibri" pitchFamily="34" charset="-120"/>
              </a:rPr>
              <a:t>La Belgique  ·  FREN 201  ·  Projet Francophonie</a:t>
            </a:r>
            <a:endParaRPr lang="en-US" sz="900" dirty="0"/>
          </a:p>
        </p:txBody>
      </p:sp>
      <p:sp>
        <p:nvSpPr>
          <p:cNvPr id="7" name="Shape 5"/>
          <p:cNvSpPr/>
          <p:nvPr/>
        </p:nvSpPr>
        <p:spPr>
          <a:xfrm>
            <a:off x="640080" y="1508760"/>
            <a:ext cx="1097280" cy="310896"/>
          </a:xfrm>
          <a:prstGeom prst="roundRect">
            <a:avLst>
              <a:gd name="adj" fmla="val 17647"/>
            </a:avLst>
          </a:prstGeom>
          <a:solidFill>
            <a:srgbClr val="17171B"/>
          </a:solidFill>
          <a:ln w="12700">
            <a:solidFill>
              <a:srgbClr val="17171B"/>
            </a:solidFill>
            <a:prstDash val="solid"/>
          </a:ln>
        </p:spPr>
      </p:sp>
      <p:sp>
        <p:nvSpPr>
          <p:cNvPr id="8" name="Text 6"/>
          <p:cNvSpPr txBox="1"/>
          <p:nvPr/>
        </p:nvSpPr>
        <p:spPr>
          <a:xfrm>
            <a:off x="640080" y="1508760"/>
            <a:ext cx="1097280" cy="310896"/>
          </a:xfrm>
          <a:prstGeom prst="rect">
            <a:avLst/>
          </a:prstGeom>
          <a:noFill/>
          <a:ln/>
        </p:spPr>
        <p:txBody>
          <a:bodyPr wrap="square" lIns="0" tIns="0" rIns="0" bIns="0" rtlCol="0" anchor="ctr"/>
          <a:lstStyle/>
          <a:p>
            <a:pPr algn="ctr" indent="0" marL="0">
              <a:buNone/>
            </a:pPr>
            <a:r>
              <a:rPr lang="en-US" sz="1100" b="1" dirty="0">
                <a:solidFill>
                  <a:srgbClr val="E3B23C"/>
                </a:solidFill>
                <a:latin typeface="Calibri" pitchFamily="34" charset="0"/>
                <a:ea typeface="Calibri" pitchFamily="34" charset="-122"/>
                <a:cs typeface="Calibri" pitchFamily="34" charset="-120"/>
              </a:rPr>
              <a:t>57 BC</a:t>
            </a:r>
            <a:endParaRPr lang="en-US" sz="1100" dirty="0"/>
          </a:p>
        </p:txBody>
      </p:sp>
      <p:sp>
        <p:nvSpPr>
          <p:cNvPr id="9" name="Text 7"/>
          <p:cNvSpPr txBox="1"/>
          <p:nvPr/>
        </p:nvSpPr>
        <p:spPr>
          <a:xfrm>
            <a:off x="1938528" y="1481328"/>
            <a:ext cx="5605272" cy="256032"/>
          </a:xfrm>
          <a:prstGeom prst="rect">
            <a:avLst/>
          </a:prstGeom>
          <a:noFill/>
          <a:ln/>
        </p:spPr>
        <p:txBody>
          <a:bodyPr wrap="square" lIns="0" tIns="0" rIns="0" bIns="0" rtlCol="0" anchor="ctr"/>
          <a:lstStyle/>
          <a:p>
            <a:pPr indent="0" marL="0">
              <a:buNone/>
            </a:pPr>
            <a:r>
              <a:rPr lang="en-US" sz="1350" b="1" dirty="0">
                <a:solidFill>
                  <a:srgbClr val="17171B"/>
                </a:solidFill>
                <a:latin typeface="Calibri" pitchFamily="34" charset="0"/>
                <a:ea typeface="Calibri" pitchFamily="34" charset="-122"/>
                <a:cs typeface="Calibri" pitchFamily="34" charset="-120"/>
              </a:rPr>
              <a:t>Belgae</a:t>
            </a:r>
            <a:endParaRPr lang="en-US" sz="1350" dirty="0"/>
          </a:p>
        </p:txBody>
      </p:sp>
      <p:sp>
        <p:nvSpPr>
          <p:cNvPr id="10" name="Text 8"/>
          <p:cNvSpPr txBox="1"/>
          <p:nvPr/>
        </p:nvSpPr>
        <p:spPr>
          <a:xfrm>
            <a:off x="1938528" y="1737360"/>
            <a:ext cx="5605272" cy="475488"/>
          </a:xfrm>
          <a:prstGeom prst="rect">
            <a:avLst/>
          </a:prstGeom>
          <a:noFill/>
          <a:ln/>
        </p:spPr>
        <p:txBody>
          <a:bodyPr wrap="square" lIns="0" tIns="0" rIns="0" bIns="0" rtlCol="0" anchor="ctr"/>
          <a:lstStyle/>
          <a:p>
            <a:pPr indent="0" marL="0">
              <a:lnSpc>
                <a:spcPct val="102000"/>
              </a:lnSpc>
              <a:buNone/>
            </a:pPr>
            <a:r>
              <a:rPr lang="en-US" sz="1150" dirty="0">
                <a:solidFill>
                  <a:srgbClr val="3E3E48"/>
                </a:solidFill>
                <a:latin typeface="Calibri" pitchFamily="34" charset="0"/>
                <a:ea typeface="Calibri" pitchFamily="34" charset="-122"/>
                <a:cs typeface="Calibri" pitchFamily="34" charset="-120"/>
              </a:rPr>
              <a:t>Julius Caesar describes the Belgae, the tribes living between the Seine and the Rhine, in his account of the Gallic Wars. Their name is the root of every later one.</a:t>
            </a:r>
            <a:endParaRPr lang="en-US" sz="1150" dirty="0"/>
          </a:p>
        </p:txBody>
      </p:sp>
      <p:sp>
        <p:nvSpPr>
          <p:cNvPr id="11" name="Shape 9"/>
          <p:cNvSpPr/>
          <p:nvPr/>
        </p:nvSpPr>
        <p:spPr>
          <a:xfrm>
            <a:off x="640080" y="2395728"/>
            <a:ext cx="1097280" cy="310896"/>
          </a:xfrm>
          <a:prstGeom prst="roundRect">
            <a:avLst>
              <a:gd name="adj" fmla="val 17647"/>
            </a:avLst>
          </a:prstGeom>
          <a:solidFill>
            <a:srgbClr val="17171B"/>
          </a:solidFill>
          <a:ln w="12700">
            <a:solidFill>
              <a:srgbClr val="17171B"/>
            </a:solidFill>
            <a:prstDash val="solid"/>
          </a:ln>
        </p:spPr>
      </p:sp>
      <p:sp>
        <p:nvSpPr>
          <p:cNvPr id="12" name="Text 10"/>
          <p:cNvSpPr txBox="1"/>
          <p:nvPr/>
        </p:nvSpPr>
        <p:spPr>
          <a:xfrm>
            <a:off x="640080" y="2395728"/>
            <a:ext cx="1097280" cy="310896"/>
          </a:xfrm>
          <a:prstGeom prst="rect">
            <a:avLst/>
          </a:prstGeom>
          <a:noFill/>
          <a:ln/>
        </p:spPr>
        <p:txBody>
          <a:bodyPr wrap="square" lIns="0" tIns="0" rIns="0" bIns="0" rtlCol="0" anchor="ctr"/>
          <a:lstStyle/>
          <a:p>
            <a:pPr algn="ctr" indent="0" marL="0">
              <a:buNone/>
            </a:pPr>
            <a:r>
              <a:rPr lang="en-US" sz="1100" b="1" dirty="0">
                <a:solidFill>
                  <a:srgbClr val="E3B23C"/>
                </a:solidFill>
                <a:latin typeface="Calibri" pitchFamily="34" charset="0"/>
                <a:ea typeface="Calibri" pitchFamily="34" charset="-122"/>
                <a:cs typeface="Calibri" pitchFamily="34" charset="-120"/>
              </a:rPr>
              <a:t>c. 22 BC</a:t>
            </a:r>
            <a:endParaRPr lang="en-US" sz="1100" dirty="0"/>
          </a:p>
        </p:txBody>
      </p:sp>
      <p:sp>
        <p:nvSpPr>
          <p:cNvPr id="13" name="Text 11"/>
          <p:cNvSpPr txBox="1"/>
          <p:nvPr/>
        </p:nvSpPr>
        <p:spPr>
          <a:xfrm>
            <a:off x="1938528" y="2368296"/>
            <a:ext cx="5605272" cy="256032"/>
          </a:xfrm>
          <a:prstGeom prst="rect">
            <a:avLst/>
          </a:prstGeom>
          <a:noFill/>
          <a:ln/>
        </p:spPr>
        <p:txBody>
          <a:bodyPr wrap="square" lIns="0" tIns="0" rIns="0" bIns="0" rtlCol="0" anchor="ctr"/>
          <a:lstStyle/>
          <a:p>
            <a:pPr indent="0" marL="0">
              <a:buNone/>
            </a:pPr>
            <a:r>
              <a:rPr lang="en-US" sz="1350" b="1" dirty="0">
                <a:solidFill>
                  <a:srgbClr val="17171B"/>
                </a:solidFill>
                <a:latin typeface="Calibri" pitchFamily="34" charset="0"/>
                <a:ea typeface="Calibri" pitchFamily="34" charset="-122"/>
                <a:cs typeface="Calibri" pitchFamily="34" charset="-120"/>
              </a:rPr>
              <a:t>Gallia Belgica</a:t>
            </a:r>
            <a:endParaRPr lang="en-US" sz="1350" dirty="0"/>
          </a:p>
        </p:txBody>
      </p:sp>
      <p:sp>
        <p:nvSpPr>
          <p:cNvPr id="14" name="Text 12"/>
          <p:cNvSpPr txBox="1"/>
          <p:nvPr/>
        </p:nvSpPr>
        <p:spPr>
          <a:xfrm>
            <a:off x="1938528" y="2624328"/>
            <a:ext cx="5605272" cy="475488"/>
          </a:xfrm>
          <a:prstGeom prst="rect">
            <a:avLst/>
          </a:prstGeom>
          <a:noFill/>
          <a:ln/>
        </p:spPr>
        <p:txBody>
          <a:bodyPr wrap="square" lIns="0" tIns="0" rIns="0" bIns="0" rtlCol="0" anchor="ctr"/>
          <a:lstStyle/>
          <a:p>
            <a:pPr indent="0" marL="0">
              <a:lnSpc>
                <a:spcPct val="102000"/>
              </a:lnSpc>
              <a:buNone/>
            </a:pPr>
            <a:r>
              <a:rPr lang="en-US" sz="1150" dirty="0">
                <a:solidFill>
                  <a:srgbClr val="3E3E48"/>
                </a:solidFill>
                <a:latin typeface="Calibri" pitchFamily="34" charset="0"/>
                <a:ea typeface="Calibri" pitchFamily="34" charset="-122"/>
                <a:cs typeface="Calibri" pitchFamily="34" charset="-120"/>
              </a:rPr>
              <a:t>Rome organises the conquered land as the province of Gallia Belgica — the first time the name marks a territory.</a:t>
            </a:r>
            <a:endParaRPr lang="en-US" sz="1150" dirty="0"/>
          </a:p>
        </p:txBody>
      </p:sp>
      <p:sp>
        <p:nvSpPr>
          <p:cNvPr id="15" name="Shape 13"/>
          <p:cNvSpPr/>
          <p:nvPr/>
        </p:nvSpPr>
        <p:spPr>
          <a:xfrm>
            <a:off x="640080" y="3282696"/>
            <a:ext cx="1097280" cy="310896"/>
          </a:xfrm>
          <a:prstGeom prst="roundRect">
            <a:avLst>
              <a:gd name="adj" fmla="val 17647"/>
            </a:avLst>
          </a:prstGeom>
          <a:solidFill>
            <a:srgbClr val="17171B"/>
          </a:solidFill>
          <a:ln w="12700">
            <a:solidFill>
              <a:srgbClr val="17171B"/>
            </a:solidFill>
            <a:prstDash val="solid"/>
          </a:ln>
        </p:spPr>
      </p:sp>
      <p:sp>
        <p:nvSpPr>
          <p:cNvPr id="16" name="Text 14"/>
          <p:cNvSpPr txBox="1"/>
          <p:nvPr/>
        </p:nvSpPr>
        <p:spPr>
          <a:xfrm>
            <a:off x="640080" y="3282696"/>
            <a:ext cx="1097280" cy="310896"/>
          </a:xfrm>
          <a:prstGeom prst="rect">
            <a:avLst/>
          </a:prstGeom>
          <a:noFill/>
          <a:ln/>
        </p:spPr>
        <p:txBody>
          <a:bodyPr wrap="square" lIns="0" tIns="0" rIns="0" bIns="0" rtlCol="0" anchor="ctr"/>
          <a:lstStyle/>
          <a:p>
            <a:pPr algn="ctr" indent="0" marL="0">
              <a:buNone/>
            </a:pPr>
            <a:r>
              <a:rPr lang="en-US" sz="1100" b="1" dirty="0">
                <a:solidFill>
                  <a:srgbClr val="E3B23C"/>
                </a:solidFill>
                <a:latin typeface="Calibri" pitchFamily="34" charset="0"/>
                <a:ea typeface="Calibri" pitchFamily="34" charset="-122"/>
                <a:cs typeface="Calibri" pitchFamily="34" charset="-120"/>
              </a:rPr>
              <a:t>1556–1794</a:t>
            </a:r>
            <a:endParaRPr lang="en-US" sz="1100" dirty="0"/>
          </a:p>
        </p:txBody>
      </p:sp>
      <p:sp>
        <p:nvSpPr>
          <p:cNvPr id="17" name="Text 15"/>
          <p:cNvSpPr txBox="1"/>
          <p:nvPr/>
        </p:nvSpPr>
        <p:spPr>
          <a:xfrm>
            <a:off x="1938528" y="3255264"/>
            <a:ext cx="5605272" cy="256032"/>
          </a:xfrm>
          <a:prstGeom prst="rect">
            <a:avLst/>
          </a:prstGeom>
          <a:noFill/>
          <a:ln/>
        </p:spPr>
        <p:txBody>
          <a:bodyPr wrap="square" lIns="0" tIns="0" rIns="0" bIns="0" rtlCol="0" anchor="ctr"/>
          <a:lstStyle/>
          <a:p>
            <a:pPr indent="0" marL="0">
              <a:buNone/>
            </a:pPr>
            <a:r>
              <a:rPr lang="en-US" sz="1350" b="1" dirty="0">
                <a:solidFill>
                  <a:srgbClr val="17171B"/>
                </a:solidFill>
                <a:latin typeface="Calibri" pitchFamily="34" charset="0"/>
                <a:ea typeface="Calibri" pitchFamily="34" charset="-122"/>
                <a:cs typeface="Calibri" pitchFamily="34" charset="-120"/>
              </a:rPr>
              <a:t>Pays-Bas espagnols, puis autrichiens</a:t>
            </a:r>
            <a:endParaRPr lang="en-US" sz="1350" dirty="0"/>
          </a:p>
        </p:txBody>
      </p:sp>
      <p:sp>
        <p:nvSpPr>
          <p:cNvPr id="18" name="Text 16"/>
          <p:cNvSpPr txBox="1"/>
          <p:nvPr/>
        </p:nvSpPr>
        <p:spPr>
          <a:xfrm>
            <a:off x="1938528" y="3511296"/>
            <a:ext cx="5605272" cy="475488"/>
          </a:xfrm>
          <a:prstGeom prst="rect">
            <a:avLst/>
          </a:prstGeom>
          <a:noFill/>
          <a:ln/>
        </p:spPr>
        <p:txBody>
          <a:bodyPr wrap="square" lIns="0" tIns="0" rIns="0" bIns="0" rtlCol="0" anchor="ctr"/>
          <a:lstStyle/>
          <a:p>
            <a:pPr indent="0" marL="0">
              <a:lnSpc>
                <a:spcPct val="102000"/>
              </a:lnSpc>
              <a:buNone/>
            </a:pPr>
            <a:r>
              <a:rPr lang="en-US" sz="1150" dirty="0">
                <a:solidFill>
                  <a:srgbClr val="3E3E48"/>
                </a:solidFill>
                <a:latin typeface="Calibri" pitchFamily="34" charset="0"/>
                <a:ea typeface="Calibri" pitchFamily="34" charset="-122"/>
                <a:cs typeface="Calibri" pitchFamily="34" charset="-120"/>
              </a:rPr>
              <a:t>The Spanish Netherlands, then the Austrian Netherlands: the southern, Catholic half of the Low Countries, ruled from Madrid and then Vienna.</a:t>
            </a:r>
            <a:endParaRPr lang="en-US" sz="1150" dirty="0"/>
          </a:p>
        </p:txBody>
      </p:sp>
      <p:sp>
        <p:nvSpPr>
          <p:cNvPr id="19" name="Shape 17"/>
          <p:cNvSpPr/>
          <p:nvPr/>
        </p:nvSpPr>
        <p:spPr>
          <a:xfrm>
            <a:off x="640080" y="4169664"/>
            <a:ext cx="1097280" cy="310896"/>
          </a:xfrm>
          <a:prstGeom prst="roundRect">
            <a:avLst>
              <a:gd name="adj" fmla="val 17647"/>
            </a:avLst>
          </a:prstGeom>
          <a:solidFill>
            <a:srgbClr val="17171B"/>
          </a:solidFill>
          <a:ln w="12700">
            <a:solidFill>
              <a:srgbClr val="17171B"/>
            </a:solidFill>
            <a:prstDash val="solid"/>
          </a:ln>
        </p:spPr>
      </p:sp>
      <p:sp>
        <p:nvSpPr>
          <p:cNvPr id="20" name="Text 18"/>
          <p:cNvSpPr txBox="1"/>
          <p:nvPr/>
        </p:nvSpPr>
        <p:spPr>
          <a:xfrm>
            <a:off x="640080" y="4169664"/>
            <a:ext cx="1097280" cy="310896"/>
          </a:xfrm>
          <a:prstGeom prst="rect">
            <a:avLst/>
          </a:prstGeom>
          <a:noFill/>
          <a:ln/>
        </p:spPr>
        <p:txBody>
          <a:bodyPr wrap="square" lIns="0" tIns="0" rIns="0" bIns="0" rtlCol="0" anchor="ctr"/>
          <a:lstStyle/>
          <a:p>
            <a:pPr algn="ctr" indent="0" marL="0">
              <a:buNone/>
            </a:pPr>
            <a:r>
              <a:rPr lang="en-US" sz="1100" b="1" dirty="0">
                <a:solidFill>
                  <a:srgbClr val="E3B23C"/>
                </a:solidFill>
                <a:latin typeface="Calibri" pitchFamily="34" charset="0"/>
                <a:ea typeface="Calibri" pitchFamily="34" charset="-122"/>
                <a:cs typeface="Calibri" pitchFamily="34" charset="-120"/>
              </a:rPr>
              <a:t>1790</a:t>
            </a:r>
            <a:endParaRPr lang="en-US" sz="1100" dirty="0"/>
          </a:p>
        </p:txBody>
      </p:sp>
      <p:sp>
        <p:nvSpPr>
          <p:cNvPr id="21" name="Text 19"/>
          <p:cNvSpPr txBox="1"/>
          <p:nvPr/>
        </p:nvSpPr>
        <p:spPr>
          <a:xfrm>
            <a:off x="1938528" y="4142232"/>
            <a:ext cx="5605272" cy="256032"/>
          </a:xfrm>
          <a:prstGeom prst="rect">
            <a:avLst/>
          </a:prstGeom>
          <a:noFill/>
          <a:ln/>
        </p:spPr>
        <p:txBody>
          <a:bodyPr wrap="square" lIns="0" tIns="0" rIns="0" bIns="0" rtlCol="0" anchor="ctr"/>
          <a:lstStyle/>
          <a:p>
            <a:pPr indent="0" marL="0">
              <a:buNone/>
            </a:pPr>
            <a:r>
              <a:rPr lang="en-US" sz="1350" b="1" dirty="0">
                <a:solidFill>
                  <a:srgbClr val="17171B"/>
                </a:solidFill>
                <a:latin typeface="Calibri" pitchFamily="34" charset="0"/>
                <a:ea typeface="Calibri" pitchFamily="34" charset="-122"/>
                <a:cs typeface="Calibri" pitchFamily="34" charset="-120"/>
              </a:rPr>
              <a:t>États-Belgiques-Unis</a:t>
            </a:r>
            <a:endParaRPr lang="en-US" sz="1350" dirty="0"/>
          </a:p>
        </p:txBody>
      </p:sp>
      <p:sp>
        <p:nvSpPr>
          <p:cNvPr id="22" name="Text 20"/>
          <p:cNvSpPr txBox="1"/>
          <p:nvPr/>
        </p:nvSpPr>
        <p:spPr>
          <a:xfrm>
            <a:off x="1938528" y="4398264"/>
            <a:ext cx="5605272" cy="475488"/>
          </a:xfrm>
          <a:prstGeom prst="rect">
            <a:avLst/>
          </a:prstGeom>
          <a:noFill/>
          <a:ln/>
        </p:spPr>
        <p:txBody>
          <a:bodyPr wrap="square" lIns="0" tIns="0" rIns="0" bIns="0" rtlCol="0" anchor="ctr"/>
          <a:lstStyle/>
          <a:p>
            <a:pPr indent="0" marL="0">
              <a:lnSpc>
                <a:spcPct val="102000"/>
              </a:lnSpc>
              <a:buNone/>
            </a:pPr>
            <a:r>
              <a:rPr lang="en-US" sz="1150" dirty="0">
                <a:solidFill>
                  <a:srgbClr val="3E3E48"/>
                </a:solidFill>
                <a:latin typeface="Calibri" pitchFamily="34" charset="0"/>
                <a:ea typeface="Calibri" pitchFamily="34" charset="-122"/>
                <a:cs typeface="Calibri" pitchFamily="34" charset="-120"/>
              </a:rPr>
              <a:t>The short-lived United Belgian States — the first time a country actually calls itself Belgian. It lasted less than a year.</a:t>
            </a:r>
            <a:endParaRPr lang="en-US" sz="1150" dirty="0"/>
          </a:p>
        </p:txBody>
      </p:sp>
      <p:sp>
        <p:nvSpPr>
          <p:cNvPr id="23" name="Shape 21"/>
          <p:cNvSpPr/>
          <p:nvPr/>
        </p:nvSpPr>
        <p:spPr>
          <a:xfrm>
            <a:off x="640080" y="5056632"/>
            <a:ext cx="1097280" cy="310896"/>
          </a:xfrm>
          <a:prstGeom prst="roundRect">
            <a:avLst>
              <a:gd name="adj" fmla="val 17647"/>
            </a:avLst>
          </a:prstGeom>
          <a:solidFill>
            <a:srgbClr val="17171B"/>
          </a:solidFill>
          <a:ln w="12700">
            <a:solidFill>
              <a:srgbClr val="17171B"/>
            </a:solidFill>
            <a:prstDash val="solid"/>
          </a:ln>
        </p:spPr>
      </p:sp>
      <p:sp>
        <p:nvSpPr>
          <p:cNvPr id="24" name="Text 22"/>
          <p:cNvSpPr txBox="1"/>
          <p:nvPr/>
        </p:nvSpPr>
        <p:spPr>
          <a:xfrm>
            <a:off x="640080" y="5056632"/>
            <a:ext cx="1097280" cy="310896"/>
          </a:xfrm>
          <a:prstGeom prst="rect">
            <a:avLst/>
          </a:prstGeom>
          <a:noFill/>
          <a:ln/>
        </p:spPr>
        <p:txBody>
          <a:bodyPr wrap="square" lIns="0" tIns="0" rIns="0" bIns="0" rtlCol="0" anchor="ctr"/>
          <a:lstStyle/>
          <a:p>
            <a:pPr algn="ctr" indent="0" marL="0">
              <a:buNone/>
            </a:pPr>
            <a:r>
              <a:rPr lang="en-US" sz="1100" b="1" dirty="0">
                <a:solidFill>
                  <a:srgbClr val="E3B23C"/>
                </a:solidFill>
                <a:latin typeface="Calibri" pitchFamily="34" charset="0"/>
                <a:ea typeface="Calibri" pitchFamily="34" charset="-122"/>
                <a:cs typeface="Calibri" pitchFamily="34" charset="-120"/>
              </a:rPr>
              <a:t>1830 →</a:t>
            </a:r>
            <a:endParaRPr lang="en-US" sz="1100" dirty="0"/>
          </a:p>
        </p:txBody>
      </p:sp>
      <p:sp>
        <p:nvSpPr>
          <p:cNvPr id="25" name="Text 23"/>
          <p:cNvSpPr txBox="1"/>
          <p:nvPr/>
        </p:nvSpPr>
        <p:spPr>
          <a:xfrm>
            <a:off x="1938528" y="5029200"/>
            <a:ext cx="5605272" cy="256032"/>
          </a:xfrm>
          <a:prstGeom prst="rect">
            <a:avLst/>
          </a:prstGeom>
          <a:noFill/>
          <a:ln/>
        </p:spPr>
        <p:txBody>
          <a:bodyPr wrap="square" lIns="0" tIns="0" rIns="0" bIns="0" rtlCol="0" anchor="ctr"/>
          <a:lstStyle/>
          <a:p>
            <a:pPr indent="0" marL="0">
              <a:buNone/>
            </a:pPr>
            <a:r>
              <a:rPr lang="en-US" sz="1350" b="1" dirty="0">
                <a:solidFill>
                  <a:srgbClr val="17171B"/>
                </a:solidFill>
                <a:latin typeface="Calibri" pitchFamily="34" charset="0"/>
                <a:ea typeface="Calibri" pitchFamily="34" charset="-122"/>
                <a:cs typeface="Calibri" pitchFamily="34" charset="-120"/>
              </a:rPr>
              <a:t>Royaume de Belgique</a:t>
            </a:r>
            <a:endParaRPr lang="en-US" sz="1350" dirty="0"/>
          </a:p>
        </p:txBody>
      </p:sp>
      <p:sp>
        <p:nvSpPr>
          <p:cNvPr id="26" name="Text 24"/>
          <p:cNvSpPr txBox="1"/>
          <p:nvPr/>
        </p:nvSpPr>
        <p:spPr>
          <a:xfrm>
            <a:off x="1938528" y="5285232"/>
            <a:ext cx="5605272" cy="475488"/>
          </a:xfrm>
          <a:prstGeom prst="rect">
            <a:avLst/>
          </a:prstGeom>
          <a:noFill/>
          <a:ln/>
        </p:spPr>
        <p:txBody>
          <a:bodyPr wrap="square" lIns="0" tIns="0" rIns="0" bIns="0" rtlCol="0" anchor="ctr"/>
          <a:lstStyle/>
          <a:p>
            <a:pPr indent="0" marL="0">
              <a:lnSpc>
                <a:spcPct val="102000"/>
              </a:lnSpc>
              <a:buNone/>
            </a:pPr>
            <a:r>
              <a:rPr lang="en-US" sz="1150" dirty="0">
                <a:solidFill>
                  <a:srgbClr val="3E3E48"/>
                </a:solidFill>
                <a:latin typeface="Calibri" pitchFamily="34" charset="0"/>
                <a:ea typeface="Calibri" pitchFamily="34" charset="-122"/>
                <a:cs typeface="Calibri" pitchFamily="34" charset="-120"/>
              </a:rPr>
              <a:t>The modern kingdom. In Dutch Koninkrijk België, in German Königreich Belgien — three official names for one country.</a:t>
            </a:r>
            <a:endParaRPr lang="en-US" sz="1150" dirty="0"/>
          </a:p>
        </p:txBody>
      </p:sp>
      <p:sp>
        <p:nvSpPr>
          <p:cNvPr id="27" name="Shape 25"/>
          <p:cNvSpPr/>
          <p:nvPr/>
        </p:nvSpPr>
        <p:spPr>
          <a:xfrm>
            <a:off x="7955280" y="1481328"/>
            <a:ext cx="3596335" cy="2286000"/>
          </a:xfrm>
          <a:prstGeom prst="roundRect">
            <a:avLst>
              <a:gd name="adj" fmla="val 3600"/>
            </a:avLst>
          </a:prstGeom>
          <a:solidFill>
            <a:srgbClr val="17171B"/>
          </a:solidFill>
          <a:ln w="12700">
            <a:solidFill>
              <a:srgbClr val="17171B"/>
            </a:solidFill>
            <a:prstDash val="solid"/>
          </a:ln>
          <a:effectLst>
            <a:outerShdw sx="100000" sy="100000" kx="0" ky="0" algn="bl" rotWithShape="0" blurRad="127000" dist="25400" dir="5400000">
              <a:srgbClr val="9A9AA6">
                <a:alpha val="22000"/>
              </a:srgbClr>
            </a:outerShdw>
          </a:effectLst>
        </p:spPr>
      </p:sp>
      <p:sp>
        <p:nvSpPr>
          <p:cNvPr id="28" name="Text 26"/>
          <p:cNvSpPr txBox="1"/>
          <p:nvPr/>
        </p:nvSpPr>
        <p:spPr>
          <a:xfrm>
            <a:off x="8229600" y="1801368"/>
            <a:ext cx="3047695" cy="1097280"/>
          </a:xfrm>
          <a:prstGeom prst="rect">
            <a:avLst/>
          </a:prstGeom>
          <a:noFill/>
          <a:ln/>
        </p:spPr>
        <p:txBody>
          <a:bodyPr wrap="square" lIns="0" tIns="0" rIns="0" bIns="0" rtlCol="0" anchor="ctr"/>
          <a:lstStyle/>
          <a:p>
            <a:pPr indent="0" marL="0">
              <a:lnSpc>
                <a:spcPct val="110000"/>
              </a:lnSpc>
              <a:buNone/>
            </a:pPr>
            <a:r>
              <a:rPr lang="en-US" sz="1700" i="1" dirty="0">
                <a:solidFill>
                  <a:srgbClr val="F2D68C"/>
                </a:solidFill>
                <a:latin typeface="Cambria" pitchFamily="34" charset="0"/>
                <a:ea typeface="Cambria" pitchFamily="34" charset="-122"/>
                <a:cs typeface="Cambria" pitchFamily="34" charset="-120"/>
              </a:rPr>
              <a:t>“Of all these peoples, the bravest are the Belgae.”</a:t>
            </a:r>
            <a:endParaRPr lang="en-US" sz="1700" dirty="0"/>
          </a:p>
        </p:txBody>
      </p:sp>
      <p:sp>
        <p:nvSpPr>
          <p:cNvPr id="29" name="Text 27"/>
          <p:cNvSpPr txBox="1"/>
          <p:nvPr/>
        </p:nvSpPr>
        <p:spPr>
          <a:xfrm>
            <a:off x="8229600" y="3035808"/>
            <a:ext cx="3047695" cy="548640"/>
          </a:xfrm>
          <a:prstGeom prst="rect">
            <a:avLst/>
          </a:prstGeom>
          <a:noFill/>
          <a:ln/>
        </p:spPr>
        <p:txBody>
          <a:bodyPr wrap="square" lIns="0" tIns="0" rIns="0" bIns="0" rtlCol="0" anchor="ctr"/>
          <a:lstStyle/>
          <a:p>
            <a:pPr indent="0" marL="0">
              <a:buNone/>
            </a:pPr>
            <a:r>
              <a:rPr lang="en-US" sz="1050" dirty="0">
                <a:solidFill>
                  <a:srgbClr val="A8A8B4"/>
                </a:solidFill>
                <a:latin typeface="Calibri" pitchFamily="34" charset="0"/>
                <a:ea typeface="Calibri" pitchFamily="34" charset="-122"/>
                <a:cs typeface="Calibri" pitchFamily="34" charset="-120"/>
              </a:rPr>
              <a:t>Julius Caesar, De Bello Gallico, Book I — the sentence Belgian schoolchildren still learn.</a:t>
            </a:r>
            <a:endParaRPr lang="en-US" sz="1050" dirty="0"/>
          </a:p>
        </p:txBody>
      </p:sp>
      <p:sp>
        <p:nvSpPr>
          <p:cNvPr id="30" name="Shape 28"/>
          <p:cNvSpPr/>
          <p:nvPr/>
        </p:nvSpPr>
        <p:spPr>
          <a:xfrm>
            <a:off x="7955280" y="3995928"/>
            <a:ext cx="3596335" cy="1965960"/>
          </a:xfrm>
          <a:prstGeom prst="roundRect">
            <a:avLst>
              <a:gd name="adj" fmla="val 4186"/>
            </a:avLst>
          </a:prstGeom>
          <a:solidFill>
            <a:srgbClr val="F4F4F6"/>
          </a:solidFill>
          <a:ln w="12700">
            <a:solidFill>
              <a:srgbClr val="E4E4E9"/>
            </a:solidFill>
            <a:prstDash val="solid"/>
          </a:ln>
          <a:effectLst>
            <a:outerShdw sx="100000" sy="100000" kx="0" ky="0" algn="bl" rotWithShape="0" blurRad="127000" dist="25400" dir="5400000">
              <a:srgbClr val="9A9AA6">
                <a:alpha val="22000"/>
              </a:srgbClr>
            </a:outerShdw>
          </a:effectLst>
        </p:spPr>
      </p:sp>
      <p:sp>
        <p:nvSpPr>
          <p:cNvPr id="31" name="Text 29"/>
          <p:cNvSpPr txBox="1"/>
          <p:nvPr/>
        </p:nvSpPr>
        <p:spPr>
          <a:xfrm>
            <a:off x="8229600" y="4178808"/>
            <a:ext cx="3047695" cy="237744"/>
          </a:xfrm>
          <a:prstGeom prst="rect">
            <a:avLst/>
          </a:prstGeom>
          <a:noFill/>
          <a:ln/>
        </p:spPr>
        <p:txBody>
          <a:bodyPr wrap="square" lIns="0" tIns="0" rIns="0" bIns="0" rtlCol="0" anchor="ctr"/>
          <a:lstStyle/>
          <a:p>
            <a:pPr indent="0" marL="0">
              <a:buNone/>
            </a:pPr>
            <a:r>
              <a:rPr lang="en-US" sz="1050" b="1" spc="110" kern="0" dirty="0">
                <a:solidFill>
                  <a:srgbClr val="E3B23C"/>
                </a:solidFill>
                <a:latin typeface="Calibri" pitchFamily="34" charset="0"/>
                <a:ea typeface="Calibri" pitchFamily="34" charset="-122"/>
                <a:cs typeface="Calibri" pitchFamily="34" charset="-120"/>
              </a:rPr>
              <a:t>A DETAIL THAT MATTERS</a:t>
            </a:r>
            <a:endParaRPr lang="en-US" sz="1050" dirty="0"/>
          </a:p>
        </p:txBody>
      </p:sp>
      <p:sp>
        <p:nvSpPr>
          <p:cNvPr id="32" name="Text 30"/>
          <p:cNvSpPr txBox="1"/>
          <p:nvPr/>
        </p:nvSpPr>
        <p:spPr>
          <a:xfrm>
            <a:off x="8229600" y="4480560"/>
            <a:ext cx="3047695" cy="1371600"/>
          </a:xfrm>
          <a:prstGeom prst="rect">
            <a:avLst/>
          </a:prstGeom>
          <a:noFill/>
          <a:ln/>
        </p:spPr>
        <p:txBody>
          <a:bodyPr wrap="square" lIns="0" tIns="0" rIns="0" bIns="0" rtlCol="0" anchor="ctr"/>
          <a:lstStyle/>
          <a:p>
            <a:pPr indent="0" marL="0">
              <a:lnSpc>
                <a:spcPct val="105000"/>
              </a:lnSpc>
              <a:buNone/>
            </a:pPr>
            <a:r>
              <a:rPr lang="en-US" sz="1100" dirty="0">
                <a:solidFill>
                  <a:srgbClr val="3E3E48"/>
                </a:solidFill>
                <a:latin typeface="Calibri" pitchFamily="34" charset="0"/>
                <a:ea typeface="Calibri" pitchFamily="34" charset="-122"/>
                <a:cs typeface="Calibri" pitchFamily="34" charset="-120"/>
              </a:rPr>
              <a:t>The monarch's title is Roi des Belges — King of the Belgians, not King of Belgium. The crown belongs to a people, not to a piece of land. That wording was deliberate in 1831 and it still says something about how the country understands itself.</a:t>
            </a:r>
            <a:endParaRPr lang="en-US" sz="11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640080" y="402336"/>
            <a:ext cx="10911535" cy="237744"/>
          </a:xfrm>
          <a:prstGeom prst="rect">
            <a:avLst/>
          </a:prstGeom>
          <a:noFill/>
          <a:ln/>
        </p:spPr>
        <p:txBody>
          <a:bodyPr wrap="square" lIns="0" tIns="0" rIns="0" bIns="0" rtlCol="0" anchor="ctr"/>
          <a:lstStyle/>
          <a:p>
            <a:pPr indent="0" marL="0">
              <a:buNone/>
            </a:pPr>
            <a:r>
              <a:rPr lang="en-US" sz="1150" b="1" spc="220" kern="0" dirty="0">
                <a:solidFill>
                  <a:srgbClr val="E3B23C"/>
                </a:solidFill>
                <a:latin typeface="Calibri" pitchFamily="34" charset="0"/>
                <a:ea typeface="Calibri" pitchFamily="34" charset="-122"/>
                <a:cs typeface="Calibri" pitchFamily="34" charset="-120"/>
              </a:rPr>
              <a:t>HISTOIRE I  ·  57 AV. J.-C. – 1794</a:t>
            </a:r>
            <a:endParaRPr lang="en-US" sz="1150" dirty="0"/>
          </a:p>
        </p:txBody>
      </p:sp>
      <p:sp>
        <p:nvSpPr>
          <p:cNvPr id="3" name="Text 1"/>
          <p:cNvSpPr txBox="1"/>
          <p:nvPr/>
        </p:nvSpPr>
        <p:spPr>
          <a:xfrm>
            <a:off x="640080" y="676656"/>
            <a:ext cx="10911535" cy="603504"/>
          </a:xfrm>
          <a:prstGeom prst="rect">
            <a:avLst/>
          </a:prstGeom>
          <a:noFill/>
          <a:ln/>
        </p:spPr>
        <p:txBody>
          <a:bodyPr wrap="square" lIns="0" tIns="0" rIns="0" bIns="0" rtlCol="0" anchor="ctr"/>
          <a:lstStyle/>
          <a:p>
            <a:pPr indent="0" marL="0">
              <a:buNone/>
            </a:pPr>
            <a:r>
              <a:rPr lang="en-US" sz="3100" b="1" dirty="0">
                <a:solidFill>
                  <a:srgbClr val="17171B"/>
                </a:solidFill>
                <a:latin typeface="Cambria" pitchFamily="34" charset="0"/>
                <a:ea typeface="Cambria" pitchFamily="34" charset="-122"/>
                <a:cs typeface="Cambria" pitchFamily="34" charset="-120"/>
              </a:rPr>
              <a:t>From Rome to the Habsburgs</a:t>
            </a:r>
            <a:endParaRPr lang="en-US" sz="3100" dirty="0"/>
          </a:p>
        </p:txBody>
      </p:sp>
      <p:sp>
        <p:nvSpPr>
          <p:cNvPr id="4" name="Shape 2"/>
          <p:cNvSpPr/>
          <p:nvPr/>
        </p:nvSpPr>
        <p:spPr>
          <a:xfrm>
            <a:off x="640080" y="6163056"/>
            <a:ext cx="384048" cy="384048"/>
          </a:xfrm>
          <a:prstGeom prst="ellipse">
            <a:avLst/>
          </a:prstGeom>
          <a:solidFill>
            <a:srgbClr val="E3B23C"/>
          </a:solidFill>
          <a:ln/>
        </p:spPr>
      </p:sp>
      <p:sp>
        <p:nvSpPr>
          <p:cNvPr id="5" name="Text 3"/>
          <p:cNvSpPr txBox="1"/>
          <p:nvPr/>
        </p:nvSpPr>
        <p:spPr>
          <a:xfrm>
            <a:off x="640080" y="6163056"/>
            <a:ext cx="384048" cy="384048"/>
          </a:xfrm>
          <a:prstGeom prst="rect">
            <a:avLst/>
          </a:prstGeom>
          <a:noFill/>
          <a:ln/>
        </p:spPr>
        <p:txBody>
          <a:bodyPr wrap="square" lIns="0" tIns="0" rIns="0" bIns="0" rtlCol="0" anchor="ctr"/>
          <a:lstStyle/>
          <a:p>
            <a:pPr algn="ctr" indent="0" marL="0">
              <a:buNone/>
            </a:pPr>
            <a:r>
              <a:rPr lang="en-US" sz="1200" b="1" dirty="0">
                <a:solidFill>
                  <a:srgbClr val="17171B"/>
                </a:solidFill>
                <a:latin typeface="Calibri" pitchFamily="34" charset="0"/>
                <a:ea typeface="Calibri" pitchFamily="34" charset="-122"/>
                <a:cs typeface="Calibri" pitchFamily="34" charset="-120"/>
              </a:rPr>
              <a:t>8</a:t>
            </a:r>
            <a:endParaRPr lang="en-US" sz="1200" dirty="0"/>
          </a:p>
        </p:txBody>
      </p:sp>
      <p:sp>
        <p:nvSpPr>
          <p:cNvPr id="6" name="Text 4"/>
          <p:cNvSpPr txBox="1"/>
          <p:nvPr/>
        </p:nvSpPr>
        <p:spPr>
          <a:xfrm>
            <a:off x="6035040" y="6245352"/>
            <a:ext cx="5516575" cy="237744"/>
          </a:xfrm>
          <a:prstGeom prst="rect">
            <a:avLst/>
          </a:prstGeom>
          <a:noFill/>
          <a:ln/>
        </p:spPr>
        <p:txBody>
          <a:bodyPr wrap="square" lIns="0" tIns="0" rIns="0" bIns="0" rtlCol="0" anchor="ctr"/>
          <a:lstStyle/>
          <a:p>
            <a:pPr algn="r" indent="0" marL="0">
              <a:buNone/>
            </a:pPr>
            <a:r>
              <a:rPr lang="en-US" sz="900" dirty="0">
                <a:solidFill>
                  <a:srgbClr val="70707C"/>
                </a:solidFill>
                <a:latin typeface="Calibri" pitchFamily="34" charset="0"/>
                <a:ea typeface="Calibri" pitchFamily="34" charset="-122"/>
                <a:cs typeface="Calibri" pitchFamily="34" charset="-120"/>
              </a:rPr>
              <a:t>La Belgique  ·  FREN 201  ·  Projet Francophonie</a:t>
            </a:r>
            <a:endParaRPr lang="en-US" sz="900" dirty="0"/>
          </a:p>
        </p:txBody>
      </p:sp>
      <p:sp>
        <p:nvSpPr>
          <p:cNvPr id="7" name="Shape 5"/>
          <p:cNvSpPr/>
          <p:nvPr/>
        </p:nvSpPr>
        <p:spPr>
          <a:xfrm>
            <a:off x="640080" y="1508760"/>
            <a:ext cx="1234440" cy="310896"/>
          </a:xfrm>
          <a:prstGeom prst="roundRect">
            <a:avLst>
              <a:gd name="adj" fmla="val 17647"/>
            </a:avLst>
          </a:prstGeom>
          <a:solidFill>
            <a:srgbClr val="17171B"/>
          </a:solidFill>
          <a:ln w="12700">
            <a:solidFill>
              <a:srgbClr val="17171B"/>
            </a:solidFill>
            <a:prstDash val="solid"/>
          </a:ln>
        </p:spPr>
      </p:sp>
      <p:sp>
        <p:nvSpPr>
          <p:cNvPr id="8" name="Text 6"/>
          <p:cNvSpPr txBox="1"/>
          <p:nvPr/>
        </p:nvSpPr>
        <p:spPr>
          <a:xfrm>
            <a:off x="640080" y="1508760"/>
            <a:ext cx="1234440" cy="310896"/>
          </a:xfrm>
          <a:prstGeom prst="rect">
            <a:avLst/>
          </a:prstGeom>
          <a:noFill/>
          <a:ln/>
        </p:spPr>
        <p:txBody>
          <a:bodyPr wrap="square" lIns="0" tIns="0" rIns="0" bIns="0" rtlCol="0" anchor="ctr"/>
          <a:lstStyle/>
          <a:p>
            <a:pPr algn="ctr" indent="0" marL="0">
              <a:buNone/>
            </a:pPr>
            <a:r>
              <a:rPr lang="en-US" sz="1100" b="1" dirty="0">
                <a:solidFill>
                  <a:srgbClr val="E3B23C"/>
                </a:solidFill>
                <a:latin typeface="Calibri" pitchFamily="34" charset="0"/>
                <a:ea typeface="Calibri" pitchFamily="34" charset="-122"/>
                <a:cs typeface="Calibri" pitchFamily="34" charset="-120"/>
              </a:rPr>
              <a:t>57 BC</a:t>
            </a:r>
            <a:endParaRPr lang="en-US" sz="1100" dirty="0"/>
          </a:p>
        </p:txBody>
      </p:sp>
      <p:sp>
        <p:nvSpPr>
          <p:cNvPr id="9" name="Text 7"/>
          <p:cNvSpPr txBox="1"/>
          <p:nvPr/>
        </p:nvSpPr>
        <p:spPr>
          <a:xfrm>
            <a:off x="2075688" y="1481328"/>
            <a:ext cx="9475927" cy="256032"/>
          </a:xfrm>
          <a:prstGeom prst="rect">
            <a:avLst/>
          </a:prstGeom>
          <a:noFill/>
          <a:ln/>
        </p:spPr>
        <p:txBody>
          <a:bodyPr wrap="square" lIns="0" tIns="0" rIns="0" bIns="0" rtlCol="0" anchor="ctr"/>
          <a:lstStyle/>
          <a:p>
            <a:pPr indent="0" marL="0">
              <a:buNone/>
            </a:pPr>
            <a:r>
              <a:rPr lang="en-US" sz="1350" b="1" dirty="0">
                <a:solidFill>
                  <a:srgbClr val="17171B"/>
                </a:solidFill>
                <a:latin typeface="Calibri" pitchFamily="34" charset="0"/>
                <a:ea typeface="Calibri" pitchFamily="34" charset="-122"/>
                <a:cs typeface="Calibri" pitchFamily="34" charset="-120"/>
              </a:rPr>
              <a:t>Rome conquers the Belgae</a:t>
            </a:r>
            <a:endParaRPr lang="en-US" sz="1350" dirty="0"/>
          </a:p>
        </p:txBody>
      </p:sp>
      <p:sp>
        <p:nvSpPr>
          <p:cNvPr id="10" name="Text 8"/>
          <p:cNvSpPr txBox="1"/>
          <p:nvPr/>
        </p:nvSpPr>
        <p:spPr>
          <a:xfrm>
            <a:off x="2075688" y="1737360"/>
            <a:ext cx="9475927" cy="475488"/>
          </a:xfrm>
          <a:prstGeom prst="rect">
            <a:avLst/>
          </a:prstGeom>
          <a:noFill/>
          <a:ln/>
        </p:spPr>
        <p:txBody>
          <a:bodyPr wrap="square" lIns="0" tIns="0" rIns="0" bIns="0" rtlCol="0" anchor="ctr"/>
          <a:lstStyle/>
          <a:p>
            <a:pPr indent="0" marL="0">
              <a:lnSpc>
                <a:spcPct val="102000"/>
              </a:lnSpc>
              <a:buNone/>
            </a:pPr>
            <a:r>
              <a:rPr lang="en-US" sz="1150" dirty="0">
                <a:solidFill>
                  <a:srgbClr val="3E3E48"/>
                </a:solidFill>
                <a:latin typeface="Calibri" pitchFamily="34" charset="0"/>
                <a:ea typeface="Calibri" pitchFamily="34" charset="-122"/>
                <a:cs typeface="Calibri" pitchFamily="34" charset="-120"/>
              </a:rPr>
              <a:t>Caesar defeats the Belgic tribes. The land becomes the Roman province of Gallia Belgica and stays Roman for four centuries.</a:t>
            </a:r>
            <a:endParaRPr lang="en-US" sz="1150" dirty="0"/>
          </a:p>
        </p:txBody>
      </p:sp>
      <p:sp>
        <p:nvSpPr>
          <p:cNvPr id="11" name="Shape 9"/>
          <p:cNvSpPr/>
          <p:nvPr/>
        </p:nvSpPr>
        <p:spPr>
          <a:xfrm>
            <a:off x="640080" y="2286000"/>
            <a:ext cx="1234440" cy="310896"/>
          </a:xfrm>
          <a:prstGeom prst="roundRect">
            <a:avLst>
              <a:gd name="adj" fmla="val 17647"/>
            </a:avLst>
          </a:prstGeom>
          <a:solidFill>
            <a:srgbClr val="17171B"/>
          </a:solidFill>
          <a:ln w="12700">
            <a:solidFill>
              <a:srgbClr val="17171B"/>
            </a:solidFill>
            <a:prstDash val="solid"/>
          </a:ln>
        </p:spPr>
      </p:sp>
      <p:sp>
        <p:nvSpPr>
          <p:cNvPr id="12" name="Text 10"/>
          <p:cNvSpPr txBox="1"/>
          <p:nvPr/>
        </p:nvSpPr>
        <p:spPr>
          <a:xfrm>
            <a:off x="640080" y="2286000"/>
            <a:ext cx="1234440" cy="310896"/>
          </a:xfrm>
          <a:prstGeom prst="rect">
            <a:avLst/>
          </a:prstGeom>
          <a:noFill/>
          <a:ln/>
        </p:spPr>
        <p:txBody>
          <a:bodyPr wrap="square" lIns="0" tIns="0" rIns="0" bIns="0" rtlCol="0" anchor="ctr"/>
          <a:lstStyle/>
          <a:p>
            <a:pPr algn="ctr" indent="0" marL="0">
              <a:buNone/>
            </a:pPr>
            <a:r>
              <a:rPr lang="en-US" sz="1100" b="1" dirty="0">
                <a:solidFill>
                  <a:srgbClr val="E3B23C"/>
                </a:solidFill>
                <a:latin typeface="Calibri" pitchFamily="34" charset="0"/>
                <a:ea typeface="Calibri" pitchFamily="34" charset="-122"/>
                <a:cs typeface="Calibri" pitchFamily="34" charset="-120"/>
              </a:rPr>
              <a:t>5th c.</a:t>
            </a:r>
            <a:endParaRPr lang="en-US" sz="1100" dirty="0"/>
          </a:p>
        </p:txBody>
      </p:sp>
      <p:sp>
        <p:nvSpPr>
          <p:cNvPr id="13" name="Text 11"/>
          <p:cNvSpPr txBox="1"/>
          <p:nvPr/>
        </p:nvSpPr>
        <p:spPr>
          <a:xfrm>
            <a:off x="2075688" y="2258568"/>
            <a:ext cx="9475927" cy="256032"/>
          </a:xfrm>
          <a:prstGeom prst="rect">
            <a:avLst/>
          </a:prstGeom>
          <a:noFill/>
          <a:ln/>
        </p:spPr>
        <p:txBody>
          <a:bodyPr wrap="square" lIns="0" tIns="0" rIns="0" bIns="0" rtlCol="0" anchor="ctr"/>
          <a:lstStyle/>
          <a:p>
            <a:pPr indent="0" marL="0">
              <a:buNone/>
            </a:pPr>
            <a:r>
              <a:rPr lang="en-US" sz="1350" b="1" dirty="0">
                <a:solidFill>
                  <a:srgbClr val="17171B"/>
                </a:solidFill>
                <a:latin typeface="Calibri" pitchFamily="34" charset="0"/>
                <a:ea typeface="Calibri" pitchFamily="34" charset="-122"/>
                <a:cs typeface="Calibri" pitchFamily="34" charset="-120"/>
              </a:rPr>
              <a:t>The Franks</a:t>
            </a:r>
            <a:endParaRPr lang="en-US" sz="1350" dirty="0"/>
          </a:p>
        </p:txBody>
      </p:sp>
      <p:sp>
        <p:nvSpPr>
          <p:cNvPr id="14" name="Text 12"/>
          <p:cNvSpPr txBox="1"/>
          <p:nvPr/>
        </p:nvSpPr>
        <p:spPr>
          <a:xfrm>
            <a:off x="2075688" y="2514600"/>
            <a:ext cx="9475927" cy="475488"/>
          </a:xfrm>
          <a:prstGeom prst="rect">
            <a:avLst/>
          </a:prstGeom>
          <a:noFill/>
          <a:ln/>
        </p:spPr>
        <p:txBody>
          <a:bodyPr wrap="square" lIns="0" tIns="0" rIns="0" bIns="0" rtlCol="0" anchor="ctr"/>
          <a:lstStyle/>
          <a:p>
            <a:pPr indent="0" marL="0">
              <a:lnSpc>
                <a:spcPct val="102000"/>
              </a:lnSpc>
              <a:buNone/>
            </a:pPr>
            <a:r>
              <a:rPr lang="en-US" sz="1150" dirty="0">
                <a:solidFill>
                  <a:srgbClr val="3E3E48"/>
                </a:solidFill>
                <a:latin typeface="Calibri" pitchFamily="34" charset="0"/>
                <a:ea typeface="Calibri" pitchFamily="34" charset="-122"/>
                <a:cs typeface="Calibri" pitchFamily="34" charset="-120"/>
              </a:rPr>
              <a:t>Roman rule collapses and Frankish kingdoms take over. The Merovingians and then the Carolingians rule from the Meuse valley — Charlemagne's family heartland.</a:t>
            </a:r>
            <a:endParaRPr lang="en-US" sz="1150" dirty="0"/>
          </a:p>
        </p:txBody>
      </p:sp>
      <p:sp>
        <p:nvSpPr>
          <p:cNvPr id="15" name="Shape 13"/>
          <p:cNvSpPr/>
          <p:nvPr/>
        </p:nvSpPr>
        <p:spPr>
          <a:xfrm>
            <a:off x="640080" y="3063240"/>
            <a:ext cx="1234440" cy="310896"/>
          </a:xfrm>
          <a:prstGeom prst="roundRect">
            <a:avLst>
              <a:gd name="adj" fmla="val 17647"/>
            </a:avLst>
          </a:prstGeom>
          <a:solidFill>
            <a:srgbClr val="17171B"/>
          </a:solidFill>
          <a:ln w="12700">
            <a:solidFill>
              <a:srgbClr val="17171B"/>
            </a:solidFill>
            <a:prstDash val="solid"/>
          </a:ln>
        </p:spPr>
      </p:sp>
      <p:sp>
        <p:nvSpPr>
          <p:cNvPr id="16" name="Text 14"/>
          <p:cNvSpPr txBox="1"/>
          <p:nvPr/>
        </p:nvSpPr>
        <p:spPr>
          <a:xfrm>
            <a:off x="640080" y="3063240"/>
            <a:ext cx="1234440" cy="310896"/>
          </a:xfrm>
          <a:prstGeom prst="rect">
            <a:avLst/>
          </a:prstGeom>
          <a:noFill/>
          <a:ln/>
        </p:spPr>
        <p:txBody>
          <a:bodyPr wrap="square" lIns="0" tIns="0" rIns="0" bIns="0" rtlCol="0" anchor="ctr"/>
          <a:lstStyle/>
          <a:p>
            <a:pPr algn="ctr" indent="0" marL="0">
              <a:buNone/>
            </a:pPr>
            <a:r>
              <a:rPr lang="en-US" sz="1100" b="1" dirty="0">
                <a:solidFill>
                  <a:srgbClr val="E3B23C"/>
                </a:solidFill>
                <a:latin typeface="Calibri" pitchFamily="34" charset="0"/>
                <a:ea typeface="Calibri" pitchFamily="34" charset="-122"/>
                <a:cs typeface="Calibri" pitchFamily="34" charset="-120"/>
              </a:rPr>
              <a:t>11th–14th c.</a:t>
            </a:r>
            <a:endParaRPr lang="en-US" sz="1100" dirty="0"/>
          </a:p>
        </p:txBody>
      </p:sp>
      <p:sp>
        <p:nvSpPr>
          <p:cNvPr id="17" name="Text 15"/>
          <p:cNvSpPr txBox="1"/>
          <p:nvPr/>
        </p:nvSpPr>
        <p:spPr>
          <a:xfrm>
            <a:off x="2075688" y="3035808"/>
            <a:ext cx="9475927" cy="256032"/>
          </a:xfrm>
          <a:prstGeom prst="rect">
            <a:avLst/>
          </a:prstGeom>
          <a:noFill/>
          <a:ln/>
        </p:spPr>
        <p:txBody>
          <a:bodyPr wrap="square" lIns="0" tIns="0" rIns="0" bIns="0" rtlCol="0" anchor="ctr"/>
          <a:lstStyle/>
          <a:p>
            <a:pPr indent="0" marL="0">
              <a:buNone/>
            </a:pPr>
            <a:r>
              <a:rPr lang="en-US" sz="1350" b="1" dirty="0">
                <a:solidFill>
                  <a:srgbClr val="17171B"/>
                </a:solidFill>
                <a:latin typeface="Calibri" pitchFamily="34" charset="0"/>
                <a:ea typeface="Calibri" pitchFamily="34" charset="-122"/>
                <a:cs typeface="Calibri" pitchFamily="34" charset="-120"/>
              </a:rPr>
              <a:t>The cloth cities</a:t>
            </a:r>
            <a:endParaRPr lang="en-US" sz="1350" dirty="0"/>
          </a:p>
        </p:txBody>
      </p:sp>
      <p:sp>
        <p:nvSpPr>
          <p:cNvPr id="18" name="Text 16"/>
          <p:cNvSpPr txBox="1"/>
          <p:nvPr/>
        </p:nvSpPr>
        <p:spPr>
          <a:xfrm>
            <a:off x="2075688" y="3291840"/>
            <a:ext cx="9475927" cy="475488"/>
          </a:xfrm>
          <a:prstGeom prst="rect">
            <a:avLst/>
          </a:prstGeom>
          <a:noFill/>
          <a:ln/>
        </p:spPr>
        <p:txBody>
          <a:bodyPr wrap="square" lIns="0" tIns="0" rIns="0" bIns="0" rtlCol="0" anchor="ctr"/>
          <a:lstStyle/>
          <a:p>
            <a:pPr indent="0" marL="0">
              <a:lnSpc>
                <a:spcPct val="102000"/>
              </a:lnSpc>
              <a:buNone/>
            </a:pPr>
            <a:r>
              <a:rPr lang="en-US" sz="1150" dirty="0">
                <a:solidFill>
                  <a:srgbClr val="3E3E48"/>
                </a:solidFill>
                <a:latin typeface="Calibri" pitchFamily="34" charset="0"/>
                <a:ea typeface="Calibri" pitchFamily="34" charset="-122"/>
                <a:cs typeface="Calibri" pitchFamily="34" charset="-120"/>
              </a:rPr>
              <a:t>Bruges, Ghent and Ypres grow rich weaving English wool. Bruges becomes one of the great trading ports of Europe. Power sits with the County of Flanders, the Duchy of Brabant and the Prince-Bishopric of Liège.</a:t>
            </a:r>
            <a:endParaRPr lang="en-US" sz="1150" dirty="0"/>
          </a:p>
        </p:txBody>
      </p:sp>
      <p:sp>
        <p:nvSpPr>
          <p:cNvPr id="19" name="Shape 17"/>
          <p:cNvSpPr/>
          <p:nvPr/>
        </p:nvSpPr>
        <p:spPr>
          <a:xfrm>
            <a:off x="640080" y="4059936"/>
            <a:ext cx="1234440" cy="310896"/>
          </a:xfrm>
          <a:prstGeom prst="roundRect">
            <a:avLst>
              <a:gd name="adj" fmla="val 17647"/>
            </a:avLst>
          </a:prstGeom>
          <a:solidFill>
            <a:srgbClr val="17171B"/>
          </a:solidFill>
          <a:ln w="12700">
            <a:solidFill>
              <a:srgbClr val="17171B"/>
            </a:solidFill>
            <a:prstDash val="solid"/>
          </a:ln>
        </p:spPr>
      </p:sp>
      <p:sp>
        <p:nvSpPr>
          <p:cNvPr id="20" name="Text 18"/>
          <p:cNvSpPr txBox="1"/>
          <p:nvPr/>
        </p:nvSpPr>
        <p:spPr>
          <a:xfrm>
            <a:off x="640080" y="4059936"/>
            <a:ext cx="1234440" cy="310896"/>
          </a:xfrm>
          <a:prstGeom prst="rect">
            <a:avLst/>
          </a:prstGeom>
          <a:noFill/>
          <a:ln/>
        </p:spPr>
        <p:txBody>
          <a:bodyPr wrap="square" lIns="0" tIns="0" rIns="0" bIns="0" rtlCol="0" anchor="ctr"/>
          <a:lstStyle/>
          <a:p>
            <a:pPr algn="ctr" indent="0" marL="0">
              <a:buNone/>
            </a:pPr>
            <a:r>
              <a:rPr lang="en-US" sz="1100" b="1" dirty="0">
                <a:solidFill>
                  <a:srgbClr val="E3B23C"/>
                </a:solidFill>
                <a:latin typeface="Calibri" pitchFamily="34" charset="0"/>
                <a:ea typeface="Calibri" pitchFamily="34" charset="-122"/>
                <a:cs typeface="Calibri" pitchFamily="34" charset="-120"/>
              </a:rPr>
              <a:t>1384–1477</a:t>
            </a:r>
            <a:endParaRPr lang="en-US" sz="1100" dirty="0"/>
          </a:p>
        </p:txBody>
      </p:sp>
      <p:sp>
        <p:nvSpPr>
          <p:cNvPr id="21" name="Text 19"/>
          <p:cNvSpPr txBox="1"/>
          <p:nvPr/>
        </p:nvSpPr>
        <p:spPr>
          <a:xfrm>
            <a:off x="2075688" y="4032504"/>
            <a:ext cx="9475927" cy="256032"/>
          </a:xfrm>
          <a:prstGeom prst="rect">
            <a:avLst/>
          </a:prstGeom>
          <a:noFill/>
          <a:ln/>
        </p:spPr>
        <p:txBody>
          <a:bodyPr wrap="square" lIns="0" tIns="0" rIns="0" bIns="0" rtlCol="0" anchor="ctr"/>
          <a:lstStyle/>
          <a:p>
            <a:pPr indent="0" marL="0">
              <a:buNone/>
            </a:pPr>
            <a:r>
              <a:rPr lang="en-US" sz="1350" b="1" dirty="0">
                <a:solidFill>
                  <a:srgbClr val="17171B"/>
                </a:solidFill>
                <a:latin typeface="Calibri" pitchFamily="34" charset="0"/>
                <a:ea typeface="Calibri" pitchFamily="34" charset="-122"/>
                <a:cs typeface="Calibri" pitchFamily="34" charset="-120"/>
              </a:rPr>
              <a:t>The Burgundian Netherlands</a:t>
            </a:r>
            <a:endParaRPr lang="en-US" sz="1350" dirty="0"/>
          </a:p>
        </p:txBody>
      </p:sp>
      <p:sp>
        <p:nvSpPr>
          <p:cNvPr id="22" name="Text 20"/>
          <p:cNvSpPr txBox="1"/>
          <p:nvPr/>
        </p:nvSpPr>
        <p:spPr>
          <a:xfrm>
            <a:off x="2075688" y="4288536"/>
            <a:ext cx="9475927" cy="475488"/>
          </a:xfrm>
          <a:prstGeom prst="rect">
            <a:avLst/>
          </a:prstGeom>
          <a:noFill/>
          <a:ln/>
        </p:spPr>
        <p:txBody>
          <a:bodyPr wrap="square" lIns="0" tIns="0" rIns="0" bIns="0" rtlCol="0" anchor="ctr"/>
          <a:lstStyle/>
          <a:p>
            <a:pPr indent="0" marL="0">
              <a:lnSpc>
                <a:spcPct val="102000"/>
              </a:lnSpc>
              <a:buNone/>
            </a:pPr>
            <a:r>
              <a:rPr lang="en-US" sz="1150" dirty="0">
                <a:solidFill>
                  <a:srgbClr val="3E3E48"/>
                </a:solidFill>
                <a:latin typeface="Calibri" pitchFamily="34" charset="0"/>
                <a:ea typeface="Calibri" pitchFamily="34" charset="-122"/>
                <a:cs typeface="Calibri" pitchFamily="34" charset="-120"/>
              </a:rPr>
              <a:t>The Dukes of Burgundy unite the Low Countries. Under Philip the Good, Flemish painting has its golden age — Jan van Eyck finishes the Ghent Altarpiece in 1432.</a:t>
            </a:r>
            <a:endParaRPr lang="en-US" sz="1150" dirty="0"/>
          </a:p>
        </p:txBody>
      </p:sp>
      <p:sp>
        <p:nvSpPr>
          <p:cNvPr id="23" name="Shape 21"/>
          <p:cNvSpPr/>
          <p:nvPr/>
        </p:nvSpPr>
        <p:spPr>
          <a:xfrm>
            <a:off x="640080" y="5056632"/>
            <a:ext cx="1234440" cy="310896"/>
          </a:xfrm>
          <a:prstGeom prst="roundRect">
            <a:avLst>
              <a:gd name="adj" fmla="val 17647"/>
            </a:avLst>
          </a:prstGeom>
          <a:solidFill>
            <a:srgbClr val="17171B"/>
          </a:solidFill>
          <a:ln w="12700">
            <a:solidFill>
              <a:srgbClr val="17171B"/>
            </a:solidFill>
            <a:prstDash val="solid"/>
          </a:ln>
        </p:spPr>
      </p:sp>
      <p:sp>
        <p:nvSpPr>
          <p:cNvPr id="24" name="Text 22"/>
          <p:cNvSpPr txBox="1"/>
          <p:nvPr/>
        </p:nvSpPr>
        <p:spPr>
          <a:xfrm>
            <a:off x="640080" y="5056632"/>
            <a:ext cx="1234440" cy="310896"/>
          </a:xfrm>
          <a:prstGeom prst="rect">
            <a:avLst/>
          </a:prstGeom>
          <a:noFill/>
          <a:ln/>
        </p:spPr>
        <p:txBody>
          <a:bodyPr wrap="square" lIns="0" tIns="0" rIns="0" bIns="0" rtlCol="0" anchor="ctr"/>
          <a:lstStyle/>
          <a:p>
            <a:pPr algn="ctr" indent="0" marL="0">
              <a:buNone/>
            </a:pPr>
            <a:r>
              <a:rPr lang="en-US" sz="1100" b="1" dirty="0">
                <a:solidFill>
                  <a:srgbClr val="E3B23C"/>
                </a:solidFill>
                <a:latin typeface="Calibri" pitchFamily="34" charset="0"/>
                <a:ea typeface="Calibri" pitchFamily="34" charset="-122"/>
                <a:cs typeface="Calibri" pitchFamily="34" charset="-120"/>
              </a:rPr>
              <a:t>1477–1794</a:t>
            </a:r>
            <a:endParaRPr lang="en-US" sz="1100" dirty="0"/>
          </a:p>
        </p:txBody>
      </p:sp>
      <p:sp>
        <p:nvSpPr>
          <p:cNvPr id="25" name="Text 23"/>
          <p:cNvSpPr txBox="1"/>
          <p:nvPr/>
        </p:nvSpPr>
        <p:spPr>
          <a:xfrm>
            <a:off x="2075688" y="5029200"/>
            <a:ext cx="9475927" cy="256032"/>
          </a:xfrm>
          <a:prstGeom prst="rect">
            <a:avLst/>
          </a:prstGeom>
          <a:noFill/>
          <a:ln/>
        </p:spPr>
        <p:txBody>
          <a:bodyPr wrap="square" lIns="0" tIns="0" rIns="0" bIns="0" rtlCol="0" anchor="ctr"/>
          <a:lstStyle/>
          <a:p>
            <a:pPr indent="0" marL="0">
              <a:buNone/>
            </a:pPr>
            <a:r>
              <a:rPr lang="en-US" sz="1350" b="1" dirty="0">
                <a:solidFill>
                  <a:srgbClr val="17171B"/>
                </a:solidFill>
                <a:latin typeface="Calibri" pitchFamily="34" charset="0"/>
                <a:ea typeface="Calibri" pitchFamily="34" charset="-122"/>
                <a:cs typeface="Calibri" pitchFamily="34" charset="-120"/>
              </a:rPr>
              <a:t>The Habsburgs</a:t>
            </a:r>
            <a:endParaRPr lang="en-US" sz="1350" dirty="0"/>
          </a:p>
        </p:txBody>
      </p:sp>
      <p:sp>
        <p:nvSpPr>
          <p:cNvPr id="26" name="Text 24"/>
          <p:cNvSpPr txBox="1"/>
          <p:nvPr/>
        </p:nvSpPr>
        <p:spPr>
          <a:xfrm>
            <a:off x="2075688" y="5285232"/>
            <a:ext cx="9475927" cy="475488"/>
          </a:xfrm>
          <a:prstGeom prst="rect">
            <a:avLst/>
          </a:prstGeom>
          <a:noFill/>
          <a:ln/>
        </p:spPr>
        <p:txBody>
          <a:bodyPr wrap="square" lIns="0" tIns="0" rIns="0" bIns="0" rtlCol="0" anchor="ctr"/>
          <a:lstStyle/>
          <a:p>
            <a:pPr indent="0" marL="0">
              <a:lnSpc>
                <a:spcPct val="102000"/>
              </a:lnSpc>
              <a:buNone/>
            </a:pPr>
            <a:r>
              <a:rPr lang="en-US" sz="1150" dirty="0">
                <a:solidFill>
                  <a:srgbClr val="3E3E48"/>
                </a:solidFill>
                <a:latin typeface="Calibri" pitchFamily="34" charset="0"/>
                <a:ea typeface="Calibri" pitchFamily="34" charset="-122"/>
                <a:cs typeface="Calibri" pitchFamily="34" charset="-120"/>
              </a:rPr>
              <a:t>The territory passes to the Habsburgs: the Spanish Netherlands from 1556, then the Austrian Netherlands from 1714. The Dutch Revolt (1568–1648) splits the Protestant north away from the Catholic south — the origin of the border between Belgium and the Netherlands today.</a:t>
            </a:r>
            <a:endParaRPr lang="en-US" sz="115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640080" y="402336"/>
            <a:ext cx="6035040" cy="237744"/>
          </a:xfrm>
          <a:prstGeom prst="rect">
            <a:avLst/>
          </a:prstGeom>
          <a:noFill/>
          <a:ln/>
        </p:spPr>
        <p:txBody>
          <a:bodyPr wrap="square" lIns="0" tIns="0" rIns="0" bIns="0" rtlCol="0" anchor="ctr"/>
          <a:lstStyle/>
          <a:p>
            <a:pPr indent="0" marL="0">
              <a:buNone/>
            </a:pPr>
            <a:r>
              <a:rPr lang="en-US" sz="1150" b="1" spc="220" kern="0" dirty="0">
                <a:solidFill>
                  <a:srgbClr val="E3B23C"/>
                </a:solidFill>
                <a:latin typeface="Calibri" pitchFamily="34" charset="0"/>
                <a:ea typeface="Calibri" pitchFamily="34" charset="-122"/>
                <a:cs typeface="Calibri" pitchFamily="34" charset="-120"/>
              </a:rPr>
              <a:t>HISTOIRE II  ·  1795 – 1839</a:t>
            </a:r>
            <a:endParaRPr lang="en-US" sz="1150" dirty="0"/>
          </a:p>
        </p:txBody>
      </p:sp>
      <p:sp>
        <p:nvSpPr>
          <p:cNvPr id="3" name="Text 1"/>
          <p:cNvSpPr txBox="1"/>
          <p:nvPr/>
        </p:nvSpPr>
        <p:spPr>
          <a:xfrm>
            <a:off x="640080" y="676656"/>
            <a:ext cx="6035040" cy="603504"/>
          </a:xfrm>
          <a:prstGeom prst="rect">
            <a:avLst/>
          </a:prstGeom>
          <a:noFill/>
          <a:ln/>
        </p:spPr>
        <p:txBody>
          <a:bodyPr wrap="square" lIns="0" tIns="0" rIns="0" bIns="0" rtlCol="0" anchor="ctr"/>
          <a:lstStyle/>
          <a:p>
            <a:pPr indent="0" marL="0">
              <a:buNone/>
            </a:pPr>
            <a:r>
              <a:rPr lang="en-US" sz="3100" b="1" dirty="0">
                <a:solidFill>
                  <a:srgbClr val="17171B"/>
                </a:solidFill>
                <a:latin typeface="Cambria" pitchFamily="34" charset="0"/>
                <a:ea typeface="Cambria" pitchFamily="34" charset="-122"/>
                <a:cs typeface="Cambria" pitchFamily="34" charset="-120"/>
              </a:rPr>
              <a:t>From France to independence</a:t>
            </a:r>
            <a:endParaRPr lang="en-US" sz="3100" dirty="0"/>
          </a:p>
        </p:txBody>
      </p:sp>
      <p:sp>
        <p:nvSpPr>
          <p:cNvPr id="4" name="Shape 2"/>
          <p:cNvSpPr/>
          <p:nvPr/>
        </p:nvSpPr>
        <p:spPr>
          <a:xfrm>
            <a:off x="640080" y="6163056"/>
            <a:ext cx="384048" cy="384048"/>
          </a:xfrm>
          <a:prstGeom prst="ellipse">
            <a:avLst/>
          </a:prstGeom>
          <a:solidFill>
            <a:srgbClr val="E3B23C"/>
          </a:solidFill>
          <a:ln/>
        </p:spPr>
      </p:sp>
      <p:sp>
        <p:nvSpPr>
          <p:cNvPr id="5" name="Text 3"/>
          <p:cNvSpPr txBox="1"/>
          <p:nvPr/>
        </p:nvSpPr>
        <p:spPr>
          <a:xfrm>
            <a:off x="640080" y="6163056"/>
            <a:ext cx="384048" cy="384048"/>
          </a:xfrm>
          <a:prstGeom prst="rect">
            <a:avLst/>
          </a:prstGeom>
          <a:noFill/>
          <a:ln/>
        </p:spPr>
        <p:txBody>
          <a:bodyPr wrap="square" lIns="0" tIns="0" rIns="0" bIns="0" rtlCol="0" anchor="ctr"/>
          <a:lstStyle/>
          <a:p>
            <a:pPr algn="ctr" indent="0" marL="0">
              <a:buNone/>
            </a:pPr>
            <a:r>
              <a:rPr lang="en-US" sz="1200" b="1" dirty="0">
                <a:solidFill>
                  <a:srgbClr val="17171B"/>
                </a:solidFill>
                <a:latin typeface="Calibri" pitchFamily="34" charset="0"/>
                <a:ea typeface="Calibri" pitchFamily="34" charset="-122"/>
                <a:cs typeface="Calibri" pitchFamily="34" charset="-120"/>
              </a:rPr>
              <a:t>9</a:t>
            </a:r>
            <a:endParaRPr lang="en-US" sz="1200" dirty="0"/>
          </a:p>
        </p:txBody>
      </p:sp>
      <p:sp>
        <p:nvSpPr>
          <p:cNvPr id="6" name="Text 4"/>
          <p:cNvSpPr txBox="1"/>
          <p:nvPr/>
        </p:nvSpPr>
        <p:spPr>
          <a:xfrm>
            <a:off x="6035040" y="6245352"/>
            <a:ext cx="5516575" cy="237744"/>
          </a:xfrm>
          <a:prstGeom prst="rect">
            <a:avLst/>
          </a:prstGeom>
          <a:noFill/>
          <a:ln/>
        </p:spPr>
        <p:txBody>
          <a:bodyPr wrap="square" lIns="0" tIns="0" rIns="0" bIns="0" rtlCol="0" anchor="ctr"/>
          <a:lstStyle/>
          <a:p>
            <a:pPr algn="r" indent="0" marL="0">
              <a:buNone/>
            </a:pPr>
            <a:r>
              <a:rPr lang="en-US" sz="900" dirty="0">
                <a:solidFill>
                  <a:srgbClr val="70707C"/>
                </a:solidFill>
                <a:latin typeface="Calibri" pitchFamily="34" charset="0"/>
                <a:ea typeface="Calibri" pitchFamily="34" charset="-122"/>
                <a:cs typeface="Calibri" pitchFamily="34" charset="-120"/>
              </a:rPr>
              <a:t>La Belgique  ·  FREN 201  ·  Projet Francophonie</a:t>
            </a:r>
            <a:endParaRPr lang="en-US" sz="900" dirty="0"/>
          </a:p>
        </p:txBody>
      </p:sp>
      <p:pic>
        <p:nvPicPr>
          <p:cNvPr id="7" name="Image 0" descr="/tmp/claude-0/-home-user-BOYNT-WORK/856f02cf-0e32-5bfe-bffb-9edb29b314f9/scratchpad/deckimg/waterloo.jpg">    </p:cNvPr>
          <p:cNvPicPr>
            <a:picLocks noChangeAspect="1"/>
          </p:cNvPicPr>
          <p:nvPr/>
        </p:nvPicPr>
        <p:blipFill>
          <a:blip r:embed="rId1"/>
          <a:srcRect l="0" r="0" t="0" b="0"/>
          <a:stretch/>
        </p:blipFill>
        <p:spPr>
          <a:xfrm>
            <a:off x="6720840" y="0"/>
            <a:ext cx="5470855" cy="6858000"/>
          </a:xfrm>
          <a:prstGeom prst="rect">
            <a:avLst/>
          </a:prstGeom>
        </p:spPr>
      </p:pic>
      <p:sp>
        <p:nvSpPr>
          <p:cNvPr id="8" name="Shape 5"/>
          <p:cNvSpPr/>
          <p:nvPr/>
        </p:nvSpPr>
        <p:spPr>
          <a:xfrm>
            <a:off x="6720840" y="5074920"/>
            <a:ext cx="5470855" cy="1783080"/>
          </a:xfrm>
          <a:prstGeom prst="rect">
            <a:avLst/>
          </a:prstGeom>
          <a:solidFill>
            <a:srgbClr val="17171B">
              <a:alpha val="88000"/>
            </a:srgbClr>
          </a:solidFill>
          <a:ln/>
        </p:spPr>
      </p:sp>
      <p:sp>
        <p:nvSpPr>
          <p:cNvPr id="9" name="Text 6"/>
          <p:cNvSpPr txBox="1"/>
          <p:nvPr/>
        </p:nvSpPr>
        <p:spPr>
          <a:xfrm>
            <a:off x="7040880" y="5321808"/>
            <a:ext cx="4754880" cy="256032"/>
          </a:xfrm>
          <a:prstGeom prst="rect">
            <a:avLst/>
          </a:prstGeom>
          <a:noFill/>
          <a:ln/>
        </p:spPr>
        <p:txBody>
          <a:bodyPr wrap="square" lIns="0" tIns="0" rIns="0" bIns="0" rtlCol="0" anchor="ctr"/>
          <a:lstStyle/>
          <a:p>
            <a:pPr indent="0" marL="0">
              <a:buNone/>
            </a:pPr>
            <a:r>
              <a:rPr lang="en-US" sz="1100" b="1" spc="140" kern="0" dirty="0">
                <a:solidFill>
                  <a:srgbClr val="E3B23C"/>
                </a:solidFill>
                <a:latin typeface="Calibri" pitchFamily="34" charset="0"/>
                <a:ea typeface="Calibri" pitchFamily="34" charset="-122"/>
                <a:cs typeface="Calibri" pitchFamily="34" charset="-120"/>
              </a:rPr>
              <a:t>THE LION'S MOUND, WATERLOO</a:t>
            </a:r>
            <a:endParaRPr lang="en-US" sz="1100" dirty="0"/>
          </a:p>
        </p:txBody>
      </p:sp>
      <p:sp>
        <p:nvSpPr>
          <p:cNvPr id="10" name="Text 7"/>
          <p:cNvSpPr txBox="1"/>
          <p:nvPr/>
        </p:nvSpPr>
        <p:spPr>
          <a:xfrm>
            <a:off x="7040880" y="5614416"/>
            <a:ext cx="4754880" cy="914400"/>
          </a:xfrm>
          <a:prstGeom prst="rect">
            <a:avLst/>
          </a:prstGeom>
          <a:noFill/>
          <a:ln/>
        </p:spPr>
        <p:txBody>
          <a:bodyPr wrap="square" lIns="0" tIns="0" rIns="0" bIns="0" rtlCol="0" anchor="ctr"/>
          <a:lstStyle/>
          <a:p>
            <a:pPr indent="0" marL="0">
              <a:lnSpc>
                <a:spcPct val="105000"/>
              </a:lnSpc>
              <a:buNone/>
            </a:pPr>
            <a:r>
              <a:rPr lang="en-US" sz="1100" dirty="0">
                <a:solidFill>
                  <a:srgbClr val="E2E2E8"/>
                </a:solidFill>
                <a:latin typeface="Calibri" pitchFamily="34" charset="0"/>
                <a:ea typeface="Calibri" pitchFamily="34" charset="-122"/>
                <a:cs typeface="Calibri" pitchFamily="34" charset="-120"/>
              </a:rPr>
              <a:t>Raised on the battlefield 15 km south of Brussels where Napoleon was finally defeated on 18 June 1815 — on what was not yet Belgian soil.</a:t>
            </a:r>
            <a:endParaRPr lang="en-US" sz="1100" dirty="0"/>
          </a:p>
        </p:txBody>
      </p:sp>
      <p:sp>
        <p:nvSpPr>
          <p:cNvPr id="11" name="Shape 8"/>
          <p:cNvSpPr/>
          <p:nvPr/>
        </p:nvSpPr>
        <p:spPr>
          <a:xfrm>
            <a:off x="640080" y="1508760"/>
            <a:ext cx="868680" cy="310896"/>
          </a:xfrm>
          <a:prstGeom prst="roundRect">
            <a:avLst>
              <a:gd name="adj" fmla="val 17647"/>
            </a:avLst>
          </a:prstGeom>
          <a:solidFill>
            <a:srgbClr val="17171B"/>
          </a:solidFill>
          <a:ln w="12700">
            <a:solidFill>
              <a:srgbClr val="17171B"/>
            </a:solidFill>
            <a:prstDash val="solid"/>
          </a:ln>
        </p:spPr>
      </p:sp>
      <p:sp>
        <p:nvSpPr>
          <p:cNvPr id="12" name="Text 9"/>
          <p:cNvSpPr txBox="1"/>
          <p:nvPr/>
        </p:nvSpPr>
        <p:spPr>
          <a:xfrm>
            <a:off x="640080" y="1508760"/>
            <a:ext cx="868680" cy="310896"/>
          </a:xfrm>
          <a:prstGeom prst="rect">
            <a:avLst/>
          </a:prstGeom>
          <a:noFill/>
          <a:ln/>
        </p:spPr>
        <p:txBody>
          <a:bodyPr wrap="square" lIns="0" tIns="0" rIns="0" bIns="0" rtlCol="0" anchor="ctr"/>
          <a:lstStyle/>
          <a:p>
            <a:pPr algn="ctr" indent="0" marL="0">
              <a:buNone/>
            </a:pPr>
            <a:r>
              <a:rPr lang="en-US" sz="1100" b="1" dirty="0">
                <a:solidFill>
                  <a:srgbClr val="E3B23C"/>
                </a:solidFill>
                <a:latin typeface="Calibri" pitchFamily="34" charset="0"/>
                <a:ea typeface="Calibri" pitchFamily="34" charset="-122"/>
                <a:cs typeface="Calibri" pitchFamily="34" charset="-120"/>
              </a:rPr>
              <a:t>1795</a:t>
            </a:r>
            <a:endParaRPr lang="en-US" sz="1100" dirty="0"/>
          </a:p>
        </p:txBody>
      </p:sp>
      <p:sp>
        <p:nvSpPr>
          <p:cNvPr id="13" name="Text 10"/>
          <p:cNvSpPr txBox="1"/>
          <p:nvPr/>
        </p:nvSpPr>
        <p:spPr>
          <a:xfrm>
            <a:off x="1709928" y="1481328"/>
            <a:ext cx="4736592" cy="256032"/>
          </a:xfrm>
          <a:prstGeom prst="rect">
            <a:avLst/>
          </a:prstGeom>
          <a:noFill/>
          <a:ln/>
        </p:spPr>
        <p:txBody>
          <a:bodyPr wrap="square" lIns="0" tIns="0" rIns="0" bIns="0" rtlCol="0" anchor="ctr"/>
          <a:lstStyle/>
          <a:p>
            <a:pPr indent="0" marL="0">
              <a:buNone/>
            </a:pPr>
            <a:r>
              <a:rPr lang="en-US" sz="1350" b="1" dirty="0">
                <a:solidFill>
                  <a:srgbClr val="17171B"/>
                </a:solidFill>
                <a:latin typeface="Calibri" pitchFamily="34" charset="0"/>
                <a:ea typeface="Calibri" pitchFamily="34" charset="-122"/>
                <a:cs typeface="Calibri" pitchFamily="34" charset="-120"/>
              </a:rPr>
              <a:t>Annexed by France</a:t>
            </a:r>
            <a:endParaRPr lang="en-US" sz="1350" dirty="0"/>
          </a:p>
        </p:txBody>
      </p:sp>
      <p:sp>
        <p:nvSpPr>
          <p:cNvPr id="14" name="Text 11"/>
          <p:cNvSpPr txBox="1"/>
          <p:nvPr/>
        </p:nvSpPr>
        <p:spPr>
          <a:xfrm>
            <a:off x="1709928" y="1737360"/>
            <a:ext cx="4736592" cy="475488"/>
          </a:xfrm>
          <a:prstGeom prst="rect">
            <a:avLst/>
          </a:prstGeom>
          <a:noFill/>
          <a:ln/>
        </p:spPr>
        <p:txBody>
          <a:bodyPr wrap="square" lIns="0" tIns="0" rIns="0" bIns="0" rtlCol="0" anchor="ctr"/>
          <a:lstStyle/>
          <a:p>
            <a:pPr indent="0" marL="0">
              <a:lnSpc>
                <a:spcPct val="102000"/>
              </a:lnSpc>
              <a:buNone/>
            </a:pPr>
            <a:r>
              <a:rPr lang="en-US" sz="1150" dirty="0">
                <a:solidFill>
                  <a:srgbClr val="3E3E48"/>
                </a:solidFill>
                <a:latin typeface="Calibri" pitchFamily="34" charset="0"/>
                <a:ea typeface="Calibri" pitchFamily="34" charset="-122"/>
                <a:cs typeface="Calibri" pitchFamily="34" charset="-120"/>
              </a:rPr>
              <a:t>Revolutionary France annexes the Austrian Netherlands and divides it into départements. French becomes the language of law and administration — a legacy that has never gone away.</a:t>
            </a:r>
            <a:endParaRPr lang="en-US" sz="1150" dirty="0"/>
          </a:p>
        </p:txBody>
      </p:sp>
      <p:sp>
        <p:nvSpPr>
          <p:cNvPr id="15" name="Shape 12"/>
          <p:cNvSpPr/>
          <p:nvPr/>
        </p:nvSpPr>
        <p:spPr>
          <a:xfrm>
            <a:off x="640080" y="2414016"/>
            <a:ext cx="868680" cy="310896"/>
          </a:xfrm>
          <a:prstGeom prst="roundRect">
            <a:avLst>
              <a:gd name="adj" fmla="val 17647"/>
            </a:avLst>
          </a:prstGeom>
          <a:solidFill>
            <a:srgbClr val="17171B"/>
          </a:solidFill>
          <a:ln w="12700">
            <a:solidFill>
              <a:srgbClr val="17171B"/>
            </a:solidFill>
            <a:prstDash val="solid"/>
          </a:ln>
        </p:spPr>
      </p:sp>
      <p:sp>
        <p:nvSpPr>
          <p:cNvPr id="16" name="Text 13"/>
          <p:cNvSpPr txBox="1"/>
          <p:nvPr/>
        </p:nvSpPr>
        <p:spPr>
          <a:xfrm>
            <a:off x="640080" y="2414016"/>
            <a:ext cx="868680" cy="310896"/>
          </a:xfrm>
          <a:prstGeom prst="rect">
            <a:avLst/>
          </a:prstGeom>
          <a:noFill/>
          <a:ln/>
        </p:spPr>
        <p:txBody>
          <a:bodyPr wrap="square" lIns="0" tIns="0" rIns="0" bIns="0" rtlCol="0" anchor="ctr"/>
          <a:lstStyle/>
          <a:p>
            <a:pPr algn="ctr" indent="0" marL="0">
              <a:buNone/>
            </a:pPr>
            <a:r>
              <a:rPr lang="en-US" sz="1100" b="1" dirty="0">
                <a:solidFill>
                  <a:srgbClr val="E3B23C"/>
                </a:solidFill>
                <a:latin typeface="Calibri" pitchFamily="34" charset="0"/>
                <a:ea typeface="Calibri" pitchFamily="34" charset="-122"/>
                <a:cs typeface="Calibri" pitchFamily="34" charset="-120"/>
              </a:rPr>
              <a:t>1815</a:t>
            </a:r>
            <a:endParaRPr lang="en-US" sz="1100" dirty="0"/>
          </a:p>
        </p:txBody>
      </p:sp>
      <p:sp>
        <p:nvSpPr>
          <p:cNvPr id="17" name="Text 14"/>
          <p:cNvSpPr txBox="1"/>
          <p:nvPr/>
        </p:nvSpPr>
        <p:spPr>
          <a:xfrm>
            <a:off x="1709928" y="2386584"/>
            <a:ext cx="4736592" cy="256032"/>
          </a:xfrm>
          <a:prstGeom prst="rect">
            <a:avLst/>
          </a:prstGeom>
          <a:noFill/>
          <a:ln/>
        </p:spPr>
        <p:txBody>
          <a:bodyPr wrap="square" lIns="0" tIns="0" rIns="0" bIns="0" rtlCol="0" anchor="ctr"/>
          <a:lstStyle/>
          <a:p>
            <a:pPr indent="0" marL="0">
              <a:buNone/>
            </a:pPr>
            <a:r>
              <a:rPr lang="en-US" sz="1350" b="1" dirty="0">
                <a:solidFill>
                  <a:srgbClr val="17171B"/>
                </a:solidFill>
                <a:latin typeface="Calibri" pitchFamily="34" charset="0"/>
                <a:ea typeface="Calibri" pitchFamily="34" charset="-122"/>
                <a:cs typeface="Calibri" pitchFamily="34" charset="-120"/>
              </a:rPr>
              <a:t>Waterloo, then the Dutch</a:t>
            </a:r>
            <a:endParaRPr lang="en-US" sz="1350" dirty="0"/>
          </a:p>
        </p:txBody>
      </p:sp>
      <p:sp>
        <p:nvSpPr>
          <p:cNvPr id="18" name="Text 15"/>
          <p:cNvSpPr txBox="1"/>
          <p:nvPr/>
        </p:nvSpPr>
        <p:spPr>
          <a:xfrm>
            <a:off x="1709928" y="2642616"/>
            <a:ext cx="4736592" cy="475488"/>
          </a:xfrm>
          <a:prstGeom prst="rect">
            <a:avLst/>
          </a:prstGeom>
          <a:noFill/>
          <a:ln/>
        </p:spPr>
        <p:txBody>
          <a:bodyPr wrap="square" lIns="0" tIns="0" rIns="0" bIns="0" rtlCol="0" anchor="ctr"/>
          <a:lstStyle/>
          <a:p>
            <a:pPr indent="0" marL="0">
              <a:lnSpc>
                <a:spcPct val="102000"/>
              </a:lnSpc>
              <a:buNone/>
            </a:pPr>
            <a:r>
              <a:rPr lang="en-US" sz="1150" dirty="0">
                <a:solidFill>
                  <a:srgbClr val="3E3E48"/>
                </a:solidFill>
                <a:latin typeface="Calibri" pitchFamily="34" charset="0"/>
                <a:ea typeface="Calibri" pitchFamily="34" charset="-122"/>
                <a:cs typeface="Calibri" pitchFamily="34" charset="-120"/>
              </a:rPr>
              <a:t>Napoleon is beaten at Waterloo. The great powers hand the territory to the Dutch, creating the United Kingdom of the Netherlands under William I.</a:t>
            </a:r>
            <a:endParaRPr lang="en-US" sz="1150" dirty="0"/>
          </a:p>
        </p:txBody>
      </p:sp>
      <p:sp>
        <p:nvSpPr>
          <p:cNvPr id="19" name="Shape 16"/>
          <p:cNvSpPr/>
          <p:nvPr/>
        </p:nvSpPr>
        <p:spPr>
          <a:xfrm>
            <a:off x="640080" y="3319272"/>
            <a:ext cx="868680" cy="310896"/>
          </a:xfrm>
          <a:prstGeom prst="roundRect">
            <a:avLst>
              <a:gd name="adj" fmla="val 17647"/>
            </a:avLst>
          </a:prstGeom>
          <a:solidFill>
            <a:srgbClr val="17171B"/>
          </a:solidFill>
          <a:ln w="12700">
            <a:solidFill>
              <a:srgbClr val="17171B"/>
            </a:solidFill>
            <a:prstDash val="solid"/>
          </a:ln>
        </p:spPr>
      </p:sp>
      <p:sp>
        <p:nvSpPr>
          <p:cNvPr id="20" name="Text 17"/>
          <p:cNvSpPr txBox="1"/>
          <p:nvPr/>
        </p:nvSpPr>
        <p:spPr>
          <a:xfrm>
            <a:off x="640080" y="3319272"/>
            <a:ext cx="868680" cy="310896"/>
          </a:xfrm>
          <a:prstGeom prst="rect">
            <a:avLst/>
          </a:prstGeom>
          <a:noFill/>
          <a:ln/>
        </p:spPr>
        <p:txBody>
          <a:bodyPr wrap="square" lIns="0" tIns="0" rIns="0" bIns="0" rtlCol="0" anchor="ctr"/>
          <a:lstStyle/>
          <a:p>
            <a:pPr algn="ctr" indent="0" marL="0">
              <a:buNone/>
            </a:pPr>
            <a:r>
              <a:rPr lang="en-US" sz="1100" b="1" dirty="0">
                <a:solidFill>
                  <a:srgbClr val="E3B23C"/>
                </a:solidFill>
                <a:latin typeface="Calibri" pitchFamily="34" charset="0"/>
                <a:ea typeface="Calibri" pitchFamily="34" charset="-122"/>
                <a:cs typeface="Calibri" pitchFamily="34" charset="-120"/>
              </a:rPr>
              <a:t>1830</a:t>
            </a:r>
            <a:endParaRPr lang="en-US" sz="1100" dirty="0"/>
          </a:p>
        </p:txBody>
      </p:sp>
      <p:sp>
        <p:nvSpPr>
          <p:cNvPr id="21" name="Text 18"/>
          <p:cNvSpPr txBox="1"/>
          <p:nvPr/>
        </p:nvSpPr>
        <p:spPr>
          <a:xfrm>
            <a:off x="1709928" y="3291840"/>
            <a:ext cx="4736592" cy="256032"/>
          </a:xfrm>
          <a:prstGeom prst="rect">
            <a:avLst/>
          </a:prstGeom>
          <a:noFill/>
          <a:ln/>
        </p:spPr>
        <p:txBody>
          <a:bodyPr wrap="square" lIns="0" tIns="0" rIns="0" bIns="0" rtlCol="0" anchor="ctr"/>
          <a:lstStyle/>
          <a:p>
            <a:pPr indent="0" marL="0">
              <a:buNone/>
            </a:pPr>
            <a:r>
              <a:rPr lang="en-US" sz="1350" b="1" dirty="0">
                <a:solidFill>
                  <a:srgbClr val="17171B"/>
                </a:solidFill>
                <a:latin typeface="Calibri" pitchFamily="34" charset="0"/>
                <a:ea typeface="Calibri" pitchFamily="34" charset="-122"/>
                <a:cs typeface="Calibri" pitchFamily="34" charset="-120"/>
              </a:rPr>
              <a:t>Revolution in Brussels</a:t>
            </a:r>
            <a:endParaRPr lang="en-US" sz="1350" dirty="0"/>
          </a:p>
        </p:txBody>
      </p:sp>
      <p:sp>
        <p:nvSpPr>
          <p:cNvPr id="22" name="Text 19"/>
          <p:cNvSpPr txBox="1"/>
          <p:nvPr/>
        </p:nvSpPr>
        <p:spPr>
          <a:xfrm>
            <a:off x="1709928" y="3547872"/>
            <a:ext cx="4736592" cy="475488"/>
          </a:xfrm>
          <a:prstGeom prst="rect">
            <a:avLst/>
          </a:prstGeom>
          <a:noFill/>
          <a:ln/>
        </p:spPr>
        <p:txBody>
          <a:bodyPr wrap="square" lIns="0" tIns="0" rIns="0" bIns="0" rtlCol="0" anchor="ctr"/>
          <a:lstStyle/>
          <a:p>
            <a:pPr indent="0" marL="0">
              <a:lnSpc>
                <a:spcPct val="102000"/>
              </a:lnSpc>
              <a:buNone/>
            </a:pPr>
            <a:r>
              <a:rPr lang="en-US" sz="1150" dirty="0">
                <a:solidFill>
                  <a:srgbClr val="3E3E48"/>
                </a:solidFill>
                <a:latin typeface="Calibri" pitchFamily="34" charset="0"/>
                <a:ea typeface="Calibri" pitchFamily="34" charset="-122"/>
                <a:cs typeface="Calibri" pitchFamily="34" charset="-120"/>
              </a:rPr>
              <a:t>On 25 August a performance of the opera La Muette de Portici sets off riots. Dutch troops are driven out on 27 September, and on 4 October a provisional government declares independence.</a:t>
            </a:r>
            <a:endParaRPr lang="en-US" sz="1150" dirty="0"/>
          </a:p>
        </p:txBody>
      </p:sp>
      <p:sp>
        <p:nvSpPr>
          <p:cNvPr id="23" name="Shape 20"/>
          <p:cNvSpPr/>
          <p:nvPr/>
        </p:nvSpPr>
        <p:spPr>
          <a:xfrm>
            <a:off x="640080" y="4224528"/>
            <a:ext cx="868680" cy="310896"/>
          </a:xfrm>
          <a:prstGeom prst="roundRect">
            <a:avLst>
              <a:gd name="adj" fmla="val 17647"/>
            </a:avLst>
          </a:prstGeom>
          <a:solidFill>
            <a:srgbClr val="17171B"/>
          </a:solidFill>
          <a:ln w="12700">
            <a:solidFill>
              <a:srgbClr val="17171B"/>
            </a:solidFill>
            <a:prstDash val="solid"/>
          </a:ln>
        </p:spPr>
      </p:sp>
      <p:sp>
        <p:nvSpPr>
          <p:cNvPr id="24" name="Text 21"/>
          <p:cNvSpPr txBox="1"/>
          <p:nvPr/>
        </p:nvSpPr>
        <p:spPr>
          <a:xfrm>
            <a:off x="640080" y="4224528"/>
            <a:ext cx="868680" cy="310896"/>
          </a:xfrm>
          <a:prstGeom prst="rect">
            <a:avLst/>
          </a:prstGeom>
          <a:noFill/>
          <a:ln/>
        </p:spPr>
        <p:txBody>
          <a:bodyPr wrap="square" lIns="0" tIns="0" rIns="0" bIns="0" rtlCol="0" anchor="ctr"/>
          <a:lstStyle/>
          <a:p>
            <a:pPr algn="ctr" indent="0" marL="0">
              <a:buNone/>
            </a:pPr>
            <a:r>
              <a:rPr lang="en-US" sz="1100" b="1" dirty="0">
                <a:solidFill>
                  <a:srgbClr val="E3B23C"/>
                </a:solidFill>
                <a:latin typeface="Calibri" pitchFamily="34" charset="0"/>
                <a:ea typeface="Calibri" pitchFamily="34" charset="-122"/>
                <a:cs typeface="Calibri" pitchFamily="34" charset="-120"/>
              </a:rPr>
              <a:t>1831</a:t>
            </a:r>
            <a:endParaRPr lang="en-US" sz="1100" dirty="0"/>
          </a:p>
        </p:txBody>
      </p:sp>
      <p:sp>
        <p:nvSpPr>
          <p:cNvPr id="25" name="Text 22"/>
          <p:cNvSpPr txBox="1"/>
          <p:nvPr/>
        </p:nvSpPr>
        <p:spPr>
          <a:xfrm>
            <a:off x="1709928" y="4197096"/>
            <a:ext cx="4736592" cy="256032"/>
          </a:xfrm>
          <a:prstGeom prst="rect">
            <a:avLst/>
          </a:prstGeom>
          <a:noFill/>
          <a:ln/>
        </p:spPr>
        <p:txBody>
          <a:bodyPr wrap="square" lIns="0" tIns="0" rIns="0" bIns="0" rtlCol="0" anchor="ctr"/>
          <a:lstStyle/>
          <a:p>
            <a:pPr indent="0" marL="0">
              <a:buNone/>
            </a:pPr>
            <a:r>
              <a:rPr lang="en-US" sz="1350" b="1" dirty="0">
                <a:solidFill>
                  <a:srgbClr val="17171B"/>
                </a:solidFill>
                <a:latin typeface="Calibri" pitchFamily="34" charset="0"/>
                <a:ea typeface="Calibri" pitchFamily="34" charset="-122"/>
                <a:cs typeface="Calibri" pitchFamily="34" charset="-120"/>
              </a:rPr>
              <a:t>A king and a constitution</a:t>
            </a:r>
            <a:endParaRPr lang="en-US" sz="1350" dirty="0"/>
          </a:p>
        </p:txBody>
      </p:sp>
      <p:sp>
        <p:nvSpPr>
          <p:cNvPr id="26" name="Text 23"/>
          <p:cNvSpPr txBox="1"/>
          <p:nvPr/>
        </p:nvSpPr>
        <p:spPr>
          <a:xfrm>
            <a:off x="1709928" y="4453128"/>
            <a:ext cx="4736592" cy="475488"/>
          </a:xfrm>
          <a:prstGeom prst="rect">
            <a:avLst/>
          </a:prstGeom>
          <a:noFill/>
          <a:ln/>
        </p:spPr>
        <p:txBody>
          <a:bodyPr wrap="square" lIns="0" tIns="0" rIns="0" bIns="0" rtlCol="0" anchor="ctr"/>
          <a:lstStyle/>
          <a:p>
            <a:pPr indent="0" marL="0">
              <a:lnSpc>
                <a:spcPct val="102000"/>
              </a:lnSpc>
              <a:buNone/>
            </a:pPr>
            <a:r>
              <a:rPr lang="en-US" sz="1150" dirty="0">
                <a:solidFill>
                  <a:srgbClr val="3E3E48"/>
                </a:solidFill>
                <a:latin typeface="Calibri" pitchFamily="34" charset="0"/>
                <a:ea typeface="Calibri" pitchFamily="34" charset="-122"/>
                <a:cs typeface="Calibri" pitchFamily="34" charset="-120"/>
              </a:rPr>
              <a:t>A strikingly liberal constitution is adopted on 7 February. On 21 July Leopold of Saxe-Coburg is sworn in as Leopold I, first King of the Belgians — still the national day.</a:t>
            </a:r>
            <a:endParaRPr lang="en-US" sz="1150" dirty="0"/>
          </a:p>
        </p:txBody>
      </p:sp>
      <p:sp>
        <p:nvSpPr>
          <p:cNvPr id="27" name="Shape 24"/>
          <p:cNvSpPr/>
          <p:nvPr/>
        </p:nvSpPr>
        <p:spPr>
          <a:xfrm>
            <a:off x="640080" y="5129784"/>
            <a:ext cx="868680" cy="310896"/>
          </a:xfrm>
          <a:prstGeom prst="roundRect">
            <a:avLst>
              <a:gd name="adj" fmla="val 17647"/>
            </a:avLst>
          </a:prstGeom>
          <a:solidFill>
            <a:srgbClr val="17171B"/>
          </a:solidFill>
          <a:ln w="12700">
            <a:solidFill>
              <a:srgbClr val="17171B"/>
            </a:solidFill>
            <a:prstDash val="solid"/>
          </a:ln>
        </p:spPr>
      </p:sp>
      <p:sp>
        <p:nvSpPr>
          <p:cNvPr id="28" name="Text 25"/>
          <p:cNvSpPr txBox="1"/>
          <p:nvPr/>
        </p:nvSpPr>
        <p:spPr>
          <a:xfrm>
            <a:off x="640080" y="5129784"/>
            <a:ext cx="868680" cy="310896"/>
          </a:xfrm>
          <a:prstGeom prst="rect">
            <a:avLst/>
          </a:prstGeom>
          <a:noFill/>
          <a:ln/>
        </p:spPr>
        <p:txBody>
          <a:bodyPr wrap="square" lIns="0" tIns="0" rIns="0" bIns="0" rtlCol="0" anchor="ctr"/>
          <a:lstStyle/>
          <a:p>
            <a:pPr algn="ctr" indent="0" marL="0">
              <a:buNone/>
            </a:pPr>
            <a:r>
              <a:rPr lang="en-US" sz="1100" b="1" dirty="0">
                <a:solidFill>
                  <a:srgbClr val="E3B23C"/>
                </a:solidFill>
                <a:latin typeface="Calibri" pitchFamily="34" charset="0"/>
                <a:ea typeface="Calibri" pitchFamily="34" charset="-122"/>
                <a:cs typeface="Calibri" pitchFamily="34" charset="-120"/>
              </a:rPr>
              <a:t>1839</a:t>
            </a:r>
            <a:endParaRPr lang="en-US" sz="1100" dirty="0"/>
          </a:p>
        </p:txBody>
      </p:sp>
      <p:sp>
        <p:nvSpPr>
          <p:cNvPr id="29" name="Text 26"/>
          <p:cNvSpPr txBox="1"/>
          <p:nvPr/>
        </p:nvSpPr>
        <p:spPr>
          <a:xfrm>
            <a:off x="1709928" y="5102352"/>
            <a:ext cx="4736592" cy="256032"/>
          </a:xfrm>
          <a:prstGeom prst="rect">
            <a:avLst/>
          </a:prstGeom>
          <a:noFill/>
          <a:ln/>
        </p:spPr>
        <p:txBody>
          <a:bodyPr wrap="square" lIns="0" tIns="0" rIns="0" bIns="0" rtlCol="0" anchor="ctr"/>
          <a:lstStyle/>
          <a:p>
            <a:pPr indent="0" marL="0">
              <a:buNone/>
            </a:pPr>
            <a:r>
              <a:rPr lang="en-US" sz="1350" b="1" dirty="0">
                <a:solidFill>
                  <a:srgbClr val="17171B"/>
                </a:solidFill>
                <a:latin typeface="Calibri" pitchFamily="34" charset="0"/>
                <a:ea typeface="Calibri" pitchFamily="34" charset="-122"/>
                <a:cs typeface="Calibri" pitchFamily="34" charset="-120"/>
              </a:rPr>
              <a:t>Recognised at last</a:t>
            </a:r>
            <a:endParaRPr lang="en-US" sz="1350" dirty="0"/>
          </a:p>
        </p:txBody>
      </p:sp>
      <p:sp>
        <p:nvSpPr>
          <p:cNvPr id="30" name="Text 27"/>
          <p:cNvSpPr txBox="1"/>
          <p:nvPr/>
        </p:nvSpPr>
        <p:spPr>
          <a:xfrm>
            <a:off x="1709928" y="5358384"/>
            <a:ext cx="4736592" cy="475488"/>
          </a:xfrm>
          <a:prstGeom prst="rect">
            <a:avLst/>
          </a:prstGeom>
          <a:noFill/>
          <a:ln/>
        </p:spPr>
        <p:txBody>
          <a:bodyPr wrap="square" lIns="0" tIns="0" rIns="0" bIns="0" rtlCol="0" anchor="ctr"/>
          <a:lstStyle/>
          <a:p>
            <a:pPr indent="0" marL="0">
              <a:lnSpc>
                <a:spcPct val="102000"/>
              </a:lnSpc>
              <a:buNone/>
            </a:pPr>
            <a:r>
              <a:rPr lang="en-US" sz="1150" dirty="0">
                <a:solidFill>
                  <a:srgbClr val="3E3E48"/>
                </a:solidFill>
                <a:latin typeface="Calibri" pitchFamily="34" charset="0"/>
                <a:ea typeface="Calibri" pitchFamily="34" charset="-122"/>
                <a:cs typeface="Calibri" pitchFamily="34" charset="-120"/>
              </a:rPr>
              <a:t>The Treaty of London: the Netherlands finally accepts Belgian independence, and the powers guarantee Belgium's permanent neutrality.</a:t>
            </a:r>
            <a:endParaRPr lang="en-US" sz="115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640080" y="402336"/>
            <a:ext cx="6035040" cy="237744"/>
          </a:xfrm>
          <a:prstGeom prst="rect">
            <a:avLst/>
          </a:prstGeom>
          <a:noFill/>
          <a:ln/>
        </p:spPr>
        <p:txBody>
          <a:bodyPr wrap="square" lIns="0" tIns="0" rIns="0" bIns="0" rtlCol="0" anchor="ctr"/>
          <a:lstStyle/>
          <a:p>
            <a:pPr indent="0" marL="0">
              <a:buNone/>
            </a:pPr>
            <a:r>
              <a:rPr lang="en-US" sz="1150" b="1" spc="220" kern="0" dirty="0">
                <a:solidFill>
                  <a:srgbClr val="E3B23C"/>
                </a:solidFill>
                <a:latin typeface="Calibri" pitchFamily="34" charset="0"/>
                <a:ea typeface="Calibri" pitchFamily="34" charset="-122"/>
                <a:cs typeface="Calibri" pitchFamily="34" charset="-120"/>
              </a:rPr>
              <a:t>HISTOIRE III  ·  1885 – AUJOURD'HUI</a:t>
            </a:r>
            <a:endParaRPr lang="en-US" sz="1150" dirty="0"/>
          </a:p>
        </p:txBody>
      </p:sp>
      <p:sp>
        <p:nvSpPr>
          <p:cNvPr id="3" name="Text 1"/>
          <p:cNvSpPr txBox="1"/>
          <p:nvPr/>
        </p:nvSpPr>
        <p:spPr>
          <a:xfrm>
            <a:off x="640080" y="676656"/>
            <a:ext cx="6035040" cy="603504"/>
          </a:xfrm>
          <a:prstGeom prst="rect">
            <a:avLst/>
          </a:prstGeom>
          <a:noFill/>
          <a:ln/>
        </p:spPr>
        <p:txBody>
          <a:bodyPr wrap="square" lIns="0" tIns="0" rIns="0" bIns="0" rtlCol="0" anchor="ctr"/>
          <a:lstStyle/>
          <a:p>
            <a:pPr indent="0" marL="0">
              <a:buNone/>
            </a:pPr>
            <a:r>
              <a:rPr lang="en-US" sz="3100" b="1" dirty="0">
                <a:solidFill>
                  <a:srgbClr val="17171B"/>
                </a:solidFill>
                <a:latin typeface="Cambria" pitchFamily="34" charset="0"/>
                <a:ea typeface="Cambria" pitchFamily="34" charset="-122"/>
                <a:cs typeface="Cambria" pitchFamily="34" charset="-120"/>
              </a:rPr>
              <a:t>Empire, war, and federalism</a:t>
            </a:r>
            <a:endParaRPr lang="en-US" sz="3100" dirty="0"/>
          </a:p>
        </p:txBody>
      </p:sp>
      <p:sp>
        <p:nvSpPr>
          <p:cNvPr id="4" name="Shape 2"/>
          <p:cNvSpPr/>
          <p:nvPr/>
        </p:nvSpPr>
        <p:spPr>
          <a:xfrm>
            <a:off x="640080" y="6163056"/>
            <a:ext cx="384048" cy="384048"/>
          </a:xfrm>
          <a:prstGeom prst="ellipse">
            <a:avLst/>
          </a:prstGeom>
          <a:solidFill>
            <a:srgbClr val="E3B23C"/>
          </a:solidFill>
          <a:ln/>
        </p:spPr>
      </p:sp>
      <p:sp>
        <p:nvSpPr>
          <p:cNvPr id="5" name="Text 3"/>
          <p:cNvSpPr txBox="1"/>
          <p:nvPr/>
        </p:nvSpPr>
        <p:spPr>
          <a:xfrm>
            <a:off x="640080" y="6163056"/>
            <a:ext cx="384048" cy="384048"/>
          </a:xfrm>
          <a:prstGeom prst="rect">
            <a:avLst/>
          </a:prstGeom>
          <a:noFill/>
          <a:ln/>
        </p:spPr>
        <p:txBody>
          <a:bodyPr wrap="square" lIns="0" tIns="0" rIns="0" bIns="0" rtlCol="0" anchor="ctr"/>
          <a:lstStyle/>
          <a:p>
            <a:pPr algn="ctr" indent="0" marL="0">
              <a:buNone/>
            </a:pPr>
            <a:r>
              <a:rPr lang="en-US" sz="1200" b="1" dirty="0">
                <a:solidFill>
                  <a:srgbClr val="17171B"/>
                </a:solidFill>
                <a:latin typeface="Calibri" pitchFamily="34" charset="0"/>
                <a:ea typeface="Calibri" pitchFamily="34" charset="-122"/>
                <a:cs typeface="Calibri" pitchFamily="34" charset="-120"/>
              </a:rPr>
              <a:t>10</a:t>
            </a:r>
            <a:endParaRPr lang="en-US" sz="1200" dirty="0"/>
          </a:p>
        </p:txBody>
      </p:sp>
      <p:sp>
        <p:nvSpPr>
          <p:cNvPr id="6" name="Text 4"/>
          <p:cNvSpPr txBox="1"/>
          <p:nvPr/>
        </p:nvSpPr>
        <p:spPr>
          <a:xfrm>
            <a:off x="6035040" y="6245352"/>
            <a:ext cx="5516575" cy="237744"/>
          </a:xfrm>
          <a:prstGeom prst="rect">
            <a:avLst/>
          </a:prstGeom>
          <a:noFill/>
          <a:ln/>
        </p:spPr>
        <p:txBody>
          <a:bodyPr wrap="square" lIns="0" tIns="0" rIns="0" bIns="0" rtlCol="0" anchor="ctr"/>
          <a:lstStyle/>
          <a:p>
            <a:pPr algn="r" indent="0" marL="0">
              <a:buNone/>
            </a:pPr>
            <a:r>
              <a:rPr lang="en-US" sz="900" dirty="0">
                <a:solidFill>
                  <a:srgbClr val="70707C"/>
                </a:solidFill>
                <a:latin typeface="Calibri" pitchFamily="34" charset="0"/>
                <a:ea typeface="Calibri" pitchFamily="34" charset="-122"/>
                <a:cs typeface="Calibri" pitchFamily="34" charset="-120"/>
              </a:rPr>
              <a:t>La Belgique  ·  FREN 201  ·  Projet Francophonie</a:t>
            </a:r>
            <a:endParaRPr lang="en-US" sz="900" dirty="0"/>
          </a:p>
        </p:txBody>
      </p:sp>
      <p:pic>
        <p:nvPicPr>
          <p:cNvPr id="7" name="Image 0" descr="/tmp/claude-0/-home-user-BOYNT-WORK/856f02cf-0e32-5bfe-bffb-9edb29b314f9/scratchpad/deckimg/ypres_menin.jpg">    </p:cNvPr>
          <p:cNvPicPr>
            <a:picLocks noChangeAspect="1"/>
          </p:cNvPicPr>
          <p:nvPr/>
        </p:nvPicPr>
        <p:blipFill>
          <a:blip r:embed="rId1"/>
          <a:srcRect l="0" r="0" t="0" b="0"/>
          <a:stretch/>
        </p:blipFill>
        <p:spPr>
          <a:xfrm>
            <a:off x="6720840" y="0"/>
            <a:ext cx="5470855" cy="6858000"/>
          </a:xfrm>
          <a:prstGeom prst="rect">
            <a:avLst/>
          </a:prstGeom>
        </p:spPr>
      </p:pic>
      <p:sp>
        <p:nvSpPr>
          <p:cNvPr id="8" name="Shape 5"/>
          <p:cNvSpPr/>
          <p:nvPr/>
        </p:nvSpPr>
        <p:spPr>
          <a:xfrm>
            <a:off x="6720840" y="5074920"/>
            <a:ext cx="5470855" cy="1783080"/>
          </a:xfrm>
          <a:prstGeom prst="rect">
            <a:avLst/>
          </a:prstGeom>
          <a:solidFill>
            <a:srgbClr val="17171B">
              <a:alpha val="88000"/>
            </a:srgbClr>
          </a:solidFill>
          <a:ln/>
        </p:spPr>
      </p:sp>
      <p:sp>
        <p:nvSpPr>
          <p:cNvPr id="9" name="Text 6"/>
          <p:cNvSpPr txBox="1"/>
          <p:nvPr/>
        </p:nvSpPr>
        <p:spPr>
          <a:xfrm>
            <a:off x="7040880" y="5321808"/>
            <a:ext cx="4754880" cy="256032"/>
          </a:xfrm>
          <a:prstGeom prst="rect">
            <a:avLst/>
          </a:prstGeom>
          <a:noFill/>
          <a:ln/>
        </p:spPr>
        <p:txBody>
          <a:bodyPr wrap="square" lIns="0" tIns="0" rIns="0" bIns="0" rtlCol="0" anchor="ctr"/>
          <a:lstStyle/>
          <a:p>
            <a:pPr indent="0" marL="0">
              <a:buNone/>
            </a:pPr>
            <a:r>
              <a:rPr lang="en-US" sz="1100" b="1" spc="140" kern="0" dirty="0">
                <a:solidFill>
                  <a:srgbClr val="E3B23C"/>
                </a:solidFill>
                <a:latin typeface="Calibri" pitchFamily="34" charset="0"/>
                <a:ea typeface="Calibri" pitchFamily="34" charset="-122"/>
                <a:cs typeface="Calibri" pitchFamily="34" charset="-120"/>
              </a:rPr>
              <a:t>THE MENIN GATE, YPRES</a:t>
            </a:r>
            <a:endParaRPr lang="en-US" sz="1100" dirty="0"/>
          </a:p>
        </p:txBody>
      </p:sp>
      <p:sp>
        <p:nvSpPr>
          <p:cNvPr id="10" name="Text 7"/>
          <p:cNvSpPr txBox="1"/>
          <p:nvPr/>
        </p:nvSpPr>
        <p:spPr>
          <a:xfrm>
            <a:off x="7040880" y="5614416"/>
            <a:ext cx="4754880" cy="914400"/>
          </a:xfrm>
          <a:prstGeom prst="rect">
            <a:avLst/>
          </a:prstGeom>
          <a:noFill/>
          <a:ln/>
        </p:spPr>
        <p:txBody>
          <a:bodyPr wrap="square" lIns="0" tIns="0" rIns="0" bIns="0" rtlCol="0" anchor="ctr"/>
          <a:lstStyle/>
          <a:p>
            <a:pPr indent="0" marL="0">
              <a:lnSpc>
                <a:spcPct val="105000"/>
              </a:lnSpc>
              <a:buNone/>
            </a:pPr>
            <a:r>
              <a:rPr lang="en-US" sz="1100" dirty="0">
                <a:solidFill>
                  <a:srgbClr val="E2E2E8"/>
                </a:solidFill>
                <a:latin typeface="Calibri" pitchFamily="34" charset="0"/>
                <a:ea typeface="Calibri" pitchFamily="34" charset="-122"/>
                <a:cs typeface="Calibri" pitchFamily="34" charset="-120"/>
              </a:rPr>
              <a:t>A memorial to 54,000 missing soldiers of the Ypres Salient. The Last Post has been sounded here every evening since 1928.</a:t>
            </a:r>
            <a:endParaRPr lang="en-US" sz="1100" dirty="0"/>
          </a:p>
        </p:txBody>
      </p:sp>
      <p:sp>
        <p:nvSpPr>
          <p:cNvPr id="11" name="Shape 8"/>
          <p:cNvSpPr/>
          <p:nvPr/>
        </p:nvSpPr>
        <p:spPr>
          <a:xfrm>
            <a:off x="640080" y="1508760"/>
            <a:ext cx="960120" cy="310896"/>
          </a:xfrm>
          <a:prstGeom prst="roundRect">
            <a:avLst>
              <a:gd name="adj" fmla="val 17647"/>
            </a:avLst>
          </a:prstGeom>
          <a:solidFill>
            <a:srgbClr val="17171B"/>
          </a:solidFill>
          <a:ln w="12700">
            <a:solidFill>
              <a:srgbClr val="17171B"/>
            </a:solidFill>
            <a:prstDash val="solid"/>
          </a:ln>
        </p:spPr>
      </p:sp>
      <p:sp>
        <p:nvSpPr>
          <p:cNvPr id="12" name="Text 9"/>
          <p:cNvSpPr txBox="1"/>
          <p:nvPr/>
        </p:nvSpPr>
        <p:spPr>
          <a:xfrm>
            <a:off x="640080" y="1508760"/>
            <a:ext cx="960120" cy="310896"/>
          </a:xfrm>
          <a:prstGeom prst="rect">
            <a:avLst/>
          </a:prstGeom>
          <a:noFill/>
          <a:ln/>
        </p:spPr>
        <p:txBody>
          <a:bodyPr wrap="square" lIns="0" tIns="0" rIns="0" bIns="0" rtlCol="0" anchor="ctr"/>
          <a:lstStyle/>
          <a:p>
            <a:pPr algn="ctr" indent="0" marL="0">
              <a:buNone/>
            </a:pPr>
            <a:r>
              <a:rPr lang="en-US" sz="1100" b="1" dirty="0">
                <a:solidFill>
                  <a:srgbClr val="E3B23C"/>
                </a:solidFill>
                <a:latin typeface="Calibri" pitchFamily="34" charset="0"/>
                <a:ea typeface="Calibri" pitchFamily="34" charset="-122"/>
                <a:cs typeface="Calibri" pitchFamily="34" charset="-120"/>
              </a:rPr>
              <a:t>1885</a:t>
            </a:r>
            <a:endParaRPr lang="en-US" sz="1100" dirty="0"/>
          </a:p>
        </p:txBody>
      </p:sp>
      <p:sp>
        <p:nvSpPr>
          <p:cNvPr id="13" name="Text 10"/>
          <p:cNvSpPr txBox="1"/>
          <p:nvPr/>
        </p:nvSpPr>
        <p:spPr>
          <a:xfrm>
            <a:off x="1801368" y="1481328"/>
            <a:ext cx="4645152" cy="256032"/>
          </a:xfrm>
          <a:prstGeom prst="rect">
            <a:avLst/>
          </a:prstGeom>
          <a:noFill/>
          <a:ln/>
        </p:spPr>
        <p:txBody>
          <a:bodyPr wrap="square" lIns="0" tIns="0" rIns="0" bIns="0" rtlCol="0" anchor="ctr"/>
          <a:lstStyle/>
          <a:p>
            <a:pPr indent="0" marL="0">
              <a:buNone/>
            </a:pPr>
            <a:r>
              <a:rPr lang="en-US" sz="1350" b="1" dirty="0">
                <a:solidFill>
                  <a:srgbClr val="17171B"/>
                </a:solidFill>
                <a:latin typeface="Calibri" pitchFamily="34" charset="0"/>
                <a:ea typeface="Calibri" pitchFamily="34" charset="-122"/>
                <a:cs typeface="Calibri" pitchFamily="34" charset="-120"/>
              </a:rPr>
              <a:t>The Congo Free State</a:t>
            </a:r>
            <a:endParaRPr lang="en-US" sz="1350" dirty="0"/>
          </a:p>
        </p:txBody>
      </p:sp>
      <p:sp>
        <p:nvSpPr>
          <p:cNvPr id="14" name="Text 11"/>
          <p:cNvSpPr txBox="1"/>
          <p:nvPr/>
        </p:nvSpPr>
        <p:spPr>
          <a:xfrm>
            <a:off x="1801368" y="1737360"/>
            <a:ext cx="4645152" cy="475488"/>
          </a:xfrm>
          <a:prstGeom prst="rect">
            <a:avLst/>
          </a:prstGeom>
          <a:noFill/>
          <a:ln/>
        </p:spPr>
        <p:txBody>
          <a:bodyPr wrap="square" lIns="0" tIns="0" rIns="0" bIns="0" rtlCol="0" anchor="ctr"/>
          <a:lstStyle/>
          <a:p>
            <a:pPr indent="0" marL="0">
              <a:lnSpc>
                <a:spcPct val="102000"/>
              </a:lnSpc>
              <a:buNone/>
            </a:pPr>
            <a:r>
              <a:rPr lang="en-US" sz="1150" dirty="0">
                <a:solidFill>
                  <a:srgbClr val="3E3E48"/>
                </a:solidFill>
                <a:latin typeface="Calibri" pitchFamily="34" charset="0"/>
                <a:ea typeface="Calibri" pitchFamily="34" charset="-122"/>
                <a:cs typeface="Calibri" pitchFamily="34" charset="-120"/>
              </a:rPr>
              <a:t>King Leopold II takes the Congo as his personal possession. His regime's forced labour and violence cause enormous suffering; international outcry forces Belgium to take the colony over from him in 1908.</a:t>
            </a:r>
            <a:endParaRPr lang="en-US" sz="1150" dirty="0"/>
          </a:p>
        </p:txBody>
      </p:sp>
      <p:sp>
        <p:nvSpPr>
          <p:cNvPr id="15" name="Shape 12"/>
          <p:cNvSpPr/>
          <p:nvPr/>
        </p:nvSpPr>
        <p:spPr>
          <a:xfrm>
            <a:off x="640080" y="2414016"/>
            <a:ext cx="960120" cy="310896"/>
          </a:xfrm>
          <a:prstGeom prst="roundRect">
            <a:avLst>
              <a:gd name="adj" fmla="val 17647"/>
            </a:avLst>
          </a:prstGeom>
          <a:solidFill>
            <a:srgbClr val="17171B"/>
          </a:solidFill>
          <a:ln w="12700">
            <a:solidFill>
              <a:srgbClr val="17171B"/>
            </a:solidFill>
            <a:prstDash val="solid"/>
          </a:ln>
        </p:spPr>
      </p:sp>
      <p:sp>
        <p:nvSpPr>
          <p:cNvPr id="16" name="Text 13"/>
          <p:cNvSpPr txBox="1"/>
          <p:nvPr/>
        </p:nvSpPr>
        <p:spPr>
          <a:xfrm>
            <a:off x="640080" y="2414016"/>
            <a:ext cx="960120" cy="310896"/>
          </a:xfrm>
          <a:prstGeom prst="rect">
            <a:avLst/>
          </a:prstGeom>
          <a:noFill/>
          <a:ln/>
        </p:spPr>
        <p:txBody>
          <a:bodyPr wrap="square" lIns="0" tIns="0" rIns="0" bIns="0" rtlCol="0" anchor="ctr"/>
          <a:lstStyle/>
          <a:p>
            <a:pPr algn="ctr" indent="0" marL="0">
              <a:buNone/>
            </a:pPr>
            <a:r>
              <a:rPr lang="en-US" sz="1100" b="1" dirty="0">
                <a:solidFill>
                  <a:srgbClr val="E3B23C"/>
                </a:solidFill>
                <a:latin typeface="Calibri" pitchFamily="34" charset="0"/>
                <a:ea typeface="Calibri" pitchFamily="34" charset="-122"/>
                <a:cs typeface="Calibri" pitchFamily="34" charset="-120"/>
              </a:rPr>
              <a:t>1914–18</a:t>
            </a:r>
            <a:endParaRPr lang="en-US" sz="1100" dirty="0"/>
          </a:p>
        </p:txBody>
      </p:sp>
      <p:sp>
        <p:nvSpPr>
          <p:cNvPr id="17" name="Text 14"/>
          <p:cNvSpPr txBox="1"/>
          <p:nvPr/>
        </p:nvSpPr>
        <p:spPr>
          <a:xfrm>
            <a:off x="1801368" y="2386584"/>
            <a:ext cx="4645152" cy="256032"/>
          </a:xfrm>
          <a:prstGeom prst="rect">
            <a:avLst/>
          </a:prstGeom>
          <a:noFill/>
          <a:ln/>
        </p:spPr>
        <p:txBody>
          <a:bodyPr wrap="square" lIns="0" tIns="0" rIns="0" bIns="0" rtlCol="0" anchor="ctr"/>
          <a:lstStyle/>
          <a:p>
            <a:pPr indent="0" marL="0">
              <a:buNone/>
            </a:pPr>
            <a:r>
              <a:rPr lang="en-US" sz="1350" b="1" dirty="0">
                <a:solidFill>
                  <a:srgbClr val="17171B"/>
                </a:solidFill>
                <a:latin typeface="Calibri" pitchFamily="34" charset="0"/>
                <a:ea typeface="Calibri" pitchFamily="34" charset="-122"/>
                <a:cs typeface="Calibri" pitchFamily="34" charset="-120"/>
              </a:rPr>
              <a:t>Neutrality broken</a:t>
            </a:r>
            <a:endParaRPr lang="en-US" sz="1350" dirty="0"/>
          </a:p>
        </p:txBody>
      </p:sp>
      <p:sp>
        <p:nvSpPr>
          <p:cNvPr id="18" name="Text 15"/>
          <p:cNvSpPr txBox="1"/>
          <p:nvPr/>
        </p:nvSpPr>
        <p:spPr>
          <a:xfrm>
            <a:off x="1801368" y="2642616"/>
            <a:ext cx="4645152" cy="475488"/>
          </a:xfrm>
          <a:prstGeom prst="rect">
            <a:avLst/>
          </a:prstGeom>
          <a:noFill/>
          <a:ln/>
        </p:spPr>
        <p:txBody>
          <a:bodyPr wrap="square" lIns="0" tIns="0" rIns="0" bIns="0" rtlCol="0" anchor="ctr"/>
          <a:lstStyle/>
          <a:p>
            <a:pPr indent="0" marL="0">
              <a:lnSpc>
                <a:spcPct val="102000"/>
              </a:lnSpc>
              <a:buNone/>
            </a:pPr>
            <a:r>
              <a:rPr lang="en-US" sz="1150" dirty="0">
                <a:solidFill>
                  <a:srgbClr val="3E3E48"/>
                </a:solidFill>
                <a:latin typeface="Calibri" pitchFamily="34" charset="0"/>
                <a:ea typeface="Calibri" pitchFamily="34" charset="-122"/>
                <a:cs typeface="Calibri" pitchFamily="34" charset="-120"/>
              </a:rPr>
              <a:t>Germany invades neutral Belgium. The Western Front settles into Flanders: Ypres, Passchendaele, the Yser. The poppies of Flanders Fields become the symbol of remembrance.</a:t>
            </a:r>
            <a:endParaRPr lang="en-US" sz="1150" dirty="0"/>
          </a:p>
        </p:txBody>
      </p:sp>
      <p:sp>
        <p:nvSpPr>
          <p:cNvPr id="19" name="Shape 16"/>
          <p:cNvSpPr/>
          <p:nvPr/>
        </p:nvSpPr>
        <p:spPr>
          <a:xfrm>
            <a:off x="640080" y="3319272"/>
            <a:ext cx="960120" cy="310896"/>
          </a:xfrm>
          <a:prstGeom prst="roundRect">
            <a:avLst>
              <a:gd name="adj" fmla="val 17647"/>
            </a:avLst>
          </a:prstGeom>
          <a:solidFill>
            <a:srgbClr val="17171B"/>
          </a:solidFill>
          <a:ln w="12700">
            <a:solidFill>
              <a:srgbClr val="17171B"/>
            </a:solidFill>
            <a:prstDash val="solid"/>
          </a:ln>
        </p:spPr>
      </p:sp>
      <p:sp>
        <p:nvSpPr>
          <p:cNvPr id="20" name="Text 17"/>
          <p:cNvSpPr txBox="1"/>
          <p:nvPr/>
        </p:nvSpPr>
        <p:spPr>
          <a:xfrm>
            <a:off x="640080" y="3319272"/>
            <a:ext cx="960120" cy="310896"/>
          </a:xfrm>
          <a:prstGeom prst="rect">
            <a:avLst/>
          </a:prstGeom>
          <a:noFill/>
          <a:ln/>
        </p:spPr>
        <p:txBody>
          <a:bodyPr wrap="square" lIns="0" tIns="0" rIns="0" bIns="0" rtlCol="0" anchor="ctr"/>
          <a:lstStyle/>
          <a:p>
            <a:pPr algn="ctr" indent="0" marL="0">
              <a:buNone/>
            </a:pPr>
            <a:r>
              <a:rPr lang="en-US" sz="1100" b="1" dirty="0">
                <a:solidFill>
                  <a:srgbClr val="E3B23C"/>
                </a:solidFill>
                <a:latin typeface="Calibri" pitchFamily="34" charset="0"/>
                <a:ea typeface="Calibri" pitchFamily="34" charset="-122"/>
                <a:cs typeface="Calibri" pitchFamily="34" charset="-120"/>
              </a:rPr>
              <a:t>1940–45</a:t>
            </a:r>
            <a:endParaRPr lang="en-US" sz="1100" dirty="0"/>
          </a:p>
        </p:txBody>
      </p:sp>
      <p:sp>
        <p:nvSpPr>
          <p:cNvPr id="21" name="Text 18"/>
          <p:cNvSpPr txBox="1"/>
          <p:nvPr/>
        </p:nvSpPr>
        <p:spPr>
          <a:xfrm>
            <a:off x="1801368" y="3291840"/>
            <a:ext cx="4645152" cy="256032"/>
          </a:xfrm>
          <a:prstGeom prst="rect">
            <a:avLst/>
          </a:prstGeom>
          <a:noFill/>
          <a:ln/>
        </p:spPr>
        <p:txBody>
          <a:bodyPr wrap="square" lIns="0" tIns="0" rIns="0" bIns="0" rtlCol="0" anchor="ctr"/>
          <a:lstStyle/>
          <a:p>
            <a:pPr indent="0" marL="0">
              <a:buNone/>
            </a:pPr>
            <a:r>
              <a:rPr lang="en-US" sz="1350" b="1" dirty="0">
                <a:solidFill>
                  <a:srgbClr val="17171B"/>
                </a:solidFill>
                <a:latin typeface="Calibri" pitchFamily="34" charset="0"/>
                <a:ea typeface="Calibri" pitchFamily="34" charset="-122"/>
                <a:cs typeface="Calibri" pitchFamily="34" charset="-120"/>
              </a:rPr>
              <a:t>Occupied again</a:t>
            </a:r>
            <a:endParaRPr lang="en-US" sz="1350" dirty="0"/>
          </a:p>
        </p:txBody>
      </p:sp>
      <p:sp>
        <p:nvSpPr>
          <p:cNvPr id="22" name="Text 19"/>
          <p:cNvSpPr txBox="1"/>
          <p:nvPr/>
        </p:nvSpPr>
        <p:spPr>
          <a:xfrm>
            <a:off x="1801368" y="3547872"/>
            <a:ext cx="4645152" cy="475488"/>
          </a:xfrm>
          <a:prstGeom prst="rect">
            <a:avLst/>
          </a:prstGeom>
          <a:noFill/>
          <a:ln/>
        </p:spPr>
        <p:txBody>
          <a:bodyPr wrap="square" lIns="0" tIns="0" rIns="0" bIns="0" rtlCol="0" anchor="ctr"/>
          <a:lstStyle/>
          <a:p>
            <a:pPr indent="0" marL="0">
              <a:lnSpc>
                <a:spcPct val="102000"/>
              </a:lnSpc>
              <a:buNone/>
            </a:pPr>
            <a:r>
              <a:rPr lang="en-US" sz="1150" dirty="0">
                <a:solidFill>
                  <a:srgbClr val="3E3E48"/>
                </a:solidFill>
                <a:latin typeface="Calibri" pitchFamily="34" charset="0"/>
                <a:ea typeface="Calibri" pitchFamily="34" charset="-122"/>
                <a:cs typeface="Calibri" pitchFamily="34" charset="-120"/>
              </a:rPr>
              <a:t>A second German occupation. The last great German offensive of the war, the Battle of the Bulge, is fought in the Ardennes in the winter of 1944–45.</a:t>
            </a:r>
            <a:endParaRPr lang="en-US" sz="1150" dirty="0"/>
          </a:p>
        </p:txBody>
      </p:sp>
      <p:sp>
        <p:nvSpPr>
          <p:cNvPr id="23" name="Shape 20"/>
          <p:cNvSpPr/>
          <p:nvPr/>
        </p:nvSpPr>
        <p:spPr>
          <a:xfrm>
            <a:off x="640080" y="4224528"/>
            <a:ext cx="960120" cy="310896"/>
          </a:xfrm>
          <a:prstGeom prst="roundRect">
            <a:avLst>
              <a:gd name="adj" fmla="val 17647"/>
            </a:avLst>
          </a:prstGeom>
          <a:solidFill>
            <a:srgbClr val="17171B"/>
          </a:solidFill>
          <a:ln w="12700">
            <a:solidFill>
              <a:srgbClr val="17171B"/>
            </a:solidFill>
            <a:prstDash val="solid"/>
          </a:ln>
        </p:spPr>
      </p:sp>
      <p:sp>
        <p:nvSpPr>
          <p:cNvPr id="24" name="Text 21"/>
          <p:cNvSpPr txBox="1"/>
          <p:nvPr/>
        </p:nvSpPr>
        <p:spPr>
          <a:xfrm>
            <a:off x="640080" y="4224528"/>
            <a:ext cx="960120" cy="310896"/>
          </a:xfrm>
          <a:prstGeom prst="rect">
            <a:avLst/>
          </a:prstGeom>
          <a:noFill/>
          <a:ln/>
        </p:spPr>
        <p:txBody>
          <a:bodyPr wrap="square" lIns="0" tIns="0" rIns="0" bIns="0" rtlCol="0" anchor="ctr"/>
          <a:lstStyle/>
          <a:p>
            <a:pPr algn="ctr" indent="0" marL="0">
              <a:buNone/>
            </a:pPr>
            <a:r>
              <a:rPr lang="en-US" sz="1100" b="1" dirty="0">
                <a:solidFill>
                  <a:srgbClr val="E3B23C"/>
                </a:solidFill>
                <a:latin typeface="Calibri" pitchFamily="34" charset="0"/>
                <a:ea typeface="Calibri" pitchFamily="34" charset="-122"/>
                <a:cs typeface="Calibri" pitchFamily="34" charset="-120"/>
              </a:rPr>
              <a:t>1960–62</a:t>
            </a:r>
            <a:endParaRPr lang="en-US" sz="1100" dirty="0"/>
          </a:p>
        </p:txBody>
      </p:sp>
      <p:sp>
        <p:nvSpPr>
          <p:cNvPr id="25" name="Text 22"/>
          <p:cNvSpPr txBox="1"/>
          <p:nvPr/>
        </p:nvSpPr>
        <p:spPr>
          <a:xfrm>
            <a:off x="1801368" y="4197096"/>
            <a:ext cx="4645152" cy="256032"/>
          </a:xfrm>
          <a:prstGeom prst="rect">
            <a:avLst/>
          </a:prstGeom>
          <a:noFill/>
          <a:ln/>
        </p:spPr>
        <p:txBody>
          <a:bodyPr wrap="square" lIns="0" tIns="0" rIns="0" bIns="0" rtlCol="0" anchor="ctr"/>
          <a:lstStyle/>
          <a:p>
            <a:pPr indent="0" marL="0">
              <a:buNone/>
            </a:pPr>
            <a:r>
              <a:rPr lang="en-US" sz="1350" b="1" dirty="0">
                <a:solidFill>
                  <a:srgbClr val="17171B"/>
                </a:solidFill>
                <a:latin typeface="Calibri" pitchFamily="34" charset="0"/>
                <a:ea typeface="Calibri" pitchFamily="34" charset="-122"/>
                <a:cs typeface="Calibri" pitchFamily="34" charset="-120"/>
              </a:rPr>
              <a:t>Decolonisation</a:t>
            </a:r>
            <a:endParaRPr lang="en-US" sz="1350" dirty="0"/>
          </a:p>
        </p:txBody>
      </p:sp>
      <p:sp>
        <p:nvSpPr>
          <p:cNvPr id="26" name="Text 23"/>
          <p:cNvSpPr txBox="1"/>
          <p:nvPr/>
        </p:nvSpPr>
        <p:spPr>
          <a:xfrm>
            <a:off x="1801368" y="4453128"/>
            <a:ext cx="4645152" cy="475488"/>
          </a:xfrm>
          <a:prstGeom prst="rect">
            <a:avLst/>
          </a:prstGeom>
          <a:noFill/>
          <a:ln/>
        </p:spPr>
        <p:txBody>
          <a:bodyPr wrap="square" lIns="0" tIns="0" rIns="0" bIns="0" rtlCol="0" anchor="ctr"/>
          <a:lstStyle/>
          <a:p>
            <a:pPr indent="0" marL="0">
              <a:lnSpc>
                <a:spcPct val="102000"/>
              </a:lnSpc>
              <a:buNone/>
            </a:pPr>
            <a:r>
              <a:rPr lang="en-US" sz="1150" dirty="0">
                <a:solidFill>
                  <a:srgbClr val="3E3E48"/>
                </a:solidFill>
                <a:latin typeface="Calibri" pitchFamily="34" charset="0"/>
                <a:ea typeface="Calibri" pitchFamily="34" charset="-122"/>
                <a:cs typeface="Calibri" pitchFamily="34" charset="-120"/>
              </a:rPr>
              <a:t>The Congo becomes independent on 30 June 1960; Rwanda and Burundi follow on 1 July 1962. In 2020 King Philippe expressed his “deepest regrets” for the wounds of the colonial past.</a:t>
            </a:r>
            <a:endParaRPr lang="en-US" sz="1150" dirty="0"/>
          </a:p>
        </p:txBody>
      </p:sp>
      <p:sp>
        <p:nvSpPr>
          <p:cNvPr id="27" name="Shape 24"/>
          <p:cNvSpPr/>
          <p:nvPr/>
        </p:nvSpPr>
        <p:spPr>
          <a:xfrm>
            <a:off x="640080" y="5129784"/>
            <a:ext cx="960120" cy="310896"/>
          </a:xfrm>
          <a:prstGeom prst="roundRect">
            <a:avLst>
              <a:gd name="adj" fmla="val 17647"/>
            </a:avLst>
          </a:prstGeom>
          <a:solidFill>
            <a:srgbClr val="17171B"/>
          </a:solidFill>
          <a:ln w="12700">
            <a:solidFill>
              <a:srgbClr val="17171B"/>
            </a:solidFill>
            <a:prstDash val="solid"/>
          </a:ln>
        </p:spPr>
      </p:sp>
      <p:sp>
        <p:nvSpPr>
          <p:cNvPr id="28" name="Text 25"/>
          <p:cNvSpPr txBox="1"/>
          <p:nvPr/>
        </p:nvSpPr>
        <p:spPr>
          <a:xfrm>
            <a:off x="640080" y="5129784"/>
            <a:ext cx="960120" cy="310896"/>
          </a:xfrm>
          <a:prstGeom prst="rect">
            <a:avLst/>
          </a:prstGeom>
          <a:noFill/>
          <a:ln/>
        </p:spPr>
        <p:txBody>
          <a:bodyPr wrap="square" lIns="0" tIns="0" rIns="0" bIns="0" rtlCol="0" anchor="ctr"/>
          <a:lstStyle/>
          <a:p>
            <a:pPr algn="ctr" indent="0" marL="0">
              <a:buNone/>
            </a:pPr>
            <a:r>
              <a:rPr lang="en-US" sz="1100" b="1" dirty="0">
                <a:solidFill>
                  <a:srgbClr val="E3B23C"/>
                </a:solidFill>
                <a:latin typeface="Calibri" pitchFamily="34" charset="0"/>
                <a:ea typeface="Calibri" pitchFamily="34" charset="-122"/>
                <a:cs typeface="Calibri" pitchFamily="34" charset="-120"/>
              </a:rPr>
              <a:t>1970–2014</a:t>
            </a:r>
            <a:endParaRPr lang="en-US" sz="1100" dirty="0"/>
          </a:p>
        </p:txBody>
      </p:sp>
      <p:sp>
        <p:nvSpPr>
          <p:cNvPr id="29" name="Text 26"/>
          <p:cNvSpPr txBox="1"/>
          <p:nvPr/>
        </p:nvSpPr>
        <p:spPr>
          <a:xfrm>
            <a:off x="1801368" y="5102352"/>
            <a:ext cx="4645152" cy="256032"/>
          </a:xfrm>
          <a:prstGeom prst="rect">
            <a:avLst/>
          </a:prstGeom>
          <a:noFill/>
          <a:ln/>
        </p:spPr>
        <p:txBody>
          <a:bodyPr wrap="square" lIns="0" tIns="0" rIns="0" bIns="0" rtlCol="0" anchor="ctr"/>
          <a:lstStyle/>
          <a:p>
            <a:pPr indent="0" marL="0">
              <a:buNone/>
            </a:pPr>
            <a:r>
              <a:rPr lang="en-US" sz="1350" b="1" dirty="0">
                <a:solidFill>
                  <a:srgbClr val="17171B"/>
                </a:solidFill>
                <a:latin typeface="Calibri" pitchFamily="34" charset="0"/>
                <a:ea typeface="Calibri" pitchFamily="34" charset="-122"/>
                <a:cs typeface="Calibri" pitchFamily="34" charset="-120"/>
              </a:rPr>
              <a:t>Six state reforms</a:t>
            </a:r>
            <a:endParaRPr lang="en-US" sz="1350" dirty="0"/>
          </a:p>
        </p:txBody>
      </p:sp>
      <p:sp>
        <p:nvSpPr>
          <p:cNvPr id="30" name="Text 27"/>
          <p:cNvSpPr txBox="1"/>
          <p:nvPr/>
        </p:nvSpPr>
        <p:spPr>
          <a:xfrm>
            <a:off x="1801368" y="5358384"/>
            <a:ext cx="4645152" cy="475488"/>
          </a:xfrm>
          <a:prstGeom prst="rect">
            <a:avLst/>
          </a:prstGeom>
          <a:noFill/>
          <a:ln/>
        </p:spPr>
        <p:txBody>
          <a:bodyPr wrap="square" lIns="0" tIns="0" rIns="0" bIns="0" rtlCol="0" anchor="ctr"/>
          <a:lstStyle/>
          <a:p>
            <a:pPr indent="0" marL="0">
              <a:lnSpc>
                <a:spcPct val="102000"/>
              </a:lnSpc>
              <a:buNone/>
            </a:pPr>
            <a:r>
              <a:rPr lang="en-US" sz="1150" dirty="0">
                <a:solidFill>
                  <a:srgbClr val="3E3E48"/>
                </a:solidFill>
                <a:latin typeface="Calibri" pitchFamily="34" charset="0"/>
                <a:ea typeface="Calibri" pitchFamily="34" charset="-122"/>
                <a:cs typeface="Calibri" pitchFamily="34" charset="-120"/>
              </a:rPr>
              <a:t>Tension between Dutch and French speakers is answered by rebuilding the country from the inside. Six reforms turn a unitary state into the federation Belgium is today.</a:t>
            </a:r>
            <a:endParaRPr lang="en-US" sz="115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640080" y="402336"/>
            <a:ext cx="6766560" cy="237744"/>
          </a:xfrm>
          <a:prstGeom prst="rect">
            <a:avLst/>
          </a:prstGeom>
          <a:noFill/>
          <a:ln/>
        </p:spPr>
        <p:txBody>
          <a:bodyPr wrap="square" lIns="0" tIns="0" rIns="0" bIns="0" rtlCol="0" anchor="ctr"/>
          <a:lstStyle/>
          <a:p>
            <a:pPr indent="0" marL="0">
              <a:buNone/>
            </a:pPr>
            <a:r>
              <a:rPr lang="en-US" sz="1150" b="1" spc="220" kern="0" dirty="0">
                <a:solidFill>
                  <a:srgbClr val="E3B23C"/>
                </a:solidFill>
                <a:latin typeface="Calibri" pitchFamily="34" charset="0"/>
                <a:ea typeface="Calibri" pitchFamily="34" charset="-122"/>
                <a:cs typeface="Calibri" pitchFamily="34" charset="-120"/>
              </a:rPr>
              <a:t>STATUT</a:t>
            </a:r>
            <a:endParaRPr lang="en-US" sz="1150" dirty="0"/>
          </a:p>
        </p:txBody>
      </p:sp>
      <p:sp>
        <p:nvSpPr>
          <p:cNvPr id="3" name="Text 1"/>
          <p:cNvSpPr txBox="1"/>
          <p:nvPr/>
        </p:nvSpPr>
        <p:spPr>
          <a:xfrm>
            <a:off x="640080" y="676656"/>
            <a:ext cx="6766560" cy="603504"/>
          </a:xfrm>
          <a:prstGeom prst="rect">
            <a:avLst/>
          </a:prstGeom>
          <a:noFill/>
          <a:ln/>
        </p:spPr>
        <p:txBody>
          <a:bodyPr wrap="square" lIns="0" tIns="0" rIns="0" bIns="0" rtlCol="0" anchor="ctr"/>
          <a:lstStyle/>
          <a:p>
            <a:pPr indent="0" marL="0">
              <a:buNone/>
            </a:pPr>
            <a:r>
              <a:rPr lang="en-US" sz="3100" b="1" dirty="0">
                <a:solidFill>
                  <a:srgbClr val="17171B"/>
                </a:solidFill>
                <a:latin typeface="Cambria" pitchFamily="34" charset="0"/>
                <a:ea typeface="Cambria" pitchFamily="34" charset="-122"/>
                <a:cs typeface="Cambria" pitchFamily="34" charset="-120"/>
              </a:rPr>
              <a:t>Independent since 1830</a:t>
            </a:r>
            <a:endParaRPr lang="en-US" sz="3100" dirty="0"/>
          </a:p>
        </p:txBody>
      </p:sp>
      <p:sp>
        <p:nvSpPr>
          <p:cNvPr id="4" name="Shape 2"/>
          <p:cNvSpPr/>
          <p:nvPr/>
        </p:nvSpPr>
        <p:spPr>
          <a:xfrm>
            <a:off x="640080" y="6163056"/>
            <a:ext cx="384048" cy="384048"/>
          </a:xfrm>
          <a:prstGeom prst="ellipse">
            <a:avLst/>
          </a:prstGeom>
          <a:solidFill>
            <a:srgbClr val="E3B23C"/>
          </a:solidFill>
          <a:ln/>
        </p:spPr>
      </p:sp>
      <p:sp>
        <p:nvSpPr>
          <p:cNvPr id="5" name="Text 3"/>
          <p:cNvSpPr txBox="1"/>
          <p:nvPr/>
        </p:nvSpPr>
        <p:spPr>
          <a:xfrm>
            <a:off x="640080" y="6163056"/>
            <a:ext cx="384048" cy="384048"/>
          </a:xfrm>
          <a:prstGeom prst="rect">
            <a:avLst/>
          </a:prstGeom>
          <a:noFill/>
          <a:ln/>
        </p:spPr>
        <p:txBody>
          <a:bodyPr wrap="square" lIns="0" tIns="0" rIns="0" bIns="0" rtlCol="0" anchor="ctr"/>
          <a:lstStyle/>
          <a:p>
            <a:pPr algn="ctr" indent="0" marL="0">
              <a:buNone/>
            </a:pPr>
            <a:r>
              <a:rPr lang="en-US" sz="1200" b="1" dirty="0">
                <a:solidFill>
                  <a:srgbClr val="17171B"/>
                </a:solidFill>
                <a:latin typeface="Calibri" pitchFamily="34" charset="0"/>
                <a:ea typeface="Calibri" pitchFamily="34" charset="-122"/>
                <a:cs typeface="Calibri" pitchFamily="34" charset="-120"/>
              </a:rPr>
              <a:t>11</a:t>
            </a:r>
            <a:endParaRPr lang="en-US" sz="1200" dirty="0"/>
          </a:p>
        </p:txBody>
      </p:sp>
      <p:sp>
        <p:nvSpPr>
          <p:cNvPr id="6" name="Text 4"/>
          <p:cNvSpPr txBox="1"/>
          <p:nvPr/>
        </p:nvSpPr>
        <p:spPr>
          <a:xfrm>
            <a:off x="6035040" y="6245352"/>
            <a:ext cx="5516575" cy="237744"/>
          </a:xfrm>
          <a:prstGeom prst="rect">
            <a:avLst/>
          </a:prstGeom>
          <a:noFill/>
          <a:ln/>
        </p:spPr>
        <p:txBody>
          <a:bodyPr wrap="square" lIns="0" tIns="0" rIns="0" bIns="0" rtlCol="0" anchor="ctr"/>
          <a:lstStyle/>
          <a:p>
            <a:pPr algn="r" indent="0" marL="0">
              <a:buNone/>
            </a:pPr>
            <a:r>
              <a:rPr lang="en-US" sz="900" dirty="0">
                <a:solidFill>
                  <a:srgbClr val="70707C"/>
                </a:solidFill>
                <a:latin typeface="Calibri" pitchFamily="34" charset="0"/>
                <a:ea typeface="Calibri" pitchFamily="34" charset="-122"/>
                <a:cs typeface="Calibri" pitchFamily="34" charset="-120"/>
              </a:rPr>
              <a:t>La Belgique  ·  FREN 201  ·  Projet Francophonie</a:t>
            </a:r>
            <a:endParaRPr lang="en-US" sz="900" dirty="0"/>
          </a:p>
        </p:txBody>
      </p:sp>
      <p:sp>
        <p:nvSpPr>
          <p:cNvPr id="7" name="Shape 5"/>
          <p:cNvSpPr/>
          <p:nvPr/>
        </p:nvSpPr>
        <p:spPr>
          <a:xfrm>
            <a:off x="640080" y="1481328"/>
            <a:ext cx="6583680" cy="1371600"/>
          </a:xfrm>
          <a:prstGeom prst="roundRect">
            <a:avLst>
              <a:gd name="adj" fmla="val 6000"/>
            </a:avLst>
          </a:prstGeom>
          <a:solidFill>
            <a:srgbClr val="17171B"/>
          </a:solidFill>
          <a:ln w="12700">
            <a:solidFill>
              <a:srgbClr val="17171B"/>
            </a:solidFill>
            <a:prstDash val="solid"/>
          </a:ln>
          <a:effectLst>
            <a:outerShdw sx="100000" sy="100000" kx="0" ky="0" algn="bl" rotWithShape="0" blurRad="127000" dist="25400" dir="5400000">
              <a:srgbClr val="9A9AA6">
                <a:alpha val="22000"/>
              </a:srgbClr>
            </a:outerShdw>
          </a:effectLst>
        </p:spPr>
      </p:sp>
      <p:sp>
        <p:nvSpPr>
          <p:cNvPr id="8" name="Text 6"/>
          <p:cNvSpPr txBox="1"/>
          <p:nvPr/>
        </p:nvSpPr>
        <p:spPr>
          <a:xfrm>
            <a:off x="914400" y="1700784"/>
            <a:ext cx="6035040" cy="237744"/>
          </a:xfrm>
          <a:prstGeom prst="rect">
            <a:avLst/>
          </a:prstGeom>
          <a:noFill/>
          <a:ln/>
        </p:spPr>
        <p:txBody>
          <a:bodyPr wrap="square" lIns="0" tIns="0" rIns="0" bIns="0" rtlCol="0" anchor="ctr"/>
          <a:lstStyle/>
          <a:p>
            <a:pPr indent="0" marL="0">
              <a:buNone/>
            </a:pPr>
            <a:r>
              <a:rPr lang="en-US" sz="1050" b="1" spc="110" kern="0" dirty="0">
                <a:solidFill>
                  <a:srgbClr val="E3B23C"/>
                </a:solidFill>
                <a:latin typeface="Calibri" pitchFamily="34" charset="0"/>
                <a:ea typeface="Calibri" pitchFamily="34" charset="-122"/>
                <a:cs typeface="Calibri" pitchFamily="34" charset="-120"/>
              </a:rPr>
              <a:t>INDEPENDENT — NOT A TERRITORY OF ANY OTHER COUNTRY</a:t>
            </a:r>
            <a:endParaRPr lang="en-US" sz="1050" dirty="0"/>
          </a:p>
        </p:txBody>
      </p:sp>
      <p:sp>
        <p:nvSpPr>
          <p:cNvPr id="9" name="Text 7"/>
          <p:cNvSpPr txBox="1"/>
          <p:nvPr/>
        </p:nvSpPr>
        <p:spPr>
          <a:xfrm>
            <a:off x="914400" y="2011680"/>
            <a:ext cx="6035040" cy="777240"/>
          </a:xfrm>
          <a:prstGeom prst="rect">
            <a:avLst/>
          </a:prstGeom>
          <a:noFill/>
          <a:ln/>
        </p:spPr>
        <p:txBody>
          <a:bodyPr wrap="square" lIns="0" tIns="0" rIns="0" bIns="0" rtlCol="0" anchor="ctr"/>
          <a:lstStyle/>
          <a:p>
            <a:pPr indent="0" marL="0">
              <a:lnSpc>
                <a:spcPct val="105000"/>
              </a:lnSpc>
              <a:buNone/>
            </a:pPr>
            <a:r>
              <a:rPr lang="en-US" sz="1150" dirty="0">
                <a:solidFill>
                  <a:srgbClr val="D4D4DC"/>
                </a:solidFill>
                <a:latin typeface="Calibri" pitchFamily="34" charset="0"/>
                <a:ea typeface="Calibri" pitchFamily="34" charset="-122"/>
                <a:cs typeface="Calibri" pitchFamily="34" charset="-120"/>
              </a:rPr>
              <a:t>Belgium declared independence on 4 October 1830 and has been a fully sovereign state ever since, recognised internationally by the Treaty of London in 1839. It is not, and has never been, a French overseas territory — it simply shares France's language.</a:t>
            </a:r>
            <a:endParaRPr lang="en-US" sz="1150" dirty="0"/>
          </a:p>
        </p:txBody>
      </p:sp>
      <p:sp>
        <p:nvSpPr>
          <p:cNvPr id="10" name="Text 8"/>
          <p:cNvSpPr txBox="1"/>
          <p:nvPr/>
        </p:nvSpPr>
        <p:spPr>
          <a:xfrm>
            <a:off x="640080" y="3108960"/>
            <a:ext cx="6583680" cy="237744"/>
          </a:xfrm>
          <a:prstGeom prst="rect">
            <a:avLst/>
          </a:prstGeom>
          <a:noFill/>
          <a:ln/>
        </p:spPr>
        <p:txBody>
          <a:bodyPr wrap="square" lIns="0" tIns="0" rIns="0" bIns="0" rtlCol="0" anchor="ctr"/>
          <a:lstStyle/>
          <a:p>
            <a:pPr indent="0" marL="0">
              <a:buNone/>
            </a:pPr>
            <a:r>
              <a:rPr lang="en-US" sz="1050" b="1" spc="120" kern="0" dirty="0">
                <a:solidFill>
                  <a:srgbClr val="E3B23C"/>
                </a:solidFill>
                <a:latin typeface="Calibri" pitchFamily="34" charset="0"/>
                <a:ea typeface="Calibri" pitchFamily="34" charset="-122"/>
                <a:cs typeface="Calibri" pitchFamily="34" charset="-120"/>
              </a:rPr>
              <a:t>FROM NEUTRALITY TO ALLIANCE</a:t>
            </a:r>
            <a:endParaRPr lang="en-US" sz="1050" dirty="0"/>
          </a:p>
        </p:txBody>
      </p:sp>
      <p:sp>
        <p:nvSpPr>
          <p:cNvPr id="11" name="Text 9"/>
          <p:cNvSpPr txBox="1"/>
          <p:nvPr/>
        </p:nvSpPr>
        <p:spPr>
          <a:xfrm>
            <a:off x="640080" y="3401568"/>
            <a:ext cx="6583680" cy="777240"/>
          </a:xfrm>
          <a:prstGeom prst="rect">
            <a:avLst/>
          </a:prstGeom>
          <a:noFill/>
          <a:ln/>
        </p:spPr>
        <p:txBody>
          <a:bodyPr wrap="square" lIns="0" tIns="0" rIns="0" bIns="0" rtlCol="0" anchor="ctr"/>
          <a:lstStyle/>
          <a:p>
            <a:pPr indent="0" marL="0">
              <a:lnSpc>
                <a:spcPct val="105000"/>
              </a:lnSpc>
              <a:buNone/>
            </a:pPr>
            <a:r>
              <a:rPr lang="en-US" sz="1150" dirty="0">
                <a:solidFill>
                  <a:srgbClr val="3E3E48"/>
                </a:solidFill>
                <a:latin typeface="Calibri" pitchFamily="34" charset="0"/>
                <a:ea typeface="Calibri" pitchFamily="34" charset="-122"/>
                <a:cs typeface="Calibri" pitchFamily="34" charset="-120"/>
              </a:rPr>
              <a:t>The 1839 treaty made Belgium permanently neutral. Germany violated that neutrality in 1914 and again in 1940. After the Second World War Belgium abandoned neutrality for good and helped build the alliances that replaced it.</a:t>
            </a:r>
            <a:endParaRPr lang="en-US" sz="1150" dirty="0"/>
          </a:p>
        </p:txBody>
      </p:sp>
      <p:sp>
        <p:nvSpPr>
          <p:cNvPr id="12" name="Text 10"/>
          <p:cNvSpPr txBox="1"/>
          <p:nvPr/>
        </p:nvSpPr>
        <p:spPr>
          <a:xfrm>
            <a:off x="640080" y="4334256"/>
            <a:ext cx="3154680" cy="219456"/>
          </a:xfrm>
          <a:prstGeom prst="rect">
            <a:avLst/>
          </a:prstGeom>
          <a:noFill/>
          <a:ln/>
        </p:spPr>
        <p:txBody>
          <a:bodyPr wrap="square" lIns="0" tIns="0" rIns="0" bIns="0" rtlCol="0" anchor="ctr"/>
          <a:lstStyle/>
          <a:p>
            <a:pPr indent="0" marL="0">
              <a:buNone/>
            </a:pPr>
            <a:r>
              <a:rPr lang="en-US" sz="1150" b="1" dirty="0">
                <a:solidFill>
                  <a:srgbClr val="17171B"/>
                </a:solidFill>
                <a:latin typeface="Calibri" pitchFamily="34" charset="0"/>
                <a:ea typeface="Calibri" pitchFamily="34" charset="-122"/>
                <a:cs typeface="Calibri" pitchFamily="34" charset="-120"/>
              </a:rPr>
              <a:t>1944  ·  Benelux</a:t>
            </a:r>
            <a:endParaRPr lang="en-US" sz="1150" dirty="0"/>
          </a:p>
        </p:txBody>
      </p:sp>
      <p:sp>
        <p:nvSpPr>
          <p:cNvPr id="13" name="Text 11"/>
          <p:cNvSpPr txBox="1"/>
          <p:nvPr/>
        </p:nvSpPr>
        <p:spPr>
          <a:xfrm>
            <a:off x="640080" y="4544568"/>
            <a:ext cx="3154680" cy="329184"/>
          </a:xfrm>
          <a:prstGeom prst="rect">
            <a:avLst/>
          </a:prstGeom>
          <a:noFill/>
          <a:ln/>
        </p:spPr>
        <p:txBody>
          <a:bodyPr wrap="square" lIns="0" tIns="0" rIns="0" bIns="0" rtlCol="0" anchor="ctr"/>
          <a:lstStyle/>
          <a:p>
            <a:pPr indent="0" marL="0">
              <a:lnSpc>
                <a:spcPct val="100000"/>
              </a:lnSpc>
              <a:buNone/>
            </a:pPr>
            <a:r>
              <a:rPr lang="en-US" sz="1000" dirty="0">
                <a:solidFill>
                  <a:srgbClr val="70707C"/>
                </a:solidFill>
                <a:latin typeface="Calibri" pitchFamily="34" charset="0"/>
                <a:ea typeface="Calibri" pitchFamily="34" charset="-122"/>
                <a:cs typeface="Calibri" pitchFamily="34" charset="-120"/>
              </a:rPr>
              <a:t>Customs union with the Netherlands and Luxembourg — a rehearsal for European integration.</a:t>
            </a:r>
            <a:endParaRPr lang="en-US" sz="1000" dirty="0"/>
          </a:p>
        </p:txBody>
      </p:sp>
      <p:sp>
        <p:nvSpPr>
          <p:cNvPr id="14" name="Text 12"/>
          <p:cNvSpPr txBox="1"/>
          <p:nvPr/>
        </p:nvSpPr>
        <p:spPr>
          <a:xfrm>
            <a:off x="4069080" y="4334256"/>
            <a:ext cx="3154680" cy="219456"/>
          </a:xfrm>
          <a:prstGeom prst="rect">
            <a:avLst/>
          </a:prstGeom>
          <a:noFill/>
          <a:ln/>
        </p:spPr>
        <p:txBody>
          <a:bodyPr wrap="square" lIns="0" tIns="0" rIns="0" bIns="0" rtlCol="0" anchor="ctr"/>
          <a:lstStyle/>
          <a:p>
            <a:pPr indent="0" marL="0">
              <a:buNone/>
            </a:pPr>
            <a:r>
              <a:rPr lang="en-US" sz="1150" b="1" dirty="0">
                <a:solidFill>
                  <a:srgbClr val="17171B"/>
                </a:solidFill>
                <a:latin typeface="Calibri" pitchFamily="34" charset="0"/>
                <a:ea typeface="Calibri" pitchFamily="34" charset="-122"/>
                <a:cs typeface="Calibri" pitchFamily="34" charset="-120"/>
              </a:rPr>
              <a:t>1945  ·  United Nations</a:t>
            </a:r>
            <a:endParaRPr lang="en-US" sz="1150" dirty="0"/>
          </a:p>
        </p:txBody>
      </p:sp>
      <p:sp>
        <p:nvSpPr>
          <p:cNvPr id="15" name="Text 13"/>
          <p:cNvSpPr txBox="1"/>
          <p:nvPr/>
        </p:nvSpPr>
        <p:spPr>
          <a:xfrm>
            <a:off x="4069080" y="4544568"/>
            <a:ext cx="3154680" cy="329184"/>
          </a:xfrm>
          <a:prstGeom prst="rect">
            <a:avLst/>
          </a:prstGeom>
          <a:noFill/>
          <a:ln/>
        </p:spPr>
        <p:txBody>
          <a:bodyPr wrap="square" lIns="0" tIns="0" rIns="0" bIns="0" rtlCol="0" anchor="ctr"/>
          <a:lstStyle/>
          <a:p>
            <a:pPr indent="0" marL="0">
              <a:lnSpc>
                <a:spcPct val="100000"/>
              </a:lnSpc>
              <a:buNone/>
            </a:pPr>
            <a:r>
              <a:rPr lang="en-US" sz="1000" dirty="0">
                <a:solidFill>
                  <a:srgbClr val="70707C"/>
                </a:solidFill>
                <a:latin typeface="Calibri" pitchFamily="34" charset="0"/>
                <a:ea typeface="Calibri" pitchFamily="34" charset="-122"/>
                <a:cs typeface="Calibri" pitchFamily="34" charset="-120"/>
              </a:rPr>
              <a:t>A founding member.</a:t>
            </a:r>
            <a:endParaRPr lang="en-US" sz="1000" dirty="0"/>
          </a:p>
        </p:txBody>
      </p:sp>
      <p:sp>
        <p:nvSpPr>
          <p:cNvPr id="16" name="Text 14"/>
          <p:cNvSpPr txBox="1"/>
          <p:nvPr/>
        </p:nvSpPr>
        <p:spPr>
          <a:xfrm>
            <a:off x="640080" y="4901184"/>
            <a:ext cx="3154680" cy="219456"/>
          </a:xfrm>
          <a:prstGeom prst="rect">
            <a:avLst/>
          </a:prstGeom>
          <a:noFill/>
          <a:ln/>
        </p:spPr>
        <p:txBody>
          <a:bodyPr wrap="square" lIns="0" tIns="0" rIns="0" bIns="0" rtlCol="0" anchor="ctr"/>
          <a:lstStyle/>
          <a:p>
            <a:pPr indent="0" marL="0">
              <a:buNone/>
            </a:pPr>
            <a:r>
              <a:rPr lang="en-US" sz="1150" b="1" dirty="0">
                <a:solidFill>
                  <a:srgbClr val="17171B"/>
                </a:solidFill>
                <a:latin typeface="Calibri" pitchFamily="34" charset="0"/>
                <a:ea typeface="Calibri" pitchFamily="34" charset="-122"/>
                <a:cs typeface="Calibri" pitchFamily="34" charset="-120"/>
              </a:rPr>
              <a:t>1949  ·  NATO</a:t>
            </a:r>
            <a:endParaRPr lang="en-US" sz="1150" dirty="0"/>
          </a:p>
        </p:txBody>
      </p:sp>
      <p:sp>
        <p:nvSpPr>
          <p:cNvPr id="17" name="Text 15"/>
          <p:cNvSpPr txBox="1"/>
          <p:nvPr/>
        </p:nvSpPr>
        <p:spPr>
          <a:xfrm>
            <a:off x="640080" y="5111496"/>
            <a:ext cx="3154680" cy="329184"/>
          </a:xfrm>
          <a:prstGeom prst="rect">
            <a:avLst/>
          </a:prstGeom>
          <a:noFill/>
          <a:ln/>
        </p:spPr>
        <p:txBody>
          <a:bodyPr wrap="square" lIns="0" tIns="0" rIns="0" bIns="0" rtlCol="0" anchor="ctr"/>
          <a:lstStyle/>
          <a:p>
            <a:pPr indent="0" marL="0">
              <a:lnSpc>
                <a:spcPct val="100000"/>
              </a:lnSpc>
              <a:buNone/>
            </a:pPr>
            <a:r>
              <a:rPr lang="en-US" sz="1000" dirty="0">
                <a:solidFill>
                  <a:srgbClr val="70707C"/>
                </a:solidFill>
                <a:latin typeface="Calibri" pitchFamily="34" charset="0"/>
                <a:ea typeface="Calibri" pitchFamily="34" charset="-122"/>
                <a:cs typeface="Calibri" pitchFamily="34" charset="-120"/>
              </a:rPr>
              <a:t>A founding member; the alliance's headquarters moved to Brussels in 1967.</a:t>
            </a:r>
            <a:endParaRPr lang="en-US" sz="1000" dirty="0"/>
          </a:p>
        </p:txBody>
      </p:sp>
      <p:sp>
        <p:nvSpPr>
          <p:cNvPr id="18" name="Text 16"/>
          <p:cNvSpPr txBox="1"/>
          <p:nvPr/>
        </p:nvSpPr>
        <p:spPr>
          <a:xfrm>
            <a:off x="4069080" y="4901184"/>
            <a:ext cx="3154680" cy="219456"/>
          </a:xfrm>
          <a:prstGeom prst="rect">
            <a:avLst/>
          </a:prstGeom>
          <a:noFill/>
          <a:ln/>
        </p:spPr>
        <p:txBody>
          <a:bodyPr wrap="square" lIns="0" tIns="0" rIns="0" bIns="0" rtlCol="0" anchor="ctr"/>
          <a:lstStyle/>
          <a:p>
            <a:pPr indent="0" marL="0">
              <a:buNone/>
            </a:pPr>
            <a:r>
              <a:rPr lang="en-US" sz="1150" b="1" dirty="0">
                <a:solidFill>
                  <a:srgbClr val="17171B"/>
                </a:solidFill>
                <a:latin typeface="Calibri" pitchFamily="34" charset="0"/>
                <a:ea typeface="Calibri" pitchFamily="34" charset="-122"/>
                <a:cs typeface="Calibri" pitchFamily="34" charset="-120"/>
              </a:rPr>
              <a:t>1951 / 1957  ·  The European Union</a:t>
            </a:r>
            <a:endParaRPr lang="en-US" sz="1150" dirty="0"/>
          </a:p>
        </p:txBody>
      </p:sp>
      <p:sp>
        <p:nvSpPr>
          <p:cNvPr id="19" name="Text 17"/>
          <p:cNvSpPr txBox="1"/>
          <p:nvPr/>
        </p:nvSpPr>
        <p:spPr>
          <a:xfrm>
            <a:off x="4069080" y="5111496"/>
            <a:ext cx="3154680" cy="329184"/>
          </a:xfrm>
          <a:prstGeom prst="rect">
            <a:avLst/>
          </a:prstGeom>
          <a:noFill/>
          <a:ln/>
        </p:spPr>
        <p:txBody>
          <a:bodyPr wrap="square" lIns="0" tIns="0" rIns="0" bIns="0" rtlCol="0" anchor="ctr"/>
          <a:lstStyle/>
          <a:p>
            <a:pPr indent="0" marL="0">
              <a:lnSpc>
                <a:spcPct val="100000"/>
              </a:lnSpc>
              <a:buNone/>
            </a:pPr>
            <a:r>
              <a:rPr lang="en-US" sz="1000" dirty="0">
                <a:solidFill>
                  <a:srgbClr val="70707C"/>
                </a:solidFill>
                <a:latin typeface="Calibri" pitchFamily="34" charset="0"/>
                <a:ea typeface="Calibri" pitchFamily="34" charset="-122"/>
                <a:cs typeface="Calibri" pitchFamily="34" charset="-120"/>
              </a:rPr>
              <a:t>Founding member of the Coal and Steel Community and then, by the Treaty of Rome, of the EEC.</a:t>
            </a:r>
            <a:endParaRPr lang="en-US" sz="1000" dirty="0"/>
          </a:p>
        </p:txBody>
      </p:sp>
      <p:sp>
        <p:nvSpPr>
          <p:cNvPr id="20" name="Text 18"/>
          <p:cNvSpPr txBox="1"/>
          <p:nvPr/>
        </p:nvSpPr>
        <p:spPr>
          <a:xfrm>
            <a:off x="640080" y="5468112"/>
            <a:ext cx="3154680" cy="219456"/>
          </a:xfrm>
          <a:prstGeom prst="rect">
            <a:avLst/>
          </a:prstGeom>
          <a:noFill/>
          <a:ln/>
        </p:spPr>
        <p:txBody>
          <a:bodyPr wrap="square" lIns="0" tIns="0" rIns="0" bIns="0" rtlCol="0" anchor="ctr"/>
          <a:lstStyle/>
          <a:p>
            <a:pPr indent="0" marL="0">
              <a:buNone/>
            </a:pPr>
            <a:r>
              <a:rPr lang="en-US" sz="1150" b="1" dirty="0">
                <a:solidFill>
                  <a:srgbClr val="17171B"/>
                </a:solidFill>
                <a:latin typeface="Calibri" pitchFamily="34" charset="0"/>
                <a:ea typeface="Calibri" pitchFamily="34" charset="-122"/>
                <a:cs typeface="Calibri" pitchFamily="34" charset="-120"/>
              </a:rPr>
              <a:t>1999  ·  The eurozone</a:t>
            </a:r>
            <a:endParaRPr lang="en-US" sz="1150" dirty="0"/>
          </a:p>
        </p:txBody>
      </p:sp>
      <p:sp>
        <p:nvSpPr>
          <p:cNvPr id="21" name="Text 19"/>
          <p:cNvSpPr txBox="1"/>
          <p:nvPr/>
        </p:nvSpPr>
        <p:spPr>
          <a:xfrm>
            <a:off x="640080" y="5678424"/>
            <a:ext cx="3154680" cy="329184"/>
          </a:xfrm>
          <a:prstGeom prst="rect">
            <a:avLst/>
          </a:prstGeom>
          <a:noFill/>
          <a:ln/>
        </p:spPr>
        <p:txBody>
          <a:bodyPr wrap="square" lIns="0" tIns="0" rIns="0" bIns="0" rtlCol="0" anchor="ctr"/>
          <a:lstStyle/>
          <a:p>
            <a:pPr indent="0" marL="0">
              <a:lnSpc>
                <a:spcPct val="100000"/>
              </a:lnSpc>
              <a:buNone/>
            </a:pPr>
            <a:r>
              <a:rPr lang="en-US" sz="1000" dirty="0">
                <a:solidFill>
                  <a:srgbClr val="70707C"/>
                </a:solidFill>
                <a:latin typeface="Calibri" pitchFamily="34" charset="0"/>
                <a:ea typeface="Calibri" pitchFamily="34" charset="-122"/>
                <a:cs typeface="Calibri" pitchFamily="34" charset="-120"/>
              </a:rPr>
              <a:t>A founding member of the single currency.</a:t>
            </a:r>
            <a:endParaRPr lang="en-US" sz="1000" dirty="0"/>
          </a:p>
        </p:txBody>
      </p:sp>
      <p:sp>
        <p:nvSpPr>
          <p:cNvPr id="22" name="Text 20"/>
          <p:cNvSpPr txBox="1"/>
          <p:nvPr/>
        </p:nvSpPr>
        <p:spPr>
          <a:xfrm>
            <a:off x="4069080" y="5468112"/>
            <a:ext cx="3154680" cy="219456"/>
          </a:xfrm>
          <a:prstGeom prst="rect">
            <a:avLst/>
          </a:prstGeom>
          <a:noFill/>
          <a:ln/>
        </p:spPr>
        <p:txBody>
          <a:bodyPr wrap="square" lIns="0" tIns="0" rIns="0" bIns="0" rtlCol="0" anchor="ctr"/>
          <a:lstStyle/>
          <a:p>
            <a:pPr indent="0" marL="0">
              <a:buNone/>
            </a:pPr>
            <a:r>
              <a:rPr lang="en-US" sz="1150" b="1" dirty="0">
                <a:solidFill>
                  <a:srgbClr val="17171B"/>
                </a:solidFill>
                <a:latin typeface="Calibri" pitchFamily="34" charset="0"/>
                <a:ea typeface="Calibri" pitchFamily="34" charset="-122"/>
                <a:cs typeface="Calibri" pitchFamily="34" charset="-120"/>
              </a:rPr>
              <a:t>1970  ·  La Francophonie</a:t>
            </a:r>
            <a:endParaRPr lang="en-US" sz="1150" dirty="0"/>
          </a:p>
        </p:txBody>
      </p:sp>
      <p:sp>
        <p:nvSpPr>
          <p:cNvPr id="23" name="Text 21"/>
          <p:cNvSpPr txBox="1"/>
          <p:nvPr/>
        </p:nvSpPr>
        <p:spPr>
          <a:xfrm>
            <a:off x="4069080" y="5678424"/>
            <a:ext cx="3154680" cy="329184"/>
          </a:xfrm>
          <a:prstGeom prst="rect">
            <a:avLst/>
          </a:prstGeom>
          <a:noFill/>
          <a:ln/>
        </p:spPr>
        <p:txBody>
          <a:bodyPr wrap="square" lIns="0" tIns="0" rIns="0" bIns="0" rtlCol="0" anchor="ctr"/>
          <a:lstStyle/>
          <a:p>
            <a:pPr indent="0" marL="0">
              <a:lnSpc>
                <a:spcPct val="100000"/>
              </a:lnSpc>
              <a:buNone/>
            </a:pPr>
            <a:r>
              <a:rPr lang="en-US" sz="1000" dirty="0">
                <a:solidFill>
                  <a:srgbClr val="70707C"/>
                </a:solidFill>
                <a:latin typeface="Calibri" pitchFamily="34" charset="0"/>
                <a:ea typeface="Calibri" pitchFamily="34" charset="-122"/>
                <a:cs typeface="Calibri" pitchFamily="34" charset="-120"/>
              </a:rPr>
              <a:t>A founding member — with two seats, the Kingdom and the French Community.</a:t>
            </a:r>
            <a:endParaRPr lang="en-US" sz="1000" dirty="0"/>
          </a:p>
        </p:txBody>
      </p:sp>
      <p:pic>
        <p:nvPicPr>
          <p:cNvPr id="24" name="Image 0" descr="/tmp/claude-0/-home-user-BOYNT-WORK/856f02cf-0e32-5bfe-bffb-9edb29b314f9/scratchpad/deckimg/berlaymont.jpg">    </p:cNvPr>
          <p:cNvPicPr>
            <a:picLocks noChangeAspect="1"/>
          </p:cNvPicPr>
          <p:nvPr/>
        </p:nvPicPr>
        <p:blipFill>
          <a:blip r:embed="rId1"/>
          <a:srcRect l="0" r="0" t="0" b="0"/>
          <a:stretch/>
        </p:blipFill>
        <p:spPr>
          <a:xfrm>
            <a:off x="7635240" y="1481328"/>
            <a:ext cx="3916375" cy="2926080"/>
          </a:xfrm>
          <a:prstGeom prst="rect">
            <a:avLst/>
          </a:prstGeom>
        </p:spPr>
      </p:pic>
      <p:sp>
        <p:nvSpPr>
          <p:cNvPr id="25" name="Text 22"/>
          <p:cNvSpPr txBox="1"/>
          <p:nvPr/>
        </p:nvSpPr>
        <p:spPr>
          <a:xfrm>
            <a:off x="7635240" y="4517136"/>
            <a:ext cx="3916375" cy="731520"/>
          </a:xfrm>
          <a:prstGeom prst="rect">
            <a:avLst/>
          </a:prstGeom>
          <a:noFill/>
          <a:ln/>
        </p:spPr>
        <p:txBody>
          <a:bodyPr wrap="square" lIns="0" tIns="0" rIns="0" bIns="0" rtlCol="0" anchor="ctr"/>
          <a:lstStyle/>
          <a:p>
            <a:pPr indent="0" marL="0">
              <a:lnSpc>
                <a:spcPct val="105000"/>
              </a:lnSpc>
              <a:buNone/>
            </a:pPr>
            <a:r>
              <a:rPr lang="en-US" sz="1050" i="1" dirty="0">
                <a:solidFill>
                  <a:srgbClr val="70707C"/>
                </a:solidFill>
                <a:latin typeface="Calibri" pitchFamily="34" charset="0"/>
                <a:ea typeface="Calibri" pitchFamily="34" charset="-122"/>
                <a:cs typeface="Calibri" pitchFamily="34" charset="-120"/>
              </a:rPr>
              <a:t>The Berlaymont in Brussels — headquarters of the European Commission, and the reason Brussels is called the capital of Europe.</a:t>
            </a:r>
            <a:endParaRPr lang="en-US" sz="1050" dirty="0"/>
          </a:p>
        </p:txBody>
      </p:sp>
      <p:sp>
        <p:nvSpPr>
          <p:cNvPr id="26" name="Shape 23"/>
          <p:cNvSpPr/>
          <p:nvPr/>
        </p:nvSpPr>
        <p:spPr>
          <a:xfrm>
            <a:off x="7635240" y="5321808"/>
            <a:ext cx="3916375" cy="658368"/>
          </a:xfrm>
          <a:prstGeom prst="roundRect">
            <a:avLst>
              <a:gd name="adj" fmla="val 12500"/>
            </a:avLst>
          </a:prstGeom>
          <a:solidFill>
            <a:srgbClr val="17171B"/>
          </a:solidFill>
          <a:ln w="12700">
            <a:solidFill>
              <a:srgbClr val="17171B"/>
            </a:solidFill>
            <a:prstDash val="solid"/>
          </a:ln>
          <a:effectLst>
            <a:outerShdw sx="100000" sy="100000" kx="0" ky="0" algn="bl" rotWithShape="0" blurRad="127000" dist="25400" dir="5400000">
              <a:srgbClr val="9A9AA6">
                <a:alpha val="22000"/>
              </a:srgbClr>
            </a:outerShdw>
          </a:effectLst>
        </p:spPr>
      </p:sp>
      <p:sp>
        <p:nvSpPr>
          <p:cNvPr id="27" name="Text 24"/>
          <p:cNvSpPr txBox="1"/>
          <p:nvPr/>
        </p:nvSpPr>
        <p:spPr>
          <a:xfrm>
            <a:off x="7854696" y="5449824"/>
            <a:ext cx="3477463" cy="457200"/>
          </a:xfrm>
          <a:prstGeom prst="rect">
            <a:avLst/>
          </a:prstGeom>
          <a:noFill/>
          <a:ln/>
        </p:spPr>
        <p:txBody>
          <a:bodyPr wrap="square" lIns="0" tIns="0" rIns="0" bIns="0" rtlCol="0" anchor="ctr"/>
          <a:lstStyle/>
          <a:p>
            <a:pPr indent="0" marL="0">
              <a:lnSpc>
                <a:spcPct val="100000"/>
              </a:lnSpc>
              <a:buNone/>
            </a:pPr>
            <a:r>
              <a:rPr lang="en-US" sz="1100" b="1" dirty="0">
                <a:solidFill>
                  <a:srgbClr val="F2D68C"/>
                </a:solidFill>
                <a:latin typeface="Calibri" pitchFamily="34" charset="0"/>
                <a:ea typeface="Calibri" pitchFamily="34" charset="-122"/>
                <a:cs typeface="Calibri" pitchFamily="34" charset="-120"/>
              </a:rPr>
              <a:t>A founding member of both the EU and NATO — and the host of both.</a:t>
            </a:r>
            <a:endParaRPr lang="en-US" sz="11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640080" y="402336"/>
            <a:ext cx="10911535" cy="237744"/>
          </a:xfrm>
          <a:prstGeom prst="rect">
            <a:avLst/>
          </a:prstGeom>
          <a:noFill/>
          <a:ln/>
        </p:spPr>
        <p:txBody>
          <a:bodyPr wrap="square" lIns="0" tIns="0" rIns="0" bIns="0" rtlCol="0" anchor="ctr"/>
          <a:lstStyle/>
          <a:p>
            <a:pPr indent="0" marL="0">
              <a:buNone/>
            </a:pPr>
            <a:r>
              <a:rPr lang="en-US" sz="1150" b="1" spc="220" kern="0" dirty="0">
                <a:solidFill>
                  <a:srgbClr val="E3B23C"/>
                </a:solidFill>
                <a:latin typeface="Calibri" pitchFamily="34" charset="0"/>
                <a:ea typeface="Calibri" pitchFamily="34" charset="-122"/>
                <a:cs typeface="Calibri" pitchFamily="34" charset="-120"/>
              </a:rPr>
              <a:t>ORGANISATION POLITIQUE</a:t>
            </a:r>
            <a:endParaRPr lang="en-US" sz="1150" dirty="0"/>
          </a:p>
        </p:txBody>
      </p:sp>
      <p:sp>
        <p:nvSpPr>
          <p:cNvPr id="3" name="Text 1"/>
          <p:cNvSpPr txBox="1"/>
          <p:nvPr/>
        </p:nvSpPr>
        <p:spPr>
          <a:xfrm>
            <a:off x="640080" y="676656"/>
            <a:ext cx="10911535" cy="603504"/>
          </a:xfrm>
          <a:prstGeom prst="rect">
            <a:avLst/>
          </a:prstGeom>
          <a:noFill/>
          <a:ln/>
        </p:spPr>
        <p:txBody>
          <a:bodyPr wrap="square" lIns="0" tIns="0" rIns="0" bIns="0" rtlCol="0" anchor="ctr"/>
          <a:lstStyle/>
          <a:p>
            <a:pPr indent="0" marL="0">
              <a:buNone/>
            </a:pPr>
            <a:r>
              <a:rPr lang="en-US" sz="3100" b="1" dirty="0">
                <a:solidFill>
                  <a:srgbClr val="17171B"/>
                </a:solidFill>
                <a:latin typeface="Cambria" pitchFamily="34" charset="0"/>
                <a:ea typeface="Cambria" pitchFamily="34" charset="-122"/>
                <a:cs typeface="Cambria" pitchFamily="34" charset="-120"/>
              </a:rPr>
              <a:t>A federal parliamentary constitutional monarchy</a:t>
            </a:r>
            <a:endParaRPr lang="en-US" sz="3100" dirty="0"/>
          </a:p>
        </p:txBody>
      </p:sp>
      <p:sp>
        <p:nvSpPr>
          <p:cNvPr id="4" name="Shape 2"/>
          <p:cNvSpPr/>
          <p:nvPr/>
        </p:nvSpPr>
        <p:spPr>
          <a:xfrm>
            <a:off x="640080" y="6163056"/>
            <a:ext cx="384048" cy="384048"/>
          </a:xfrm>
          <a:prstGeom prst="ellipse">
            <a:avLst/>
          </a:prstGeom>
          <a:solidFill>
            <a:srgbClr val="E3B23C"/>
          </a:solidFill>
          <a:ln/>
        </p:spPr>
      </p:sp>
      <p:sp>
        <p:nvSpPr>
          <p:cNvPr id="5" name="Text 3"/>
          <p:cNvSpPr txBox="1"/>
          <p:nvPr/>
        </p:nvSpPr>
        <p:spPr>
          <a:xfrm>
            <a:off x="640080" y="6163056"/>
            <a:ext cx="384048" cy="384048"/>
          </a:xfrm>
          <a:prstGeom prst="rect">
            <a:avLst/>
          </a:prstGeom>
          <a:noFill/>
          <a:ln/>
        </p:spPr>
        <p:txBody>
          <a:bodyPr wrap="square" lIns="0" tIns="0" rIns="0" bIns="0" rtlCol="0" anchor="ctr"/>
          <a:lstStyle/>
          <a:p>
            <a:pPr algn="ctr" indent="0" marL="0">
              <a:buNone/>
            </a:pPr>
            <a:r>
              <a:rPr lang="en-US" sz="1200" b="1" dirty="0">
                <a:solidFill>
                  <a:srgbClr val="17171B"/>
                </a:solidFill>
                <a:latin typeface="Calibri" pitchFamily="34" charset="0"/>
                <a:ea typeface="Calibri" pitchFamily="34" charset="-122"/>
                <a:cs typeface="Calibri" pitchFamily="34" charset="-120"/>
              </a:rPr>
              <a:t>12</a:t>
            </a:r>
            <a:endParaRPr lang="en-US" sz="1200" dirty="0"/>
          </a:p>
        </p:txBody>
      </p:sp>
      <p:sp>
        <p:nvSpPr>
          <p:cNvPr id="6" name="Text 4"/>
          <p:cNvSpPr txBox="1"/>
          <p:nvPr/>
        </p:nvSpPr>
        <p:spPr>
          <a:xfrm>
            <a:off x="6035040" y="6245352"/>
            <a:ext cx="5516575" cy="237744"/>
          </a:xfrm>
          <a:prstGeom prst="rect">
            <a:avLst/>
          </a:prstGeom>
          <a:noFill/>
          <a:ln/>
        </p:spPr>
        <p:txBody>
          <a:bodyPr wrap="square" lIns="0" tIns="0" rIns="0" bIns="0" rtlCol="0" anchor="ctr"/>
          <a:lstStyle/>
          <a:p>
            <a:pPr algn="r" indent="0" marL="0">
              <a:buNone/>
            </a:pPr>
            <a:r>
              <a:rPr lang="en-US" sz="900" dirty="0">
                <a:solidFill>
                  <a:srgbClr val="70707C"/>
                </a:solidFill>
                <a:latin typeface="Calibri" pitchFamily="34" charset="0"/>
                <a:ea typeface="Calibri" pitchFamily="34" charset="-122"/>
                <a:cs typeface="Calibri" pitchFamily="34" charset="-120"/>
              </a:rPr>
              <a:t>La Belgique  ·  FREN 201  ·  Projet Francophonie</a:t>
            </a:r>
            <a:endParaRPr lang="en-US" sz="900" dirty="0"/>
          </a:p>
        </p:txBody>
      </p:sp>
      <p:sp>
        <p:nvSpPr>
          <p:cNvPr id="7" name="Shape 5"/>
          <p:cNvSpPr/>
          <p:nvPr/>
        </p:nvSpPr>
        <p:spPr>
          <a:xfrm>
            <a:off x="640080" y="1481328"/>
            <a:ext cx="2535860" cy="841248"/>
          </a:xfrm>
          <a:prstGeom prst="roundRect">
            <a:avLst>
              <a:gd name="adj" fmla="val 9783"/>
            </a:avLst>
          </a:prstGeom>
          <a:solidFill>
            <a:srgbClr val="17171B"/>
          </a:solidFill>
          <a:ln w="12700">
            <a:solidFill>
              <a:srgbClr val="17171B"/>
            </a:solidFill>
            <a:prstDash val="solid"/>
          </a:ln>
          <a:effectLst>
            <a:outerShdw sx="100000" sy="100000" kx="0" ky="0" algn="bl" rotWithShape="0" blurRad="127000" dist="25400" dir="5400000">
              <a:srgbClr val="9A9AA6">
                <a:alpha val="22000"/>
              </a:srgbClr>
            </a:outerShdw>
          </a:effectLst>
        </p:spPr>
      </p:sp>
      <p:sp>
        <p:nvSpPr>
          <p:cNvPr id="8" name="Text 6"/>
          <p:cNvSpPr txBox="1"/>
          <p:nvPr/>
        </p:nvSpPr>
        <p:spPr>
          <a:xfrm>
            <a:off x="777240" y="1636776"/>
            <a:ext cx="2261540" cy="274320"/>
          </a:xfrm>
          <a:prstGeom prst="rect">
            <a:avLst/>
          </a:prstGeom>
          <a:noFill/>
          <a:ln/>
        </p:spPr>
        <p:txBody>
          <a:bodyPr wrap="square" lIns="0" tIns="0" rIns="0" bIns="0" rtlCol="0" anchor="ctr"/>
          <a:lstStyle/>
          <a:p>
            <a:pPr algn="ctr" indent="0" marL="0">
              <a:buNone/>
            </a:pPr>
            <a:r>
              <a:rPr lang="en-US" sz="1400" b="1" dirty="0">
                <a:solidFill>
                  <a:srgbClr val="E3B23C"/>
                </a:solidFill>
                <a:latin typeface="Cambria" pitchFamily="34" charset="0"/>
                <a:ea typeface="Cambria" pitchFamily="34" charset="-122"/>
                <a:cs typeface="Cambria" pitchFamily="34" charset="-120"/>
              </a:rPr>
              <a:t>DEMOCRACY</a:t>
            </a:r>
            <a:endParaRPr lang="en-US" sz="1400" dirty="0"/>
          </a:p>
        </p:txBody>
      </p:sp>
      <p:sp>
        <p:nvSpPr>
          <p:cNvPr id="9" name="Text 7"/>
          <p:cNvSpPr txBox="1"/>
          <p:nvPr/>
        </p:nvSpPr>
        <p:spPr>
          <a:xfrm>
            <a:off x="731520" y="1965960"/>
            <a:ext cx="2352980" cy="256032"/>
          </a:xfrm>
          <a:prstGeom prst="rect">
            <a:avLst/>
          </a:prstGeom>
          <a:noFill/>
          <a:ln/>
        </p:spPr>
        <p:txBody>
          <a:bodyPr wrap="square" lIns="0" tIns="0" rIns="0" bIns="0" rtlCol="0" anchor="ctr"/>
          <a:lstStyle/>
          <a:p>
            <a:pPr algn="ctr" indent="0" marL="0">
              <a:buNone/>
            </a:pPr>
            <a:r>
              <a:rPr lang="en-US" sz="1000" dirty="0">
                <a:solidFill>
                  <a:srgbClr val="BFBFC9"/>
                </a:solidFill>
                <a:latin typeface="Calibri" pitchFamily="34" charset="0"/>
                <a:ea typeface="Calibri" pitchFamily="34" charset="-122"/>
                <a:cs typeface="Calibri" pitchFamily="34" charset="-120"/>
              </a:rPr>
              <a:t>not a dictatorship</a:t>
            </a:r>
            <a:endParaRPr lang="en-US" sz="1000" dirty="0"/>
          </a:p>
        </p:txBody>
      </p:sp>
      <p:sp>
        <p:nvSpPr>
          <p:cNvPr id="10" name="Shape 8"/>
          <p:cNvSpPr/>
          <p:nvPr/>
        </p:nvSpPr>
        <p:spPr>
          <a:xfrm>
            <a:off x="3431972" y="1481328"/>
            <a:ext cx="2535860" cy="841248"/>
          </a:xfrm>
          <a:prstGeom prst="roundRect">
            <a:avLst>
              <a:gd name="adj" fmla="val 9783"/>
            </a:avLst>
          </a:prstGeom>
          <a:solidFill>
            <a:srgbClr val="17171B"/>
          </a:solidFill>
          <a:ln w="12700">
            <a:solidFill>
              <a:srgbClr val="17171B"/>
            </a:solidFill>
            <a:prstDash val="solid"/>
          </a:ln>
          <a:effectLst>
            <a:outerShdw sx="100000" sy="100000" kx="0" ky="0" algn="bl" rotWithShape="0" blurRad="127000" dist="25400" dir="5400000">
              <a:srgbClr val="9A9AA6">
                <a:alpha val="22000"/>
              </a:srgbClr>
            </a:outerShdw>
          </a:effectLst>
        </p:spPr>
      </p:sp>
      <p:sp>
        <p:nvSpPr>
          <p:cNvPr id="11" name="Text 9"/>
          <p:cNvSpPr txBox="1"/>
          <p:nvPr/>
        </p:nvSpPr>
        <p:spPr>
          <a:xfrm>
            <a:off x="3569132" y="1636776"/>
            <a:ext cx="2261540" cy="274320"/>
          </a:xfrm>
          <a:prstGeom prst="rect">
            <a:avLst/>
          </a:prstGeom>
          <a:noFill/>
          <a:ln/>
        </p:spPr>
        <p:txBody>
          <a:bodyPr wrap="square" lIns="0" tIns="0" rIns="0" bIns="0" rtlCol="0" anchor="ctr"/>
          <a:lstStyle/>
          <a:p>
            <a:pPr algn="ctr" indent="0" marL="0">
              <a:buNone/>
            </a:pPr>
            <a:r>
              <a:rPr lang="en-US" sz="1400" b="1" dirty="0">
                <a:solidFill>
                  <a:srgbClr val="E3B23C"/>
                </a:solidFill>
                <a:latin typeface="Cambria" pitchFamily="34" charset="0"/>
                <a:ea typeface="Cambria" pitchFamily="34" charset="-122"/>
                <a:cs typeface="Cambria" pitchFamily="34" charset="-120"/>
              </a:rPr>
              <a:t>MONARCHY</a:t>
            </a:r>
            <a:endParaRPr lang="en-US" sz="1400" dirty="0"/>
          </a:p>
        </p:txBody>
      </p:sp>
      <p:sp>
        <p:nvSpPr>
          <p:cNvPr id="12" name="Text 10"/>
          <p:cNvSpPr txBox="1"/>
          <p:nvPr/>
        </p:nvSpPr>
        <p:spPr>
          <a:xfrm>
            <a:off x="3523412" y="1965960"/>
            <a:ext cx="2352980" cy="256032"/>
          </a:xfrm>
          <a:prstGeom prst="rect">
            <a:avLst/>
          </a:prstGeom>
          <a:noFill/>
          <a:ln/>
        </p:spPr>
        <p:txBody>
          <a:bodyPr wrap="square" lIns="0" tIns="0" rIns="0" bIns="0" rtlCol="0" anchor="ctr"/>
          <a:lstStyle/>
          <a:p>
            <a:pPr algn="ctr" indent="0" marL="0">
              <a:buNone/>
            </a:pPr>
            <a:r>
              <a:rPr lang="en-US" sz="1000" dirty="0">
                <a:solidFill>
                  <a:srgbClr val="BFBFC9"/>
                </a:solidFill>
                <a:latin typeface="Calibri" pitchFamily="34" charset="0"/>
                <a:ea typeface="Calibri" pitchFamily="34" charset="-122"/>
                <a:cs typeface="Calibri" pitchFamily="34" charset="-120"/>
              </a:rPr>
              <a:t>not a republic</a:t>
            </a:r>
            <a:endParaRPr lang="en-US" sz="1000" dirty="0"/>
          </a:p>
        </p:txBody>
      </p:sp>
      <p:sp>
        <p:nvSpPr>
          <p:cNvPr id="13" name="Shape 11"/>
          <p:cNvSpPr/>
          <p:nvPr/>
        </p:nvSpPr>
        <p:spPr>
          <a:xfrm>
            <a:off x="6223864" y="1481328"/>
            <a:ext cx="2535860" cy="841248"/>
          </a:xfrm>
          <a:prstGeom prst="roundRect">
            <a:avLst>
              <a:gd name="adj" fmla="val 9783"/>
            </a:avLst>
          </a:prstGeom>
          <a:solidFill>
            <a:srgbClr val="17171B"/>
          </a:solidFill>
          <a:ln w="12700">
            <a:solidFill>
              <a:srgbClr val="17171B"/>
            </a:solidFill>
            <a:prstDash val="solid"/>
          </a:ln>
          <a:effectLst>
            <a:outerShdw sx="100000" sy="100000" kx="0" ky="0" algn="bl" rotWithShape="0" blurRad="127000" dist="25400" dir="5400000">
              <a:srgbClr val="9A9AA6">
                <a:alpha val="22000"/>
              </a:srgbClr>
            </a:outerShdw>
          </a:effectLst>
        </p:spPr>
      </p:sp>
      <p:sp>
        <p:nvSpPr>
          <p:cNvPr id="14" name="Text 12"/>
          <p:cNvSpPr txBox="1"/>
          <p:nvPr/>
        </p:nvSpPr>
        <p:spPr>
          <a:xfrm>
            <a:off x="6361024" y="1636776"/>
            <a:ext cx="2261540" cy="274320"/>
          </a:xfrm>
          <a:prstGeom prst="rect">
            <a:avLst/>
          </a:prstGeom>
          <a:noFill/>
          <a:ln/>
        </p:spPr>
        <p:txBody>
          <a:bodyPr wrap="square" lIns="0" tIns="0" rIns="0" bIns="0" rtlCol="0" anchor="ctr"/>
          <a:lstStyle/>
          <a:p>
            <a:pPr algn="ctr" indent="0" marL="0">
              <a:buNone/>
            </a:pPr>
            <a:r>
              <a:rPr lang="en-US" sz="1400" b="1" dirty="0">
                <a:solidFill>
                  <a:srgbClr val="E3B23C"/>
                </a:solidFill>
                <a:latin typeface="Cambria" pitchFamily="34" charset="0"/>
                <a:ea typeface="Cambria" pitchFamily="34" charset="-122"/>
                <a:cs typeface="Cambria" pitchFamily="34" charset="-120"/>
              </a:rPr>
              <a:t>FEDERAL</a:t>
            </a:r>
            <a:endParaRPr lang="en-US" sz="1400" dirty="0"/>
          </a:p>
        </p:txBody>
      </p:sp>
      <p:sp>
        <p:nvSpPr>
          <p:cNvPr id="15" name="Text 13"/>
          <p:cNvSpPr txBox="1"/>
          <p:nvPr/>
        </p:nvSpPr>
        <p:spPr>
          <a:xfrm>
            <a:off x="6315304" y="1965960"/>
            <a:ext cx="2352980" cy="256032"/>
          </a:xfrm>
          <a:prstGeom prst="rect">
            <a:avLst/>
          </a:prstGeom>
          <a:noFill/>
          <a:ln/>
        </p:spPr>
        <p:txBody>
          <a:bodyPr wrap="square" lIns="0" tIns="0" rIns="0" bIns="0" rtlCol="0" anchor="ctr"/>
          <a:lstStyle/>
          <a:p>
            <a:pPr algn="ctr" indent="0" marL="0">
              <a:buNone/>
            </a:pPr>
            <a:r>
              <a:rPr lang="en-US" sz="1000" dirty="0">
                <a:solidFill>
                  <a:srgbClr val="BFBFC9"/>
                </a:solidFill>
                <a:latin typeface="Calibri" pitchFamily="34" charset="0"/>
                <a:ea typeface="Calibri" pitchFamily="34" charset="-122"/>
                <a:cs typeface="Calibri" pitchFamily="34" charset="-120"/>
              </a:rPr>
              <a:t>not unitary, since 1993</a:t>
            </a:r>
            <a:endParaRPr lang="en-US" sz="1000" dirty="0"/>
          </a:p>
        </p:txBody>
      </p:sp>
      <p:sp>
        <p:nvSpPr>
          <p:cNvPr id="16" name="Shape 14"/>
          <p:cNvSpPr/>
          <p:nvPr/>
        </p:nvSpPr>
        <p:spPr>
          <a:xfrm>
            <a:off x="9015755" y="1481328"/>
            <a:ext cx="2535860" cy="841248"/>
          </a:xfrm>
          <a:prstGeom prst="roundRect">
            <a:avLst>
              <a:gd name="adj" fmla="val 9783"/>
            </a:avLst>
          </a:prstGeom>
          <a:solidFill>
            <a:srgbClr val="17171B"/>
          </a:solidFill>
          <a:ln w="12700">
            <a:solidFill>
              <a:srgbClr val="17171B"/>
            </a:solidFill>
            <a:prstDash val="solid"/>
          </a:ln>
          <a:effectLst>
            <a:outerShdw sx="100000" sy="100000" kx="0" ky="0" algn="bl" rotWithShape="0" blurRad="127000" dist="25400" dir="5400000">
              <a:srgbClr val="9A9AA6">
                <a:alpha val="22000"/>
              </a:srgbClr>
            </a:outerShdw>
          </a:effectLst>
        </p:spPr>
      </p:sp>
      <p:sp>
        <p:nvSpPr>
          <p:cNvPr id="17" name="Text 15"/>
          <p:cNvSpPr txBox="1"/>
          <p:nvPr/>
        </p:nvSpPr>
        <p:spPr>
          <a:xfrm>
            <a:off x="9152915" y="1636776"/>
            <a:ext cx="2261540" cy="274320"/>
          </a:xfrm>
          <a:prstGeom prst="rect">
            <a:avLst/>
          </a:prstGeom>
          <a:noFill/>
          <a:ln/>
        </p:spPr>
        <p:txBody>
          <a:bodyPr wrap="square" lIns="0" tIns="0" rIns="0" bIns="0" rtlCol="0" anchor="ctr"/>
          <a:lstStyle/>
          <a:p>
            <a:pPr algn="ctr" indent="0" marL="0">
              <a:buNone/>
            </a:pPr>
            <a:r>
              <a:rPr lang="en-US" sz="1400" b="1" dirty="0">
                <a:solidFill>
                  <a:srgbClr val="E3B23C"/>
                </a:solidFill>
                <a:latin typeface="Cambria" pitchFamily="34" charset="0"/>
                <a:ea typeface="Cambria" pitchFamily="34" charset="-122"/>
                <a:cs typeface="Cambria" pitchFamily="34" charset="-120"/>
              </a:rPr>
              <a:t>PARLIAMENTARY</a:t>
            </a:r>
            <a:endParaRPr lang="en-US" sz="1400" dirty="0"/>
          </a:p>
        </p:txBody>
      </p:sp>
      <p:sp>
        <p:nvSpPr>
          <p:cNvPr id="18" name="Text 16"/>
          <p:cNvSpPr txBox="1"/>
          <p:nvPr/>
        </p:nvSpPr>
        <p:spPr>
          <a:xfrm>
            <a:off x="9107195" y="1965960"/>
            <a:ext cx="2352980" cy="256032"/>
          </a:xfrm>
          <a:prstGeom prst="rect">
            <a:avLst/>
          </a:prstGeom>
          <a:noFill/>
          <a:ln/>
        </p:spPr>
        <p:txBody>
          <a:bodyPr wrap="square" lIns="0" tIns="0" rIns="0" bIns="0" rtlCol="0" anchor="ctr"/>
          <a:lstStyle/>
          <a:p>
            <a:pPr algn="ctr" indent="0" marL="0">
              <a:buNone/>
            </a:pPr>
            <a:r>
              <a:rPr lang="en-US" sz="1000" dirty="0">
                <a:solidFill>
                  <a:srgbClr val="BFBFC9"/>
                </a:solidFill>
                <a:latin typeface="Calibri" pitchFamily="34" charset="0"/>
                <a:ea typeface="Calibri" pitchFamily="34" charset="-122"/>
                <a:cs typeface="Calibri" pitchFamily="34" charset="-120"/>
              </a:rPr>
              <a:t>the government answers to parliament</a:t>
            </a:r>
            <a:endParaRPr lang="en-US" sz="1000" dirty="0"/>
          </a:p>
        </p:txBody>
      </p:sp>
      <p:sp>
        <p:nvSpPr>
          <p:cNvPr id="19" name="Text 17"/>
          <p:cNvSpPr txBox="1"/>
          <p:nvPr/>
        </p:nvSpPr>
        <p:spPr>
          <a:xfrm>
            <a:off x="640080" y="2487168"/>
            <a:ext cx="10911535" cy="237744"/>
          </a:xfrm>
          <a:prstGeom prst="rect">
            <a:avLst/>
          </a:prstGeom>
          <a:noFill/>
          <a:ln/>
        </p:spPr>
        <p:txBody>
          <a:bodyPr wrap="square" lIns="0" tIns="0" rIns="0" bIns="0" rtlCol="0" anchor="ctr"/>
          <a:lstStyle/>
          <a:p>
            <a:pPr indent="0" marL="0">
              <a:buNone/>
            </a:pPr>
            <a:r>
              <a:rPr lang="en-US" sz="1050" b="1" spc="120" kern="0" dirty="0">
                <a:solidFill>
                  <a:srgbClr val="E3B23C"/>
                </a:solidFill>
                <a:latin typeface="Calibri" pitchFamily="34" charset="0"/>
                <a:ea typeface="Calibri" pitchFamily="34" charset="-122"/>
                <a:cs typeface="Calibri" pitchFamily="34" charset="-120"/>
              </a:rPr>
              <a:t>THREE LEVELS OF GOVERNMENT</a:t>
            </a:r>
            <a:endParaRPr lang="en-US" sz="1050" dirty="0"/>
          </a:p>
        </p:txBody>
      </p:sp>
      <p:sp>
        <p:nvSpPr>
          <p:cNvPr id="20" name="Shape 18"/>
          <p:cNvSpPr/>
          <p:nvPr/>
        </p:nvSpPr>
        <p:spPr>
          <a:xfrm>
            <a:off x="640080" y="2779776"/>
            <a:ext cx="10911535" cy="969264"/>
          </a:xfrm>
          <a:prstGeom prst="roundRect">
            <a:avLst>
              <a:gd name="adj" fmla="val 8491"/>
            </a:avLst>
          </a:prstGeom>
          <a:solidFill>
            <a:srgbClr val="F4F4F6"/>
          </a:solidFill>
          <a:ln w="12700">
            <a:solidFill>
              <a:srgbClr val="E4E4E9"/>
            </a:solidFill>
            <a:prstDash val="solid"/>
          </a:ln>
          <a:effectLst>
            <a:outerShdw sx="100000" sy="100000" kx="0" ky="0" algn="bl" rotWithShape="0" blurRad="127000" dist="25400" dir="5400000">
              <a:srgbClr val="9A9AA6">
                <a:alpha val="22000"/>
              </a:srgbClr>
            </a:outerShdw>
          </a:effectLst>
        </p:spPr>
      </p:sp>
      <p:sp>
        <p:nvSpPr>
          <p:cNvPr id="21" name="Shape 19"/>
          <p:cNvSpPr/>
          <p:nvPr/>
        </p:nvSpPr>
        <p:spPr>
          <a:xfrm>
            <a:off x="896112" y="3063240"/>
            <a:ext cx="402336" cy="402336"/>
          </a:xfrm>
          <a:prstGeom prst="ellipse">
            <a:avLst/>
          </a:prstGeom>
          <a:solidFill>
            <a:srgbClr val="E3B23C"/>
          </a:solidFill>
          <a:ln/>
        </p:spPr>
      </p:sp>
      <p:sp>
        <p:nvSpPr>
          <p:cNvPr id="22" name="Text 20"/>
          <p:cNvSpPr txBox="1"/>
          <p:nvPr/>
        </p:nvSpPr>
        <p:spPr>
          <a:xfrm>
            <a:off x="896112" y="3063240"/>
            <a:ext cx="402336" cy="402336"/>
          </a:xfrm>
          <a:prstGeom prst="rect">
            <a:avLst/>
          </a:prstGeom>
          <a:noFill/>
          <a:ln/>
        </p:spPr>
        <p:txBody>
          <a:bodyPr wrap="square" lIns="0" tIns="0" rIns="0" bIns="0" rtlCol="0" anchor="ctr"/>
          <a:lstStyle/>
          <a:p>
            <a:pPr algn="ctr" indent="0" marL="0">
              <a:buNone/>
            </a:pPr>
            <a:r>
              <a:rPr lang="en-US" sz="1150" b="1" dirty="0">
                <a:solidFill>
                  <a:srgbClr val="17171B"/>
                </a:solidFill>
                <a:latin typeface="Calibri" pitchFamily="34" charset="0"/>
                <a:ea typeface="Calibri" pitchFamily="34" charset="-122"/>
                <a:cs typeface="Calibri" pitchFamily="34" charset="-120"/>
              </a:rPr>
              <a:t>1</a:t>
            </a:r>
            <a:endParaRPr lang="en-US" sz="1150" dirty="0"/>
          </a:p>
        </p:txBody>
      </p:sp>
      <p:sp>
        <p:nvSpPr>
          <p:cNvPr id="23" name="Text 21"/>
          <p:cNvSpPr txBox="1"/>
          <p:nvPr/>
        </p:nvSpPr>
        <p:spPr>
          <a:xfrm>
            <a:off x="1463040" y="2898648"/>
            <a:ext cx="3108960" cy="256032"/>
          </a:xfrm>
          <a:prstGeom prst="rect">
            <a:avLst/>
          </a:prstGeom>
          <a:noFill/>
          <a:ln/>
        </p:spPr>
        <p:txBody>
          <a:bodyPr wrap="square" lIns="0" tIns="0" rIns="0" bIns="0" rtlCol="0" anchor="ctr"/>
          <a:lstStyle/>
          <a:p>
            <a:pPr indent="0" marL="0">
              <a:buNone/>
            </a:pPr>
            <a:r>
              <a:rPr lang="en-US" sz="1300" b="1" dirty="0">
                <a:solidFill>
                  <a:srgbClr val="17171B"/>
                </a:solidFill>
                <a:latin typeface="Calibri" pitchFamily="34" charset="0"/>
                <a:ea typeface="Calibri" pitchFamily="34" charset="-122"/>
                <a:cs typeface="Calibri" pitchFamily="34" charset="-120"/>
              </a:rPr>
              <a:t>THE FEDERAL LEVEL</a:t>
            </a:r>
            <a:endParaRPr lang="en-US" sz="1300" dirty="0"/>
          </a:p>
        </p:txBody>
      </p:sp>
      <p:sp>
        <p:nvSpPr>
          <p:cNvPr id="24" name="Text 22"/>
          <p:cNvSpPr txBox="1"/>
          <p:nvPr/>
        </p:nvSpPr>
        <p:spPr>
          <a:xfrm>
            <a:off x="1463040" y="3163824"/>
            <a:ext cx="3108960" cy="502920"/>
          </a:xfrm>
          <a:prstGeom prst="rect">
            <a:avLst/>
          </a:prstGeom>
          <a:noFill/>
          <a:ln/>
        </p:spPr>
        <p:txBody>
          <a:bodyPr wrap="square" lIns="0" tIns="0" rIns="0" bIns="0" rtlCol="0" anchor="ctr"/>
          <a:lstStyle/>
          <a:p>
            <a:pPr indent="0" marL="0">
              <a:lnSpc>
                <a:spcPct val="100000"/>
              </a:lnSpc>
              <a:buNone/>
            </a:pPr>
            <a:r>
              <a:rPr lang="en-US" sz="950" dirty="0">
                <a:solidFill>
                  <a:srgbClr val="70707C"/>
                </a:solidFill>
                <a:latin typeface="Calibri" pitchFamily="34" charset="0"/>
                <a:ea typeface="Calibri" pitchFamily="34" charset="-122"/>
                <a:cs typeface="Calibri" pitchFamily="34" charset="-120"/>
              </a:rPr>
              <a:t>Defence, justice, police, foreign affairs, social security, most taxation.</a:t>
            </a:r>
            <a:endParaRPr lang="en-US" sz="950" dirty="0"/>
          </a:p>
        </p:txBody>
      </p:sp>
      <p:sp>
        <p:nvSpPr>
          <p:cNvPr id="25" name="Text 23"/>
          <p:cNvSpPr txBox="1"/>
          <p:nvPr/>
        </p:nvSpPr>
        <p:spPr>
          <a:xfrm>
            <a:off x="4754880" y="2926080"/>
            <a:ext cx="6522415" cy="713232"/>
          </a:xfrm>
          <a:prstGeom prst="rect">
            <a:avLst/>
          </a:prstGeom>
          <a:noFill/>
          <a:ln/>
        </p:spPr>
        <p:txBody>
          <a:bodyPr wrap="square" lIns="0" tIns="0" rIns="0" bIns="0" rtlCol="0" anchor="ctr"/>
          <a:lstStyle/>
          <a:p>
            <a:pPr indent="0" marL="0">
              <a:lnSpc>
                <a:spcPct val="105000"/>
              </a:lnSpc>
              <a:buNone/>
            </a:pPr>
            <a:r>
              <a:rPr lang="en-US" sz="1050" dirty="0">
                <a:solidFill>
                  <a:srgbClr val="3E3E48"/>
                </a:solidFill>
                <a:latin typeface="Calibri" pitchFamily="34" charset="0"/>
                <a:ea typeface="Calibri" pitchFamily="34" charset="-122"/>
                <a:cs typeface="Calibri" pitchFamily="34" charset="-120"/>
              </a:rPr>
              <a:t>King Philippe, Head of State  ·  Prime Minister Bart De Wever  ·  Chamber of Representatives, 150 members elected by proportional representation  ·  Senate, 60 members, mostly appointed by the regional and community parliaments</a:t>
            </a:r>
            <a:endParaRPr lang="en-US" sz="1050" dirty="0"/>
          </a:p>
        </p:txBody>
      </p:sp>
      <p:sp>
        <p:nvSpPr>
          <p:cNvPr id="26" name="Shape 24"/>
          <p:cNvSpPr/>
          <p:nvPr/>
        </p:nvSpPr>
        <p:spPr>
          <a:xfrm>
            <a:off x="640080" y="3858768"/>
            <a:ext cx="10911535" cy="969264"/>
          </a:xfrm>
          <a:prstGeom prst="roundRect">
            <a:avLst>
              <a:gd name="adj" fmla="val 8491"/>
            </a:avLst>
          </a:prstGeom>
          <a:solidFill>
            <a:srgbClr val="F4F4F6"/>
          </a:solidFill>
          <a:ln w="12700">
            <a:solidFill>
              <a:srgbClr val="E4E4E9"/>
            </a:solidFill>
            <a:prstDash val="solid"/>
          </a:ln>
          <a:effectLst>
            <a:outerShdw sx="100000" sy="100000" kx="0" ky="0" algn="bl" rotWithShape="0" blurRad="127000" dist="25400" dir="5400000">
              <a:srgbClr val="9A9AA6">
                <a:alpha val="22000"/>
              </a:srgbClr>
            </a:outerShdw>
          </a:effectLst>
        </p:spPr>
      </p:sp>
      <p:sp>
        <p:nvSpPr>
          <p:cNvPr id="27" name="Shape 25"/>
          <p:cNvSpPr/>
          <p:nvPr/>
        </p:nvSpPr>
        <p:spPr>
          <a:xfrm>
            <a:off x="896112" y="4142232"/>
            <a:ext cx="402336" cy="402336"/>
          </a:xfrm>
          <a:prstGeom prst="ellipse">
            <a:avLst/>
          </a:prstGeom>
          <a:solidFill>
            <a:srgbClr val="E3B23C"/>
          </a:solidFill>
          <a:ln/>
        </p:spPr>
      </p:sp>
      <p:sp>
        <p:nvSpPr>
          <p:cNvPr id="28" name="Text 26"/>
          <p:cNvSpPr txBox="1"/>
          <p:nvPr/>
        </p:nvSpPr>
        <p:spPr>
          <a:xfrm>
            <a:off x="896112" y="4142232"/>
            <a:ext cx="402336" cy="402336"/>
          </a:xfrm>
          <a:prstGeom prst="rect">
            <a:avLst/>
          </a:prstGeom>
          <a:noFill/>
          <a:ln/>
        </p:spPr>
        <p:txBody>
          <a:bodyPr wrap="square" lIns="0" tIns="0" rIns="0" bIns="0" rtlCol="0" anchor="ctr"/>
          <a:lstStyle/>
          <a:p>
            <a:pPr algn="ctr" indent="0" marL="0">
              <a:buNone/>
            </a:pPr>
            <a:r>
              <a:rPr lang="en-US" sz="1150" b="1" dirty="0">
                <a:solidFill>
                  <a:srgbClr val="17171B"/>
                </a:solidFill>
                <a:latin typeface="Calibri" pitchFamily="34" charset="0"/>
                <a:ea typeface="Calibri" pitchFamily="34" charset="-122"/>
                <a:cs typeface="Calibri" pitchFamily="34" charset="-120"/>
              </a:rPr>
              <a:t>2</a:t>
            </a:r>
            <a:endParaRPr lang="en-US" sz="1150" dirty="0"/>
          </a:p>
        </p:txBody>
      </p:sp>
      <p:sp>
        <p:nvSpPr>
          <p:cNvPr id="29" name="Text 27"/>
          <p:cNvSpPr txBox="1"/>
          <p:nvPr/>
        </p:nvSpPr>
        <p:spPr>
          <a:xfrm>
            <a:off x="1463040" y="3977640"/>
            <a:ext cx="3108960" cy="256032"/>
          </a:xfrm>
          <a:prstGeom prst="rect">
            <a:avLst/>
          </a:prstGeom>
          <a:noFill/>
          <a:ln/>
        </p:spPr>
        <p:txBody>
          <a:bodyPr wrap="square" lIns="0" tIns="0" rIns="0" bIns="0" rtlCol="0" anchor="ctr"/>
          <a:lstStyle/>
          <a:p>
            <a:pPr indent="0" marL="0">
              <a:buNone/>
            </a:pPr>
            <a:r>
              <a:rPr lang="en-US" sz="1300" b="1" dirty="0">
                <a:solidFill>
                  <a:srgbClr val="17171B"/>
                </a:solidFill>
                <a:latin typeface="Calibri" pitchFamily="34" charset="0"/>
                <a:ea typeface="Calibri" pitchFamily="34" charset="-122"/>
                <a:cs typeface="Calibri" pitchFamily="34" charset="-120"/>
              </a:rPr>
              <a:t>THE THREE REGIONS</a:t>
            </a:r>
            <a:endParaRPr lang="en-US" sz="1300" dirty="0"/>
          </a:p>
        </p:txBody>
      </p:sp>
      <p:sp>
        <p:nvSpPr>
          <p:cNvPr id="30" name="Text 28"/>
          <p:cNvSpPr txBox="1"/>
          <p:nvPr/>
        </p:nvSpPr>
        <p:spPr>
          <a:xfrm>
            <a:off x="1463040" y="4242816"/>
            <a:ext cx="3108960" cy="502920"/>
          </a:xfrm>
          <a:prstGeom prst="rect">
            <a:avLst/>
          </a:prstGeom>
          <a:noFill/>
          <a:ln/>
        </p:spPr>
        <p:txBody>
          <a:bodyPr wrap="square" lIns="0" tIns="0" rIns="0" bIns="0" rtlCol="0" anchor="ctr"/>
          <a:lstStyle/>
          <a:p>
            <a:pPr indent="0" marL="0">
              <a:lnSpc>
                <a:spcPct val="100000"/>
              </a:lnSpc>
              <a:buNone/>
            </a:pPr>
            <a:r>
              <a:rPr lang="en-US" sz="950" dirty="0">
                <a:solidFill>
                  <a:srgbClr val="70707C"/>
                </a:solidFill>
                <a:latin typeface="Calibri" pitchFamily="34" charset="0"/>
                <a:ea typeface="Calibri" pitchFamily="34" charset="-122"/>
                <a:cs typeface="Calibri" pitchFamily="34" charset="-120"/>
              </a:rPr>
              <a:t>Territory: economy, employment, transport, housing, environment, agriculture.</a:t>
            </a:r>
            <a:endParaRPr lang="en-US" sz="950" dirty="0"/>
          </a:p>
        </p:txBody>
      </p:sp>
      <p:sp>
        <p:nvSpPr>
          <p:cNvPr id="31" name="Text 29"/>
          <p:cNvSpPr txBox="1"/>
          <p:nvPr/>
        </p:nvSpPr>
        <p:spPr>
          <a:xfrm>
            <a:off x="4754880" y="4005072"/>
            <a:ext cx="6522415" cy="713232"/>
          </a:xfrm>
          <a:prstGeom prst="rect">
            <a:avLst/>
          </a:prstGeom>
          <a:noFill/>
          <a:ln/>
        </p:spPr>
        <p:txBody>
          <a:bodyPr wrap="square" lIns="0" tIns="0" rIns="0" bIns="0" rtlCol="0" anchor="ctr"/>
          <a:lstStyle/>
          <a:p>
            <a:pPr indent="0" marL="0">
              <a:lnSpc>
                <a:spcPct val="105000"/>
              </a:lnSpc>
              <a:buNone/>
            </a:pPr>
            <a:r>
              <a:rPr lang="en-US" sz="1050" dirty="0">
                <a:solidFill>
                  <a:srgbClr val="3E3E48"/>
                </a:solidFill>
                <a:latin typeface="Calibri" pitchFamily="34" charset="0"/>
                <a:ea typeface="Calibri" pitchFamily="34" charset="-122"/>
                <a:cs typeface="Calibri" pitchFamily="34" charset="-120"/>
              </a:rPr>
              <a:t>Flanders  ·  Wallonia  ·  Brussels-Capital — each with its own elected parliament and its own government</a:t>
            </a:r>
            <a:endParaRPr lang="en-US" sz="1050" dirty="0"/>
          </a:p>
        </p:txBody>
      </p:sp>
      <p:sp>
        <p:nvSpPr>
          <p:cNvPr id="32" name="Shape 30"/>
          <p:cNvSpPr/>
          <p:nvPr/>
        </p:nvSpPr>
        <p:spPr>
          <a:xfrm>
            <a:off x="640080" y="4937760"/>
            <a:ext cx="10911535" cy="969264"/>
          </a:xfrm>
          <a:prstGeom prst="roundRect">
            <a:avLst>
              <a:gd name="adj" fmla="val 8491"/>
            </a:avLst>
          </a:prstGeom>
          <a:solidFill>
            <a:srgbClr val="F4F4F6"/>
          </a:solidFill>
          <a:ln w="12700">
            <a:solidFill>
              <a:srgbClr val="E4E4E9"/>
            </a:solidFill>
            <a:prstDash val="solid"/>
          </a:ln>
          <a:effectLst>
            <a:outerShdw sx="100000" sy="100000" kx="0" ky="0" algn="bl" rotWithShape="0" blurRad="127000" dist="25400" dir="5400000">
              <a:srgbClr val="9A9AA6">
                <a:alpha val="22000"/>
              </a:srgbClr>
            </a:outerShdw>
          </a:effectLst>
        </p:spPr>
      </p:sp>
      <p:sp>
        <p:nvSpPr>
          <p:cNvPr id="33" name="Shape 31"/>
          <p:cNvSpPr/>
          <p:nvPr/>
        </p:nvSpPr>
        <p:spPr>
          <a:xfrm>
            <a:off x="896112" y="5221224"/>
            <a:ext cx="402336" cy="402336"/>
          </a:xfrm>
          <a:prstGeom prst="ellipse">
            <a:avLst/>
          </a:prstGeom>
          <a:solidFill>
            <a:srgbClr val="E3B23C"/>
          </a:solidFill>
          <a:ln/>
        </p:spPr>
      </p:sp>
      <p:sp>
        <p:nvSpPr>
          <p:cNvPr id="34" name="Text 32"/>
          <p:cNvSpPr txBox="1"/>
          <p:nvPr/>
        </p:nvSpPr>
        <p:spPr>
          <a:xfrm>
            <a:off x="896112" y="5221224"/>
            <a:ext cx="402336" cy="402336"/>
          </a:xfrm>
          <a:prstGeom prst="rect">
            <a:avLst/>
          </a:prstGeom>
          <a:noFill/>
          <a:ln/>
        </p:spPr>
        <p:txBody>
          <a:bodyPr wrap="square" lIns="0" tIns="0" rIns="0" bIns="0" rtlCol="0" anchor="ctr"/>
          <a:lstStyle/>
          <a:p>
            <a:pPr algn="ctr" indent="0" marL="0">
              <a:buNone/>
            </a:pPr>
            <a:r>
              <a:rPr lang="en-US" sz="1150" b="1" dirty="0">
                <a:solidFill>
                  <a:srgbClr val="17171B"/>
                </a:solidFill>
                <a:latin typeface="Calibri" pitchFamily="34" charset="0"/>
                <a:ea typeface="Calibri" pitchFamily="34" charset="-122"/>
                <a:cs typeface="Calibri" pitchFamily="34" charset="-120"/>
              </a:rPr>
              <a:t>3</a:t>
            </a:r>
            <a:endParaRPr lang="en-US" sz="1150" dirty="0"/>
          </a:p>
        </p:txBody>
      </p:sp>
      <p:sp>
        <p:nvSpPr>
          <p:cNvPr id="35" name="Text 33"/>
          <p:cNvSpPr txBox="1"/>
          <p:nvPr/>
        </p:nvSpPr>
        <p:spPr>
          <a:xfrm>
            <a:off x="1463040" y="5056632"/>
            <a:ext cx="3108960" cy="256032"/>
          </a:xfrm>
          <a:prstGeom prst="rect">
            <a:avLst/>
          </a:prstGeom>
          <a:noFill/>
          <a:ln/>
        </p:spPr>
        <p:txBody>
          <a:bodyPr wrap="square" lIns="0" tIns="0" rIns="0" bIns="0" rtlCol="0" anchor="ctr"/>
          <a:lstStyle/>
          <a:p>
            <a:pPr indent="0" marL="0">
              <a:buNone/>
            </a:pPr>
            <a:r>
              <a:rPr lang="en-US" sz="1300" b="1" dirty="0">
                <a:solidFill>
                  <a:srgbClr val="17171B"/>
                </a:solidFill>
                <a:latin typeface="Calibri" pitchFamily="34" charset="0"/>
                <a:ea typeface="Calibri" pitchFamily="34" charset="-122"/>
                <a:cs typeface="Calibri" pitchFamily="34" charset="-120"/>
              </a:rPr>
              <a:t>THE THREE COMMUNITIES</a:t>
            </a:r>
            <a:endParaRPr lang="en-US" sz="1300" dirty="0"/>
          </a:p>
        </p:txBody>
      </p:sp>
      <p:sp>
        <p:nvSpPr>
          <p:cNvPr id="36" name="Text 34"/>
          <p:cNvSpPr txBox="1"/>
          <p:nvPr/>
        </p:nvSpPr>
        <p:spPr>
          <a:xfrm>
            <a:off x="1463040" y="5321808"/>
            <a:ext cx="3108960" cy="502920"/>
          </a:xfrm>
          <a:prstGeom prst="rect">
            <a:avLst/>
          </a:prstGeom>
          <a:noFill/>
          <a:ln/>
        </p:spPr>
        <p:txBody>
          <a:bodyPr wrap="square" lIns="0" tIns="0" rIns="0" bIns="0" rtlCol="0" anchor="ctr"/>
          <a:lstStyle/>
          <a:p>
            <a:pPr indent="0" marL="0">
              <a:lnSpc>
                <a:spcPct val="100000"/>
              </a:lnSpc>
              <a:buNone/>
            </a:pPr>
            <a:r>
              <a:rPr lang="en-US" sz="950" dirty="0">
                <a:solidFill>
                  <a:srgbClr val="70707C"/>
                </a:solidFill>
                <a:latin typeface="Calibri" pitchFamily="34" charset="0"/>
                <a:ea typeface="Calibri" pitchFamily="34" charset="-122"/>
                <a:cs typeface="Calibri" pitchFamily="34" charset="-120"/>
              </a:rPr>
              <a:t>People: education, culture, language, health and welfare policy.</a:t>
            </a:r>
            <a:endParaRPr lang="en-US" sz="950" dirty="0"/>
          </a:p>
        </p:txBody>
      </p:sp>
      <p:sp>
        <p:nvSpPr>
          <p:cNvPr id="37" name="Text 35"/>
          <p:cNvSpPr txBox="1"/>
          <p:nvPr/>
        </p:nvSpPr>
        <p:spPr>
          <a:xfrm>
            <a:off x="4754880" y="5084064"/>
            <a:ext cx="6522415" cy="713232"/>
          </a:xfrm>
          <a:prstGeom prst="rect">
            <a:avLst/>
          </a:prstGeom>
          <a:noFill/>
          <a:ln/>
        </p:spPr>
        <p:txBody>
          <a:bodyPr wrap="square" lIns="0" tIns="0" rIns="0" bIns="0" rtlCol="0" anchor="ctr"/>
          <a:lstStyle/>
          <a:p>
            <a:pPr indent="0" marL="0">
              <a:lnSpc>
                <a:spcPct val="105000"/>
              </a:lnSpc>
              <a:buNone/>
            </a:pPr>
            <a:r>
              <a:rPr lang="en-US" sz="1050" dirty="0">
                <a:solidFill>
                  <a:srgbClr val="3E3E48"/>
                </a:solidFill>
                <a:latin typeface="Calibri" pitchFamily="34" charset="0"/>
                <a:ea typeface="Calibri" pitchFamily="34" charset="-122"/>
                <a:cs typeface="Calibri" pitchFamily="34" charset="-120"/>
              </a:rPr>
              <a:t>Flemish Community  ·  French Community (Fédération Wallonie-Bruxelles)  ·  German-speaking Community</a:t>
            </a:r>
            <a:endParaRPr lang="en-US" sz="1050" dirty="0"/>
          </a:p>
        </p:txBody>
      </p:sp>
      <p:sp>
        <p:nvSpPr>
          <p:cNvPr id="38" name="Text 36"/>
          <p:cNvSpPr txBox="1"/>
          <p:nvPr/>
        </p:nvSpPr>
        <p:spPr>
          <a:xfrm>
            <a:off x="1170432" y="5925312"/>
            <a:ext cx="10381183" cy="274320"/>
          </a:xfrm>
          <a:prstGeom prst="rect">
            <a:avLst/>
          </a:prstGeom>
          <a:noFill/>
          <a:ln/>
        </p:spPr>
        <p:txBody>
          <a:bodyPr wrap="square" lIns="0" tIns="0" rIns="0" bIns="0" rtlCol="0" anchor="ctr"/>
          <a:lstStyle/>
          <a:p>
            <a:pPr indent="0" marL="0">
              <a:buNone/>
            </a:pPr>
            <a:r>
              <a:rPr lang="en-US" sz="1050" i="1" dirty="0">
                <a:solidFill>
                  <a:srgbClr val="70707C"/>
                </a:solidFill>
                <a:latin typeface="Calibri" pitchFamily="34" charset="0"/>
                <a:ea typeface="Calibri" pitchFamily="34" charset="-122"/>
                <a:cs typeface="Calibri" pitchFamily="34" charset="-120"/>
              </a:rPr>
              <a:t>Voting is compulsory from the age of 18, and because parties are organised by language, every federal government is a coalition.</a:t>
            </a:r>
            <a:endParaRPr lang="en-US" sz="105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640080" y="402336"/>
            <a:ext cx="5852160" cy="237744"/>
          </a:xfrm>
          <a:prstGeom prst="rect">
            <a:avLst/>
          </a:prstGeom>
          <a:noFill/>
          <a:ln/>
        </p:spPr>
        <p:txBody>
          <a:bodyPr wrap="square" lIns="0" tIns="0" rIns="0" bIns="0" rtlCol="0" anchor="ctr"/>
          <a:lstStyle/>
          <a:p>
            <a:pPr indent="0" marL="0">
              <a:buNone/>
            </a:pPr>
            <a:r>
              <a:rPr lang="en-US" sz="1150" b="1" spc="220" kern="0" dirty="0">
                <a:solidFill>
                  <a:srgbClr val="E3B23C"/>
                </a:solidFill>
                <a:latin typeface="Calibri" pitchFamily="34" charset="0"/>
                <a:ea typeface="Calibri" pitchFamily="34" charset="-122"/>
                <a:cs typeface="Calibri" pitchFamily="34" charset="-120"/>
              </a:rPr>
              <a:t>LE ROI PHILIPPE</a:t>
            </a:r>
            <a:endParaRPr lang="en-US" sz="1150" dirty="0"/>
          </a:p>
        </p:txBody>
      </p:sp>
      <p:sp>
        <p:nvSpPr>
          <p:cNvPr id="3" name="Text 1"/>
          <p:cNvSpPr txBox="1"/>
          <p:nvPr/>
        </p:nvSpPr>
        <p:spPr>
          <a:xfrm>
            <a:off x="640080" y="676656"/>
            <a:ext cx="5852160" cy="603504"/>
          </a:xfrm>
          <a:prstGeom prst="rect">
            <a:avLst/>
          </a:prstGeom>
          <a:noFill/>
          <a:ln/>
        </p:spPr>
        <p:txBody>
          <a:bodyPr wrap="square" lIns="0" tIns="0" rIns="0" bIns="0" rtlCol="0" anchor="ctr"/>
          <a:lstStyle/>
          <a:p>
            <a:pPr indent="0" marL="0">
              <a:buNone/>
            </a:pPr>
            <a:r>
              <a:rPr lang="en-US" sz="3100" b="1" dirty="0">
                <a:solidFill>
                  <a:srgbClr val="17171B"/>
                </a:solidFill>
                <a:latin typeface="Cambria" pitchFamily="34" charset="0"/>
                <a:ea typeface="Cambria" pitchFamily="34" charset="-122"/>
                <a:cs typeface="Cambria" pitchFamily="34" charset="-120"/>
              </a:rPr>
              <a:t>Head of State since 21 July 2013</a:t>
            </a:r>
            <a:endParaRPr lang="en-US" sz="3100" dirty="0"/>
          </a:p>
        </p:txBody>
      </p:sp>
      <p:sp>
        <p:nvSpPr>
          <p:cNvPr id="4" name="Shape 2"/>
          <p:cNvSpPr/>
          <p:nvPr/>
        </p:nvSpPr>
        <p:spPr>
          <a:xfrm>
            <a:off x="640080" y="6163056"/>
            <a:ext cx="384048" cy="384048"/>
          </a:xfrm>
          <a:prstGeom prst="ellipse">
            <a:avLst/>
          </a:prstGeom>
          <a:solidFill>
            <a:srgbClr val="E3B23C"/>
          </a:solidFill>
          <a:ln/>
        </p:spPr>
      </p:sp>
      <p:sp>
        <p:nvSpPr>
          <p:cNvPr id="5" name="Text 3"/>
          <p:cNvSpPr txBox="1"/>
          <p:nvPr/>
        </p:nvSpPr>
        <p:spPr>
          <a:xfrm>
            <a:off x="640080" y="6163056"/>
            <a:ext cx="384048" cy="384048"/>
          </a:xfrm>
          <a:prstGeom prst="rect">
            <a:avLst/>
          </a:prstGeom>
          <a:noFill/>
          <a:ln/>
        </p:spPr>
        <p:txBody>
          <a:bodyPr wrap="square" lIns="0" tIns="0" rIns="0" bIns="0" rtlCol="0" anchor="ctr"/>
          <a:lstStyle/>
          <a:p>
            <a:pPr algn="ctr" indent="0" marL="0">
              <a:buNone/>
            </a:pPr>
            <a:r>
              <a:rPr lang="en-US" sz="1200" b="1" dirty="0">
                <a:solidFill>
                  <a:srgbClr val="17171B"/>
                </a:solidFill>
                <a:latin typeface="Calibri" pitchFamily="34" charset="0"/>
                <a:ea typeface="Calibri" pitchFamily="34" charset="-122"/>
                <a:cs typeface="Calibri" pitchFamily="34" charset="-120"/>
              </a:rPr>
              <a:t>13</a:t>
            </a:r>
            <a:endParaRPr lang="en-US" sz="1200" dirty="0"/>
          </a:p>
        </p:txBody>
      </p:sp>
      <p:sp>
        <p:nvSpPr>
          <p:cNvPr id="6" name="Text 4"/>
          <p:cNvSpPr txBox="1"/>
          <p:nvPr/>
        </p:nvSpPr>
        <p:spPr>
          <a:xfrm>
            <a:off x="6035040" y="6245352"/>
            <a:ext cx="5516575" cy="237744"/>
          </a:xfrm>
          <a:prstGeom prst="rect">
            <a:avLst/>
          </a:prstGeom>
          <a:noFill/>
          <a:ln/>
        </p:spPr>
        <p:txBody>
          <a:bodyPr wrap="square" lIns="0" tIns="0" rIns="0" bIns="0" rtlCol="0" anchor="ctr"/>
          <a:lstStyle/>
          <a:p>
            <a:pPr algn="r" indent="0" marL="0">
              <a:buNone/>
            </a:pPr>
            <a:r>
              <a:rPr lang="en-US" sz="900" dirty="0">
                <a:solidFill>
                  <a:srgbClr val="70707C"/>
                </a:solidFill>
                <a:latin typeface="Calibri" pitchFamily="34" charset="0"/>
                <a:ea typeface="Calibri" pitchFamily="34" charset="-122"/>
                <a:cs typeface="Calibri" pitchFamily="34" charset="-120"/>
              </a:rPr>
              <a:t>La Belgique  ·  FREN 201  ·  Projet Francophonie</a:t>
            </a:r>
            <a:endParaRPr lang="en-US" sz="900" dirty="0"/>
          </a:p>
        </p:txBody>
      </p:sp>
      <p:pic>
        <p:nvPicPr>
          <p:cNvPr id="7" name="Image 0" descr="/tmp/claude-0/-home-user-BOYNT-WORK/856f02cf-0e32-5bfe-bffb-9edb29b314f9/scratchpad/deckimg/royalpalace.jpg">    </p:cNvPr>
          <p:cNvPicPr>
            <a:picLocks noChangeAspect="1"/>
          </p:cNvPicPr>
          <p:nvPr/>
        </p:nvPicPr>
        <p:blipFill>
          <a:blip r:embed="rId1"/>
          <a:srcRect l="0" r="0" t="0" b="0"/>
          <a:stretch/>
        </p:blipFill>
        <p:spPr>
          <a:xfrm>
            <a:off x="6720840" y="0"/>
            <a:ext cx="5470855" cy="6858000"/>
          </a:xfrm>
          <a:prstGeom prst="rect">
            <a:avLst/>
          </a:prstGeom>
        </p:spPr>
      </p:pic>
      <p:sp>
        <p:nvSpPr>
          <p:cNvPr id="8" name="Shape 5"/>
          <p:cNvSpPr/>
          <p:nvPr/>
        </p:nvSpPr>
        <p:spPr>
          <a:xfrm>
            <a:off x="6720840" y="5212080"/>
            <a:ext cx="5470855" cy="1645920"/>
          </a:xfrm>
          <a:prstGeom prst="rect">
            <a:avLst/>
          </a:prstGeom>
          <a:solidFill>
            <a:srgbClr val="17171B">
              <a:alpha val="88000"/>
            </a:srgbClr>
          </a:solidFill>
          <a:ln/>
        </p:spPr>
      </p:sp>
      <p:sp>
        <p:nvSpPr>
          <p:cNvPr id="9" name="Text 6"/>
          <p:cNvSpPr txBox="1"/>
          <p:nvPr/>
        </p:nvSpPr>
        <p:spPr>
          <a:xfrm>
            <a:off x="7040880" y="5449824"/>
            <a:ext cx="4754880" cy="256032"/>
          </a:xfrm>
          <a:prstGeom prst="rect">
            <a:avLst/>
          </a:prstGeom>
          <a:noFill/>
          <a:ln/>
        </p:spPr>
        <p:txBody>
          <a:bodyPr wrap="square" lIns="0" tIns="0" rIns="0" bIns="0" rtlCol="0" anchor="ctr"/>
          <a:lstStyle/>
          <a:p>
            <a:pPr indent="0" marL="0">
              <a:buNone/>
            </a:pPr>
            <a:r>
              <a:rPr lang="en-US" sz="1100" b="1" spc="140" kern="0" dirty="0">
                <a:solidFill>
                  <a:srgbClr val="E3B23C"/>
                </a:solidFill>
                <a:latin typeface="Calibri" pitchFamily="34" charset="0"/>
                <a:ea typeface="Calibri" pitchFamily="34" charset="-122"/>
                <a:cs typeface="Calibri" pitchFamily="34" charset="-120"/>
              </a:rPr>
              <a:t>THE ROYAL PALACE, BRUSSELS</a:t>
            </a:r>
            <a:endParaRPr lang="en-US" sz="1100" dirty="0"/>
          </a:p>
        </p:txBody>
      </p:sp>
      <p:sp>
        <p:nvSpPr>
          <p:cNvPr id="10" name="Text 7"/>
          <p:cNvSpPr txBox="1"/>
          <p:nvPr/>
        </p:nvSpPr>
        <p:spPr>
          <a:xfrm>
            <a:off x="7040880" y="5742432"/>
            <a:ext cx="4754880" cy="731520"/>
          </a:xfrm>
          <a:prstGeom prst="rect">
            <a:avLst/>
          </a:prstGeom>
          <a:noFill/>
          <a:ln/>
        </p:spPr>
        <p:txBody>
          <a:bodyPr wrap="square" lIns="0" tIns="0" rIns="0" bIns="0" rtlCol="0" anchor="ctr"/>
          <a:lstStyle/>
          <a:p>
            <a:pPr indent="0" marL="0">
              <a:lnSpc>
                <a:spcPct val="105000"/>
              </a:lnSpc>
              <a:buNone/>
            </a:pPr>
            <a:r>
              <a:rPr lang="en-US" sz="1100" dirty="0">
                <a:solidFill>
                  <a:srgbClr val="E2E2E8"/>
                </a:solidFill>
                <a:latin typeface="Calibri" pitchFamily="34" charset="0"/>
                <a:ea typeface="Calibri" pitchFamily="34" charset="-122"/>
                <a:cs typeface="Calibri" pitchFamily="34" charset="-120"/>
              </a:rPr>
              <a:t>The King's official workplace. The royal family actually lives at Laeken, on the edge of the city.</a:t>
            </a:r>
            <a:endParaRPr lang="en-US" sz="1100" dirty="0"/>
          </a:p>
        </p:txBody>
      </p:sp>
      <p:sp>
        <p:nvSpPr>
          <p:cNvPr id="11" name="Text 8"/>
          <p:cNvSpPr txBox="1"/>
          <p:nvPr/>
        </p:nvSpPr>
        <p:spPr>
          <a:xfrm>
            <a:off x="640080" y="1536192"/>
            <a:ext cx="1234440" cy="512064"/>
          </a:xfrm>
          <a:prstGeom prst="rect">
            <a:avLst/>
          </a:prstGeom>
          <a:noFill/>
          <a:ln/>
        </p:spPr>
        <p:txBody>
          <a:bodyPr wrap="square" lIns="0" tIns="0" rIns="0" bIns="0" rtlCol="0" anchor="t"/>
          <a:lstStyle/>
          <a:p>
            <a:pPr indent="0" marL="0">
              <a:buNone/>
            </a:pPr>
            <a:r>
              <a:rPr lang="en-US" sz="1150" b="1" dirty="0">
                <a:solidFill>
                  <a:srgbClr val="17171B"/>
                </a:solidFill>
                <a:latin typeface="Calibri" pitchFamily="34" charset="0"/>
                <a:ea typeface="Calibri" pitchFamily="34" charset="-122"/>
                <a:cs typeface="Calibri" pitchFamily="34" charset="-120"/>
              </a:rPr>
              <a:t>Full title</a:t>
            </a:r>
            <a:endParaRPr lang="en-US" sz="1150" dirty="0"/>
          </a:p>
        </p:txBody>
      </p:sp>
      <p:sp>
        <p:nvSpPr>
          <p:cNvPr id="12" name="Text 9"/>
          <p:cNvSpPr txBox="1"/>
          <p:nvPr/>
        </p:nvSpPr>
        <p:spPr>
          <a:xfrm>
            <a:off x="1874520" y="1536192"/>
            <a:ext cx="4434840" cy="512064"/>
          </a:xfrm>
          <a:prstGeom prst="rect">
            <a:avLst/>
          </a:prstGeom>
          <a:noFill/>
          <a:ln/>
        </p:spPr>
        <p:txBody>
          <a:bodyPr wrap="square" lIns="0" tIns="0" rIns="0" bIns="0" rtlCol="0" anchor="t"/>
          <a:lstStyle/>
          <a:p>
            <a:pPr indent="0" marL="0">
              <a:buNone/>
            </a:pPr>
            <a:r>
              <a:rPr lang="en-US" sz="1150" dirty="0">
                <a:solidFill>
                  <a:srgbClr val="3E3E48"/>
                </a:solidFill>
                <a:latin typeface="Calibri" pitchFamily="34" charset="0"/>
                <a:ea typeface="Calibri" pitchFamily="34" charset="-122"/>
                <a:cs typeface="Calibri" pitchFamily="34" charset="-120"/>
              </a:rPr>
              <a:t>Philippe, Roi des Belges — King of the Belgians, the seventh since 1831</a:t>
            </a:r>
            <a:endParaRPr lang="en-US" sz="1150" dirty="0"/>
          </a:p>
        </p:txBody>
      </p:sp>
      <p:sp>
        <p:nvSpPr>
          <p:cNvPr id="13" name="Text 10"/>
          <p:cNvSpPr txBox="1"/>
          <p:nvPr/>
        </p:nvSpPr>
        <p:spPr>
          <a:xfrm>
            <a:off x="640080" y="2048256"/>
            <a:ext cx="1234440" cy="512064"/>
          </a:xfrm>
          <a:prstGeom prst="rect">
            <a:avLst/>
          </a:prstGeom>
          <a:noFill/>
          <a:ln/>
        </p:spPr>
        <p:txBody>
          <a:bodyPr wrap="square" lIns="0" tIns="0" rIns="0" bIns="0" rtlCol="0" anchor="t"/>
          <a:lstStyle/>
          <a:p>
            <a:pPr indent="0" marL="0">
              <a:buNone/>
            </a:pPr>
            <a:r>
              <a:rPr lang="en-US" sz="1150" b="1" dirty="0">
                <a:solidFill>
                  <a:srgbClr val="17171B"/>
                </a:solidFill>
                <a:latin typeface="Calibri" pitchFamily="34" charset="0"/>
                <a:ea typeface="Calibri" pitchFamily="34" charset="-122"/>
                <a:cs typeface="Calibri" pitchFamily="34" charset="-120"/>
              </a:rPr>
              <a:t>House</a:t>
            </a:r>
            <a:endParaRPr lang="en-US" sz="1150" dirty="0"/>
          </a:p>
        </p:txBody>
      </p:sp>
      <p:sp>
        <p:nvSpPr>
          <p:cNvPr id="14" name="Text 11"/>
          <p:cNvSpPr txBox="1"/>
          <p:nvPr/>
        </p:nvSpPr>
        <p:spPr>
          <a:xfrm>
            <a:off x="1874520" y="2048256"/>
            <a:ext cx="4434840" cy="512064"/>
          </a:xfrm>
          <a:prstGeom prst="rect">
            <a:avLst/>
          </a:prstGeom>
          <a:noFill/>
          <a:ln/>
        </p:spPr>
        <p:txBody>
          <a:bodyPr wrap="square" lIns="0" tIns="0" rIns="0" bIns="0" rtlCol="0" anchor="t"/>
          <a:lstStyle/>
          <a:p>
            <a:pPr indent="0" marL="0">
              <a:buNone/>
            </a:pPr>
            <a:r>
              <a:rPr lang="en-US" sz="1150" dirty="0">
                <a:solidFill>
                  <a:srgbClr val="3E3E48"/>
                </a:solidFill>
                <a:latin typeface="Calibri" pitchFamily="34" charset="0"/>
                <a:ea typeface="Calibri" pitchFamily="34" charset="-122"/>
                <a:cs typeface="Calibri" pitchFamily="34" charset="-120"/>
              </a:rPr>
              <a:t>Saxe-Coburg and Gotha — the dynasty founded by Leopold I in 1831</a:t>
            </a:r>
            <a:endParaRPr lang="en-US" sz="1150" dirty="0"/>
          </a:p>
        </p:txBody>
      </p:sp>
      <p:sp>
        <p:nvSpPr>
          <p:cNvPr id="15" name="Text 12"/>
          <p:cNvSpPr txBox="1"/>
          <p:nvPr/>
        </p:nvSpPr>
        <p:spPr>
          <a:xfrm>
            <a:off x="640080" y="2560320"/>
            <a:ext cx="1234440" cy="512064"/>
          </a:xfrm>
          <a:prstGeom prst="rect">
            <a:avLst/>
          </a:prstGeom>
          <a:noFill/>
          <a:ln/>
        </p:spPr>
        <p:txBody>
          <a:bodyPr wrap="square" lIns="0" tIns="0" rIns="0" bIns="0" rtlCol="0" anchor="t"/>
          <a:lstStyle/>
          <a:p>
            <a:pPr indent="0" marL="0">
              <a:buNone/>
            </a:pPr>
            <a:r>
              <a:rPr lang="en-US" sz="1150" b="1" dirty="0">
                <a:solidFill>
                  <a:srgbClr val="17171B"/>
                </a:solidFill>
                <a:latin typeface="Calibri" pitchFamily="34" charset="0"/>
                <a:ea typeface="Calibri" pitchFamily="34" charset="-122"/>
                <a:cs typeface="Calibri" pitchFamily="34" charset="-120"/>
              </a:rPr>
              <a:t>Accession</a:t>
            </a:r>
            <a:endParaRPr lang="en-US" sz="1150" dirty="0"/>
          </a:p>
        </p:txBody>
      </p:sp>
      <p:sp>
        <p:nvSpPr>
          <p:cNvPr id="16" name="Text 13"/>
          <p:cNvSpPr txBox="1"/>
          <p:nvPr/>
        </p:nvSpPr>
        <p:spPr>
          <a:xfrm>
            <a:off x="1874520" y="2560320"/>
            <a:ext cx="4434840" cy="512064"/>
          </a:xfrm>
          <a:prstGeom prst="rect">
            <a:avLst/>
          </a:prstGeom>
          <a:noFill/>
          <a:ln/>
        </p:spPr>
        <p:txBody>
          <a:bodyPr wrap="square" lIns="0" tIns="0" rIns="0" bIns="0" rtlCol="0" anchor="t"/>
          <a:lstStyle/>
          <a:p>
            <a:pPr indent="0" marL="0">
              <a:buNone/>
            </a:pPr>
            <a:r>
              <a:rPr lang="en-US" sz="1150" dirty="0">
                <a:solidFill>
                  <a:srgbClr val="3E3E48"/>
                </a:solidFill>
                <a:latin typeface="Calibri" pitchFamily="34" charset="0"/>
                <a:ea typeface="Calibri" pitchFamily="34" charset="-122"/>
                <a:cs typeface="Calibri" pitchFamily="34" charset="-120"/>
              </a:rPr>
              <a:t>21 July 2013, when his father Albert II abdicated for health reasons</a:t>
            </a:r>
            <a:endParaRPr lang="en-US" sz="1150" dirty="0"/>
          </a:p>
        </p:txBody>
      </p:sp>
      <p:sp>
        <p:nvSpPr>
          <p:cNvPr id="17" name="Text 14"/>
          <p:cNvSpPr txBox="1"/>
          <p:nvPr/>
        </p:nvSpPr>
        <p:spPr>
          <a:xfrm>
            <a:off x="640080" y="3072384"/>
            <a:ext cx="1234440" cy="512064"/>
          </a:xfrm>
          <a:prstGeom prst="rect">
            <a:avLst/>
          </a:prstGeom>
          <a:noFill/>
          <a:ln/>
        </p:spPr>
        <p:txBody>
          <a:bodyPr wrap="square" lIns="0" tIns="0" rIns="0" bIns="0" rtlCol="0" anchor="t"/>
          <a:lstStyle/>
          <a:p>
            <a:pPr indent="0" marL="0">
              <a:buNone/>
            </a:pPr>
            <a:r>
              <a:rPr lang="en-US" sz="1150" b="1" dirty="0">
                <a:solidFill>
                  <a:srgbClr val="17171B"/>
                </a:solidFill>
                <a:latin typeface="Calibri" pitchFamily="34" charset="0"/>
                <a:ea typeface="Calibri" pitchFamily="34" charset="-122"/>
                <a:cs typeface="Calibri" pitchFamily="34" charset="-120"/>
              </a:rPr>
              <a:t>Born</a:t>
            </a:r>
            <a:endParaRPr lang="en-US" sz="1150" dirty="0"/>
          </a:p>
        </p:txBody>
      </p:sp>
      <p:sp>
        <p:nvSpPr>
          <p:cNvPr id="18" name="Text 15"/>
          <p:cNvSpPr txBox="1"/>
          <p:nvPr/>
        </p:nvSpPr>
        <p:spPr>
          <a:xfrm>
            <a:off x="1874520" y="3072384"/>
            <a:ext cx="4434840" cy="512064"/>
          </a:xfrm>
          <a:prstGeom prst="rect">
            <a:avLst/>
          </a:prstGeom>
          <a:noFill/>
          <a:ln/>
        </p:spPr>
        <p:txBody>
          <a:bodyPr wrap="square" lIns="0" tIns="0" rIns="0" bIns="0" rtlCol="0" anchor="t"/>
          <a:lstStyle/>
          <a:p>
            <a:pPr indent="0" marL="0">
              <a:buNone/>
            </a:pPr>
            <a:r>
              <a:rPr lang="en-US" sz="1150" dirty="0">
                <a:solidFill>
                  <a:srgbClr val="3E3E48"/>
                </a:solidFill>
                <a:latin typeface="Calibri" pitchFamily="34" charset="0"/>
                <a:ea typeface="Calibri" pitchFamily="34" charset="-122"/>
                <a:cs typeface="Calibri" pitchFamily="34" charset="-120"/>
              </a:rPr>
              <a:t>15 April 1960, Brussels. Married to Queen Mathilde; four children</a:t>
            </a:r>
            <a:endParaRPr lang="en-US" sz="1150" dirty="0"/>
          </a:p>
        </p:txBody>
      </p:sp>
      <p:sp>
        <p:nvSpPr>
          <p:cNvPr id="19" name="Text 16"/>
          <p:cNvSpPr txBox="1"/>
          <p:nvPr/>
        </p:nvSpPr>
        <p:spPr>
          <a:xfrm>
            <a:off x="640080" y="3584448"/>
            <a:ext cx="1234440" cy="512064"/>
          </a:xfrm>
          <a:prstGeom prst="rect">
            <a:avLst/>
          </a:prstGeom>
          <a:noFill/>
          <a:ln/>
        </p:spPr>
        <p:txBody>
          <a:bodyPr wrap="square" lIns="0" tIns="0" rIns="0" bIns="0" rtlCol="0" anchor="t"/>
          <a:lstStyle/>
          <a:p>
            <a:pPr indent="0" marL="0">
              <a:buNone/>
            </a:pPr>
            <a:r>
              <a:rPr lang="en-US" sz="1150" b="1" dirty="0">
                <a:solidFill>
                  <a:srgbClr val="17171B"/>
                </a:solidFill>
                <a:latin typeface="Calibri" pitchFamily="34" charset="0"/>
                <a:ea typeface="Calibri" pitchFamily="34" charset="-122"/>
                <a:cs typeface="Calibri" pitchFamily="34" charset="-120"/>
              </a:rPr>
              <a:t>Heir</a:t>
            </a:r>
            <a:endParaRPr lang="en-US" sz="1150" dirty="0"/>
          </a:p>
        </p:txBody>
      </p:sp>
      <p:sp>
        <p:nvSpPr>
          <p:cNvPr id="20" name="Text 17"/>
          <p:cNvSpPr txBox="1"/>
          <p:nvPr/>
        </p:nvSpPr>
        <p:spPr>
          <a:xfrm>
            <a:off x="1874520" y="3584448"/>
            <a:ext cx="4434840" cy="512064"/>
          </a:xfrm>
          <a:prstGeom prst="rect">
            <a:avLst/>
          </a:prstGeom>
          <a:noFill/>
          <a:ln/>
        </p:spPr>
        <p:txBody>
          <a:bodyPr wrap="square" lIns="0" tIns="0" rIns="0" bIns="0" rtlCol="0" anchor="t"/>
          <a:lstStyle/>
          <a:p>
            <a:pPr indent="0" marL="0">
              <a:buNone/>
            </a:pPr>
            <a:r>
              <a:rPr lang="en-US" sz="1150" dirty="0">
                <a:solidFill>
                  <a:srgbClr val="3E3E48"/>
                </a:solidFill>
                <a:latin typeface="Calibri" pitchFamily="34" charset="0"/>
                <a:ea typeface="Calibri" pitchFamily="34" charset="-122"/>
                <a:cs typeface="Calibri" pitchFamily="34" charset="-120"/>
              </a:rPr>
              <a:t>Princess Elisabeth, Duchess of Brabant — Belgium's first reigning queen, under absolute primogeniture since 1991</a:t>
            </a:r>
            <a:endParaRPr lang="en-US" sz="1150" dirty="0"/>
          </a:p>
        </p:txBody>
      </p:sp>
      <p:sp>
        <p:nvSpPr>
          <p:cNvPr id="21" name="Text 18"/>
          <p:cNvSpPr txBox="1"/>
          <p:nvPr/>
        </p:nvSpPr>
        <p:spPr>
          <a:xfrm>
            <a:off x="640080" y="4096512"/>
            <a:ext cx="1234440" cy="512064"/>
          </a:xfrm>
          <a:prstGeom prst="rect">
            <a:avLst/>
          </a:prstGeom>
          <a:noFill/>
          <a:ln/>
        </p:spPr>
        <p:txBody>
          <a:bodyPr wrap="square" lIns="0" tIns="0" rIns="0" bIns="0" rtlCol="0" anchor="t"/>
          <a:lstStyle/>
          <a:p>
            <a:pPr indent="0" marL="0">
              <a:buNone/>
            </a:pPr>
            <a:r>
              <a:rPr lang="en-US" sz="1150" b="1" dirty="0">
                <a:solidFill>
                  <a:srgbClr val="17171B"/>
                </a:solidFill>
                <a:latin typeface="Calibri" pitchFamily="34" charset="0"/>
                <a:ea typeface="Calibri" pitchFamily="34" charset="-122"/>
                <a:cs typeface="Calibri" pitchFamily="34" charset="-120"/>
              </a:rPr>
              <a:t>Languages</a:t>
            </a:r>
            <a:endParaRPr lang="en-US" sz="1150" dirty="0"/>
          </a:p>
        </p:txBody>
      </p:sp>
      <p:sp>
        <p:nvSpPr>
          <p:cNvPr id="22" name="Text 19"/>
          <p:cNvSpPr txBox="1"/>
          <p:nvPr/>
        </p:nvSpPr>
        <p:spPr>
          <a:xfrm>
            <a:off x="1874520" y="4096512"/>
            <a:ext cx="4434840" cy="512064"/>
          </a:xfrm>
          <a:prstGeom prst="rect">
            <a:avLst/>
          </a:prstGeom>
          <a:noFill/>
          <a:ln/>
        </p:spPr>
        <p:txBody>
          <a:bodyPr wrap="square" lIns="0" tIns="0" rIns="0" bIns="0" rtlCol="0" anchor="t"/>
          <a:lstStyle/>
          <a:p>
            <a:pPr indent="0" marL="0">
              <a:buNone/>
            </a:pPr>
            <a:r>
              <a:rPr lang="en-US" sz="1150" dirty="0">
                <a:solidFill>
                  <a:srgbClr val="3E3E48"/>
                </a:solidFill>
                <a:latin typeface="Calibri" pitchFamily="34" charset="0"/>
                <a:ea typeface="Calibri" pitchFamily="34" charset="-122"/>
                <a:cs typeface="Calibri" pitchFamily="34" charset="-120"/>
              </a:rPr>
              <a:t>Dutch, French, German, English, Italian and Spanish</a:t>
            </a:r>
            <a:endParaRPr lang="en-US" sz="1150" dirty="0"/>
          </a:p>
        </p:txBody>
      </p:sp>
      <p:sp>
        <p:nvSpPr>
          <p:cNvPr id="23" name="Shape 20"/>
          <p:cNvSpPr/>
          <p:nvPr/>
        </p:nvSpPr>
        <p:spPr>
          <a:xfrm>
            <a:off x="640080" y="4846320"/>
            <a:ext cx="5669280" cy="1188720"/>
          </a:xfrm>
          <a:prstGeom prst="roundRect">
            <a:avLst>
              <a:gd name="adj" fmla="val 6923"/>
            </a:avLst>
          </a:prstGeom>
          <a:solidFill>
            <a:srgbClr val="17171B"/>
          </a:solidFill>
          <a:ln w="12700">
            <a:solidFill>
              <a:srgbClr val="17171B"/>
            </a:solidFill>
            <a:prstDash val="solid"/>
          </a:ln>
          <a:effectLst>
            <a:outerShdw sx="100000" sy="100000" kx="0" ky="0" algn="bl" rotWithShape="0" blurRad="127000" dist="25400" dir="5400000">
              <a:srgbClr val="9A9AA6">
                <a:alpha val="22000"/>
              </a:srgbClr>
            </a:outerShdw>
          </a:effectLst>
        </p:spPr>
      </p:sp>
      <p:sp>
        <p:nvSpPr>
          <p:cNvPr id="24" name="Text 21"/>
          <p:cNvSpPr txBox="1"/>
          <p:nvPr/>
        </p:nvSpPr>
        <p:spPr>
          <a:xfrm>
            <a:off x="896112" y="4992624"/>
            <a:ext cx="5166360" cy="237744"/>
          </a:xfrm>
          <a:prstGeom prst="rect">
            <a:avLst/>
          </a:prstGeom>
          <a:noFill/>
          <a:ln/>
        </p:spPr>
        <p:txBody>
          <a:bodyPr wrap="square" lIns="0" tIns="0" rIns="0" bIns="0" rtlCol="0" anchor="ctr"/>
          <a:lstStyle/>
          <a:p>
            <a:pPr indent="0" marL="0">
              <a:buNone/>
            </a:pPr>
            <a:r>
              <a:rPr lang="en-US" sz="1050" b="1" spc="110" kern="0" dirty="0">
                <a:solidFill>
                  <a:srgbClr val="E3B23C"/>
                </a:solidFill>
                <a:latin typeface="Calibri" pitchFamily="34" charset="0"/>
                <a:ea typeface="Calibri" pitchFamily="34" charset="-122"/>
                <a:cs typeface="Calibri" pitchFamily="34" charset="-120"/>
              </a:rPr>
              <a:t>WHAT THE KING CAN AND CANNOT DO</a:t>
            </a:r>
            <a:endParaRPr lang="en-US" sz="1050" dirty="0"/>
          </a:p>
        </p:txBody>
      </p:sp>
      <p:sp>
        <p:nvSpPr>
          <p:cNvPr id="25" name="Text 22"/>
          <p:cNvSpPr txBox="1"/>
          <p:nvPr/>
        </p:nvSpPr>
        <p:spPr>
          <a:xfrm>
            <a:off x="896112" y="5266944"/>
            <a:ext cx="5166360" cy="713232"/>
          </a:xfrm>
          <a:prstGeom prst="rect">
            <a:avLst/>
          </a:prstGeom>
          <a:noFill/>
          <a:ln/>
        </p:spPr>
        <p:txBody>
          <a:bodyPr wrap="square" lIns="0" tIns="0" rIns="0" bIns="0" rtlCol="0" anchor="ctr"/>
          <a:lstStyle/>
          <a:p>
            <a:pPr indent="0" marL="0">
              <a:lnSpc>
                <a:spcPct val="104000"/>
              </a:lnSpc>
              <a:buNone/>
            </a:pPr>
            <a:r>
              <a:rPr lang="en-US" sz="1050" dirty="0">
                <a:solidFill>
                  <a:srgbClr val="D2D2DA"/>
                </a:solidFill>
                <a:latin typeface="Calibri" pitchFamily="34" charset="0"/>
                <a:ea typeface="Calibri" pitchFamily="34" charset="-122"/>
                <a:cs typeface="Calibri" pitchFamily="34" charset="-120"/>
              </a:rPr>
              <a:t>He appoints the government, signs laws and royal decrees, is commander-in-chief and represents Belgium abroad — but he has no veto and no personal policy. His real influence is quiet: appointing the negotiators who assemble a coalition, and holding the country together when its two language groups cannot agree.</a:t>
            </a:r>
            <a:endParaRPr lang="en-US" sz="105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640080" y="402336"/>
            <a:ext cx="10911535" cy="237744"/>
          </a:xfrm>
          <a:prstGeom prst="rect">
            <a:avLst/>
          </a:prstGeom>
          <a:noFill/>
          <a:ln/>
        </p:spPr>
        <p:txBody>
          <a:bodyPr wrap="square" lIns="0" tIns="0" rIns="0" bIns="0" rtlCol="0" anchor="ctr"/>
          <a:lstStyle/>
          <a:p>
            <a:pPr indent="0" marL="0">
              <a:buNone/>
            </a:pPr>
            <a:r>
              <a:rPr lang="en-US" sz="1150" b="1" spc="220" kern="0" dirty="0">
                <a:solidFill>
                  <a:srgbClr val="E3B23C"/>
                </a:solidFill>
                <a:latin typeface="Calibri" pitchFamily="34" charset="0"/>
                <a:ea typeface="Calibri" pitchFamily="34" charset="-122"/>
                <a:cs typeface="Calibri" pitchFamily="34" charset="-120"/>
              </a:rPr>
              <a:t>LE GOUVERNEMENT FÉDÉRAL</a:t>
            </a:r>
            <a:endParaRPr lang="en-US" sz="1150" dirty="0"/>
          </a:p>
        </p:txBody>
      </p:sp>
      <p:sp>
        <p:nvSpPr>
          <p:cNvPr id="3" name="Text 1"/>
          <p:cNvSpPr txBox="1"/>
          <p:nvPr/>
        </p:nvSpPr>
        <p:spPr>
          <a:xfrm>
            <a:off x="640080" y="676656"/>
            <a:ext cx="10911535" cy="603504"/>
          </a:xfrm>
          <a:prstGeom prst="rect">
            <a:avLst/>
          </a:prstGeom>
          <a:noFill/>
          <a:ln/>
        </p:spPr>
        <p:txBody>
          <a:bodyPr wrap="square" lIns="0" tIns="0" rIns="0" bIns="0" rtlCol="0" anchor="ctr"/>
          <a:lstStyle/>
          <a:p>
            <a:pPr indent="0" marL="0">
              <a:buNone/>
            </a:pPr>
            <a:r>
              <a:rPr lang="en-US" sz="3100" b="1" dirty="0">
                <a:solidFill>
                  <a:srgbClr val="17171B"/>
                </a:solidFill>
                <a:latin typeface="Cambria" pitchFamily="34" charset="0"/>
                <a:ea typeface="Cambria" pitchFamily="34" charset="-122"/>
                <a:cs typeface="Cambria" pitchFamily="34" charset="-120"/>
              </a:rPr>
              <a:t>Who governs Belgium today</a:t>
            </a:r>
            <a:endParaRPr lang="en-US" sz="3100" dirty="0"/>
          </a:p>
        </p:txBody>
      </p:sp>
      <p:sp>
        <p:nvSpPr>
          <p:cNvPr id="4" name="Shape 2"/>
          <p:cNvSpPr/>
          <p:nvPr/>
        </p:nvSpPr>
        <p:spPr>
          <a:xfrm>
            <a:off x="640080" y="6163056"/>
            <a:ext cx="384048" cy="384048"/>
          </a:xfrm>
          <a:prstGeom prst="ellipse">
            <a:avLst/>
          </a:prstGeom>
          <a:solidFill>
            <a:srgbClr val="E3B23C"/>
          </a:solidFill>
          <a:ln/>
        </p:spPr>
      </p:sp>
      <p:sp>
        <p:nvSpPr>
          <p:cNvPr id="5" name="Text 3"/>
          <p:cNvSpPr txBox="1"/>
          <p:nvPr/>
        </p:nvSpPr>
        <p:spPr>
          <a:xfrm>
            <a:off x="640080" y="6163056"/>
            <a:ext cx="384048" cy="384048"/>
          </a:xfrm>
          <a:prstGeom prst="rect">
            <a:avLst/>
          </a:prstGeom>
          <a:noFill/>
          <a:ln/>
        </p:spPr>
        <p:txBody>
          <a:bodyPr wrap="square" lIns="0" tIns="0" rIns="0" bIns="0" rtlCol="0" anchor="ctr"/>
          <a:lstStyle/>
          <a:p>
            <a:pPr algn="ctr" indent="0" marL="0">
              <a:buNone/>
            </a:pPr>
            <a:r>
              <a:rPr lang="en-US" sz="1200" b="1" dirty="0">
                <a:solidFill>
                  <a:srgbClr val="17171B"/>
                </a:solidFill>
                <a:latin typeface="Calibri" pitchFamily="34" charset="0"/>
                <a:ea typeface="Calibri" pitchFamily="34" charset="-122"/>
                <a:cs typeface="Calibri" pitchFamily="34" charset="-120"/>
              </a:rPr>
              <a:t>14</a:t>
            </a:r>
            <a:endParaRPr lang="en-US" sz="1200" dirty="0"/>
          </a:p>
        </p:txBody>
      </p:sp>
      <p:sp>
        <p:nvSpPr>
          <p:cNvPr id="6" name="Text 4"/>
          <p:cNvSpPr txBox="1"/>
          <p:nvPr/>
        </p:nvSpPr>
        <p:spPr>
          <a:xfrm>
            <a:off x="6035040" y="6245352"/>
            <a:ext cx="5516575" cy="237744"/>
          </a:xfrm>
          <a:prstGeom prst="rect">
            <a:avLst/>
          </a:prstGeom>
          <a:noFill/>
          <a:ln/>
        </p:spPr>
        <p:txBody>
          <a:bodyPr wrap="square" lIns="0" tIns="0" rIns="0" bIns="0" rtlCol="0" anchor="ctr"/>
          <a:lstStyle/>
          <a:p>
            <a:pPr algn="r" indent="0" marL="0">
              <a:buNone/>
            </a:pPr>
            <a:r>
              <a:rPr lang="en-US" sz="900" dirty="0">
                <a:solidFill>
                  <a:srgbClr val="70707C"/>
                </a:solidFill>
                <a:latin typeface="Calibri" pitchFamily="34" charset="0"/>
                <a:ea typeface="Calibri" pitchFamily="34" charset="-122"/>
                <a:cs typeface="Calibri" pitchFamily="34" charset="-120"/>
              </a:rPr>
              <a:t>La Belgique  ·  FREN 201  ·  Projet Francophonie</a:t>
            </a:r>
            <a:endParaRPr lang="en-US" sz="900" dirty="0"/>
          </a:p>
        </p:txBody>
      </p:sp>
      <p:sp>
        <p:nvSpPr>
          <p:cNvPr id="7" name="Shape 5"/>
          <p:cNvSpPr/>
          <p:nvPr/>
        </p:nvSpPr>
        <p:spPr>
          <a:xfrm>
            <a:off x="640080" y="1481328"/>
            <a:ext cx="5577840" cy="1874520"/>
          </a:xfrm>
          <a:prstGeom prst="roundRect">
            <a:avLst>
              <a:gd name="adj" fmla="val 4390"/>
            </a:avLst>
          </a:prstGeom>
          <a:solidFill>
            <a:srgbClr val="17171B"/>
          </a:solidFill>
          <a:ln w="12700">
            <a:solidFill>
              <a:srgbClr val="17171B"/>
            </a:solidFill>
            <a:prstDash val="solid"/>
          </a:ln>
          <a:effectLst>
            <a:outerShdw sx="100000" sy="100000" kx="0" ky="0" algn="bl" rotWithShape="0" blurRad="127000" dist="25400" dir="5400000">
              <a:srgbClr val="9A9AA6">
                <a:alpha val="22000"/>
              </a:srgbClr>
            </a:outerShdw>
          </a:effectLst>
        </p:spPr>
      </p:sp>
      <p:sp>
        <p:nvSpPr>
          <p:cNvPr id="8" name="Text 6"/>
          <p:cNvSpPr txBox="1"/>
          <p:nvPr/>
        </p:nvSpPr>
        <p:spPr>
          <a:xfrm>
            <a:off x="932688" y="1700784"/>
            <a:ext cx="4992624" cy="237744"/>
          </a:xfrm>
          <a:prstGeom prst="rect">
            <a:avLst/>
          </a:prstGeom>
          <a:noFill/>
          <a:ln/>
        </p:spPr>
        <p:txBody>
          <a:bodyPr wrap="square" lIns="0" tIns="0" rIns="0" bIns="0" rtlCol="0" anchor="ctr"/>
          <a:lstStyle/>
          <a:p>
            <a:pPr indent="0" marL="0">
              <a:buNone/>
            </a:pPr>
            <a:r>
              <a:rPr lang="en-US" sz="1050" b="1" spc="110" kern="0" dirty="0">
                <a:solidFill>
                  <a:srgbClr val="E3B23C"/>
                </a:solidFill>
                <a:latin typeface="Calibri" pitchFamily="34" charset="0"/>
                <a:ea typeface="Calibri" pitchFamily="34" charset="-122"/>
                <a:cs typeface="Calibri" pitchFamily="34" charset="-120"/>
              </a:rPr>
              <a:t>PREMIER MINISTRE  ·  PRIME MINISTER</a:t>
            </a:r>
            <a:endParaRPr lang="en-US" sz="1050" dirty="0"/>
          </a:p>
        </p:txBody>
      </p:sp>
      <p:sp>
        <p:nvSpPr>
          <p:cNvPr id="9" name="Text 7"/>
          <p:cNvSpPr txBox="1"/>
          <p:nvPr/>
        </p:nvSpPr>
        <p:spPr>
          <a:xfrm>
            <a:off x="932688" y="1993392"/>
            <a:ext cx="4992624" cy="566928"/>
          </a:xfrm>
          <a:prstGeom prst="rect">
            <a:avLst/>
          </a:prstGeom>
          <a:noFill/>
          <a:ln/>
        </p:spPr>
        <p:txBody>
          <a:bodyPr wrap="square" lIns="0" tIns="0" rIns="0" bIns="0" rtlCol="0" anchor="ctr"/>
          <a:lstStyle/>
          <a:p>
            <a:pPr indent="0" marL="0">
              <a:buNone/>
            </a:pPr>
            <a:r>
              <a:rPr lang="en-US" sz="3200" b="1" dirty="0">
                <a:solidFill>
                  <a:srgbClr val="FFFFFF"/>
                </a:solidFill>
                <a:latin typeface="Cambria" pitchFamily="34" charset="0"/>
                <a:ea typeface="Cambria" pitchFamily="34" charset="-122"/>
                <a:cs typeface="Cambria" pitchFamily="34" charset="-120"/>
              </a:rPr>
              <a:t>Bart De Wever</a:t>
            </a:r>
            <a:endParaRPr lang="en-US" sz="3200" dirty="0"/>
          </a:p>
        </p:txBody>
      </p:sp>
      <p:sp>
        <p:nvSpPr>
          <p:cNvPr id="10" name="Text 8"/>
          <p:cNvSpPr txBox="1"/>
          <p:nvPr/>
        </p:nvSpPr>
        <p:spPr>
          <a:xfrm>
            <a:off x="932688" y="2615184"/>
            <a:ext cx="4992624" cy="640080"/>
          </a:xfrm>
          <a:prstGeom prst="rect">
            <a:avLst/>
          </a:prstGeom>
          <a:noFill/>
          <a:ln/>
        </p:spPr>
        <p:txBody>
          <a:bodyPr wrap="square" lIns="0" tIns="0" rIns="0" bIns="0" rtlCol="0" anchor="ctr"/>
          <a:lstStyle/>
          <a:p>
            <a:pPr indent="0" marL="0">
              <a:lnSpc>
                <a:spcPct val="105000"/>
              </a:lnSpc>
              <a:buNone/>
            </a:pPr>
            <a:r>
              <a:rPr lang="en-US" sz="1100" dirty="0">
                <a:solidFill>
                  <a:srgbClr val="C4C4CE"/>
                </a:solidFill>
                <a:latin typeface="Calibri" pitchFamily="34" charset="0"/>
                <a:ea typeface="Calibri" pitchFamily="34" charset="-122"/>
                <a:cs typeface="Calibri" pitchFamily="34" charset="-120"/>
              </a:rPr>
              <a:t>Sworn in on 3 February 2025. Leader of the New Flemish Alliance (N-VA) and the first Flemish nationalist ever to head the Belgian federal government.</a:t>
            </a:r>
            <a:endParaRPr lang="en-US" sz="1100" dirty="0"/>
          </a:p>
        </p:txBody>
      </p:sp>
      <p:sp>
        <p:nvSpPr>
          <p:cNvPr id="11" name="Shape 9"/>
          <p:cNvSpPr/>
          <p:nvPr/>
        </p:nvSpPr>
        <p:spPr>
          <a:xfrm>
            <a:off x="6492240" y="1481328"/>
            <a:ext cx="5059375" cy="1874520"/>
          </a:xfrm>
          <a:prstGeom prst="roundRect">
            <a:avLst>
              <a:gd name="adj" fmla="val 4390"/>
            </a:avLst>
          </a:prstGeom>
          <a:solidFill>
            <a:srgbClr val="F4F4F6"/>
          </a:solidFill>
          <a:ln w="12700">
            <a:solidFill>
              <a:srgbClr val="E4E4E9"/>
            </a:solidFill>
            <a:prstDash val="solid"/>
          </a:ln>
          <a:effectLst>
            <a:outerShdw sx="100000" sy="100000" kx="0" ky="0" algn="bl" rotWithShape="0" blurRad="127000" dist="25400" dir="5400000">
              <a:srgbClr val="9A9AA6">
                <a:alpha val="22000"/>
              </a:srgbClr>
            </a:outerShdw>
          </a:effectLst>
        </p:spPr>
      </p:sp>
      <p:sp>
        <p:nvSpPr>
          <p:cNvPr id="12" name="Text 10"/>
          <p:cNvSpPr txBox="1"/>
          <p:nvPr/>
        </p:nvSpPr>
        <p:spPr>
          <a:xfrm>
            <a:off x="6766560" y="1700784"/>
            <a:ext cx="4510735" cy="237744"/>
          </a:xfrm>
          <a:prstGeom prst="rect">
            <a:avLst/>
          </a:prstGeom>
          <a:noFill/>
          <a:ln/>
        </p:spPr>
        <p:txBody>
          <a:bodyPr wrap="square" lIns="0" tIns="0" rIns="0" bIns="0" rtlCol="0" anchor="ctr"/>
          <a:lstStyle/>
          <a:p>
            <a:pPr indent="0" marL="0">
              <a:buNone/>
            </a:pPr>
            <a:r>
              <a:rPr lang="en-US" sz="1050" b="1" spc="110" kern="0" dirty="0">
                <a:solidFill>
                  <a:srgbClr val="E3B23C"/>
                </a:solidFill>
                <a:latin typeface="Calibri" pitchFamily="34" charset="0"/>
                <a:ea typeface="Calibri" pitchFamily="34" charset="-122"/>
                <a:cs typeface="Calibri" pitchFamily="34" charset="-120"/>
              </a:rPr>
              <a:t>“L'ARIZONA” — THE COALITION</a:t>
            </a:r>
            <a:endParaRPr lang="en-US" sz="1050" dirty="0"/>
          </a:p>
        </p:txBody>
      </p:sp>
      <p:sp>
        <p:nvSpPr>
          <p:cNvPr id="13" name="Text 11"/>
          <p:cNvSpPr txBox="1"/>
          <p:nvPr/>
        </p:nvSpPr>
        <p:spPr>
          <a:xfrm>
            <a:off x="6766560" y="1993392"/>
            <a:ext cx="4510735" cy="237744"/>
          </a:xfrm>
          <a:prstGeom prst="rect">
            <a:avLst/>
          </a:prstGeom>
          <a:noFill/>
          <a:ln/>
        </p:spPr>
        <p:txBody>
          <a:bodyPr wrap="square" lIns="0" tIns="0" rIns="0" bIns="0" rtlCol="0" anchor="ctr"/>
          <a:lstStyle/>
          <a:p>
            <a:pPr indent="0" marL="0">
              <a:buNone/>
            </a:pPr>
            <a:r>
              <a:rPr lang="en-US" sz="1100" dirty="0">
                <a:solidFill>
                  <a:srgbClr val="70707C"/>
                </a:solidFill>
                <a:latin typeface="Calibri" pitchFamily="34" charset="0"/>
                <a:ea typeface="Calibri" pitchFamily="34" charset="-122"/>
                <a:cs typeface="Calibri" pitchFamily="34" charset="-120"/>
              </a:rPr>
              <a:t>Five parties, named after the colours of the Arizona flag:</a:t>
            </a:r>
            <a:endParaRPr lang="en-US" sz="1100" dirty="0"/>
          </a:p>
        </p:txBody>
      </p:sp>
      <p:sp>
        <p:nvSpPr>
          <p:cNvPr id="14" name="Text 12"/>
          <p:cNvSpPr txBox="1"/>
          <p:nvPr/>
        </p:nvSpPr>
        <p:spPr>
          <a:xfrm>
            <a:off x="6766560" y="2267712"/>
            <a:ext cx="4510735" cy="274320"/>
          </a:xfrm>
          <a:prstGeom prst="rect">
            <a:avLst/>
          </a:prstGeom>
          <a:noFill/>
          <a:ln/>
        </p:spPr>
        <p:txBody>
          <a:bodyPr wrap="square" lIns="0" tIns="0" rIns="0" bIns="0" rtlCol="0" anchor="ctr"/>
          <a:lstStyle/>
          <a:p>
            <a:pPr indent="0" marL="0">
              <a:buNone/>
            </a:pPr>
            <a:r>
              <a:rPr lang="en-US" sz="1300" b="1" dirty="0">
                <a:solidFill>
                  <a:srgbClr val="17171B"/>
                </a:solidFill>
                <a:latin typeface="Calibri" pitchFamily="34" charset="0"/>
                <a:ea typeface="Calibri" pitchFamily="34" charset="-122"/>
                <a:cs typeface="Calibri" pitchFamily="34" charset="-120"/>
              </a:rPr>
              <a:t>N-VA  ·  MR  ·  Les Engagés  ·  Vooruit  ·  CD&amp;V</a:t>
            </a:r>
            <a:endParaRPr lang="en-US" sz="1300" dirty="0"/>
          </a:p>
        </p:txBody>
      </p:sp>
      <p:sp>
        <p:nvSpPr>
          <p:cNvPr id="15" name="Text 13"/>
          <p:cNvSpPr txBox="1"/>
          <p:nvPr/>
        </p:nvSpPr>
        <p:spPr>
          <a:xfrm>
            <a:off x="6766560" y="2596896"/>
            <a:ext cx="4510735" cy="658368"/>
          </a:xfrm>
          <a:prstGeom prst="rect">
            <a:avLst/>
          </a:prstGeom>
          <a:noFill/>
          <a:ln/>
        </p:spPr>
        <p:txBody>
          <a:bodyPr wrap="square" lIns="0" tIns="0" rIns="0" bIns="0" rtlCol="0" anchor="ctr"/>
          <a:lstStyle/>
          <a:p>
            <a:pPr indent="0" marL="0">
              <a:lnSpc>
                <a:spcPct val="103000"/>
              </a:lnSpc>
              <a:buNone/>
            </a:pPr>
            <a:r>
              <a:rPr lang="en-US" sz="1050" dirty="0">
                <a:solidFill>
                  <a:srgbClr val="3E3E48"/>
                </a:solidFill>
                <a:latin typeface="Calibri" pitchFamily="34" charset="0"/>
                <a:ea typeface="Calibri" pitchFamily="34" charset="-122"/>
                <a:cs typeface="Calibri" pitchFamily="34" charset="-120"/>
              </a:rPr>
              <a:t>Three Flemish parties and two French-speaking ones. Deputy prime ministers include Jan Jambon, David Clarinval, Maxime Prévot, Frank Vandenbroucke and Vincent Van Peteghem.</a:t>
            </a:r>
            <a:endParaRPr lang="en-US" sz="1050" dirty="0"/>
          </a:p>
        </p:txBody>
      </p:sp>
      <p:sp>
        <p:nvSpPr>
          <p:cNvPr id="16" name="Shape 14"/>
          <p:cNvSpPr/>
          <p:nvPr/>
        </p:nvSpPr>
        <p:spPr>
          <a:xfrm>
            <a:off x="640080" y="3520440"/>
            <a:ext cx="2522144" cy="1536192"/>
          </a:xfrm>
          <a:prstGeom prst="roundRect">
            <a:avLst>
              <a:gd name="adj" fmla="val 5357"/>
            </a:avLst>
          </a:prstGeom>
          <a:solidFill>
            <a:srgbClr val="F4F4F6"/>
          </a:solidFill>
          <a:ln w="12700">
            <a:solidFill>
              <a:srgbClr val="E4E4E9"/>
            </a:solidFill>
            <a:prstDash val="solid"/>
          </a:ln>
          <a:effectLst>
            <a:outerShdw sx="100000" sy="100000" kx="0" ky="0" algn="bl" rotWithShape="0" blurRad="127000" dist="25400" dir="5400000">
              <a:srgbClr val="9A9AA6">
                <a:alpha val="22000"/>
              </a:srgbClr>
            </a:outerShdw>
          </a:effectLst>
        </p:spPr>
      </p:sp>
      <p:sp>
        <p:nvSpPr>
          <p:cNvPr id="17" name="Text 15"/>
          <p:cNvSpPr txBox="1"/>
          <p:nvPr/>
        </p:nvSpPr>
        <p:spPr>
          <a:xfrm>
            <a:off x="777240" y="3666744"/>
            <a:ext cx="2247824" cy="603504"/>
          </a:xfrm>
          <a:prstGeom prst="rect">
            <a:avLst/>
          </a:prstGeom>
          <a:noFill/>
          <a:ln/>
        </p:spPr>
        <p:txBody>
          <a:bodyPr wrap="square" lIns="0" tIns="0" rIns="0" bIns="0" rtlCol="0" anchor="ctr"/>
          <a:lstStyle/>
          <a:p>
            <a:pPr algn="ctr" indent="0" marL="0">
              <a:buNone/>
            </a:pPr>
            <a:r>
              <a:rPr lang="en-US" sz="3600" b="1" dirty="0">
                <a:solidFill>
                  <a:srgbClr val="C1121F"/>
                </a:solidFill>
                <a:latin typeface="Cambria" pitchFamily="34" charset="0"/>
                <a:ea typeface="Cambria" pitchFamily="34" charset="-122"/>
                <a:cs typeface="Cambria" pitchFamily="34" charset="-120"/>
              </a:rPr>
              <a:t>150</a:t>
            </a:r>
            <a:endParaRPr lang="en-US" sz="3600" dirty="0"/>
          </a:p>
        </p:txBody>
      </p:sp>
      <p:sp>
        <p:nvSpPr>
          <p:cNvPr id="18" name="Text 16"/>
          <p:cNvSpPr txBox="1"/>
          <p:nvPr/>
        </p:nvSpPr>
        <p:spPr>
          <a:xfrm>
            <a:off x="841248" y="4306824"/>
            <a:ext cx="2119808" cy="676656"/>
          </a:xfrm>
          <a:prstGeom prst="rect">
            <a:avLst/>
          </a:prstGeom>
          <a:noFill/>
          <a:ln/>
        </p:spPr>
        <p:txBody>
          <a:bodyPr wrap="square" lIns="0" tIns="0" rIns="0" bIns="0" rtlCol="0" anchor="ctr"/>
          <a:lstStyle/>
          <a:p>
            <a:pPr algn="ctr" indent="0" marL="0">
              <a:lnSpc>
                <a:spcPct val="103000"/>
              </a:lnSpc>
              <a:buNone/>
            </a:pPr>
            <a:r>
              <a:rPr lang="en-US" sz="1050" dirty="0">
                <a:solidFill>
                  <a:srgbClr val="3E3E48"/>
                </a:solidFill>
                <a:latin typeface="Calibri" pitchFamily="34" charset="0"/>
                <a:ea typeface="Calibri" pitchFamily="34" charset="-122"/>
                <a:cs typeface="Calibri" pitchFamily="34" charset="-120"/>
              </a:rPr>
              <a:t>seats in the Chamber of Representatives, elected by proportional representation</a:t>
            </a:r>
            <a:endParaRPr lang="en-US" sz="1050" dirty="0"/>
          </a:p>
        </p:txBody>
      </p:sp>
      <p:sp>
        <p:nvSpPr>
          <p:cNvPr id="19" name="Shape 17"/>
          <p:cNvSpPr/>
          <p:nvPr/>
        </p:nvSpPr>
        <p:spPr>
          <a:xfrm>
            <a:off x="3436544" y="3520440"/>
            <a:ext cx="2522144" cy="1536192"/>
          </a:xfrm>
          <a:prstGeom prst="roundRect">
            <a:avLst>
              <a:gd name="adj" fmla="val 5357"/>
            </a:avLst>
          </a:prstGeom>
          <a:solidFill>
            <a:srgbClr val="F4F4F6"/>
          </a:solidFill>
          <a:ln w="12700">
            <a:solidFill>
              <a:srgbClr val="E4E4E9"/>
            </a:solidFill>
            <a:prstDash val="solid"/>
          </a:ln>
          <a:effectLst>
            <a:outerShdw sx="100000" sy="100000" kx="0" ky="0" algn="bl" rotWithShape="0" blurRad="127000" dist="25400" dir="5400000">
              <a:srgbClr val="9A9AA6">
                <a:alpha val="22000"/>
              </a:srgbClr>
            </a:outerShdw>
          </a:effectLst>
        </p:spPr>
      </p:sp>
      <p:sp>
        <p:nvSpPr>
          <p:cNvPr id="20" name="Text 18"/>
          <p:cNvSpPr txBox="1"/>
          <p:nvPr/>
        </p:nvSpPr>
        <p:spPr>
          <a:xfrm>
            <a:off x="3573704" y="3666744"/>
            <a:ext cx="2247824" cy="603504"/>
          </a:xfrm>
          <a:prstGeom prst="rect">
            <a:avLst/>
          </a:prstGeom>
          <a:noFill/>
          <a:ln/>
        </p:spPr>
        <p:txBody>
          <a:bodyPr wrap="square" lIns="0" tIns="0" rIns="0" bIns="0" rtlCol="0" anchor="ctr"/>
          <a:lstStyle/>
          <a:p>
            <a:pPr algn="ctr" indent="0" marL="0">
              <a:buNone/>
            </a:pPr>
            <a:r>
              <a:rPr lang="en-US" sz="3600" b="1" dirty="0">
                <a:solidFill>
                  <a:srgbClr val="C1121F"/>
                </a:solidFill>
                <a:latin typeface="Cambria" pitchFamily="34" charset="0"/>
                <a:ea typeface="Cambria" pitchFamily="34" charset="-122"/>
                <a:cs typeface="Cambria" pitchFamily="34" charset="-120"/>
              </a:rPr>
              <a:t>5</a:t>
            </a:r>
            <a:endParaRPr lang="en-US" sz="3600" dirty="0"/>
          </a:p>
        </p:txBody>
      </p:sp>
      <p:sp>
        <p:nvSpPr>
          <p:cNvPr id="21" name="Text 19"/>
          <p:cNvSpPr txBox="1"/>
          <p:nvPr/>
        </p:nvSpPr>
        <p:spPr>
          <a:xfrm>
            <a:off x="3637712" y="4306824"/>
            <a:ext cx="2119808" cy="676656"/>
          </a:xfrm>
          <a:prstGeom prst="rect">
            <a:avLst/>
          </a:prstGeom>
          <a:noFill/>
          <a:ln/>
        </p:spPr>
        <p:txBody>
          <a:bodyPr wrap="square" lIns="0" tIns="0" rIns="0" bIns="0" rtlCol="0" anchor="ctr"/>
          <a:lstStyle/>
          <a:p>
            <a:pPr algn="ctr" indent="0" marL="0">
              <a:lnSpc>
                <a:spcPct val="103000"/>
              </a:lnSpc>
              <a:buNone/>
            </a:pPr>
            <a:r>
              <a:rPr lang="en-US" sz="1050" dirty="0">
                <a:solidFill>
                  <a:srgbClr val="3E3E48"/>
                </a:solidFill>
                <a:latin typeface="Calibri" pitchFamily="34" charset="0"/>
                <a:ea typeface="Calibri" pitchFamily="34" charset="-122"/>
                <a:cs typeface="Calibri" pitchFamily="34" charset="-120"/>
              </a:rPr>
              <a:t>parties needed to form the current federal majority</a:t>
            </a:r>
            <a:endParaRPr lang="en-US" sz="1050" dirty="0"/>
          </a:p>
        </p:txBody>
      </p:sp>
      <p:sp>
        <p:nvSpPr>
          <p:cNvPr id="22" name="Shape 20"/>
          <p:cNvSpPr/>
          <p:nvPr/>
        </p:nvSpPr>
        <p:spPr>
          <a:xfrm>
            <a:off x="6233008" y="3520440"/>
            <a:ext cx="2522144" cy="1536192"/>
          </a:xfrm>
          <a:prstGeom prst="roundRect">
            <a:avLst>
              <a:gd name="adj" fmla="val 5357"/>
            </a:avLst>
          </a:prstGeom>
          <a:solidFill>
            <a:srgbClr val="F4F4F6"/>
          </a:solidFill>
          <a:ln w="12700">
            <a:solidFill>
              <a:srgbClr val="E4E4E9"/>
            </a:solidFill>
            <a:prstDash val="solid"/>
          </a:ln>
          <a:effectLst>
            <a:outerShdw sx="100000" sy="100000" kx="0" ky="0" algn="bl" rotWithShape="0" blurRad="127000" dist="25400" dir="5400000">
              <a:srgbClr val="9A9AA6">
                <a:alpha val="22000"/>
              </a:srgbClr>
            </a:outerShdw>
          </a:effectLst>
        </p:spPr>
      </p:sp>
      <p:sp>
        <p:nvSpPr>
          <p:cNvPr id="23" name="Text 21"/>
          <p:cNvSpPr txBox="1"/>
          <p:nvPr/>
        </p:nvSpPr>
        <p:spPr>
          <a:xfrm>
            <a:off x="6370168" y="3666744"/>
            <a:ext cx="2247824" cy="603504"/>
          </a:xfrm>
          <a:prstGeom prst="rect">
            <a:avLst/>
          </a:prstGeom>
          <a:noFill/>
          <a:ln/>
        </p:spPr>
        <p:txBody>
          <a:bodyPr wrap="square" lIns="0" tIns="0" rIns="0" bIns="0" rtlCol="0" anchor="ctr"/>
          <a:lstStyle/>
          <a:p>
            <a:pPr algn="ctr" indent="0" marL="0">
              <a:buNone/>
            </a:pPr>
            <a:r>
              <a:rPr lang="en-US" sz="3600" b="1" dirty="0">
                <a:solidFill>
                  <a:srgbClr val="C1121F"/>
                </a:solidFill>
                <a:latin typeface="Cambria" pitchFamily="34" charset="0"/>
                <a:ea typeface="Cambria" pitchFamily="34" charset="-122"/>
                <a:cs typeface="Cambria" pitchFamily="34" charset="-120"/>
              </a:rPr>
              <a:t>8</a:t>
            </a:r>
            <a:endParaRPr lang="en-US" sz="3600" dirty="0"/>
          </a:p>
        </p:txBody>
      </p:sp>
      <p:sp>
        <p:nvSpPr>
          <p:cNvPr id="24" name="Text 22"/>
          <p:cNvSpPr txBox="1"/>
          <p:nvPr/>
        </p:nvSpPr>
        <p:spPr>
          <a:xfrm>
            <a:off x="6434176" y="4306824"/>
            <a:ext cx="2119808" cy="676656"/>
          </a:xfrm>
          <a:prstGeom prst="rect">
            <a:avLst/>
          </a:prstGeom>
          <a:noFill/>
          <a:ln/>
        </p:spPr>
        <p:txBody>
          <a:bodyPr wrap="square" lIns="0" tIns="0" rIns="0" bIns="0" rtlCol="0" anchor="ctr"/>
          <a:lstStyle/>
          <a:p>
            <a:pPr algn="ctr" indent="0" marL="0">
              <a:lnSpc>
                <a:spcPct val="103000"/>
              </a:lnSpc>
              <a:buNone/>
            </a:pPr>
            <a:r>
              <a:rPr lang="en-US" sz="1050" dirty="0">
                <a:solidFill>
                  <a:srgbClr val="3E3E48"/>
                </a:solidFill>
                <a:latin typeface="Calibri" pitchFamily="34" charset="0"/>
                <a:ea typeface="Calibri" pitchFamily="34" charset="-122"/>
                <a:cs typeface="Calibri" pitchFamily="34" charset="-120"/>
              </a:rPr>
              <a:t>months of negotiation after the June 2024 election before a government was sworn in</a:t>
            </a:r>
            <a:endParaRPr lang="en-US" sz="1050" dirty="0"/>
          </a:p>
        </p:txBody>
      </p:sp>
      <p:sp>
        <p:nvSpPr>
          <p:cNvPr id="25" name="Shape 23"/>
          <p:cNvSpPr/>
          <p:nvPr/>
        </p:nvSpPr>
        <p:spPr>
          <a:xfrm>
            <a:off x="9029471" y="3520440"/>
            <a:ext cx="2522144" cy="1536192"/>
          </a:xfrm>
          <a:prstGeom prst="roundRect">
            <a:avLst>
              <a:gd name="adj" fmla="val 5357"/>
            </a:avLst>
          </a:prstGeom>
          <a:solidFill>
            <a:srgbClr val="F4F4F6"/>
          </a:solidFill>
          <a:ln w="12700">
            <a:solidFill>
              <a:srgbClr val="E4E4E9"/>
            </a:solidFill>
            <a:prstDash val="solid"/>
          </a:ln>
          <a:effectLst>
            <a:outerShdw sx="100000" sy="100000" kx="0" ky="0" algn="bl" rotWithShape="0" blurRad="127000" dist="25400" dir="5400000">
              <a:srgbClr val="9A9AA6">
                <a:alpha val="22000"/>
              </a:srgbClr>
            </a:outerShdw>
          </a:effectLst>
        </p:spPr>
      </p:sp>
      <p:sp>
        <p:nvSpPr>
          <p:cNvPr id="26" name="Text 24"/>
          <p:cNvSpPr txBox="1"/>
          <p:nvPr/>
        </p:nvSpPr>
        <p:spPr>
          <a:xfrm>
            <a:off x="9166631" y="3666744"/>
            <a:ext cx="2247824" cy="603504"/>
          </a:xfrm>
          <a:prstGeom prst="rect">
            <a:avLst/>
          </a:prstGeom>
          <a:noFill/>
          <a:ln/>
        </p:spPr>
        <p:txBody>
          <a:bodyPr wrap="square" lIns="0" tIns="0" rIns="0" bIns="0" rtlCol="0" anchor="ctr"/>
          <a:lstStyle/>
          <a:p>
            <a:pPr algn="ctr" indent="0" marL="0">
              <a:buNone/>
            </a:pPr>
            <a:r>
              <a:rPr lang="en-US" sz="3600" b="1" dirty="0">
                <a:solidFill>
                  <a:srgbClr val="C1121F"/>
                </a:solidFill>
                <a:latin typeface="Cambria" pitchFamily="34" charset="0"/>
                <a:ea typeface="Cambria" pitchFamily="34" charset="-122"/>
                <a:cs typeface="Cambria" pitchFamily="34" charset="-120"/>
              </a:rPr>
              <a:t>541</a:t>
            </a:r>
            <a:endParaRPr lang="en-US" sz="3600" dirty="0"/>
          </a:p>
        </p:txBody>
      </p:sp>
      <p:sp>
        <p:nvSpPr>
          <p:cNvPr id="27" name="Text 25"/>
          <p:cNvSpPr txBox="1"/>
          <p:nvPr/>
        </p:nvSpPr>
        <p:spPr>
          <a:xfrm>
            <a:off x="9230639" y="4306824"/>
            <a:ext cx="2119808" cy="676656"/>
          </a:xfrm>
          <a:prstGeom prst="rect">
            <a:avLst/>
          </a:prstGeom>
          <a:noFill/>
          <a:ln/>
        </p:spPr>
        <p:txBody>
          <a:bodyPr wrap="square" lIns="0" tIns="0" rIns="0" bIns="0" rtlCol="0" anchor="ctr"/>
          <a:lstStyle/>
          <a:p>
            <a:pPr algn="ctr" indent="0" marL="0">
              <a:lnSpc>
                <a:spcPct val="103000"/>
              </a:lnSpc>
              <a:buNone/>
            </a:pPr>
            <a:r>
              <a:rPr lang="en-US" sz="1050" dirty="0">
                <a:solidFill>
                  <a:srgbClr val="3E3E48"/>
                </a:solidFill>
                <a:latin typeface="Calibri" pitchFamily="34" charset="0"/>
                <a:ea typeface="Calibri" pitchFamily="34" charset="-122"/>
                <a:cs typeface="Calibri" pitchFamily="34" charset="-120"/>
              </a:rPr>
              <a:t>days without an elected government in 2010–11 — a world record at the time</a:t>
            </a:r>
            <a:endParaRPr lang="en-US" sz="1050" dirty="0"/>
          </a:p>
        </p:txBody>
      </p:sp>
      <p:sp>
        <p:nvSpPr>
          <p:cNvPr id="28" name="Shape 26"/>
          <p:cNvSpPr/>
          <p:nvPr/>
        </p:nvSpPr>
        <p:spPr>
          <a:xfrm>
            <a:off x="640080" y="5202936"/>
            <a:ext cx="10911535" cy="786384"/>
          </a:xfrm>
          <a:prstGeom prst="roundRect">
            <a:avLst>
              <a:gd name="adj" fmla="val 10465"/>
            </a:avLst>
          </a:prstGeom>
          <a:solidFill>
            <a:srgbClr val="17171B"/>
          </a:solidFill>
          <a:ln w="12700">
            <a:solidFill>
              <a:srgbClr val="17171B"/>
            </a:solidFill>
            <a:prstDash val="solid"/>
          </a:ln>
          <a:effectLst>
            <a:outerShdw sx="100000" sy="100000" kx="0" ky="0" algn="bl" rotWithShape="0" blurRad="127000" dist="25400" dir="5400000">
              <a:srgbClr val="9A9AA6">
                <a:alpha val="22000"/>
              </a:srgbClr>
            </a:outerShdw>
          </a:effectLst>
        </p:spPr>
      </p:sp>
      <p:sp>
        <p:nvSpPr>
          <p:cNvPr id="29" name="Text 27"/>
          <p:cNvSpPr txBox="1"/>
          <p:nvPr/>
        </p:nvSpPr>
        <p:spPr>
          <a:xfrm>
            <a:off x="932688" y="5349240"/>
            <a:ext cx="10326319" cy="530352"/>
          </a:xfrm>
          <a:prstGeom prst="rect">
            <a:avLst/>
          </a:prstGeom>
          <a:noFill/>
          <a:ln/>
        </p:spPr>
        <p:txBody>
          <a:bodyPr wrap="square" lIns="0" tIns="0" rIns="0" bIns="0" rtlCol="0" anchor="ctr"/>
          <a:lstStyle/>
          <a:p>
            <a:pPr indent="0" marL="0">
              <a:lnSpc>
                <a:spcPct val="105000"/>
              </a:lnSpc>
              <a:buNone/>
            </a:pPr>
            <a:r>
              <a:rPr lang="en-US" sz="1050" dirty="0">
                <a:solidFill>
                  <a:srgbClr val="D2D2DA"/>
                </a:solidFill>
                <a:latin typeface="Calibri" pitchFamily="34" charset="0"/>
                <a:ea typeface="Calibri" pitchFamily="34" charset="-122"/>
                <a:cs typeface="Calibri" pitchFamily="34" charset="-120"/>
              </a:rPr>
              <a:t>Why coalitions are so hard: Belgian parties do not compete nationally. Voters in Flanders and voters in Wallonia choose from two entirely separate sets of parties, so a federal majority must always be negotiated across the language border.</a:t>
            </a:r>
            <a:endParaRPr lang="en-US" sz="105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640080" y="402336"/>
            <a:ext cx="10911535" cy="237744"/>
          </a:xfrm>
          <a:prstGeom prst="rect">
            <a:avLst/>
          </a:prstGeom>
          <a:noFill/>
          <a:ln/>
        </p:spPr>
        <p:txBody>
          <a:bodyPr wrap="square" lIns="0" tIns="0" rIns="0" bIns="0" rtlCol="0" anchor="ctr"/>
          <a:lstStyle/>
          <a:p>
            <a:pPr indent="0" marL="0">
              <a:buNone/>
            </a:pPr>
            <a:r>
              <a:rPr lang="en-US" sz="1150" b="1" spc="220" kern="0" dirty="0">
                <a:solidFill>
                  <a:srgbClr val="E3B23C"/>
                </a:solidFill>
                <a:latin typeface="Calibri" pitchFamily="34" charset="0"/>
                <a:ea typeface="Calibri" pitchFamily="34" charset="-122"/>
                <a:cs typeface="Calibri" pitchFamily="34" charset="-120"/>
              </a:rPr>
              <a:t>BRUXELLES</a:t>
            </a:r>
            <a:endParaRPr lang="en-US" sz="1150" dirty="0"/>
          </a:p>
        </p:txBody>
      </p:sp>
      <p:sp>
        <p:nvSpPr>
          <p:cNvPr id="3" name="Text 1"/>
          <p:cNvSpPr txBox="1"/>
          <p:nvPr/>
        </p:nvSpPr>
        <p:spPr>
          <a:xfrm>
            <a:off x="640080" y="676656"/>
            <a:ext cx="10911535" cy="603504"/>
          </a:xfrm>
          <a:prstGeom prst="rect">
            <a:avLst/>
          </a:prstGeom>
          <a:noFill/>
          <a:ln/>
        </p:spPr>
        <p:txBody>
          <a:bodyPr wrap="square" lIns="0" tIns="0" rIns="0" bIns="0" rtlCol="0" anchor="ctr"/>
          <a:lstStyle/>
          <a:p>
            <a:pPr indent="0" marL="0">
              <a:buNone/>
            </a:pPr>
            <a:r>
              <a:rPr lang="en-US" sz="3100" b="1" dirty="0">
                <a:solidFill>
                  <a:srgbClr val="17171B"/>
                </a:solidFill>
                <a:latin typeface="Cambria" pitchFamily="34" charset="0"/>
                <a:ea typeface="Cambria" pitchFamily="34" charset="-122"/>
                <a:cs typeface="Cambria" pitchFamily="34" charset="-120"/>
              </a:rPr>
              <a:t>The capital of Belgium — and of Europe</a:t>
            </a:r>
            <a:endParaRPr lang="en-US" sz="3100" dirty="0"/>
          </a:p>
        </p:txBody>
      </p:sp>
      <p:sp>
        <p:nvSpPr>
          <p:cNvPr id="4" name="Shape 2"/>
          <p:cNvSpPr/>
          <p:nvPr/>
        </p:nvSpPr>
        <p:spPr>
          <a:xfrm>
            <a:off x="640080" y="6163056"/>
            <a:ext cx="384048" cy="384048"/>
          </a:xfrm>
          <a:prstGeom prst="ellipse">
            <a:avLst/>
          </a:prstGeom>
          <a:solidFill>
            <a:srgbClr val="E3B23C"/>
          </a:solidFill>
          <a:ln/>
        </p:spPr>
      </p:sp>
      <p:sp>
        <p:nvSpPr>
          <p:cNvPr id="5" name="Text 3"/>
          <p:cNvSpPr txBox="1"/>
          <p:nvPr/>
        </p:nvSpPr>
        <p:spPr>
          <a:xfrm>
            <a:off x="640080" y="6163056"/>
            <a:ext cx="384048" cy="384048"/>
          </a:xfrm>
          <a:prstGeom prst="rect">
            <a:avLst/>
          </a:prstGeom>
          <a:noFill/>
          <a:ln/>
        </p:spPr>
        <p:txBody>
          <a:bodyPr wrap="square" lIns="0" tIns="0" rIns="0" bIns="0" rtlCol="0" anchor="ctr"/>
          <a:lstStyle/>
          <a:p>
            <a:pPr algn="ctr" indent="0" marL="0">
              <a:buNone/>
            </a:pPr>
            <a:r>
              <a:rPr lang="en-US" sz="1200" b="1" dirty="0">
                <a:solidFill>
                  <a:srgbClr val="17171B"/>
                </a:solidFill>
                <a:latin typeface="Calibri" pitchFamily="34" charset="0"/>
                <a:ea typeface="Calibri" pitchFamily="34" charset="-122"/>
                <a:cs typeface="Calibri" pitchFamily="34" charset="-120"/>
              </a:rPr>
              <a:t>15</a:t>
            </a:r>
            <a:endParaRPr lang="en-US" sz="1200" dirty="0"/>
          </a:p>
        </p:txBody>
      </p:sp>
      <p:sp>
        <p:nvSpPr>
          <p:cNvPr id="6" name="Text 4"/>
          <p:cNvSpPr txBox="1"/>
          <p:nvPr/>
        </p:nvSpPr>
        <p:spPr>
          <a:xfrm>
            <a:off x="6035040" y="6245352"/>
            <a:ext cx="5516575" cy="237744"/>
          </a:xfrm>
          <a:prstGeom prst="rect">
            <a:avLst/>
          </a:prstGeom>
          <a:noFill/>
          <a:ln/>
        </p:spPr>
        <p:txBody>
          <a:bodyPr wrap="square" lIns="0" tIns="0" rIns="0" bIns="0" rtlCol="0" anchor="ctr"/>
          <a:lstStyle/>
          <a:p>
            <a:pPr algn="r" indent="0" marL="0">
              <a:buNone/>
            </a:pPr>
            <a:r>
              <a:rPr lang="en-US" sz="900" dirty="0">
                <a:solidFill>
                  <a:srgbClr val="70707C"/>
                </a:solidFill>
                <a:latin typeface="Calibri" pitchFamily="34" charset="0"/>
                <a:ea typeface="Calibri" pitchFamily="34" charset="-122"/>
                <a:cs typeface="Calibri" pitchFamily="34" charset="-120"/>
              </a:rPr>
              <a:t>La Belgique  ·  FREN 201  ·  Projet Francophonie</a:t>
            </a:r>
            <a:endParaRPr lang="en-US" sz="900" dirty="0"/>
          </a:p>
        </p:txBody>
      </p:sp>
      <p:pic>
        <p:nvPicPr>
          <p:cNvPr id="7" name="Image 0" descr="/tmp/claude-0/-home-user-BOYNT-WORK/856f02cf-0e32-5bfe-bffb-9edb29b314f9/scratchpad/deckimg/brussels_aerial.jpg">    </p:cNvPr>
          <p:cNvPicPr>
            <a:picLocks noChangeAspect="1"/>
          </p:cNvPicPr>
          <p:nvPr/>
        </p:nvPicPr>
        <p:blipFill>
          <a:blip r:embed="rId1"/>
          <a:srcRect l="0" r="0" t="0" b="0"/>
          <a:stretch/>
        </p:blipFill>
        <p:spPr>
          <a:xfrm>
            <a:off x="640080" y="1481328"/>
            <a:ext cx="6720840" cy="2889504"/>
          </a:xfrm>
          <a:prstGeom prst="rect">
            <a:avLst/>
          </a:prstGeom>
        </p:spPr>
      </p:pic>
      <p:sp>
        <p:nvSpPr>
          <p:cNvPr id="8" name="Text 5"/>
          <p:cNvSpPr txBox="1"/>
          <p:nvPr/>
        </p:nvSpPr>
        <p:spPr>
          <a:xfrm>
            <a:off x="640080" y="4453128"/>
            <a:ext cx="6720840" cy="274320"/>
          </a:xfrm>
          <a:prstGeom prst="rect">
            <a:avLst/>
          </a:prstGeom>
          <a:noFill/>
          <a:ln/>
        </p:spPr>
        <p:txBody>
          <a:bodyPr wrap="square" lIns="0" tIns="0" rIns="0" bIns="0" rtlCol="0" anchor="ctr"/>
          <a:lstStyle/>
          <a:p>
            <a:pPr indent="0" marL="0">
              <a:buNone/>
            </a:pPr>
            <a:r>
              <a:rPr lang="en-US" sz="950" i="1" dirty="0">
                <a:solidFill>
                  <a:srgbClr val="70707C"/>
                </a:solidFill>
                <a:latin typeface="Calibri" pitchFamily="34" charset="0"/>
                <a:ea typeface="Calibri" pitchFamily="34" charset="-122"/>
                <a:cs typeface="Calibri" pitchFamily="34" charset="-120"/>
              </a:rPr>
              <a:t>Brussels from the Koekelberg basilica. The Atomium, built for the 1958 World's Fair, is visible on the horizon.</a:t>
            </a:r>
            <a:endParaRPr lang="en-US" sz="950" dirty="0"/>
          </a:p>
        </p:txBody>
      </p:sp>
      <p:sp>
        <p:nvSpPr>
          <p:cNvPr id="9" name="Text 6"/>
          <p:cNvSpPr txBox="1"/>
          <p:nvPr/>
        </p:nvSpPr>
        <p:spPr>
          <a:xfrm>
            <a:off x="7772400" y="1481328"/>
            <a:ext cx="3779215" cy="237744"/>
          </a:xfrm>
          <a:prstGeom prst="rect">
            <a:avLst/>
          </a:prstGeom>
          <a:noFill/>
          <a:ln/>
        </p:spPr>
        <p:txBody>
          <a:bodyPr wrap="square" lIns="0" tIns="0" rIns="0" bIns="0" rtlCol="0" anchor="ctr"/>
          <a:lstStyle/>
          <a:p>
            <a:pPr indent="0" marL="0">
              <a:buNone/>
            </a:pPr>
            <a:r>
              <a:rPr lang="en-US" sz="1250" b="1" dirty="0">
                <a:solidFill>
                  <a:srgbClr val="17171B"/>
                </a:solidFill>
                <a:latin typeface="Calibri" pitchFamily="34" charset="0"/>
                <a:ea typeface="Calibri" pitchFamily="34" charset="-122"/>
                <a:cs typeface="Calibri" pitchFamily="34" charset="-120"/>
              </a:rPr>
              <a:t>1.25 million</a:t>
            </a:r>
            <a:endParaRPr lang="en-US" sz="1250" dirty="0"/>
          </a:p>
        </p:txBody>
      </p:sp>
      <p:sp>
        <p:nvSpPr>
          <p:cNvPr id="10" name="Text 7"/>
          <p:cNvSpPr txBox="1"/>
          <p:nvPr/>
        </p:nvSpPr>
        <p:spPr>
          <a:xfrm>
            <a:off x="7772400" y="1719072"/>
            <a:ext cx="3779215" cy="731520"/>
          </a:xfrm>
          <a:prstGeom prst="rect">
            <a:avLst/>
          </a:prstGeom>
          <a:noFill/>
          <a:ln/>
        </p:spPr>
        <p:txBody>
          <a:bodyPr wrap="square" lIns="0" tIns="0" rIns="0" bIns="0" rtlCol="0" anchor="ctr"/>
          <a:lstStyle/>
          <a:p>
            <a:pPr indent="0" marL="0">
              <a:lnSpc>
                <a:spcPct val="103000"/>
              </a:lnSpc>
              <a:buNone/>
            </a:pPr>
            <a:r>
              <a:rPr lang="en-US" sz="1050" dirty="0">
                <a:solidFill>
                  <a:srgbClr val="3E3E48"/>
                </a:solidFill>
                <a:latin typeface="Calibri" pitchFamily="34" charset="0"/>
                <a:ea typeface="Calibri" pitchFamily="34" charset="-122"/>
                <a:cs typeface="Calibri" pitchFamily="34" charset="-120"/>
              </a:rPr>
              <a:t>people in the Brussels-Capital Region; about 2.1 million in the wider metropolitan area.</a:t>
            </a:r>
            <a:endParaRPr lang="en-US" sz="1050" dirty="0"/>
          </a:p>
        </p:txBody>
      </p:sp>
      <p:sp>
        <p:nvSpPr>
          <p:cNvPr id="11" name="Text 8"/>
          <p:cNvSpPr txBox="1"/>
          <p:nvPr/>
        </p:nvSpPr>
        <p:spPr>
          <a:xfrm>
            <a:off x="7772400" y="2395728"/>
            <a:ext cx="3779215" cy="237744"/>
          </a:xfrm>
          <a:prstGeom prst="rect">
            <a:avLst/>
          </a:prstGeom>
          <a:noFill/>
          <a:ln/>
        </p:spPr>
        <p:txBody>
          <a:bodyPr wrap="square" lIns="0" tIns="0" rIns="0" bIns="0" rtlCol="0" anchor="ctr"/>
          <a:lstStyle/>
          <a:p>
            <a:pPr indent="0" marL="0">
              <a:buNone/>
            </a:pPr>
            <a:r>
              <a:rPr lang="en-US" sz="1250" b="1" dirty="0">
                <a:solidFill>
                  <a:srgbClr val="17171B"/>
                </a:solidFill>
                <a:latin typeface="Calibri" pitchFamily="34" charset="0"/>
                <a:ea typeface="Calibri" pitchFamily="34" charset="-122"/>
                <a:cs typeface="Calibri" pitchFamily="34" charset="-120"/>
              </a:rPr>
              <a:t>Officially bilingual</a:t>
            </a:r>
            <a:endParaRPr lang="en-US" sz="1250" dirty="0"/>
          </a:p>
        </p:txBody>
      </p:sp>
      <p:sp>
        <p:nvSpPr>
          <p:cNvPr id="12" name="Text 9"/>
          <p:cNvSpPr txBox="1"/>
          <p:nvPr/>
        </p:nvSpPr>
        <p:spPr>
          <a:xfrm>
            <a:off x="7772400" y="2633472"/>
            <a:ext cx="3779215" cy="731520"/>
          </a:xfrm>
          <a:prstGeom prst="rect">
            <a:avLst/>
          </a:prstGeom>
          <a:noFill/>
          <a:ln/>
        </p:spPr>
        <p:txBody>
          <a:bodyPr wrap="square" lIns="0" tIns="0" rIns="0" bIns="0" rtlCol="0" anchor="ctr"/>
          <a:lstStyle/>
          <a:p>
            <a:pPr indent="0" marL="0">
              <a:lnSpc>
                <a:spcPct val="103000"/>
              </a:lnSpc>
              <a:buNone/>
            </a:pPr>
            <a:r>
              <a:rPr lang="en-US" sz="1050" dirty="0">
                <a:solidFill>
                  <a:srgbClr val="3E3E48"/>
                </a:solidFill>
                <a:latin typeface="Calibri" pitchFamily="34" charset="0"/>
                <a:ea typeface="Calibri" pitchFamily="34" charset="-122"/>
                <a:cs typeface="Calibri" pitchFamily="34" charset="-120"/>
              </a:rPr>
              <a:t>French and Dutch have equal status. In practice around 80 % of residents speak French — a French-speaking region surrounded by Flanders.</a:t>
            </a:r>
            <a:endParaRPr lang="en-US" sz="1050" dirty="0"/>
          </a:p>
        </p:txBody>
      </p:sp>
      <p:sp>
        <p:nvSpPr>
          <p:cNvPr id="13" name="Text 10"/>
          <p:cNvSpPr txBox="1"/>
          <p:nvPr/>
        </p:nvSpPr>
        <p:spPr>
          <a:xfrm>
            <a:off x="7772400" y="3310128"/>
            <a:ext cx="3779215" cy="237744"/>
          </a:xfrm>
          <a:prstGeom prst="rect">
            <a:avLst/>
          </a:prstGeom>
          <a:noFill/>
          <a:ln/>
        </p:spPr>
        <p:txBody>
          <a:bodyPr wrap="square" lIns="0" tIns="0" rIns="0" bIns="0" rtlCol="0" anchor="ctr"/>
          <a:lstStyle/>
          <a:p>
            <a:pPr indent="0" marL="0">
              <a:buNone/>
            </a:pPr>
            <a:r>
              <a:rPr lang="en-US" sz="1250" b="1" dirty="0">
                <a:solidFill>
                  <a:srgbClr val="17171B"/>
                </a:solidFill>
                <a:latin typeface="Calibri" pitchFamily="34" charset="0"/>
                <a:ea typeface="Calibri" pitchFamily="34" charset="-122"/>
                <a:cs typeface="Calibri" pitchFamily="34" charset="-120"/>
              </a:rPr>
              <a:t>Capital of the EU</a:t>
            </a:r>
            <a:endParaRPr lang="en-US" sz="1250" dirty="0"/>
          </a:p>
        </p:txBody>
      </p:sp>
      <p:sp>
        <p:nvSpPr>
          <p:cNvPr id="14" name="Text 11"/>
          <p:cNvSpPr txBox="1"/>
          <p:nvPr/>
        </p:nvSpPr>
        <p:spPr>
          <a:xfrm>
            <a:off x="7772400" y="3547872"/>
            <a:ext cx="3779215" cy="731520"/>
          </a:xfrm>
          <a:prstGeom prst="rect">
            <a:avLst/>
          </a:prstGeom>
          <a:noFill/>
          <a:ln/>
        </p:spPr>
        <p:txBody>
          <a:bodyPr wrap="square" lIns="0" tIns="0" rIns="0" bIns="0" rtlCol="0" anchor="ctr"/>
          <a:lstStyle/>
          <a:p>
            <a:pPr indent="0" marL="0">
              <a:lnSpc>
                <a:spcPct val="103000"/>
              </a:lnSpc>
              <a:buNone/>
            </a:pPr>
            <a:r>
              <a:rPr lang="en-US" sz="1050" dirty="0">
                <a:solidFill>
                  <a:srgbClr val="3E3E48"/>
                </a:solidFill>
                <a:latin typeface="Calibri" pitchFamily="34" charset="0"/>
                <a:ea typeface="Calibri" pitchFamily="34" charset="-122"/>
                <a:cs typeface="Calibri" pitchFamily="34" charset="-120"/>
              </a:rPr>
              <a:t>Home to the European Commission, the Council of the EU and part of the European Parliament.</a:t>
            </a:r>
            <a:endParaRPr lang="en-US" sz="1050" dirty="0"/>
          </a:p>
        </p:txBody>
      </p:sp>
      <p:sp>
        <p:nvSpPr>
          <p:cNvPr id="15" name="Text 12"/>
          <p:cNvSpPr txBox="1"/>
          <p:nvPr/>
        </p:nvSpPr>
        <p:spPr>
          <a:xfrm>
            <a:off x="7772400" y="4224528"/>
            <a:ext cx="3779215" cy="237744"/>
          </a:xfrm>
          <a:prstGeom prst="rect">
            <a:avLst/>
          </a:prstGeom>
          <a:noFill/>
          <a:ln/>
        </p:spPr>
        <p:txBody>
          <a:bodyPr wrap="square" lIns="0" tIns="0" rIns="0" bIns="0" rtlCol="0" anchor="ctr"/>
          <a:lstStyle/>
          <a:p>
            <a:pPr indent="0" marL="0">
              <a:buNone/>
            </a:pPr>
            <a:r>
              <a:rPr lang="en-US" sz="1250" b="1" dirty="0">
                <a:solidFill>
                  <a:srgbClr val="17171B"/>
                </a:solidFill>
                <a:latin typeface="Calibri" pitchFamily="34" charset="0"/>
                <a:ea typeface="Calibri" pitchFamily="34" charset="-122"/>
                <a:cs typeface="Calibri" pitchFamily="34" charset="-120"/>
              </a:rPr>
              <a:t>NATO headquarters</a:t>
            </a:r>
            <a:endParaRPr lang="en-US" sz="1250" dirty="0"/>
          </a:p>
        </p:txBody>
      </p:sp>
      <p:sp>
        <p:nvSpPr>
          <p:cNvPr id="16" name="Text 13"/>
          <p:cNvSpPr txBox="1"/>
          <p:nvPr/>
        </p:nvSpPr>
        <p:spPr>
          <a:xfrm>
            <a:off x="7772400" y="4462272"/>
            <a:ext cx="3779215" cy="731520"/>
          </a:xfrm>
          <a:prstGeom prst="rect">
            <a:avLst/>
          </a:prstGeom>
          <a:noFill/>
          <a:ln/>
        </p:spPr>
        <p:txBody>
          <a:bodyPr wrap="square" lIns="0" tIns="0" rIns="0" bIns="0" rtlCol="0" anchor="ctr"/>
          <a:lstStyle/>
          <a:p>
            <a:pPr indent="0" marL="0">
              <a:lnSpc>
                <a:spcPct val="103000"/>
              </a:lnSpc>
              <a:buNone/>
            </a:pPr>
            <a:r>
              <a:rPr lang="en-US" sz="1050" dirty="0">
                <a:solidFill>
                  <a:srgbClr val="3E3E48"/>
                </a:solidFill>
                <a:latin typeface="Calibri" pitchFamily="34" charset="0"/>
                <a:ea typeface="Calibri" pitchFamily="34" charset="-122"/>
                <a:cs typeface="Calibri" pitchFamily="34" charset="-120"/>
              </a:rPr>
              <a:t>Since 1967.</a:t>
            </a:r>
            <a:endParaRPr lang="en-US" sz="1050" dirty="0"/>
          </a:p>
        </p:txBody>
      </p:sp>
      <p:sp>
        <p:nvSpPr>
          <p:cNvPr id="17" name="Shape 14"/>
          <p:cNvSpPr/>
          <p:nvPr/>
        </p:nvSpPr>
        <p:spPr>
          <a:xfrm>
            <a:off x="640080" y="5102352"/>
            <a:ext cx="10911535" cy="932688"/>
          </a:xfrm>
          <a:prstGeom prst="roundRect">
            <a:avLst>
              <a:gd name="adj" fmla="val 8824"/>
            </a:avLst>
          </a:prstGeom>
          <a:solidFill>
            <a:srgbClr val="17171B"/>
          </a:solidFill>
          <a:ln w="12700">
            <a:solidFill>
              <a:srgbClr val="17171B"/>
            </a:solidFill>
            <a:prstDash val="solid"/>
          </a:ln>
          <a:effectLst>
            <a:outerShdw sx="100000" sy="100000" kx="0" ky="0" algn="bl" rotWithShape="0" blurRad="127000" dist="25400" dir="5400000">
              <a:srgbClr val="9A9AA6">
                <a:alpha val="22000"/>
              </a:srgbClr>
            </a:outerShdw>
          </a:effectLst>
        </p:spPr>
      </p:sp>
      <p:sp>
        <p:nvSpPr>
          <p:cNvPr id="18" name="Text 15"/>
          <p:cNvSpPr txBox="1"/>
          <p:nvPr/>
        </p:nvSpPr>
        <p:spPr>
          <a:xfrm>
            <a:off x="932688" y="5230368"/>
            <a:ext cx="10326319" cy="219456"/>
          </a:xfrm>
          <a:prstGeom prst="rect">
            <a:avLst/>
          </a:prstGeom>
          <a:noFill/>
          <a:ln/>
        </p:spPr>
        <p:txBody>
          <a:bodyPr wrap="square" lIns="0" tIns="0" rIns="0" bIns="0" rtlCol="0" anchor="ctr"/>
          <a:lstStyle/>
          <a:p>
            <a:pPr indent="0" marL="0">
              <a:buNone/>
            </a:pPr>
            <a:r>
              <a:rPr lang="en-US" sz="1000" b="1" spc="120" kern="0" dirty="0">
                <a:solidFill>
                  <a:srgbClr val="E3B23C"/>
                </a:solidFill>
                <a:latin typeface="Calibri" pitchFamily="34" charset="0"/>
                <a:ea typeface="Calibri" pitchFamily="34" charset="-122"/>
                <a:cs typeface="Calibri" pitchFamily="34" charset="-120"/>
              </a:rPr>
              <a:t>WHAT TO SEE</a:t>
            </a:r>
            <a:endParaRPr lang="en-US" sz="1000" dirty="0"/>
          </a:p>
        </p:txBody>
      </p:sp>
      <p:sp>
        <p:nvSpPr>
          <p:cNvPr id="19" name="Text 16"/>
          <p:cNvSpPr txBox="1"/>
          <p:nvPr/>
        </p:nvSpPr>
        <p:spPr>
          <a:xfrm>
            <a:off x="932688" y="5486400"/>
            <a:ext cx="10326319" cy="457200"/>
          </a:xfrm>
          <a:prstGeom prst="rect">
            <a:avLst/>
          </a:prstGeom>
          <a:noFill/>
          <a:ln/>
        </p:spPr>
        <p:txBody>
          <a:bodyPr wrap="square" lIns="0" tIns="0" rIns="0" bIns="0" rtlCol="0" anchor="ctr"/>
          <a:lstStyle/>
          <a:p>
            <a:pPr indent="0" marL="0">
              <a:lnSpc>
                <a:spcPct val="106000"/>
              </a:lnSpc>
              <a:buNone/>
            </a:pPr>
            <a:r>
              <a:rPr lang="en-US" sz="1050" dirty="0">
                <a:solidFill>
                  <a:srgbClr val="D2D2DA"/>
                </a:solidFill>
                <a:latin typeface="Calibri" pitchFamily="34" charset="0"/>
                <a:ea typeface="Calibri" pitchFamily="34" charset="-122"/>
                <a:cs typeface="Calibri" pitchFamily="34" charset="-120"/>
              </a:rPr>
              <a:t>The Grand-Place, a UNESCO World Heritage site since 1998 and one of the most complete baroque squares in Europe  ·  Manneken Pis  ·  the Art Nouveau town houses of Victor Horta, also UNESCO  ·  the Atomium  ·  the Royal Museums of Fine Arts and the Magritte Museum  ·  the Belgian Comic Strip Center</a:t>
            </a:r>
            <a:endParaRPr lang="en-US" sz="105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640080" y="402336"/>
            <a:ext cx="10911535" cy="237744"/>
          </a:xfrm>
          <a:prstGeom prst="rect">
            <a:avLst/>
          </a:prstGeom>
          <a:noFill/>
          <a:ln/>
        </p:spPr>
        <p:txBody>
          <a:bodyPr wrap="square" lIns="0" tIns="0" rIns="0" bIns="0" rtlCol="0" anchor="ctr"/>
          <a:lstStyle/>
          <a:p>
            <a:pPr indent="0" marL="0">
              <a:buNone/>
            </a:pPr>
            <a:r>
              <a:rPr lang="en-US" sz="1150" b="1" spc="220" kern="0" dirty="0">
                <a:solidFill>
                  <a:srgbClr val="E3B23C"/>
                </a:solidFill>
                <a:latin typeface="Calibri" pitchFamily="34" charset="0"/>
                <a:ea typeface="Calibri" pitchFamily="34" charset="-122"/>
                <a:cs typeface="Calibri" pitchFamily="34" charset="-120"/>
              </a:rPr>
              <a:t>CULTURE</a:t>
            </a:r>
            <a:endParaRPr lang="en-US" sz="1150" dirty="0"/>
          </a:p>
        </p:txBody>
      </p:sp>
      <p:sp>
        <p:nvSpPr>
          <p:cNvPr id="3" name="Text 1"/>
          <p:cNvSpPr txBox="1"/>
          <p:nvPr/>
        </p:nvSpPr>
        <p:spPr>
          <a:xfrm>
            <a:off x="640080" y="676656"/>
            <a:ext cx="10911535" cy="603504"/>
          </a:xfrm>
          <a:prstGeom prst="rect">
            <a:avLst/>
          </a:prstGeom>
          <a:noFill/>
          <a:ln/>
        </p:spPr>
        <p:txBody>
          <a:bodyPr wrap="square" lIns="0" tIns="0" rIns="0" bIns="0" rtlCol="0" anchor="ctr"/>
          <a:lstStyle/>
          <a:p>
            <a:pPr indent="0" marL="0">
              <a:buNone/>
            </a:pPr>
            <a:r>
              <a:rPr lang="en-US" sz="3100" b="1" dirty="0">
                <a:solidFill>
                  <a:srgbClr val="17171B"/>
                </a:solidFill>
                <a:latin typeface="Cambria" pitchFamily="34" charset="0"/>
                <a:ea typeface="Cambria" pitchFamily="34" charset="-122"/>
                <a:cs typeface="Cambria" pitchFamily="34" charset="-120"/>
              </a:rPr>
              <a:t>Painters, surrealists and the ninth art</a:t>
            </a:r>
            <a:endParaRPr lang="en-US" sz="3100" dirty="0"/>
          </a:p>
        </p:txBody>
      </p:sp>
      <p:sp>
        <p:nvSpPr>
          <p:cNvPr id="4" name="Shape 2"/>
          <p:cNvSpPr/>
          <p:nvPr/>
        </p:nvSpPr>
        <p:spPr>
          <a:xfrm>
            <a:off x="640080" y="6163056"/>
            <a:ext cx="384048" cy="384048"/>
          </a:xfrm>
          <a:prstGeom prst="ellipse">
            <a:avLst/>
          </a:prstGeom>
          <a:solidFill>
            <a:srgbClr val="E3B23C"/>
          </a:solidFill>
          <a:ln/>
        </p:spPr>
      </p:sp>
      <p:sp>
        <p:nvSpPr>
          <p:cNvPr id="5" name="Text 3"/>
          <p:cNvSpPr txBox="1"/>
          <p:nvPr/>
        </p:nvSpPr>
        <p:spPr>
          <a:xfrm>
            <a:off x="640080" y="6163056"/>
            <a:ext cx="384048" cy="384048"/>
          </a:xfrm>
          <a:prstGeom prst="rect">
            <a:avLst/>
          </a:prstGeom>
          <a:noFill/>
          <a:ln/>
        </p:spPr>
        <p:txBody>
          <a:bodyPr wrap="square" lIns="0" tIns="0" rIns="0" bIns="0" rtlCol="0" anchor="ctr"/>
          <a:lstStyle/>
          <a:p>
            <a:pPr algn="ctr" indent="0" marL="0">
              <a:buNone/>
            </a:pPr>
            <a:r>
              <a:rPr lang="en-US" sz="1200" b="1" dirty="0">
                <a:solidFill>
                  <a:srgbClr val="17171B"/>
                </a:solidFill>
                <a:latin typeface="Calibri" pitchFamily="34" charset="0"/>
                <a:ea typeface="Calibri" pitchFamily="34" charset="-122"/>
                <a:cs typeface="Calibri" pitchFamily="34" charset="-120"/>
              </a:rPr>
              <a:t>16</a:t>
            </a:r>
            <a:endParaRPr lang="en-US" sz="1200" dirty="0"/>
          </a:p>
        </p:txBody>
      </p:sp>
      <p:sp>
        <p:nvSpPr>
          <p:cNvPr id="6" name="Text 4"/>
          <p:cNvSpPr txBox="1"/>
          <p:nvPr/>
        </p:nvSpPr>
        <p:spPr>
          <a:xfrm>
            <a:off x="6035040" y="6245352"/>
            <a:ext cx="5516575" cy="237744"/>
          </a:xfrm>
          <a:prstGeom prst="rect">
            <a:avLst/>
          </a:prstGeom>
          <a:noFill/>
          <a:ln/>
        </p:spPr>
        <p:txBody>
          <a:bodyPr wrap="square" lIns="0" tIns="0" rIns="0" bIns="0" rtlCol="0" anchor="ctr"/>
          <a:lstStyle/>
          <a:p>
            <a:pPr algn="r" indent="0" marL="0">
              <a:buNone/>
            </a:pPr>
            <a:r>
              <a:rPr lang="en-US" sz="900" dirty="0">
                <a:solidFill>
                  <a:srgbClr val="70707C"/>
                </a:solidFill>
                <a:latin typeface="Calibri" pitchFamily="34" charset="0"/>
                <a:ea typeface="Calibri" pitchFamily="34" charset="-122"/>
                <a:cs typeface="Calibri" pitchFamily="34" charset="-120"/>
              </a:rPr>
              <a:t>La Belgique  ·  FREN 201  ·  Projet Francophonie</a:t>
            </a:r>
            <a:endParaRPr lang="en-US" sz="900" dirty="0"/>
          </a:p>
        </p:txBody>
      </p:sp>
      <p:sp>
        <p:nvSpPr>
          <p:cNvPr id="7" name="Text 5"/>
          <p:cNvSpPr txBox="1"/>
          <p:nvPr/>
        </p:nvSpPr>
        <p:spPr>
          <a:xfrm>
            <a:off x="640080" y="1481328"/>
            <a:ext cx="6858000" cy="256032"/>
          </a:xfrm>
          <a:prstGeom prst="rect">
            <a:avLst/>
          </a:prstGeom>
          <a:noFill/>
          <a:ln/>
        </p:spPr>
        <p:txBody>
          <a:bodyPr wrap="square" lIns="0" tIns="0" rIns="0" bIns="0" rtlCol="0" anchor="ctr"/>
          <a:lstStyle/>
          <a:p>
            <a:pPr indent="0" marL="0">
              <a:buNone/>
            </a:pPr>
            <a:r>
              <a:rPr lang="en-US" sz="1250" b="1" spc="110" kern="0" dirty="0">
                <a:solidFill>
                  <a:srgbClr val="E3B23C"/>
                </a:solidFill>
                <a:latin typeface="Calibri" pitchFamily="34" charset="0"/>
                <a:ea typeface="Calibri" pitchFamily="34" charset="-122"/>
                <a:cs typeface="Calibri" pitchFamily="34" charset="-120"/>
              </a:rPr>
              <a:t>LA PEINTURE</a:t>
            </a:r>
            <a:endParaRPr lang="en-US" sz="1250" dirty="0"/>
          </a:p>
        </p:txBody>
      </p:sp>
      <p:sp>
        <p:nvSpPr>
          <p:cNvPr id="8" name="Text 6"/>
          <p:cNvSpPr txBox="1"/>
          <p:nvPr/>
        </p:nvSpPr>
        <p:spPr>
          <a:xfrm>
            <a:off x="640080" y="1773936"/>
            <a:ext cx="6858000" cy="1143000"/>
          </a:xfrm>
          <a:prstGeom prst="rect">
            <a:avLst/>
          </a:prstGeom>
          <a:noFill/>
          <a:ln/>
        </p:spPr>
        <p:txBody>
          <a:bodyPr wrap="square" lIns="0" tIns="0" rIns="0" bIns="0" rtlCol="0" anchor="ctr"/>
          <a:lstStyle/>
          <a:p>
            <a:pPr indent="0" marL="0">
              <a:lnSpc>
                <a:spcPct val="106000"/>
              </a:lnSpc>
              <a:buNone/>
            </a:pPr>
            <a:r>
              <a:rPr lang="en-US" sz="1150" dirty="0">
                <a:solidFill>
                  <a:srgbClr val="3E3E48"/>
                </a:solidFill>
                <a:latin typeface="Calibri" pitchFamily="34" charset="0"/>
                <a:ea typeface="Calibri" pitchFamily="34" charset="-122"/>
                <a:cs typeface="Calibri" pitchFamily="34" charset="-120"/>
              </a:rPr>
              <a:t>Jan van Eyck's Ghent Altarpiece (1432) is one of the founding works of European painting. Pieter Bruegel the Elder painted peasant life; Peter Paul Rubens made Antwerp a capital of the baroque; René Magritte turned Belgian surrealism into an image everyone knows — Ceci n'est pas une pipe.</a:t>
            </a:r>
            <a:endParaRPr lang="en-US" sz="1150" dirty="0"/>
          </a:p>
        </p:txBody>
      </p:sp>
      <p:sp>
        <p:nvSpPr>
          <p:cNvPr id="9" name="Text 7"/>
          <p:cNvSpPr txBox="1"/>
          <p:nvPr/>
        </p:nvSpPr>
        <p:spPr>
          <a:xfrm>
            <a:off x="640080" y="3054096"/>
            <a:ext cx="6858000" cy="256032"/>
          </a:xfrm>
          <a:prstGeom prst="rect">
            <a:avLst/>
          </a:prstGeom>
          <a:noFill/>
          <a:ln/>
        </p:spPr>
        <p:txBody>
          <a:bodyPr wrap="square" lIns="0" tIns="0" rIns="0" bIns="0" rtlCol="0" anchor="ctr"/>
          <a:lstStyle/>
          <a:p>
            <a:pPr indent="0" marL="0">
              <a:buNone/>
            </a:pPr>
            <a:r>
              <a:rPr lang="en-US" sz="1250" b="1" spc="110" kern="0" dirty="0">
                <a:solidFill>
                  <a:srgbClr val="E3B23C"/>
                </a:solidFill>
                <a:latin typeface="Calibri" pitchFamily="34" charset="0"/>
                <a:ea typeface="Calibri" pitchFamily="34" charset="-122"/>
                <a:cs typeface="Calibri" pitchFamily="34" charset="-120"/>
              </a:rPr>
              <a:t>LA BANDE DESSINÉE</a:t>
            </a:r>
            <a:endParaRPr lang="en-US" sz="1250" dirty="0"/>
          </a:p>
        </p:txBody>
      </p:sp>
      <p:sp>
        <p:nvSpPr>
          <p:cNvPr id="10" name="Text 8"/>
          <p:cNvSpPr txBox="1"/>
          <p:nvPr/>
        </p:nvSpPr>
        <p:spPr>
          <a:xfrm>
            <a:off x="640080" y="3346704"/>
            <a:ext cx="6858000" cy="1143000"/>
          </a:xfrm>
          <a:prstGeom prst="rect">
            <a:avLst/>
          </a:prstGeom>
          <a:noFill/>
          <a:ln/>
        </p:spPr>
        <p:txBody>
          <a:bodyPr wrap="square" lIns="0" tIns="0" rIns="0" bIns="0" rtlCol="0" anchor="ctr"/>
          <a:lstStyle/>
          <a:p>
            <a:pPr indent="0" marL="0">
              <a:lnSpc>
                <a:spcPct val="106000"/>
              </a:lnSpc>
              <a:buNone/>
            </a:pPr>
            <a:r>
              <a:rPr lang="en-US" sz="1150" dirty="0">
                <a:solidFill>
                  <a:srgbClr val="3E3E48"/>
                </a:solidFill>
                <a:latin typeface="Calibri" pitchFamily="34" charset="0"/>
                <a:ea typeface="Calibri" pitchFamily="34" charset="-122"/>
                <a:cs typeface="Calibri" pitchFamily="34" charset="-120"/>
              </a:rPr>
              <a:t>Belgium invented the modern European comic and calls it the ninth art. Hergé created Tintin in 1929; Peyo created the Smurfs (Les Schtroumpfs); Morris created Lucky Luke. Brussels has a comic-strip museum and a walking trail of painted murals.</a:t>
            </a:r>
            <a:endParaRPr lang="en-US" sz="1150" dirty="0"/>
          </a:p>
        </p:txBody>
      </p:sp>
      <p:sp>
        <p:nvSpPr>
          <p:cNvPr id="11" name="Text 9"/>
          <p:cNvSpPr txBox="1"/>
          <p:nvPr/>
        </p:nvSpPr>
        <p:spPr>
          <a:xfrm>
            <a:off x="640080" y="4626864"/>
            <a:ext cx="6858000" cy="256032"/>
          </a:xfrm>
          <a:prstGeom prst="rect">
            <a:avLst/>
          </a:prstGeom>
          <a:noFill/>
          <a:ln/>
        </p:spPr>
        <p:txBody>
          <a:bodyPr wrap="square" lIns="0" tIns="0" rIns="0" bIns="0" rtlCol="0" anchor="ctr"/>
          <a:lstStyle/>
          <a:p>
            <a:pPr indent="0" marL="0">
              <a:buNone/>
            </a:pPr>
            <a:r>
              <a:rPr lang="en-US" sz="1250" b="1" spc="110" kern="0" dirty="0">
                <a:solidFill>
                  <a:srgbClr val="E3B23C"/>
                </a:solidFill>
                <a:latin typeface="Calibri" pitchFamily="34" charset="0"/>
                <a:ea typeface="Calibri" pitchFamily="34" charset="-122"/>
                <a:cs typeface="Calibri" pitchFamily="34" charset="-120"/>
              </a:rPr>
              <a:t>LA MUSIQUE ET LE CINÉMA</a:t>
            </a:r>
            <a:endParaRPr lang="en-US" sz="1250" dirty="0"/>
          </a:p>
        </p:txBody>
      </p:sp>
      <p:sp>
        <p:nvSpPr>
          <p:cNvPr id="12" name="Text 10"/>
          <p:cNvSpPr txBox="1"/>
          <p:nvPr/>
        </p:nvSpPr>
        <p:spPr>
          <a:xfrm>
            <a:off x="640080" y="4919472"/>
            <a:ext cx="6858000" cy="1143000"/>
          </a:xfrm>
          <a:prstGeom prst="rect">
            <a:avLst/>
          </a:prstGeom>
          <a:noFill/>
          <a:ln/>
        </p:spPr>
        <p:txBody>
          <a:bodyPr wrap="square" lIns="0" tIns="0" rIns="0" bIns="0" rtlCol="0" anchor="ctr"/>
          <a:lstStyle/>
          <a:p>
            <a:pPr indent="0" marL="0">
              <a:lnSpc>
                <a:spcPct val="106000"/>
              </a:lnSpc>
              <a:buNone/>
            </a:pPr>
            <a:r>
              <a:rPr lang="en-US" sz="1150" dirty="0">
                <a:solidFill>
                  <a:srgbClr val="3E3E48"/>
                </a:solidFill>
                <a:latin typeface="Calibri" pitchFamily="34" charset="0"/>
                <a:ea typeface="Calibri" pitchFamily="34" charset="-122"/>
                <a:cs typeface="Calibri" pitchFamily="34" charset="-120"/>
              </a:rPr>
              <a:t>Adolphe Sax, born in Dinant in 1814, invented the saxophone. César Franck came from Liège, Jacques Brel from Brussels. The Dardenne brothers have won the Palme d'Or at Cannes twice.</a:t>
            </a:r>
            <a:endParaRPr lang="en-US" sz="1150" dirty="0"/>
          </a:p>
        </p:txBody>
      </p:sp>
      <p:pic>
        <p:nvPicPr>
          <p:cNvPr id="13" name="Image 0" descr="/tmp/claude-0/-home-user-BOYNT-WORK/856f02cf-0e32-5bfe-bffb-9edb29b314f9/scratchpad/deckimg/antwerp_cathedral.jpg">    </p:cNvPr>
          <p:cNvPicPr>
            <a:picLocks noChangeAspect="1"/>
          </p:cNvPicPr>
          <p:nvPr/>
        </p:nvPicPr>
        <p:blipFill>
          <a:blip r:embed="rId1"/>
          <a:srcRect l="0" r="0" t="0" b="0"/>
          <a:stretch/>
        </p:blipFill>
        <p:spPr>
          <a:xfrm>
            <a:off x="7955280" y="1481328"/>
            <a:ext cx="3596335" cy="2057400"/>
          </a:xfrm>
          <a:prstGeom prst="rect">
            <a:avLst/>
          </a:prstGeom>
        </p:spPr>
      </p:pic>
      <p:sp>
        <p:nvSpPr>
          <p:cNvPr id="14" name="Text 11"/>
          <p:cNvSpPr txBox="1"/>
          <p:nvPr/>
        </p:nvSpPr>
        <p:spPr>
          <a:xfrm>
            <a:off x="7955280" y="3621024"/>
            <a:ext cx="3596335" cy="274320"/>
          </a:xfrm>
          <a:prstGeom prst="rect">
            <a:avLst/>
          </a:prstGeom>
          <a:noFill/>
          <a:ln/>
        </p:spPr>
        <p:txBody>
          <a:bodyPr wrap="square" lIns="0" tIns="0" rIns="0" bIns="0" rtlCol="0" anchor="ctr"/>
          <a:lstStyle/>
          <a:p>
            <a:pPr indent="0" marL="0">
              <a:buNone/>
            </a:pPr>
            <a:r>
              <a:rPr lang="en-US" sz="950" i="1" dirty="0">
                <a:solidFill>
                  <a:srgbClr val="70707C"/>
                </a:solidFill>
                <a:latin typeface="Calibri" pitchFamily="34" charset="0"/>
                <a:ea typeface="Calibri" pitchFamily="34" charset="-122"/>
                <a:cs typeface="Calibri" pitchFamily="34" charset="-120"/>
              </a:rPr>
              <a:t>The Cathedral of Our Lady, Antwerp — its belfry is UNESCO-listed and it holds four Rubens altarpieces.</a:t>
            </a:r>
            <a:endParaRPr lang="en-US" sz="950" dirty="0"/>
          </a:p>
        </p:txBody>
      </p:sp>
      <p:pic>
        <p:nvPicPr>
          <p:cNvPr id="15" name="Image 1" descr="/tmp/claude-0/-home-user-BOYNT-WORK/856f02cf-0e32-5bfe-bffb-9edb29b314f9/scratchpad/deckimg/mannekenpis.jpg">    </p:cNvPr>
          <p:cNvPicPr>
            <a:picLocks noChangeAspect="1"/>
          </p:cNvPicPr>
          <p:nvPr/>
        </p:nvPicPr>
        <p:blipFill>
          <a:blip r:embed="rId2"/>
          <a:srcRect l="0" r="0" t="0" b="0"/>
          <a:stretch/>
        </p:blipFill>
        <p:spPr>
          <a:xfrm>
            <a:off x="7955280" y="4151376"/>
            <a:ext cx="3596335" cy="1572768"/>
          </a:xfrm>
          <a:prstGeom prst="rect">
            <a:avLst/>
          </a:prstGeom>
        </p:spPr>
      </p:pic>
      <p:sp>
        <p:nvSpPr>
          <p:cNvPr id="16" name="Text 12"/>
          <p:cNvSpPr txBox="1"/>
          <p:nvPr/>
        </p:nvSpPr>
        <p:spPr>
          <a:xfrm>
            <a:off x="7955280" y="5806440"/>
            <a:ext cx="3596335" cy="274320"/>
          </a:xfrm>
          <a:prstGeom prst="rect">
            <a:avLst/>
          </a:prstGeom>
          <a:noFill/>
          <a:ln/>
        </p:spPr>
        <p:txBody>
          <a:bodyPr wrap="square" lIns="0" tIns="0" rIns="0" bIns="0" rtlCol="0" anchor="ctr"/>
          <a:lstStyle/>
          <a:p>
            <a:pPr indent="0" marL="0">
              <a:buNone/>
            </a:pPr>
            <a:r>
              <a:rPr lang="en-US" sz="950" i="1" dirty="0">
                <a:solidFill>
                  <a:srgbClr val="70707C"/>
                </a:solidFill>
                <a:latin typeface="Calibri" pitchFamily="34" charset="0"/>
                <a:ea typeface="Calibri" pitchFamily="34" charset="-122"/>
                <a:cs typeface="Calibri" pitchFamily="34" charset="-120"/>
              </a:rPr>
              <a:t>Manneken Pis, Brussels — cast in bronze in 1619.</a:t>
            </a:r>
            <a:endParaRPr lang="en-US" sz="95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640080" y="402336"/>
            <a:ext cx="10911535" cy="237744"/>
          </a:xfrm>
          <a:prstGeom prst="rect">
            <a:avLst/>
          </a:prstGeom>
          <a:noFill/>
          <a:ln/>
        </p:spPr>
        <p:txBody>
          <a:bodyPr wrap="square" lIns="0" tIns="0" rIns="0" bIns="0" rtlCol="0" anchor="ctr"/>
          <a:lstStyle/>
          <a:p>
            <a:pPr indent="0" marL="0">
              <a:buNone/>
            </a:pPr>
            <a:r>
              <a:rPr lang="en-US" sz="1150" b="1" spc="220" kern="0" dirty="0">
                <a:solidFill>
                  <a:srgbClr val="E3B23C"/>
                </a:solidFill>
                <a:latin typeface="Calibri" pitchFamily="34" charset="0"/>
                <a:ea typeface="Calibri" pitchFamily="34" charset="-122"/>
                <a:cs typeface="Calibri" pitchFamily="34" charset="-120"/>
              </a:rPr>
              <a:t>GASTRONOMIE</a:t>
            </a:r>
            <a:endParaRPr lang="en-US" sz="1150" dirty="0"/>
          </a:p>
        </p:txBody>
      </p:sp>
      <p:sp>
        <p:nvSpPr>
          <p:cNvPr id="3" name="Text 1"/>
          <p:cNvSpPr txBox="1"/>
          <p:nvPr/>
        </p:nvSpPr>
        <p:spPr>
          <a:xfrm>
            <a:off x="640080" y="676656"/>
            <a:ext cx="10911535" cy="603504"/>
          </a:xfrm>
          <a:prstGeom prst="rect">
            <a:avLst/>
          </a:prstGeom>
          <a:noFill/>
          <a:ln/>
        </p:spPr>
        <p:txBody>
          <a:bodyPr wrap="square" lIns="0" tIns="0" rIns="0" bIns="0" rtlCol="0" anchor="ctr"/>
          <a:lstStyle/>
          <a:p>
            <a:pPr indent="0" marL="0">
              <a:buNone/>
            </a:pPr>
            <a:r>
              <a:rPr lang="en-US" sz="3100" b="1" dirty="0">
                <a:solidFill>
                  <a:srgbClr val="17171B"/>
                </a:solidFill>
                <a:latin typeface="Cambria" pitchFamily="34" charset="0"/>
                <a:ea typeface="Cambria" pitchFamily="34" charset="-122"/>
                <a:cs typeface="Cambria" pitchFamily="34" charset="-120"/>
              </a:rPr>
              <a:t>Four things Belgium is famous for — and rightly so</a:t>
            </a:r>
            <a:endParaRPr lang="en-US" sz="3100" dirty="0"/>
          </a:p>
        </p:txBody>
      </p:sp>
      <p:sp>
        <p:nvSpPr>
          <p:cNvPr id="4" name="Shape 2"/>
          <p:cNvSpPr/>
          <p:nvPr/>
        </p:nvSpPr>
        <p:spPr>
          <a:xfrm>
            <a:off x="640080" y="6163056"/>
            <a:ext cx="384048" cy="384048"/>
          </a:xfrm>
          <a:prstGeom prst="ellipse">
            <a:avLst/>
          </a:prstGeom>
          <a:solidFill>
            <a:srgbClr val="E3B23C"/>
          </a:solidFill>
          <a:ln/>
        </p:spPr>
      </p:sp>
      <p:sp>
        <p:nvSpPr>
          <p:cNvPr id="5" name="Text 3"/>
          <p:cNvSpPr txBox="1"/>
          <p:nvPr/>
        </p:nvSpPr>
        <p:spPr>
          <a:xfrm>
            <a:off x="640080" y="6163056"/>
            <a:ext cx="384048" cy="384048"/>
          </a:xfrm>
          <a:prstGeom prst="rect">
            <a:avLst/>
          </a:prstGeom>
          <a:noFill/>
          <a:ln/>
        </p:spPr>
        <p:txBody>
          <a:bodyPr wrap="square" lIns="0" tIns="0" rIns="0" bIns="0" rtlCol="0" anchor="ctr"/>
          <a:lstStyle/>
          <a:p>
            <a:pPr algn="ctr" indent="0" marL="0">
              <a:buNone/>
            </a:pPr>
            <a:r>
              <a:rPr lang="en-US" sz="1200" b="1" dirty="0">
                <a:solidFill>
                  <a:srgbClr val="17171B"/>
                </a:solidFill>
                <a:latin typeface="Calibri" pitchFamily="34" charset="0"/>
                <a:ea typeface="Calibri" pitchFamily="34" charset="-122"/>
                <a:cs typeface="Calibri" pitchFamily="34" charset="-120"/>
              </a:rPr>
              <a:t>17</a:t>
            </a:r>
            <a:endParaRPr lang="en-US" sz="1200" dirty="0"/>
          </a:p>
        </p:txBody>
      </p:sp>
      <p:sp>
        <p:nvSpPr>
          <p:cNvPr id="6" name="Text 4"/>
          <p:cNvSpPr txBox="1"/>
          <p:nvPr/>
        </p:nvSpPr>
        <p:spPr>
          <a:xfrm>
            <a:off x="6035040" y="6245352"/>
            <a:ext cx="5516575" cy="237744"/>
          </a:xfrm>
          <a:prstGeom prst="rect">
            <a:avLst/>
          </a:prstGeom>
          <a:noFill/>
          <a:ln/>
        </p:spPr>
        <p:txBody>
          <a:bodyPr wrap="square" lIns="0" tIns="0" rIns="0" bIns="0" rtlCol="0" anchor="ctr"/>
          <a:lstStyle/>
          <a:p>
            <a:pPr algn="r" indent="0" marL="0">
              <a:buNone/>
            </a:pPr>
            <a:r>
              <a:rPr lang="en-US" sz="900" dirty="0">
                <a:solidFill>
                  <a:srgbClr val="70707C"/>
                </a:solidFill>
                <a:latin typeface="Calibri" pitchFamily="34" charset="0"/>
                <a:ea typeface="Calibri" pitchFamily="34" charset="-122"/>
                <a:cs typeface="Calibri" pitchFamily="34" charset="-120"/>
              </a:rPr>
              <a:t>La Belgique  ·  FREN 201  ·  Projet Francophonie</a:t>
            </a:r>
            <a:endParaRPr lang="en-US" sz="900" dirty="0"/>
          </a:p>
        </p:txBody>
      </p:sp>
      <p:pic>
        <p:nvPicPr>
          <p:cNvPr id="7" name="Image 0" descr="/tmp/claude-0/-home-user-BOYNT-WORK/856f02cf-0e32-5bfe-bffb-9edb29b314f9/scratchpad/deckimg/chocolate.jpg">    </p:cNvPr>
          <p:cNvPicPr>
            <a:picLocks noChangeAspect="1"/>
          </p:cNvPicPr>
          <p:nvPr/>
        </p:nvPicPr>
        <p:blipFill>
          <a:blip r:embed="rId1"/>
          <a:srcRect l="0" r="0" t="0" b="0"/>
          <a:stretch/>
        </p:blipFill>
        <p:spPr>
          <a:xfrm>
            <a:off x="640080" y="1481328"/>
            <a:ext cx="2508428" cy="1874520"/>
          </a:xfrm>
          <a:prstGeom prst="rect">
            <a:avLst/>
          </a:prstGeom>
        </p:spPr>
      </p:pic>
      <p:sp>
        <p:nvSpPr>
          <p:cNvPr id="8" name="Text 5"/>
          <p:cNvSpPr txBox="1"/>
          <p:nvPr/>
        </p:nvSpPr>
        <p:spPr>
          <a:xfrm>
            <a:off x="640080" y="3557016"/>
            <a:ext cx="2508428" cy="274320"/>
          </a:xfrm>
          <a:prstGeom prst="rect">
            <a:avLst/>
          </a:prstGeom>
          <a:noFill/>
          <a:ln/>
        </p:spPr>
        <p:txBody>
          <a:bodyPr wrap="square" lIns="0" tIns="0" rIns="0" bIns="0" rtlCol="0" anchor="ctr"/>
          <a:lstStyle/>
          <a:p>
            <a:pPr indent="0" marL="0">
              <a:buNone/>
            </a:pPr>
            <a:r>
              <a:rPr lang="en-US" sz="1300" b="1" spc="100" kern="0" dirty="0">
                <a:solidFill>
                  <a:srgbClr val="17171B"/>
                </a:solidFill>
                <a:latin typeface="Calibri" pitchFamily="34" charset="0"/>
                <a:ea typeface="Calibri" pitchFamily="34" charset="-122"/>
                <a:cs typeface="Calibri" pitchFamily="34" charset="-120"/>
              </a:rPr>
              <a:t>LE CHOCOLAT</a:t>
            </a:r>
            <a:endParaRPr lang="en-US" sz="1300" dirty="0"/>
          </a:p>
        </p:txBody>
      </p:sp>
      <p:sp>
        <p:nvSpPr>
          <p:cNvPr id="9" name="Text 6"/>
          <p:cNvSpPr txBox="1"/>
          <p:nvPr/>
        </p:nvSpPr>
        <p:spPr>
          <a:xfrm>
            <a:off x="640080" y="3849624"/>
            <a:ext cx="2508428" cy="1188720"/>
          </a:xfrm>
          <a:prstGeom prst="rect">
            <a:avLst/>
          </a:prstGeom>
          <a:noFill/>
          <a:ln/>
        </p:spPr>
        <p:txBody>
          <a:bodyPr wrap="square" lIns="0" tIns="0" rIns="0" bIns="0" rtlCol="0" anchor="ctr"/>
          <a:lstStyle/>
          <a:p>
            <a:pPr indent="0" marL="0">
              <a:lnSpc>
                <a:spcPct val="105000"/>
              </a:lnSpc>
              <a:buNone/>
            </a:pPr>
            <a:r>
              <a:rPr lang="en-US" sz="1100" dirty="0">
                <a:solidFill>
                  <a:srgbClr val="3E3E48"/>
                </a:solidFill>
                <a:latin typeface="Calibri" pitchFamily="34" charset="0"/>
                <a:ea typeface="Calibri" pitchFamily="34" charset="-122"/>
                <a:cs typeface="Calibri" pitchFamily="34" charset="-120"/>
              </a:rPr>
              <a:t>The filled praline was invented in Brussels by Jean Neuhaus II in 1912. Belgium has several hundred chocolatiers and exports chocolate worldwide.</a:t>
            </a:r>
            <a:endParaRPr lang="en-US" sz="1100" dirty="0"/>
          </a:p>
        </p:txBody>
      </p:sp>
      <p:pic>
        <p:nvPicPr>
          <p:cNvPr id="10" name="Image 1" descr="/tmp/claude-0/-home-user-BOYNT-WORK/856f02cf-0e32-5bfe-bffb-9edb29b314f9/scratchpad/deckimg/waffles.jpg">    </p:cNvPr>
          <p:cNvPicPr>
            <a:picLocks noChangeAspect="1"/>
          </p:cNvPicPr>
          <p:nvPr/>
        </p:nvPicPr>
        <p:blipFill>
          <a:blip r:embed="rId2"/>
          <a:srcRect l="0" r="0" t="0" b="0"/>
          <a:stretch/>
        </p:blipFill>
        <p:spPr>
          <a:xfrm>
            <a:off x="3441116" y="1481328"/>
            <a:ext cx="2508428" cy="1874520"/>
          </a:xfrm>
          <a:prstGeom prst="rect">
            <a:avLst/>
          </a:prstGeom>
        </p:spPr>
      </p:pic>
      <p:sp>
        <p:nvSpPr>
          <p:cNvPr id="11" name="Text 7"/>
          <p:cNvSpPr txBox="1"/>
          <p:nvPr/>
        </p:nvSpPr>
        <p:spPr>
          <a:xfrm>
            <a:off x="3441116" y="3557016"/>
            <a:ext cx="2508428" cy="274320"/>
          </a:xfrm>
          <a:prstGeom prst="rect">
            <a:avLst/>
          </a:prstGeom>
          <a:noFill/>
          <a:ln/>
        </p:spPr>
        <p:txBody>
          <a:bodyPr wrap="square" lIns="0" tIns="0" rIns="0" bIns="0" rtlCol="0" anchor="ctr"/>
          <a:lstStyle/>
          <a:p>
            <a:pPr indent="0" marL="0">
              <a:buNone/>
            </a:pPr>
            <a:r>
              <a:rPr lang="en-US" sz="1300" b="1" spc="100" kern="0" dirty="0">
                <a:solidFill>
                  <a:srgbClr val="17171B"/>
                </a:solidFill>
                <a:latin typeface="Calibri" pitchFamily="34" charset="0"/>
                <a:ea typeface="Calibri" pitchFamily="34" charset="-122"/>
                <a:cs typeface="Calibri" pitchFamily="34" charset="-120"/>
              </a:rPr>
              <a:t>LA GAUFRE</a:t>
            </a:r>
            <a:endParaRPr lang="en-US" sz="1300" dirty="0"/>
          </a:p>
        </p:txBody>
      </p:sp>
      <p:sp>
        <p:nvSpPr>
          <p:cNvPr id="12" name="Text 8"/>
          <p:cNvSpPr txBox="1"/>
          <p:nvPr/>
        </p:nvSpPr>
        <p:spPr>
          <a:xfrm>
            <a:off x="3441116" y="3849624"/>
            <a:ext cx="2508428" cy="1188720"/>
          </a:xfrm>
          <a:prstGeom prst="rect">
            <a:avLst/>
          </a:prstGeom>
          <a:noFill/>
          <a:ln/>
        </p:spPr>
        <p:txBody>
          <a:bodyPr wrap="square" lIns="0" tIns="0" rIns="0" bIns="0" rtlCol="0" anchor="ctr"/>
          <a:lstStyle/>
          <a:p>
            <a:pPr indent="0" marL="0">
              <a:lnSpc>
                <a:spcPct val="105000"/>
              </a:lnSpc>
              <a:buNone/>
            </a:pPr>
            <a:r>
              <a:rPr lang="en-US" sz="1100" dirty="0">
                <a:solidFill>
                  <a:srgbClr val="3E3E48"/>
                </a:solidFill>
                <a:latin typeface="Calibri" pitchFamily="34" charset="0"/>
                <a:ea typeface="Calibri" pitchFamily="34" charset="-122"/>
                <a:cs typeface="Calibri" pitchFamily="34" charset="-120"/>
              </a:rPr>
              <a:t>Two rival waffles: the light rectangular gaufre de Bruxelles, and the dense, chewy gaufre de Liège studded with caramelised pearl sugar.</a:t>
            </a:r>
            <a:endParaRPr lang="en-US" sz="1100" dirty="0"/>
          </a:p>
        </p:txBody>
      </p:sp>
      <p:pic>
        <p:nvPicPr>
          <p:cNvPr id="13" name="Image 2" descr="/tmp/claude-0/-home-user-BOYNT-WORK/856f02cf-0e32-5bfe-bffb-9edb29b314f9/scratchpad/deckimg/frites.jpg">    </p:cNvPr>
          <p:cNvPicPr>
            <a:picLocks noChangeAspect="1"/>
          </p:cNvPicPr>
          <p:nvPr/>
        </p:nvPicPr>
        <p:blipFill>
          <a:blip r:embed="rId3"/>
          <a:srcRect l="0" r="0" t="0" b="0"/>
          <a:stretch/>
        </p:blipFill>
        <p:spPr>
          <a:xfrm>
            <a:off x="6242152" y="1481328"/>
            <a:ext cx="2508428" cy="1874520"/>
          </a:xfrm>
          <a:prstGeom prst="rect">
            <a:avLst/>
          </a:prstGeom>
        </p:spPr>
      </p:pic>
      <p:sp>
        <p:nvSpPr>
          <p:cNvPr id="14" name="Text 9"/>
          <p:cNvSpPr txBox="1"/>
          <p:nvPr/>
        </p:nvSpPr>
        <p:spPr>
          <a:xfrm>
            <a:off x="6242152" y="3557016"/>
            <a:ext cx="2508428" cy="274320"/>
          </a:xfrm>
          <a:prstGeom prst="rect">
            <a:avLst/>
          </a:prstGeom>
          <a:noFill/>
          <a:ln/>
        </p:spPr>
        <p:txBody>
          <a:bodyPr wrap="square" lIns="0" tIns="0" rIns="0" bIns="0" rtlCol="0" anchor="ctr"/>
          <a:lstStyle/>
          <a:p>
            <a:pPr indent="0" marL="0">
              <a:buNone/>
            </a:pPr>
            <a:r>
              <a:rPr lang="en-US" sz="1300" b="1" spc="100" kern="0" dirty="0">
                <a:solidFill>
                  <a:srgbClr val="17171B"/>
                </a:solidFill>
                <a:latin typeface="Calibri" pitchFamily="34" charset="0"/>
                <a:ea typeface="Calibri" pitchFamily="34" charset="-122"/>
                <a:cs typeface="Calibri" pitchFamily="34" charset="-120"/>
              </a:rPr>
              <a:t>LES FRITES</a:t>
            </a:r>
            <a:endParaRPr lang="en-US" sz="1300" dirty="0"/>
          </a:p>
        </p:txBody>
      </p:sp>
      <p:sp>
        <p:nvSpPr>
          <p:cNvPr id="15" name="Text 10"/>
          <p:cNvSpPr txBox="1"/>
          <p:nvPr/>
        </p:nvSpPr>
        <p:spPr>
          <a:xfrm>
            <a:off x="6242152" y="3849624"/>
            <a:ext cx="2508428" cy="1188720"/>
          </a:xfrm>
          <a:prstGeom prst="rect">
            <a:avLst/>
          </a:prstGeom>
          <a:noFill/>
          <a:ln/>
        </p:spPr>
        <p:txBody>
          <a:bodyPr wrap="square" lIns="0" tIns="0" rIns="0" bIns="0" rtlCol="0" anchor="ctr"/>
          <a:lstStyle/>
          <a:p>
            <a:pPr indent="0" marL="0">
              <a:lnSpc>
                <a:spcPct val="105000"/>
              </a:lnSpc>
              <a:buNone/>
            </a:pPr>
            <a:r>
              <a:rPr lang="en-US" sz="1100" dirty="0">
                <a:solidFill>
                  <a:srgbClr val="3E3E48"/>
                </a:solidFill>
                <a:latin typeface="Calibri" pitchFamily="34" charset="0"/>
                <a:ea typeface="Calibri" pitchFamily="34" charset="-122"/>
                <a:cs typeface="Calibri" pitchFamily="34" charset="-120"/>
              </a:rPr>
              <a:t>Belgians claim to have invented them, fry them twice, sell them from a friterie and eat them from a paper cone with mayonnaise — never as a side dish.</a:t>
            </a:r>
            <a:endParaRPr lang="en-US" sz="1100" dirty="0"/>
          </a:p>
        </p:txBody>
      </p:sp>
      <p:pic>
        <p:nvPicPr>
          <p:cNvPr id="16" name="Image 3" descr="/tmp/claude-0/-home-user-BOYNT-WORK/856f02cf-0e32-5bfe-bffb-9edb29b314f9/scratchpad/deckimg/beer.jpg">    </p:cNvPr>
          <p:cNvPicPr>
            <a:picLocks noChangeAspect="1"/>
          </p:cNvPicPr>
          <p:nvPr/>
        </p:nvPicPr>
        <p:blipFill>
          <a:blip r:embed="rId4"/>
          <a:srcRect l="0" r="0" t="0" b="0"/>
          <a:stretch/>
        </p:blipFill>
        <p:spPr>
          <a:xfrm>
            <a:off x="9043187" y="1481328"/>
            <a:ext cx="2508428" cy="1874520"/>
          </a:xfrm>
          <a:prstGeom prst="rect">
            <a:avLst/>
          </a:prstGeom>
        </p:spPr>
      </p:pic>
      <p:sp>
        <p:nvSpPr>
          <p:cNvPr id="17" name="Text 11"/>
          <p:cNvSpPr txBox="1"/>
          <p:nvPr/>
        </p:nvSpPr>
        <p:spPr>
          <a:xfrm>
            <a:off x="9043187" y="3557016"/>
            <a:ext cx="2508428" cy="274320"/>
          </a:xfrm>
          <a:prstGeom prst="rect">
            <a:avLst/>
          </a:prstGeom>
          <a:noFill/>
          <a:ln/>
        </p:spPr>
        <p:txBody>
          <a:bodyPr wrap="square" lIns="0" tIns="0" rIns="0" bIns="0" rtlCol="0" anchor="ctr"/>
          <a:lstStyle/>
          <a:p>
            <a:pPr indent="0" marL="0">
              <a:buNone/>
            </a:pPr>
            <a:r>
              <a:rPr lang="en-US" sz="1300" b="1" spc="100" kern="0" dirty="0">
                <a:solidFill>
                  <a:srgbClr val="17171B"/>
                </a:solidFill>
                <a:latin typeface="Calibri" pitchFamily="34" charset="0"/>
                <a:ea typeface="Calibri" pitchFamily="34" charset="-122"/>
                <a:cs typeface="Calibri" pitchFamily="34" charset="-120"/>
              </a:rPr>
              <a:t>LA BIÈRE</a:t>
            </a:r>
            <a:endParaRPr lang="en-US" sz="1300" dirty="0"/>
          </a:p>
        </p:txBody>
      </p:sp>
      <p:sp>
        <p:nvSpPr>
          <p:cNvPr id="18" name="Text 12"/>
          <p:cNvSpPr txBox="1"/>
          <p:nvPr/>
        </p:nvSpPr>
        <p:spPr>
          <a:xfrm>
            <a:off x="9043187" y="3849624"/>
            <a:ext cx="2508428" cy="1188720"/>
          </a:xfrm>
          <a:prstGeom prst="rect">
            <a:avLst/>
          </a:prstGeom>
          <a:noFill/>
          <a:ln/>
        </p:spPr>
        <p:txBody>
          <a:bodyPr wrap="square" lIns="0" tIns="0" rIns="0" bIns="0" rtlCol="0" anchor="ctr"/>
          <a:lstStyle/>
          <a:p>
            <a:pPr indent="0" marL="0">
              <a:lnSpc>
                <a:spcPct val="105000"/>
              </a:lnSpc>
              <a:buNone/>
            </a:pPr>
            <a:r>
              <a:rPr lang="en-US" sz="1100" dirty="0">
                <a:solidFill>
                  <a:srgbClr val="3E3E48"/>
                </a:solidFill>
                <a:latin typeface="Calibri" pitchFamily="34" charset="0"/>
                <a:ea typeface="Calibri" pitchFamily="34" charset="-122"/>
                <a:cs typeface="Calibri" pitchFamily="34" charset="-120"/>
              </a:rPr>
              <a:t>More than a thousand Belgian beers, from Trappist abbey ales to sour lambics. Belgian beer culture was added to UNESCO's Intangible Cultural Heritage list in 2016.</a:t>
            </a:r>
            <a:endParaRPr lang="en-US" sz="1100" dirty="0"/>
          </a:p>
        </p:txBody>
      </p:sp>
      <p:sp>
        <p:nvSpPr>
          <p:cNvPr id="19" name="Shape 13"/>
          <p:cNvSpPr/>
          <p:nvPr/>
        </p:nvSpPr>
        <p:spPr>
          <a:xfrm>
            <a:off x="640080" y="5193792"/>
            <a:ext cx="10911535" cy="841248"/>
          </a:xfrm>
          <a:prstGeom prst="roundRect">
            <a:avLst>
              <a:gd name="adj" fmla="val 9783"/>
            </a:avLst>
          </a:prstGeom>
          <a:solidFill>
            <a:srgbClr val="17171B"/>
          </a:solidFill>
          <a:ln w="12700">
            <a:solidFill>
              <a:srgbClr val="17171B"/>
            </a:solidFill>
            <a:prstDash val="solid"/>
          </a:ln>
          <a:effectLst>
            <a:outerShdw sx="100000" sy="100000" kx="0" ky="0" algn="bl" rotWithShape="0" blurRad="127000" dist="25400" dir="5400000">
              <a:srgbClr val="9A9AA6">
                <a:alpha val="22000"/>
              </a:srgbClr>
            </a:outerShdw>
          </a:effectLst>
        </p:spPr>
      </p:sp>
      <p:sp>
        <p:nvSpPr>
          <p:cNvPr id="20" name="Text 14"/>
          <p:cNvSpPr txBox="1"/>
          <p:nvPr/>
        </p:nvSpPr>
        <p:spPr>
          <a:xfrm>
            <a:off x="932688" y="5321808"/>
            <a:ext cx="10326319" cy="219456"/>
          </a:xfrm>
          <a:prstGeom prst="rect">
            <a:avLst/>
          </a:prstGeom>
          <a:noFill/>
          <a:ln/>
        </p:spPr>
        <p:txBody>
          <a:bodyPr wrap="square" lIns="0" tIns="0" rIns="0" bIns="0" rtlCol="0" anchor="ctr"/>
          <a:lstStyle/>
          <a:p>
            <a:pPr indent="0" marL="0">
              <a:buNone/>
            </a:pPr>
            <a:r>
              <a:rPr lang="en-US" sz="1000" b="1" spc="120" kern="0" dirty="0">
                <a:solidFill>
                  <a:srgbClr val="E3B23C"/>
                </a:solidFill>
                <a:latin typeface="Calibri" pitchFamily="34" charset="0"/>
                <a:ea typeface="Calibri" pitchFamily="34" charset="-122"/>
                <a:cs typeface="Calibri" pitchFamily="34" charset="-120"/>
              </a:rPr>
              <a:t>AT THE TABLE</a:t>
            </a:r>
            <a:endParaRPr lang="en-US" sz="1000" dirty="0"/>
          </a:p>
        </p:txBody>
      </p:sp>
      <p:sp>
        <p:nvSpPr>
          <p:cNvPr id="21" name="Text 15"/>
          <p:cNvSpPr txBox="1"/>
          <p:nvPr/>
        </p:nvSpPr>
        <p:spPr>
          <a:xfrm>
            <a:off x="932688" y="5577840"/>
            <a:ext cx="10326319" cy="420624"/>
          </a:xfrm>
          <a:prstGeom prst="rect">
            <a:avLst/>
          </a:prstGeom>
          <a:noFill/>
          <a:ln/>
        </p:spPr>
        <p:txBody>
          <a:bodyPr wrap="square" lIns="0" tIns="0" rIns="0" bIns="0" rtlCol="0" anchor="ctr"/>
          <a:lstStyle/>
          <a:p>
            <a:pPr indent="0" marL="0">
              <a:lnSpc>
                <a:spcPct val="105000"/>
              </a:lnSpc>
              <a:buNone/>
            </a:pPr>
            <a:r>
              <a:rPr lang="en-US" sz="1100" dirty="0">
                <a:solidFill>
                  <a:srgbClr val="D2D2DA"/>
                </a:solidFill>
                <a:latin typeface="Calibri" pitchFamily="34" charset="0"/>
                <a:ea typeface="Calibri" pitchFamily="34" charset="-122"/>
                <a:cs typeface="Calibri" pitchFamily="34" charset="-120"/>
              </a:rPr>
              <a:t>Moules-frites  ·  carbonnade flamande, beef stewed in beer  ·  waterzooi from Ghent  ·  chicons au gratin  ·  speculoos biscuits  ·  and, in season, the grey shrimp of the North Sea coast.</a:t>
            </a:r>
            <a:endParaRPr lang="en-US" sz="110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640080" y="402336"/>
            <a:ext cx="10911535" cy="237744"/>
          </a:xfrm>
          <a:prstGeom prst="rect">
            <a:avLst/>
          </a:prstGeom>
          <a:noFill/>
          <a:ln/>
        </p:spPr>
        <p:txBody>
          <a:bodyPr wrap="square" lIns="0" tIns="0" rIns="0" bIns="0" rtlCol="0" anchor="ctr"/>
          <a:lstStyle/>
          <a:p>
            <a:pPr indent="0" marL="0">
              <a:buNone/>
            </a:pPr>
            <a:r>
              <a:rPr lang="en-US" sz="1150" b="1" spc="220" kern="0" dirty="0">
                <a:solidFill>
                  <a:srgbClr val="E3B23C"/>
                </a:solidFill>
                <a:latin typeface="Calibri" pitchFamily="34" charset="0"/>
                <a:ea typeface="Calibri" pitchFamily="34" charset="-122"/>
                <a:cs typeface="Calibri" pitchFamily="34" charset="-120"/>
              </a:rPr>
              <a:t>LES VILLES D'ART</a:t>
            </a:r>
            <a:endParaRPr lang="en-US" sz="1150" dirty="0"/>
          </a:p>
        </p:txBody>
      </p:sp>
      <p:sp>
        <p:nvSpPr>
          <p:cNvPr id="3" name="Text 1"/>
          <p:cNvSpPr txBox="1"/>
          <p:nvPr/>
        </p:nvSpPr>
        <p:spPr>
          <a:xfrm>
            <a:off x="640080" y="676656"/>
            <a:ext cx="10911535" cy="603504"/>
          </a:xfrm>
          <a:prstGeom prst="rect">
            <a:avLst/>
          </a:prstGeom>
          <a:noFill/>
          <a:ln/>
        </p:spPr>
        <p:txBody>
          <a:bodyPr wrap="square" lIns="0" tIns="0" rIns="0" bIns="0" rtlCol="0" anchor="ctr"/>
          <a:lstStyle/>
          <a:p>
            <a:pPr indent="0" marL="0">
              <a:buNone/>
            </a:pPr>
            <a:r>
              <a:rPr lang="en-US" sz="3100" b="1" dirty="0">
                <a:solidFill>
                  <a:srgbClr val="17171B"/>
                </a:solidFill>
                <a:latin typeface="Cambria" pitchFamily="34" charset="0"/>
                <a:ea typeface="Cambria" pitchFamily="34" charset="-122"/>
                <a:cs typeface="Cambria" pitchFamily="34" charset="-120"/>
              </a:rPr>
              <a:t>Three cities worth the trip</a:t>
            </a:r>
            <a:endParaRPr lang="en-US" sz="3100" dirty="0"/>
          </a:p>
        </p:txBody>
      </p:sp>
      <p:sp>
        <p:nvSpPr>
          <p:cNvPr id="4" name="Shape 2"/>
          <p:cNvSpPr/>
          <p:nvPr/>
        </p:nvSpPr>
        <p:spPr>
          <a:xfrm>
            <a:off x="640080" y="6163056"/>
            <a:ext cx="384048" cy="384048"/>
          </a:xfrm>
          <a:prstGeom prst="ellipse">
            <a:avLst/>
          </a:prstGeom>
          <a:solidFill>
            <a:srgbClr val="E3B23C"/>
          </a:solidFill>
          <a:ln/>
        </p:spPr>
      </p:sp>
      <p:sp>
        <p:nvSpPr>
          <p:cNvPr id="5" name="Text 3"/>
          <p:cNvSpPr txBox="1"/>
          <p:nvPr/>
        </p:nvSpPr>
        <p:spPr>
          <a:xfrm>
            <a:off x="640080" y="6163056"/>
            <a:ext cx="384048" cy="384048"/>
          </a:xfrm>
          <a:prstGeom prst="rect">
            <a:avLst/>
          </a:prstGeom>
          <a:noFill/>
          <a:ln/>
        </p:spPr>
        <p:txBody>
          <a:bodyPr wrap="square" lIns="0" tIns="0" rIns="0" bIns="0" rtlCol="0" anchor="ctr"/>
          <a:lstStyle/>
          <a:p>
            <a:pPr algn="ctr" indent="0" marL="0">
              <a:buNone/>
            </a:pPr>
            <a:r>
              <a:rPr lang="en-US" sz="1200" b="1" dirty="0">
                <a:solidFill>
                  <a:srgbClr val="17171B"/>
                </a:solidFill>
                <a:latin typeface="Calibri" pitchFamily="34" charset="0"/>
                <a:ea typeface="Calibri" pitchFamily="34" charset="-122"/>
                <a:cs typeface="Calibri" pitchFamily="34" charset="-120"/>
              </a:rPr>
              <a:t>18</a:t>
            </a:r>
            <a:endParaRPr lang="en-US" sz="1200" dirty="0"/>
          </a:p>
        </p:txBody>
      </p:sp>
      <p:sp>
        <p:nvSpPr>
          <p:cNvPr id="6" name="Text 4"/>
          <p:cNvSpPr txBox="1"/>
          <p:nvPr/>
        </p:nvSpPr>
        <p:spPr>
          <a:xfrm>
            <a:off x="6035040" y="6245352"/>
            <a:ext cx="5516575" cy="237744"/>
          </a:xfrm>
          <a:prstGeom prst="rect">
            <a:avLst/>
          </a:prstGeom>
          <a:noFill/>
          <a:ln/>
        </p:spPr>
        <p:txBody>
          <a:bodyPr wrap="square" lIns="0" tIns="0" rIns="0" bIns="0" rtlCol="0" anchor="ctr"/>
          <a:lstStyle/>
          <a:p>
            <a:pPr algn="r" indent="0" marL="0">
              <a:buNone/>
            </a:pPr>
            <a:r>
              <a:rPr lang="en-US" sz="900" dirty="0">
                <a:solidFill>
                  <a:srgbClr val="70707C"/>
                </a:solidFill>
                <a:latin typeface="Calibri" pitchFamily="34" charset="0"/>
                <a:ea typeface="Calibri" pitchFamily="34" charset="-122"/>
                <a:cs typeface="Calibri" pitchFamily="34" charset="-120"/>
              </a:rPr>
              <a:t>La Belgique  ·  FREN 201  ·  Projet Francophonie</a:t>
            </a:r>
            <a:endParaRPr lang="en-US" sz="900" dirty="0"/>
          </a:p>
        </p:txBody>
      </p:sp>
      <p:pic>
        <p:nvPicPr>
          <p:cNvPr id="7" name="Image 0" descr="/tmp/claude-0/-home-user-BOYNT-WORK/856f02cf-0e32-5bfe-bffb-9edb29b314f9/scratchpad/deckimg/bruges.jpg">    </p:cNvPr>
          <p:cNvPicPr>
            <a:picLocks noChangeAspect="1"/>
          </p:cNvPicPr>
          <p:nvPr/>
        </p:nvPicPr>
        <p:blipFill>
          <a:blip r:embed="rId1"/>
          <a:srcRect l="0" r="0" t="0" b="0"/>
          <a:stretch/>
        </p:blipFill>
        <p:spPr>
          <a:xfrm>
            <a:off x="640080" y="1481328"/>
            <a:ext cx="3381146" cy="2468880"/>
          </a:xfrm>
          <a:prstGeom prst="rect">
            <a:avLst/>
          </a:prstGeom>
        </p:spPr>
      </p:pic>
      <p:sp>
        <p:nvSpPr>
          <p:cNvPr id="8" name="Text 5"/>
          <p:cNvSpPr txBox="1"/>
          <p:nvPr/>
        </p:nvSpPr>
        <p:spPr>
          <a:xfrm>
            <a:off x="640080" y="4187952"/>
            <a:ext cx="3381146" cy="274320"/>
          </a:xfrm>
          <a:prstGeom prst="rect">
            <a:avLst/>
          </a:prstGeom>
          <a:noFill/>
          <a:ln/>
        </p:spPr>
        <p:txBody>
          <a:bodyPr wrap="square" lIns="0" tIns="0" rIns="0" bIns="0" rtlCol="0" anchor="ctr"/>
          <a:lstStyle/>
          <a:p>
            <a:pPr indent="0" marL="0">
              <a:buNone/>
            </a:pPr>
            <a:r>
              <a:rPr lang="en-US" sz="1400" b="1" spc="100" kern="0" dirty="0">
                <a:solidFill>
                  <a:srgbClr val="17171B"/>
                </a:solidFill>
                <a:latin typeface="Calibri" pitchFamily="34" charset="0"/>
                <a:ea typeface="Calibri" pitchFamily="34" charset="-122"/>
                <a:cs typeface="Calibri" pitchFamily="34" charset="-120"/>
              </a:rPr>
              <a:t>BRUGES / BRUGGE</a:t>
            </a:r>
            <a:endParaRPr lang="en-US" sz="1400" dirty="0"/>
          </a:p>
        </p:txBody>
      </p:sp>
      <p:sp>
        <p:nvSpPr>
          <p:cNvPr id="9" name="Text 6"/>
          <p:cNvSpPr txBox="1"/>
          <p:nvPr/>
        </p:nvSpPr>
        <p:spPr>
          <a:xfrm>
            <a:off x="640080" y="4517136"/>
            <a:ext cx="3381146" cy="1371600"/>
          </a:xfrm>
          <a:prstGeom prst="rect">
            <a:avLst/>
          </a:prstGeom>
          <a:noFill/>
          <a:ln/>
        </p:spPr>
        <p:txBody>
          <a:bodyPr wrap="square" lIns="0" tIns="0" rIns="0" bIns="0" rtlCol="0" anchor="ctr"/>
          <a:lstStyle/>
          <a:p>
            <a:pPr indent="0" marL="0">
              <a:lnSpc>
                <a:spcPct val="106000"/>
              </a:lnSpc>
              <a:buNone/>
            </a:pPr>
            <a:r>
              <a:rPr lang="en-US" sz="1100" dirty="0">
                <a:solidFill>
                  <a:srgbClr val="3E3E48"/>
                </a:solidFill>
                <a:latin typeface="Calibri" pitchFamily="34" charset="0"/>
                <a:ea typeface="Calibri" pitchFamily="34" charset="-122"/>
                <a:cs typeface="Calibri" pitchFamily="34" charset="-120"/>
              </a:rPr>
              <a:t>The Venice of the North. The entire historic centre is a UNESCO World Heritage site, along with its belfry and its béguinage. Medieval brick gables, canals, and the Groeninge Museum's Flemish Primitives.</a:t>
            </a:r>
            <a:endParaRPr lang="en-US" sz="1100" dirty="0"/>
          </a:p>
        </p:txBody>
      </p:sp>
      <p:pic>
        <p:nvPicPr>
          <p:cNvPr id="10" name="Image 1" descr="/tmp/claude-0/-home-user-BOYNT-WORK/856f02cf-0e32-5bfe-bffb-9edb29b314f9/scratchpad/deckimg/ghent.jpg">    </p:cNvPr>
          <p:cNvPicPr>
            <a:picLocks noChangeAspect="1"/>
          </p:cNvPicPr>
          <p:nvPr/>
        </p:nvPicPr>
        <p:blipFill>
          <a:blip r:embed="rId2"/>
          <a:srcRect l="0" r="0" t="0" b="0"/>
          <a:stretch/>
        </p:blipFill>
        <p:spPr>
          <a:xfrm>
            <a:off x="4405274" y="1481328"/>
            <a:ext cx="3381146" cy="2468880"/>
          </a:xfrm>
          <a:prstGeom prst="rect">
            <a:avLst/>
          </a:prstGeom>
        </p:spPr>
      </p:pic>
      <p:sp>
        <p:nvSpPr>
          <p:cNvPr id="11" name="Text 7"/>
          <p:cNvSpPr txBox="1"/>
          <p:nvPr/>
        </p:nvSpPr>
        <p:spPr>
          <a:xfrm>
            <a:off x="4405274" y="4187952"/>
            <a:ext cx="3381146" cy="274320"/>
          </a:xfrm>
          <a:prstGeom prst="rect">
            <a:avLst/>
          </a:prstGeom>
          <a:noFill/>
          <a:ln/>
        </p:spPr>
        <p:txBody>
          <a:bodyPr wrap="square" lIns="0" tIns="0" rIns="0" bIns="0" rtlCol="0" anchor="ctr"/>
          <a:lstStyle/>
          <a:p>
            <a:pPr indent="0" marL="0">
              <a:buNone/>
            </a:pPr>
            <a:r>
              <a:rPr lang="en-US" sz="1400" b="1" spc="100" kern="0" dirty="0">
                <a:solidFill>
                  <a:srgbClr val="17171B"/>
                </a:solidFill>
                <a:latin typeface="Calibri" pitchFamily="34" charset="0"/>
                <a:ea typeface="Calibri" pitchFamily="34" charset="-122"/>
                <a:cs typeface="Calibri" pitchFamily="34" charset="-120"/>
              </a:rPr>
              <a:t>GAND / GENT</a:t>
            </a:r>
            <a:endParaRPr lang="en-US" sz="1400" dirty="0"/>
          </a:p>
        </p:txBody>
      </p:sp>
      <p:sp>
        <p:nvSpPr>
          <p:cNvPr id="12" name="Text 8"/>
          <p:cNvSpPr txBox="1"/>
          <p:nvPr/>
        </p:nvSpPr>
        <p:spPr>
          <a:xfrm>
            <a:off x="4405274" y="4517136"/>
            <a:ext cx="3381146" cy="1371600"/>
          </a:xfrm>
          <a:prstGeom prst="rect">
            <a:avLst/>
          </a:prstGeom>
          <a:noFill/>
          <a:ln/>
        </p:spPr>
        <p:txBody>
          <a:bodyPr wrap="square" lIns="0" tIns="0" rIns="0" bIns="0" rtlCol="0" anchor="ctr"/>
          <a:lstStyle/>
          <a:p>
            <a:pPr indent="0" marL="0">
              <a:lnSpc>
                <a:spcPct val="106000"/>
              </a:lnSpc>
              <a:buNone/>
            </a:pPr>
            <a:r>
              <a:rPr lang="en-US" sz="1100" dirty="0">
                <a:solidFill>
                  <a:srgbClr val="3E3E48"/>
                </a:solidFill>
                <a:latin typeface="Calibri" pitchFamily="34" charset="0"/>
                <a:ea typeface="Calibri" pitchFamily="34" charset="-122"/>
                <a:cs typeface="Calibri" pitchFamily="34" charset="-120"/>
              </a:rPr>
              <a:t>A working city rather than a museum. The Gravensteen castle, the guild houses of the Graslei, and van Eyck's Ghent Altarpiece in Saint Bavo's Cathedral. A UNESCO Creative City of Music.</a:t>
            </a:r>
            <a:endParaRPr lang="en-US" sz="1100" dirty="0"/>
          </a:p>
        </p:txBody>
      </p:sp>
      <p:pic>
        <p:nvPicPr>
          <p:cNvPr id="13" name="Image 2" descr="/tmp/claude-0/-home-user-BOYNT-WORK/856f02cf-0e32-5bfe-bffb-9edb29b314f9/scratchpad/deckimg/antwerp_station.jpg">    </p:cNvPr>
          <p:cNvPicPr>
            <a:picLocks noChangeAspect="1"/>
          </p:cNvPicPr>
          <p:nvPr/>
        </p:nvPicPr>
        <p:blipFill>
          <a:blip r:embed="rId3"/>
          <a:srcRect l="0" r="0" t="0" b="0"/>
          <a:stretch/>
        </p:blipFill>
        <p:spPr>
          <a:xfrm>
            <a:off x="8170469" y="1481328"/>
            <a:ext cx="3381146" cy="2468880"/>
          </a:xfrm>
          <a:prstGeom prst="rect">
            <a:avLst/>
          </a:prstGeom>
        </p:spPr>
      </p:pic>
      <p:sp>
        <p:nvSpPr>
          <p:cNvPr id="14" name="Text 9"/>
          <p:cNvSpPr txBox="1"/>
          <p:nvPr/>
        </p:nvSpPr>
        <p:spPr>
          <a:xfrm>
            <a:off x="8170469" y="4187952"/>
            <a:ext cx="3381146" cy="274320"/>
          </a:xfrm>
          <a:prstGeom prst="rect">
            <a:avLst/>
          </a:prstGeom>
          <a:noFill/>
          <a:ln/>
        </p:spPr>
        <p:txBody>
          <a:bodyPr wrap="square" lIns="0" tIns="0" rIns="0" bIns="0" rtlCol="0" anchor="ctr"/>
          <a:lstStyle/>
          <a:p>
            <a:pPr indent="0" marL="0">
              <a:buNone/>
            </a:pPr>
            <a:r>
              <a:rPr lang="en-US" sz="1400" b="1" spc="100" kern="0" dirty="0">
                <a:solidFill>
                  <a:srgbClr val="17171B"/>
                </a:solidFill>
                <a:latin typeface="Calibri" pitchFamily="34" charset="0"/>
                <a:ea typeface="Calibri" pitchFamily="34" charset="-122"/>
                <a:cs typeface="Calibri" pitchFamily="34" charset="-120"/>
              </a:rPr>
              <a:t>ANVERS / ANTWERPEN</a:t>
            </a:r>
            <a:endParaRPr lang="en-US" sz="1400" dirty="0"/>
          </a:p>
        </p:txBody>
      </p:sp>
      <p:sp>
        <p:nvSpPr>
          <p:cNvPr id="15" name="Text 10"/>
          <p:cNvSpPr txBox="1"/>
          <p:nvPr/>
        </p:nvSpPr>
        <p:spPr>
          <a:xfrm>
            <a:off x="8170469" y="4517136"/>
            <a:ext cx="3381146" cy="1371600"/>
          </a:xfrm>
          <a:prstGeom prst="rect">
            <a:avLst/>
          </a:prstGeom>
          <a:noFill/>
          <a:ln/>
        </p:spPr>
        <p:txBody>
          <a:bodyPr wrap="square" lIns="0" tIns="0" rIns="0" bIns="0" rtlCol="0" anchor="ctr"/>
          <a:lstStyle/>
          <a:p>
            <a:pPr indent="0" marL="0">
              <a:lnSpc>
                <a:spcPct val="106000"/>
              </a:lnSpc>
              <a:buNone/>
            </a:pPr>
            <a:r>
              <a:rPr lang="en-US" sz="1100" dirty="0">
                <a:solidFill>
                  <a:srgbClr val="3E3E48"/>
                </a:solidFill>
                <a:latin typeface="Calibri" pitchFamily="34" charset="0"/>
                <a:ea typeface="Calibri" pitchFamily="34" charset="-122"/>
                <a:cs typeface="Calibri" pitchFamily="34" charset="-120"/>
              </a:rPr>
              <a:t>Rubens' city and Belgium's port. Central Station is known as the railway cathedral. More than 70 % of the world's rough diamonds still pass through the Antwerp diamond district.</a:t>
            </a:r>
            <a:endParaRPr lang="en-US" sz="1100" dirty="0"/>
          </a:p>
        </p:txBody>
      </p:sp>
      <p:sp>
        <p:nvSpPr>
          <p:cNvPr id="16" name="Text 11"/>
          <p:cNvSpPr txBox="1"/>
          <p:nvPr/>
        </p:nvSpPr>
        <p:spPr>
          <a:xfrm>
            <a:off x="1170432" y="5815584"/>
            <a:ext cx="10381183" cy="274320"/>
          </a:xfrm>
          <a:prstGeom prst="rect">
            <a:avLst/>
          </a:prstGeom>
          <a:noFill/>
          <a:ln/>
        </p:spPr>
        <p:txBody>
          <a:bodyPr wrap="square" lIns="0" tIns="0" rIns="0" bIns="0" rtlCol="0" anchor="ctr"/>
          <a:lstStyle/>
          <a:p>
            <a:pPr indent="0" marL="0">
              <a:buNone/>
            </a:pPr>
            <a:r>
              <a:rPr lang="en-US" sz="1050" i="1" dirty="0">
                <a:solidFill>
                  <a:srgbClr val="70707C"/>
                </a:solidFill>
                <a:latin typeface="Calibri" pitchFamily="34" charset="0"/>
                <a:ea typeface="Calibri" pitchFamily="34" charset="-122"/>
                <a:cs typeface="Calibri" pitchFamily="34" charset="-120"/>
              </a:rPr>
              <a:t>Belgium has 13 UNESCO World Heritage sites in a country the size of Maryland — including 33 of the belfries of Belgium and France, and the Carnival of Binche on the Intangible Heritage list.</a:t>
            </a:r>
            <a:endParaRPr lang="en-US" sz="105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640080" y="402336"/>
            <a:ext cx="10911535" cy="237744"/>
          </a:xfrm>
          <a:prstGeom prst="rect">
            <a:avLst/>
          </a:prstGeom>
          <a:noFill/>
          <a:ln/>
        </p:spPr>
        <p:txBody>
          <a:bodyPr wrap="square" lIns="0" tIns="0" rIns="0" bIns="0" rtlCol="0" anchor="ctr"/>
          <a:lstStyle/>
          <a:p>
            <a:pPr indent="0" marL="0">
              <a:buNone/>
            </a:pPr>
            <a:r>
              <a:rPr lang="en-US" sz="1150" b="1" spc="220" kern="0" dirty="0">
                <a:solidFill>
                  <a:srgbClr val="E3B23C"/>
                </a:solidFill>
                <a:latin typeface="Calibri" pitchFamily="34" charset="0"/>
                <a:ea typeface="Calibri" pitchFamily="34" charset="-122"/>
                <a:cs typeface="Calibri" pitchFamily="34" charset="-120"/>
              </a:rPr>
              <a:t>INFOS PRATIQUES</a:t>
            </a:r>
            <a:endParaRPr lang="en-US" sz="1150" dirty="0"/>
          </a:p>
        </p:txBody>
      </p:sp>
      <p:sp>
        <p:nvSpPr>
          <p:cNvPr id="3" name="Text 1"/>
          <p:cNvSpPr txBox="1"/>
          <p:nvPr/>
        </p:nvSpPr>
        <p:spPr>
          <a:xfrm>
            <a:off x="640080" y="676656"/>
            <a:ext cx="10911535" cy="603504"/>
          </a:xfrm>
          <a:prstGeom prst="rect">
            <a:avLst/>
          </a:prstGeom>
          <a:noFill/>
          <a:ln/>
        </p:spPr>
        <p:txBody>
          <a:bodyPr wrap="square" lIns="0" tIns="0" rIns="0" bIns="0" rtlCol="0" anchor="ctr"/>
          <a:lstStyle/>
          <a:p>
            <a:pPr indent="0" marL="0">
              <a:buNone/>
            </a:pPr>
            <a:r>
              <a:rPr lang="en-US" sz="3100" b="1" dirty="0">
                <a:solidFill>
                  <a:srgbClr val="17171B"/>
                </a:solidFill>
                <a:latin typeface="Cambria" pitchFamily="34" charset="0"/>
                <a:ea typeface="Cambria" pitchFamily="34" charset="-122"/>
                <a:cs typeface="Cambria" pitchFamily="34" charset="-120"/>
              </a:rPr>
              <a:t>What a visitor needs to know</a:t>
            </a:r>
            <a:endParaRPr lang="en-US" sz="3100" dirty="0"/>
          </a:p>
        </p:txBody>
      </p:sp>
      <p:sp>
        <p:nvSpPr>
          <p:cNvPr id="4" name="Shape 2"/>
          <p:cNvSpPr/>
          <p:nvPr/>
        </p:nvSpPr>
        <p:spPr>
          <a:xfrm>
            <a:off x="640080" y="6163056"/>
            <a:ext cx="384048" cy="384048"/>
          </a:xfrm>
          <a:prstGeom prst="ellipse">
            <a:avLst/>
          </a:prstGeom>
          <a:solidFill>
            <a:srgbClr val="E3B23C"/>
          </a:solidFill>
          <a:ln/>
        </p:spPr>
      </p:sp>
      <p:sp>
        <p:nvSpPr>
          <p:cNvPr id="5" name="Text 3"/>
          <p:cNvSpPr txBox="1"/>
          <p:nvPr/>
        </p:nvSpPr>
        <p:spPr>
          <a:xfrm>
            <a:off x="640080" y="6163056"/>
            <a:ext cx="384048" cy="384048"/>
          </a:xfrm>
          <a:prstGeom prst="rect">
            <a:avLst/>
          </a:prstGeom>
          <a:noFill/>
          <a:ln/>
        </p:spPr>
        <p:txBody>
          <a:bodyPr wrap="square" lIns="0" tIns="0" rIns="0" bIns="0" rtlCol="0" anchor="ctr"/>
          <a:lstStyle/>
          <a:p>
            <a:pPr algn="ctr" indent="0" marL="0">
              <a:buNone/>
            </a:pPr>
            <a:r>
              <a:rPr lang="en-US" sz="1200" b="1" dirty="0">
                <a:solidFill>
                  <a:srgbClr val="17171B"/>
                </a:solidFill>
                <a:latin typeface="Calibri" pitchFamily="34" charset="0"/>
                <a:ea typeface="Calibri" pitchFamily="34" charset="-122"/>
                <a:cs typeface="Calibri" pitchFamily="34" charset="-120"/>
              </a:rPr>
              <a:t>19</a:t>
            </a:r>
            <a:endParaRPr lang="en-US" sz="1200" dirty="0"/>
          </a:p>
        </p:txBody>
      </p:sp>
      <p:sp>
        <p:nvSpPr>
          <p:cNvPr id="6" name="Text 4"/>
          <p:cNvSpPr txBox="1"/>
          <p:nvPr/>
        </p:nvSpPr>
        <p:spPr>
          <a:xfrm>
            <a:off x="6035040" y="6245352"/>
            <a:ext cx="5516575" cy="237744"/>
          </a:xfrm>
          <a:prstGeom prst="rect">
            <a:avLst/>
          </a:prstGeom>
          <a:noFill/>
          <a:ln/>
        </p:spPr>
        <p:txBody>
          <a:bodyPr wrap="square" lIns="0" tIns="0" rIns="0" bIns="0" rtlCol="0" anchor="ctr"/>
          <a:lstStyle/>
          <a:p>
            <a:pPr algn="r" indent="0" marL="0">
              <a:buNone/>
            </a:pPr>
            <a:r>
              <a:rPr lang="en-US" sz="900" dirty="0">
                <a:solidFill>
                  <a:srgbClr val="70707C"/>
                </a:solidFill>
                <a:latin typeface="Calibri" pitchFamily="34" charset="0"/>
                <a:ea typeface="Calibri" pitchFamily="34" charset="-122"/>
                <a:cs typeface="Calibri" pitchFamily="34" charset="-120"/>
              </a:rPr>
              <a:t>La Belgique  ·  FREN 201  ·  Projet Francophonie</a:t>
            </a:r>
            <a:endParaRPr lang="en-US" sz="900" dirty="0"/>
          </a:p>
        </p:txBody>
      </p:sp>
      <p:sp>
        <p:nvSpPr>
          <p:cNvPr id="7" name="Shape 5"/>
          <p:cNvSpPr/>
          <p:nvPr/>
        </p:nvSpPr>
        <p:spPr>
          <a:xfrm>
            <a:off x="640080" y="1499616"/>
            <a:ext cx="420624" cy="420624"/>
          </a:xfrm>
          <a:prstGeom prst="ellipse">
            <a:avLst/>
          </a:prstGeom>
          <a:solidFill>
            <a:srgbClr val="E3B23C"/>
          </a:solidFill>
          <a:ln/>
        </p:spPr>
      </p:sp>
      <p:sp>
        <p:nvSpPr>
          <p:cNvPr id="8" name="Text 6"/>
          <p:cNvSpPr txBox="1"/>
          <p:nvPr/>
        </p:nvSpPr>
        <p:spPr>
          <a:xfrm>
            <a:off x="640080" y="1499616"/>
            <a:ext cx="420624" cy="420624"/>
          </a:xfrm>
          <a:prstGeom prst="rect">
            <a:avLst/>
          </a:prstGeom>
          <a:noFill/>
          <a:ln/>
        </p:spPr>
        <p:txBody>
          <a:bodyPr wrap="square" lIns="0" tIns="0" rIns="0" bIns="0" rtlCol="0" anchor="ctr"/>
          <a:lstStyle/>
          <a:p>
            <a:pPr algn="ctr" indent="0" marL="0">
              <a:buNone/>
            </a:pPr>
            <a:r>
              <a:rPr lang="en-US" sz="1150" b="1" dirty="0">
                <a:solidFill>
                  <a:srgbClr val="17171B"/>
                </a:solidFill>
                <a:latin typeface="Calibri" pitchFamily="34" charset="0"/>
                <a:ea typeface="Calibri" pitchFamily="34" charset="-122"/>
                <a:cs typeface="Calibri" pitchFamily="34" charset="-120"/>
              </a:rPr>
              <a:t>1</a:t>
            </a:r>
            <a:endParaRPr lang="en-US" sz="1150" dirty="0"/>
          </a:p>
        </p:txBody>
      </p:sp>
      <p:sp>
        <p:nvSpPr>
          <p:cNvPr id="9" name="Text 7"/>
          <p:cNvSpPr txBox="1"/>
          <p:nvPr/>
        </p:nvSpPr>
        <p:spPr>
          <a:xfrm>
            <a:off x="1225296" y="1490472"/>
            <a:ext cx="4687672" cy="256032"/>
          </a:xfrm>
          <a:prstGeom prst="rect">
            <a:avLst/>
          </a:prstGeom>
          <a:noFill/>
          <a:ln/>
        </p:spPr>
        <p:txBody>
          <a:bodyPr wrap="square" lIns="0" tIns="0" rIns="0" bIns="0" rtlCol="0" anchor="ctr"/>
          <a:lstStyle/>
          <a:p>
            <a:pPr indent="0" marL="0">
              <a:buNone/>
            </a:pPr>
            <a:r>
              <a:rPr lang="en-US" sz="1250" b="1" spc="100" kern="0" dirty="0">
                <a:solidFill>
                  <a:srgbClr val="17171B"/>
                </a:solidFill>
                <a:latin typeface="Calibri" pitchFamily="34" charset="0"/>
                <a:ea typeface="Calibri" pitchFamily="34" charset="-122"/>
                <a:cs typeface="Calibri" pitchFamily="34" charset="-120"/>
              </a:rPr>
              <a:t>MONEY</a:t>
            </a:r>
            <a:endParaRPr lang="en-US" sz="1250" dirty="0"/>
          </a:p>
        </p:txBody>
      </p:sp>
      <p:sp>
        <p:nvSpPr>
          <p:cNvPr id="10" name="Text 8"/>
          <p:cNvSpPr txBox="1"/>
          <p:nvPr/>
        </p:nvSpPr>
        <p:spPr>
          <a:xfrm>
            <a:off x="1225296" y="1764792"/>
            <a:ext cx="4687672" cy="786384"/>
          </a:xfrm>
          <a:prstGeom prst="rect">
            <a:avLst/>
          </a:prstGeom>
          <a:noFill/>
          <a:ln/>
        </p:spPr>
        <p:txBody>
          <a:bodyPr wrap="square" lIns="0" tIns="0" rIns="0" bIns="0" rtlCol="0" anchor="ctr"/>
          <a:lstStyle/>
          <a:p>
            <a:pPr indent="0" marL="0">
              <a:lnSpc>
                <a:spcPct val="104000"/>
              </a:lnSpc>
              <a:buNone/>
            </a:pPr>
            <a:r>
              <a:rPr lang="en-US" sz="1050" dirty="0">
                <a:solidFill>
                  <a:srgbClr val="3E3E48"/>
                </a:solidFill>
                <a:latin typeface="Calibri" pitchFamily="34" charset="0"/>
                <a:ea typeface="Calibri" pitchFamily="34" charset="-122"/>
                <a:cs typeface="Calibri" pitchFamily="34" charset="-120"/>
              </a:rPr>
              <a:t>The euro. Cards and contactless are accepted almost everywhere; American Express often is not. Service is included and tipping is not expected.</a:t>
            </a:r>
            <a:endParaRPr lang="en-US" sz="1050" dirty="0"/>
          </a:p>
        </p:txBody>
      </p:sp>
      <p:sp>
        <p:nvSpPr>
          <p:cNvPr id="11" name="Shape 9"/>
          <p:cNvSpPr/>
          <p:nvPr/>
        </p:nvSpPr>
        <p:spPr>
          <a:xfrm>
            <a:off x="6278728" y="1499616"/>
            <a:ext cx="420624" cy="420624"/>
          </a:xfrm>
          <a:prstGeom prst="ellipse">
            <a:avLst/>
          </a:prstGeom>
          <a:solidFill>
            <a:srgbClr val="E3B23C"/>
          </a:solidFill>
          <a:ln/>
        </p:spPr>
      </p:sp>
      <p:sp>
        <p:nvSpPr>
          <p:cNvPr id="12" name="Text 10"/>
          <p:cNvSpPr txBox="1"/>
          <p:nvPr/>
        </p:nvSpPr>
        <p:spPr>
          <a:xfrm>
            <a:off x="6278728" y="1499616"/>
            <a:ext cx="420624" cy="420624"/>
          </a:xfrm>
          <a:prstGeom prst="rect">
            <a:avLst/>
          </a:prstGeom>
          <a:noFill/>
          <a:ln/>
        </p:spPr>
        <p:txBody>
          <a:bodyPr wrap="square" lIns="0" tIns="0" rIns="0" bIns="0" rtlCol="0" anchor="ctr"/>
          <a:lstStyle/>
          <a:p>
            <a:pPr algn="ctr" indent="0" marL="0">
              <a:buNone/>
            </a:pPr>
            <a:r>
              <a:rPr lang="en-US" sz="1150" b="1" dirty="0">
                <a:solidFill>
                  <a:srgbClr val="17171B"/>
                </a:solidFill>
                <a:latin typeface="Calibri" pitchFamily="34" charset="0"/>
                <a:ea typeface="Calibri" pitchFamily="34" charset="-122"/>
                <a:cs typeface="Calibri" pitchFamily="34" charset="-120"/>
              </a:rPr>
              <a:t>2</a:t>
            </a:r>
            <a:endParaRPr lang="en-US" sz="1150" dirty="0"/>
          </a:p>
        </p:txBody>
      </p:sp>
      <p:sp>
        <p:nvSpPr>
          <p:cNvPr id="13" name="Text 11"/>
          <p:cNvSpPr txBox="1"/>
          <p:nvPr/>
        </p:nvSpPr>
        <p:spPr>
          <a:xfrm>
            <a:off x="6863944" y="1490472"/>
            <a:ext cx="4687672" cy="256032"/>
          </a:xfrm>
          <a:prstGeom prst="rect">
            <a:avLst/>
          </a:prstGeom>
          <a:noFill/>
          <a:ln/>
        </p:spPr>
        <p:txBody>
          <a:bodyPr wrap="square" lIns="0" tIns="0" rIns="0" bIns="0" rtlCol="0" anchor="ctr"/>
          <a:lstStyle/>
          <a:p>
            <a:pPr indent="0" marL="0">
              <a:buNone/>
            </a:pPr>
            <a:r>
              <a:rPr lang="en-US" sz="1250" b="1" spc="100" kern="0" dirty="0">
                <a:solidFill>
                  <a:srgbClr val="17171B"/>
                </a:solidFill>
                <a:latin typeface="Calibri" pitchFamily="34" charset="0"/>
                <a:ea typeface="Calibri" pitchFamily="34" charset="-122"/>
                <a:cs typeface="Calibri" pitchFamily="34" charset="-120"/>
              </a:rPr>
              <a:t>GETTING IN</a:t>
            </a:r>
            <a:endParaRPr lang="en-US" sz="1250" dirty="0"/>
          </a:p>
        </p:txBody>
      </p:sp>
      <p:sp>
        <p:nvSpPr>
          <p:cNvPr id="14" name="Text 12"/>
          <p:cNvSpPr txBox="1"/>
          <p:nvPr/>
        </p:nvSpPr>
        <p:spPr>
          <a:xfrm>
            <a:off x="6863944" y="1764792"/>
            <a:ext cx="4687672" cy="786384"/>
          </a:xfrm>
          <a:prstGeom prst="rect">
            <a:avLst/>
          </a:prstGeom>
          <a:noFill/>
          <a:ln/>
        </p:spPr>
        <p:txBody>
          <a:bodyPr wrap="square" lIns="0" tIns="0" rIns="0" bIns="0" rtlCol="0" anchor="ctr"/>
          <a:lstStyle/>
          <a:p>
            <a:pPr indent="0" marL="0">
              <a:lnSpc>
                <a:spcPct val="104000"/>
              </a:lnSpc>
              <a:buNone/>
            </a:pPr>
            <a:r>
              <a:rPr lang="en-US" sz="1050" dirty="0">
                <a:solidFill>
                  <a:srgbClr val="3E3E48"/>
                </a:solidFill>
                <a:latin typeface="Calibri" pitchFamily="34" charset="0"/>
                <a:ea typeface="Calibri" pitchFamily="34" charset="-122"/>
                <a:cs typeface="Calibri" pitchFamily="34" charset="-120"/>
              </a:rPr>
              <a:t>Belgium is in the Schengen area. Visitors from the US, UK, Canada, Australia and Japan may stay 90 days without a visa; an ETIAS travel authorisation is being introduced. Fly into Brussels (BRU) or Charleroi (CRL).</a:t>
            </a:r>
            <a:endParaRPr lang="en-US" sz="1050" dirty="0"/>
          </a:p>
        </p:txBody>
      </p:sp>
      <p:sp>
        <p:nvSpPr>
          <p:cNvPr id="15" name="Shape 13"/>
          <p:cNvSpPr/>
          <p:nvPr/>
        </p:nvSpPr>
        <p:spPr>
          <a:xfrm>
            <a:off x="640080" y="2688336"/>
            <a:ext cx="420624" cy="420624"/>
          </a:xfrm>
          <a:prstGeom prst="ellipse">
            <a:avLst/>
          </a:prstGeom>
          <a:solidFill>
            <a:srgbClr val="E3B23C"/>
          </a:solidFill>
          <a:ln/>
        </p:spPr>
      </p:sp>
      <p:sp>
        <p:nvSpPr>
          <p:cNvPr id="16" name="Text 14"/>
          <p:cNvSpPr txBox="1"/>
          <p:nvPr/>
        </p:nvSpPr>
        <p:spPr>
          <a:xfrm>
            <a:off x="640080" y="2688336"/>
            <a:ext cx="420624" cy="420624"/>
          </a:xfrm>
          <a:prstGeom prst="rect">
            <a:avLst/>
          </a:prstGeom>
          <a:noFill/>
          <a:ln/>
        </p:spPr>
        <p:txBody>
          <a:bodyPr wrap="square" lIns="0" tIns="0" rIns="0" bIns="0" rtlCol="0" anchor="ctr"/>
          <a:lstStyle/>
          <a:p>
            <a:pPr algn="ctr" indent="0" marL="0">
              <a:buNone/>
            </a:pPr>
            <a:r>
              <a:rPr lang="en-US" sz="1150" b="1" dirty="0">
                <a:solidFill>
                  <a:srgbClr val="17171B"/>
                </a:solidFill>
                <a:latin typeface="Calibri" pitchFamily="34" charset="0"/>
                <a:ea typeface="Calibri" pitchFamily="34" charset="-122"/>
                <a:cs typeface="Calibri" pitchFamily="34" charset="-120"/>
              </a:rPr>
              <a:t>3</a:t>
            </a:r>
            <a:endParaRPr lang="en-US" sz="1150" dirty="0"/>
          </a:p>
        </p:txBody>
      </p:sp>
      <p:sp>
        <p:nvSpPr>
          <p:cNvPr id="17" name="Text 15"/>
          <p:cNvSpPr txBox="1"/>
          <p:nvPr/>
        </p:nvSpPr>
        <p:spPr>
          <a:xfrm>
            <a:off x="1225296" y="2679192"/>
            <a:ext cx="4687672" cy="256032"/>
          </a:xfrm>
          <a:prstGeom prst="rect">
            <a:avLst/>
          </a:prstGeom>
          <a:noFill/>
          <a:ln/>
        </p:spPr>
        <p:txBody>
          <a:bodyPr wrap="square" lIns="0" tIns="0" rIns="0" bIns="0" rtlCol="0" anchor="ctr"/>
          <a:lstStyle/>
          <a:p>
            <a:pPr indent="0" marL="0">
              <a:buNone/>
            </a:pPr>
            <a:r>
              <a:rPr lang="en-US" sz="1250" b="1" spc="100" kern="0" dirty="0">
                <a:solidFill>
                  <a:srgbClr val="17171B"/>
                </a:solidFill>
                <a:latin typeface="Calibri" pitchFamily="34" charset="0"/>
                <a:ea typeface="Calibri" pitchFamily="34" charset="-122"/>
                <a:cs typeface="Calibri" pitchFamily="34" charset="-120"/>
              </a:rPr>
              <a:t>GETTING AROUND</a:t>
            </a:r>
            <a:endParaRPr lang="en-US" sz="1250" dirty="0"/>
          </a:p>
        </p:txBody>
      </p:sp>
      <p:sp>
        <p:nvSpPr>
          <p:cNvPr id="18" name="Text 16"/>
          <p:cNvSpPr txBox="1"/>
          <p:nvPr/>
        </p:nvSpPr>
        <p:spPr>
          <a:xfrm>
            <a:off x="1225296" y="2953512"/>
            <a:ext cx="4687672" cy="786384"/>
          </a:xfrm>
          <a:prstGeom prst="rect">
            <a:avLst/>
          </a:prstGeom>
          <a:noFill/>
          <a:ln/>
        </p:spPr>
        <p:txBody>
          <a:bodyPr wrap="square" lIns="0" tIns="0" rIns="0" bIns="0" rtlCol="0" anchor="ctr"/>
          <a:lstStyle/>
          <a:p>
            <a:pPr indent="0" marL="0">
              <a:lnSpc>
                <a:spcPct val="104000"/>
              </a:lnSpc>
              <a:buNone/>
            </a:pPr>
            <a:r>
              <a:rPr lang="en-US" sz="1050" dirty="0">
                <a:solidFill>
                  <a:srgbClr val="3E3E48"/>
                </a:solidFill>
                <a:latin typeface="Calibri" pitchFamily="34" charset="0"/>
                <a:ea typeface="Calibri" pitchFamily="34" charset="-122"/>
                <a:cs typeface="Calibri" pitchFamily="34" charset="-120"/>
              </a:rPr>
              <a:t>The rail network is one of the densest in the world and almost nowhere is more than about two hours from anywhere else. Trams and metro in the cities; bicycles everywhere in Flanders.</a:t>
            </a:r>
            <a:endParaRPr lang="en-US" sz="1050" dirty="0"/>
          </a:p>
        </p:txBody>
      </p:sp>
      <p:sp>
        <p:nvSpPr>
          <p:cNvPr id="19" name="Shape 17"/>
          <p:cNvSpPr/>
          <p:nvPr/>
        </p:nvSpPr>
        <p:spPr>
          <a:xfrm>
            <a:off x="6278728" y="2688336"/>
            <a:ext cx="420624" cy="420624"/>
          </a:xfrm>
          <a:prstGeom prst="ellipse">
            <a:avLst/>
          </a:prstGeom>
          <a:solidFill>
            <a:srgbClr val="E3B23C"/>
          </a:solidFill>
          <a:ln/>
        </p:spPr>
      </p:sp>
      <p:sp>
        <p:nvSpPr>
          <p:cNvPr id="20" name="Text 18"/>
          <p:cNvSpPr txBox="1"/>
          <p:nvPr/>
        </p:nvSpPr>
        <p:spPr>
          <a:xfrm>
            <a:off x="6278728" y="2688336"/>
            <a:ext cx="420624" cy="420624"/>
          </a:xfrm>
          <a:prstGeom prst="rect">
            <a:avLst/>
          </a:prstGeom>
          <a:noFill/>
          <a:ln/>
        </p:spPr>
        <p:txBody>
          <a:bodyPr wrap="square" lIns="0" tIns="0" rIns="0" bIns="0" rtlCol="0" anchor="ctr"/>
          <a:lstStyle/>
          <a:p>
            <a:pPr algn="ctr" indent="0" marL="0">
              <a:buNone/>
            </a:pPr>
            <a:r>
              <a:rPr lang="en-US" sz="1150" b="1" dirty="0">
                <a:solidFill>
                  <a:srgbClr val="17171B"/>
                </a:solidFill>
                <a:latin typeface="Calibri" pitchFamily="34" charset="0"/>
                <a:ea typeface="Calibri" pitchFamily="34" charset="-122"/>
                <a:cs typeface="Calibri" pitchFamily="34" charset="-120"/>
              </a:rPr>
              <a:t>4</a:t>
            </a:r>
            <a:endParaRPr lang="en-US" sz="1150" dirty="0"/>
          </a:p>
        </p:txBody>
      </p:sp>
      <p:sp>
        <p:nvSpPr>
          <p:cNvPr id="21" name="Text 19"/>
          <p:cNvSpPr txBox="1"/>
          <p:nvPr/>
        </p:nvSpPr>
        <p:spPr>
          <a:xfrm>
            <a:off x="6863944" y="2679192"/>
            <a:ext cx="4687672" cy="256032"/>
          </a:xfrm>
          <a:prstGeom prst="rect">
            <a:avLst/>
          </a:prstGeom>
          <a:noFill/>
          <a:ln/>
        </p:spPr>
        <p:txBody>
          <a:bodyPr wrap="square" lIns="0" tIns="0" rIns="0" bIns="0" rtlCol="0" anchor="ctr"/>
          <a:lstStyle/>
          <a:p>
            <a:pPr indent="0" marL="0">
              <a:buNone/>
            </a:pPr>
            <a:r>
              <a:rPr lang="en-US" sz="1250" b="1" spc="100" kern="0" dirty="0">
                <a:solidFill>
                  <a:srgbClr val="17171B"/>
                </a:solidFill>
                <a:latin typeface="Calibri" pitchFamily="34" charset="0"/>
                <a:ea typeface="Calibri" pitchFamily="34" charset="-122"/>
                <a:cs typeface="Calibri" pitchFamily="34" charset="-120"/>
              </a:rPr>
              <a:t>LANGUAGE</a:t>
            </a:r>
            <a:endParaRPr lang="en-US" sz="1250" dirty="0"/>
          </a:p>
        </p:txBody>
      </p:sp>
      <p:sp>
        <p:nvSpPr>
          <p:cNvPr id="22" name="Text 20"/>
          <p:cNvSpPr txBox="1"/>
          <p:nvPr/>
        </p:nvSpPr>
        <p:spPr>
          <a:xfrm>
            <a:off x="6863944" y="2953512"/>
            <a:ext cx="4687672" cy="786384"/>
          </a:xfrm>
          <a:prstGeom prst="rect">
            <a:avLst/>
          </a:prstGeom>
          <a:noFill/>
          <a:ln/>
        </p:spPr>
        <p:txBody>
          <a:bodyPr wrap="square" lIns="0" tIns="0" rIns="0" bIns="0" rtlCol="0" anchor="ctr"/>
          <a:lstStyle/>
          <a:p>
            <a:pPr indent="0" marL="0">
              <a:lnSpc>
                <a:spcPct val="104000"/>
              </a:lnSpc>
              <a:buNone/>
            </a:pPr>
            <a:r>
              <a:rPr lang="en-US" sz="1050" dirty="0">
                <a:solidFill>
                  <a:srgbClr val="3E3E48"/>
                </a:solidFill>
                <a:latin typeface="Calibri" pitchFamily="34" charset="0"/>
                <a:ea typeface="Calibri" pitchFamily="34" charset="-122"/>
                <a:cs typeface="Calibri" pitchFamily="34" charset="-120"/>
              </a:rPr>
              <a:t>French in Wallonia and Brussels, Dutch in Flanders, German in the far east. English is widely spoken in cities. Open in French in Brussels and Wallonia, in Dutch or English in Flanders — the choice of language is never neutral.</a:t>
            </a:r>
            <a:endParaRPr lang="en-US" sz="1050" dirty="0"/>
          </a:p>
        </p:txBody>
      </p:sp>
      <p:sp>
        <p:nvSpPr>
          <p:cNvPr id="23" name="Shape 21"/>
          <p:cNvSpPr/>
          <p:nvPr/>
        </p:nvSpPr>
        <p:spPr>
          <a:xfrm>
            <a:off x="640080" y="3877056"/>
            <a:ext cx="420624" cy="420624"/>
          </a:xfrm>
          <a:prstGeom prst="ellipse">
            <a:avLst/>
          </a:prstGeom>
          <a:solidFill>
            <a:srgbClr val="E3B23C"/>
          </a:solidFill>
          <a:ln/>
        </p:spPr>
      </p:sp>
      <p:sp>
        <p:nvSpPr>
          <p:cNvPr id="24" name="Text 22"/>
          <p:cNvSpPr txBox="1"/>
          <p:nvPr/>
        </p:nvSpPr>
        <p:spPr>
          <a:xfrm>
            <a:off x="640080" y="3877056"/>
            <a:ext cx="420624" cy="420624"/>
          </a:xfrm>
          <a:prstGeom prst="rect">
            <a:avLst/>
          </a:prstGeom>
          <a:noFill/>
          <a:ln/>
        </p:spPr>
        <p:txBody>
          <a:bodyPr wrap="square" lIns="0" tIns="0" rIns="0" bIns="0" rtlCol="0" anchor="ctr"/>
          <a:lstStyle/>
          <a:p>
            <a:pPr algn="ctr" indent="0" marL="0">
              <a:buNone/>
            </a:pPr>
            <a:r>
              <a:rPr lang="en-US" sz="1150" b="1" dirty="0">
                <a:solidFill>
                  <a:srgbClr val="17171B"/>
                </a:solidFill>
                <a:latin typeface="Calibri" pitchFamily="34" charset="0"/>
                <a:ea typeface="Calibri" pitchFamily="34" charset="-122"/>
                <a:cs typeface="Calibri" pitchFamily="34" charset="-120"/>
              </a:rPr>
              <a:t>5</a:t>
            </a:r>
            <a:endParaRPr lang="en-US" sz="1150" dirty="0"/>
          </a:p>
        </p:txBody>
      </p:sp>
      <p:sp>
        <p:nvSpPr>
          <p:cNvPr id="25" name="Text 23"/>
          <p:cNvSpPr txBox="1"/>
          <p:nvPr/>
        </p:nvSpPr>
        <p:spPr>
          <a:xfrm>
            <a:off x="1225296" y="3867912"/>
            <a:ext cx="4687672" cy="256032"/>
          </a:xfrm>
          <a:prstGeom prst="rect">
            <a:avLst/>
          </a:prstGeom>
          <a:noFill/>
          <a:ln/>
        </p:spPr>
        <p:txBody>
          <a:bodyPr wrap="square" lIns="0" tIns="0" rIns="0" bIns="0" rtlCol="0" anchor="ctr"/>
          <a:lstStyle/>
          <a:p>
            <a:pPr indent="0" marL="0">
              <a:buNone/>
            </a:pPr>
            <a:r>
              <a:rPr lang="en-US" sz="1250" b="1" spc="100" kern="0" dirty="0">
                <a:solidFill>
                  <a:srgbClr val="17171B"/>
                </a:solidFill>
                <a:latin typeface="Calibri" pitchFamily="34" charset="0"/>
                <a:ea typeface="Calibri" pitchFamily="34" charset="-122"/>
                <a:cs typeface="Calibri" pitchFamily="34" charset="-120"/>
              </a:rPr>
              <a:t>WHEN TO GO</a:t>
            </a:r>
            <a:endParaRPr lang="en-US" sz="1250" dirty="0"/>
          </a:p>
        </p:txBody>
      </p:sp>
      <p:sp>
        <p:nvSpPr>
          <p:cNvPr id="26" name="Text 24"/>
          <p:cNvSpPr txBox="1"/>
          <p:nvPr/>
        </p:nvSpPr>
        <p:spPr>
          <a:xfrm>
            <a:off x="1225296" y="4142232"/>
            <a:ext cx="4687672" cy="786384"/>
          </a:xfrm>
          <a:prstGeom prst="rect">
            <a:avLst/>
          </a:prstGeom>
          <a:noFill/>
          <a:ln/>
        </p:spPr>
        <p:txBody>
          <a:bodyPr wrap="square" lIns="0" tIns="0" rIns="0" bIns="0" rtlCol="0" anchor="ctr"/>
          <a:lstStyle/>
          <a:p>
            <a:pPr indent="0" marL="0">
              <a:lnSpc>
                <a:spcPct val="104000"/>
              </a:lnSpc>
              <a:buNone/>
            </a:pPr>
            <a:r>
              <a:rPr lang="en-US" sz="1050" dirty="0">
                <a:solidFill>
                  <a:srgbClr val="3E3E48"/>
                </a:solidFill>
                <a:latin typeface="Calibri" pitchFamily="34" charset="0"/>
                <a:ea typeface="Calibri" pitchFamily="34" charset="-122"/>
                <a:cs typeface="Calibri" pitchFamily="34" charset="-120"/>
              </a:rPr>
              <a:t>May to September for the best weather; December for the Christmas markets. Bring a raincoat in any month — the Belgians have a word for a downpour, une drache.</a:t>
            </a:r>
            <a:endParaRPr lang="en-US" sz="1050" dirty="0"/>
          </a:p>
        </p:txBody>
      </p:sp>
      <p:sp>
        <p:nvSpPr>
          <p:cNvPr id="27" name="Shape 25"/>
          <p:cNvSpPr/>
          <p:nvPr/>
        </p:nvSpPr>
        <p:spPr>
          <a:xfrm>
            <a:off x="6278728" y="3877056"/>
            <a:ext cx="420624" cy="420624"/>
          </a:xfrm>
          <a:prstGeom prst="ellipse">
            <a:avLst/>
          </a:prstGeom>
          <a:solidFill>
            <a:srgbClr val="E3B23C"/>
          </a:solidFill>
          <a:ln/>
        </p:spPr>
      </p:sp>
      <p:sp>
        <p:nvSpPr>
          <p:cNvPr id="28" name="Text 26"/>
          <p:cNvSpPr txBox="1"/>
          <p:nvPr/>
        </p:nvSpPr>
        <p:spPr>
          <a:xfrm>
            <a:off x="6278728" y="3877056"/>
            <a:ext cx="420624" cy="420624"/>
          </a:xfrm>
          <a:prstGeom prst="rect">
            <a:avLst/>
          </a:prstGeom>
          <a:noFill/>
          <a:ln/>
        </p:spPr>
        <p:txBody>
          <a:bodyPr wrap="square" lIns="0" tIns="0" rIns="0" bIns="0" rtlCol="0" anchor="ctr"/>
          <a:lstStyle/>
          <a:p>
            <a:pPr algn="ctr" indent="0" marL="0">
              <a:buNone/>
            </a:pPr>
            <a:r>
              <a:rPr lang="en-US" sz="1150" b="1" dirty="0">
                <a:solidFill>
                  <a:srgbClr val="17171B"/>
                </a:solidFill>
                <a:latin typeface="Calibri" pitchFamily="34" charset="0"/>
                <a:ea typeface="Calibri" pitchFamily="34" charset="-122"/>
                <a:cs typeface="Calibri" pitchFamily="34" charset="-120"/>
              </a:rPr>
              <a:t>6</a:t>
            </a:r>
            <a:endParaRPr lang="en-US" sz="1150" dirty="0"/>
          </a:p>
        </p:txBody>
      </p:sp>
      <p:sp>
        <p:nvSpPr>
          <p:cNvPr id="29" name="Text 27"/>
          <p:cNvSpPr txBox="1"/>
          <p:nvPr/>
        </p:nvSpPr>
        <p:spPr>
          <a:xfrm>
            <a:off x="6863944" y="3867912"/>
            <a:ext cx="4687672" cy="256032"/>
          </a:xfrm>
          <a:prstGeom prst="rect">
            <a:avLst/>
          </a:prstGeom>
          <a:noFill/>
          <a:ln/>
        </p:spPr>
        <p:txBody>
          <a:bodyPr wrap="square" lIns="0" tIns="0" rIns="0" bIns="0" rtlCol="0" anchor="ctr"/>
          <a:lstStyle/>
          <a:p>
            <a:pPr indent="0" marL="0">
              <a:buNone/>
            </a:pPr>
            <a:r>
              <a:rPr lang="en-US" sz="1250" b="1" spc="100" kern="0" dirty="0">
                <a:solidFill>
                  <a:srgbClr val="17171B"/>
                </a:solidFill>
                <a:latin typeface="Calibri" pitchFamily="34" charset="0"/>
                <a:ea typeface="Calibri" pitchFamily="34" charset="-122"/>
                <a:cs typeface="Calibri" pitchFamily="34" charset="-120"/>
              </a:rPr>
              <a:t>DON'T MISS</a:t>
            </a:r>
            <a:endParaRPr lang="en-US" sz="1250" dirty="0"/>
          </a:p>
        </p:txBody>
      </p:sp>
      <p:sp>
        <p:nvSpPr>
          <p:cNvPr id="30" name="Text 28"/>
          <p:cNvSpPr txBox="1"/>
          <p:nvPr/>
        </p:nvSpPr>
        <p:spPr>
          <a:xfrm>
            <a:off x="6863944" y="4142232"/>
            <a:ext cx="4687672" cy="786384"/>
          </a:xfrm>
          <a:prstGeom prst="rect">
            <a:avLst/>
          </a:prstGeom>
          <a:noFill/>
          <a:ln/>
        </p:spPr>
        <p:txBody>
          <a:bodyPr wrap="square" lIns="0" tIns="0" rIns="0" bIns="0" rtlCol="0" anchor="ctr"/>
          <a:lstStyle/>
          <a:p>
            <a:pPr indent="0" marL="0">
              <a:lnSpc>
                <a:spcPct val="104000"/>
              </a:lnSpc>
              <a:buNone/>
            </a:pPr>
            <a:r>
              <a:rPr lang="en-US" sz="1050" dirty="0">
                <a:solidFill>
                  <a:srgbClr val="3E3E48"/>
                </a:solidFill>
                <a:latin typeface="Calibri" pitchFamily="34" charset="0"/>
                <a:ea typeface="Calibri" pitchFamily="34" charset="-122"/>
                <a:cs typeface="Calibri" pitchFamily="34" charset="-120"/>
              </a:rPr>
              <a:t>The Grand-Place lit up at night  ·  a canal boat in Bruges  ·  a cone of frites from a friterie  ·  a Trappist beer in an abbey café  ·  Dinant on the Meuse.</a:t>
            </a:r>
            <a:endParaRPr lang="en-US" sz="1050" dirty="0"/>
          </a:p>
        </p:txBody>
      </p:sp>
      <p:pic>
        <p:nvPicPr>
          <p:cNvPr id="31" name="Image 0" descr="/tmp/claude-0/-home-user-BOYNT-WORK/856f02cf-0e32-5bfe-bffb-9edb29b314f9/scratchpad/deckimg/dinant.jpg">    </p:cNvPr>
          <p:cNvPicPr>
            <a:picLocks noChangeAspect="1"/>
          </p:cNvPicPr>
          <p:nvPr/>
        </p:nvPicPr>
        <p:blipFill>
          <a:blip r:embed="rId1"/>
          <a:srcRect l="0" r="0" t="0" b="0"/>
          <a:stretch/>
        </p:blipFill>
        <p:spPr>
          <a:xfrm>
            <a:off x="640080" y="5193792"/>
            <a:ext cx="10911535" cy="713232"/>
          </a:xfrm>
          <a:prstGeom prst="rect">
            <a:avLst/>
          </a:prstGeom>
        </p:spPr>
      </p:pic>
      <p:sp>
        <p:nvSpPr>
          <p:cNvPr id="32" name="Text 29"/>
          <p:cNvSpPr txBox="1"/>
          <p:nvPr/>
        </p:nvSpPr>
        <p:spPr>
          <a:xfrm>
            <a:off x="1170432" y="5980176"/>
            <a:ext cx="10381183" cy="274320"/>
          </a:xfrm>
          <a:prstGeom prst="rect">
            <a:avLst/>
          </a:prstGeom>
          <a:noFill/>
          <a:ln/>
        </p:spPr>
        <p:txBody>
          <a:bodyPr wrap="square" lIns="0" tIns="0" rIns="0" bIns="0" rtlCol="0" anchor="ctr"/>
          <a:lstStyle/>
          <a:p>
            <a:pPr indent="0" marL="0">
              <a:buNone/>
            </a:pPr>
            <a:r>
              <a:rPr lang="en-US" sz="1000" i="1" dirty="0">
                <a:solidFill>
                  <a:srgbClr val="70707C"/>
                </a:solidFill>
                <a:latin typeface="Calibri" pitchFamily="34" charset="0"/>
                <a:ea typeface="Calibri" pitchFamily="34" charset="-122"/>
                <a:cs typeface="Calibri" pitchFamily="34" charset="-120"/>
              </a:rPr>
              <a:t>Dinant on the Meuse, in Wallonia — birthplace of Adolphe Sax, inventor of the saxophone.</a:t>
            </a:r>
            <a:endParaRPr lang="en-US" sz="100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bg>
      <p:bgPr>
        <a:solidFill>
          <a:srgbClr val="17171B"/>
        </a:solidFill>
      </p:bgPr>
    </p:bg>
    <p:spTree>
      <p:nvGrpSpPr>
        <p:cNvPr id="1" name=""/>
        <p:cNvGrpSpPr/>
        <p:nvPr/>
      </p:nvGrpSpPr>
      <p:grpSpPr>
        <a:xfrm>
          <a:off x="0" y="0"/>
          <a:ext cx="0" cy="0"/>
          <a:chOff x="0" y="0"/>
          <a:chExt cx="0" cy="0"/>
        </a:xfrm>
      </p:grpSpPr>
      <p:pic>
        <p:nvPicPr>
          <p:cNvPr id="2" name="Image 0" descr="/tmp/claude-0/-home-user-BOYNT-WORK/856f02cf-0e32-5bfe-bffb-9edb29b314f9/scratchpad/deckimg/grandplace.jpg">    </p:cNvPr>
          <p:cNvPicPr>
            <a:picLocks noChangeAspect="1"/>
          </p:cNvPicPr>
          <p:nvPr/>
        </p:nvPicPr>
        <p:blipFill>
          <a:blip r:embed="rId1">
            <a:alphaModFix amt="22000"/>
          </a:blip>
          <a:srcRect l="0" r="0" t="0" b="0"/>
          <a:stretch/>
        </p:blipFill>
        <p:spPr>
          <a:xfrm>
            <a:off x="0" y="0"/>
            <a:ext cx="12191695" cy="6858000"/>
          </a:xfrm>
          <a:prstGeom prst="rect">
            <a:avLst/>
          </a:prstGeom>
        </p:spPr>
      </p:pic>
      <p:sp>
        <p:nvSpPr>
          <p:cNvPr id="3" name="Text 0"/>
          <p:cNvSpPr txBox="1"/>
          <p:nvPr/>
        </p:nvSpPr>
        <p:spPr>
          <a:xfrm>
            <a:off x="640080" y="566928"/>
            <a:ext cx="10911535" cy="274320"/>
          </a:xfrm>
          <a:prstGeom prst="rect">
            <a:avLst/>
          </a:prstGeom>
          <a:noFill/>
          <a:ln/>
        </p:spPr>
        <p:txBody>
          <a:bodyPr wrap="square" lIns="0" tIns="0" rIns="0" bIns="0" rtlCol="0" anchor="ctr"/>
          <a:lstStyle/>
          <a:p>
            <a:pPr indent="0" marL="0">
              <a:buNone/>
            </a:pPr>
            <a:r>
              <a:rPr lang="en-US" sz="1150" b="1" spc="220" kern="0" dirty="0">
                <a:solidFill>
                  <a:srgbClr val="E3B23C"/>
                </a:solidFill>
                <a:latin typeface="Calibri" pitchFamily="34" charset="0"/>
                <a:ea typeface="Calibri" pitchFamily="34" charset="-122"/>
                <a:cs typeface="Calibri" pitchFamily="34" charset="-120"/>
              </a:rPr>
              <a:t>LA BELGIQUE ET LA FRANCOPHONIE</a:t>
            </a:r>
            <a:endParaRPr lang="en-US" sz="1150" dirty="0"/>
          </a:p>
        </p:txBody>
      </p:sp>
      <p:sp>
        <p:nvSpPr>
          <p:cNvPr id="4" name="Text 1"/>
          <p:cNvSpPr txBox="1"/>
          <p:nvPr/>
        </p:nvSpPr>
        <p:spPr>
          <a:xfrm>
            <a:off x="640080" y="896112"/>
            <a:ext cx="10911535" cy="548640"/>
          </a:xfrm>
          <a:prstGeom prst="rect">
            <a:avLst/>
          </a:prstGeom>
          <a:noFill/>
          <a:ln/>
        </p:spPr>
        <p:txBody>
          <a:bodyPr wrap="square" lIns="0" tIns="0" rIns="0" bIns="0" rtlCol="0" anchor="ctr"/>
          <a:lstStyle/>
          <a:p>
            <a:pPr indent="0" marL="0">
              <a:buNone/>
            </a:pPr>
            <a:r>
              <a:rPr lang="en-US" sz="3100" b="1" dirty="0">
                <a:solidFill>
                  <a:srgbClr val="FFFFFF"/>
                </a:solidFill>
                <a:latin typeface="Cambria" pitchFamily="34" charset="0"/>
                <a:ea typeface="Cambria" pitchFamily="34" charset="-122"/>
                <a:cs typeface="Cambria" pitchFamily="34" charset="-120"/>
              </a:rPr>
              <a:t>A French-speaking country at the centre of Europe</a:t>
            </a:r>
            <a:endParaRPr lang="en-US" sz="3100" dirty="0"/>
          </a:p>
        </p:txBody>
      </p:sp>
      <p:sp>
        <p:nvSpPr>
          <p:cNvPr id="5" name="Shape 2"/>
          <p:cNvSpPr/>
          <p:nvPr/>
        </p:nvSpPr>
        <p:spPr>
          <a:xfrm>
            <a:off x="640080" y="1828800"/>
            <a:ext cx="3393338" cy="1965960"/>
          </a:xfrm>
          <a:prstGeom prst="roundRect">
            <a:avLst>
              <a:gd name="adj" fmla="val 4186"/>
            </a:avLst>
          </a:prstGeom>
          <a:solidFill>
            <a:srgbClr val="24242C">
              <a:alpha val="88000"/>
            </a:srgbClr>
          </a:solidFill>
          <a:ln w="12700">
            <a:solidFill>
              <a:srgbClr val="42424E"/>
            </a:solidFill>
            <a:prstDash val="solid"/>
          </a:ln>
        </p:spPr>
      </p:sp>
      <p:sp>
        <p:nvSpPr>
          <p:cNvPr id="6" name="Text 3"/>
          <p:cNvSpPr txBox="1"/>
          <p:nvPr/>
        </p:nvSpPr>
        <p:spPr>
          <a:xfrm>
            <a:off x="877824" y="2048256"/>
            <a:ext cx="2917850" cy="548640"/>
          </a:xfrm>
          <a:prstGeom prst="rect">
            <a:avLst/>
          </a:prstGeom>
          <a:noFill/>
          <a:ln/>
        </p:spPr>
        <p:txBody>
          <a:bodyPr wrap="square" lIns="0" tIns="0" rIns="0" bIns="0" rtlCol="0" anchor="ctr"/>
          <a:lstStyle/>
          <a:p>
            <a:pPr indent="0" marL="0">
              <a:buNone/>
            </a:pPr>
            <a:r>
              <a:rPr lang="en-US" sz="2700" b="1" dirty="0">
                <a:solidFill>
                  <a:srgbClr val="E3B23C"/>
                </a:solidFill>
                <a:latin typeface="Cambria" pitchFamily="34" charset="0"/>
                <a:ea typeface="Cambria" pitchFamily="34" charset="-122"/>
                <a:cs typeface="Cambria" pitchFamily="34" charset="-120"/>
              </a:rPr>
              <a:t>≈ 40 %</a:t>
            </a:r>
            <a:endParaRPr lang="en-US" sz="2700" dirty="0"/>
          </a:p>
        </p:txBody>
      </p:sp>
      <p:sp>
        <p:nvSpPr>
          <p:cNvPr id="7" name="Text 4"/>
          <p:cNvSpPr txBox="1"/>
          <p:nvPr/>
        </p:nvSpPr>
        <p:spPr>
          <a:xfrm>
            <a:off x="877824" y="2651760"/>
            <a:ext cx="2917850" cy="1051560"/>
          </a:xfrm>
          <a:prstGeom prst="rect">
            <a:avLst/>
          </a:prstGeom>
          <a:noFill/>
          <a:ln/>
        </p:spPr>
        <p:txBody>
          <a:bodyPr wrap="square" lIns="0" tIns="0" rIns="0" bIns="0" rtlCol="0" anchor="ctr"/>
          <a:lstStyle/>
          <a:p>
            <a:pPr indent="0" marL="0">
              <a:lnSpc>
                <a:spcPct val="106000"/>
              </a:lnSpc>
              <a:buNone/>
            </a:pPr>
            <a:r>
              <a:rPr lang="en-US" sz="1100" dirty="0">
                <a:solidFill>
                  <a:srgbClr val="CFCFD8"/>
                </a:solidFill>
                <a:latin typeface="Calibri" pitchFamily="34" charset="0"/>
                <a:ea typeface="Calibri" pitchFamily="34" charset="-122"/>
                <a:cs typeface="Calibri" pitchFamily="34" charset="-120"/>
              </a:rPr>
              <a:t>of Belgians — roughly 4.5 million people — have French as their mother tongue, concentrated in Wallonia and Brussels.</a:t>
            </a:r>
            <a:endParaRPr lang="en-US" sz="1100" dirty="0"/>
          </a:p>
        </p:txBody>
      </p:sp>
      <p:sp>
        <p:nvSpPr>
          <p:cNvPr id="8" name="Shape 5"/>
          <p:cNvSpPr/>
          <p:nvPr/>
        </p:nvSpPr>
        <p:spPr>
          <a:xfrm>
            <a:off x="4399178" y="1828800"/>
            <a:ext cx="3393338" cy="1965960"/>
          </a:xfrm>
          <a:prstGeom prst="roundRect">
            <a:avLst>
              <a:gd name="adj" fmla="val 4186"/>
            </a:avLst>
          </a:prstGeom>
          <a:solidFill>
            <a:srgbClr val="24242C">
              <a:alpha val="88000"/>
            </a:srgbClr>
          </a:solidFill>
          <a:ln w="12700">
            <a:solidFill>
              <a:srgbClr val="42424E"/>
            </a:solidFill>
            <a:prstDash val="solid"/>
          </a:ln>
        </p:spPr>
      </p:sp>
      <p:sp>
        <p:nvSpPr>
          <p:cNvPr id="9" name="Text 6"/>
          <p:cNvSpPr txBox="1"/>
          <p:nvPr/>
        </p:nvSpPr>
        <p:spPr>
          <a:xfrm>
            <a:off x="4636922" y="2048256"/>
            <a:ext cx="2917850" cy="548640"/>
          </a:xfrm>
          <a:prstGeom prst="rect">
            <a:avLst/>
          </a:prstGeom>
          <a:noFill/>
          <a:ln/>
        </p:spPr>
        <p:txBody>
          <a:bodyPr wrap="square" lIns="0" tIns="0" rIns="0" bIns="0" rtlCol="0" anchor="ctr"/>
          <a:lstStyle/>
          <a:p>
            <a:pPr indent="0" marL="0">
              <a:buNone/>
            </a:pPr>
            <a:r>
              <a:rPr lang="en-US" sz="2700" b="1" dirty="0">
                <a:solidFill>
                  <a:srgbClr val="E3B23C"/>
                </a:solidFill>
                <a:latin typeface="Cambria" pitchFamily="34" charset="0"/>
                <a:ea typeface="Cambria" pitchFamily="34" charset="-122"/>
                <a:cs typeface="Cambria" pitchFamily="34" charset="-120"/>
              </a:rPr>
              <a:t>2 seats</a:t>
            </a:r>
            <a:endParaRPr lang="en-US" sz="2700" dirty="0"/>
          </a:p>
        </p:txBody>
      </p:sp>
      <p:sp>
        <p:nvSpPr>
          <p:cNvPr id="10" name="Text 7"/>
          <p:cNvSpPr txBox="1"/>
          <p:nvPr/>
        </p:nvSpPr>
        <p:spPr>
          <a:xfrm>
            <a:off x="4636922" y="2651760"/>
            <a:ext cx="2917850" cy="1051560"/>
          </a:xfrm>
          <a:prstGeom prst="rect">
            <a:avLst/>
          </a:prstGeom>
          <a:noFill/>
          <a:ln/>
        </p:spPr>
        <p:txBody>
          <a:bodyPr wrap="square" lIns="0" tIns="0" rIns="0" bIns="0" rtlCol="0" anchor="ctr"/>
          <a:lstStyle/>
          <a:p>
            <a:pPr indent="0" marL="0">
              <a:lnSpc>
                <a:spcPct val="106000"/>
              </a:lnSpc>
              <a:buNone/>
            </a:pPr>
            <a:r>
              <a:rPr lang="en-US" sz="1100" dirty="0">
                <a:solidFill>
                  <a:srgbClr val="CFCFD8"/>
                </a:solidFill>
                <a:latin typeface="Calibri" pitchFamily="34" charset="0"/>
                <a:ea typeface="Calibri" pitchFamily="34" charset="-122"/>
                <a:cs typeface="Calibri" pitchFamily="34" charset="-120"/>
              </a:rPr>
              <a:t>Belgium is a founding member of the Organisation internationale de la Francophonie and is represented twice: the Kingdom of Belgium, and the French Community.</a:t>
            </a:r>
            <a:endParaRPr lang="en-US" sz="1100" dirty="0"/>
          </a:p>
        </p:txBody>
      </p:sp>
      <p:sp>
        <p:nvSpPr>
          <p:cNvPr id="11" name="Shape 8"/>
          <p:cNvSpPr/>
          <p:nvPr/>
        </p:nvSpPr>
        <p:spPr>
          <a:xfrm>
            <a:off x="8158277" y="1828800"/>
            <a:ext cx="3393338" cy="1965960"/>
          </a:xfrm>
          <a:prstGeom prst="roundRect">
            <a:avLst>
              <a:gd name="adj" fmla="val 4186"/>
            </a:avLst>
          </a:prstGeom>
          <a:solidFill>
            <a:srgbClr val="24242C">
              <a:alpha val="88000"/>
            </a:srgbClr>
          </a:solidFill>
          <a:ln w="12700">
            <a:solidFill>
              <a:srgbClr val="42424E"/>
            </a:solidFill>
            <a:prstDash val="solid"/>
          </a:ln>
        </p:spPr>
      </p:sp>
      <p:sp>
        <p:nvSpPr>
          <p:cNvPr id="12" name="Text 9"/>
          <p:cNvSpPr txBox="1"/>
          <p:nvPr/>
        </p:nvSpPr>
        <p:spPr>
          <a:xfrm>
            <a:off x="8396021" y="2048256"/>
            <a:ext cx="2917850" cy="548640"/>
          </a:xfrm>
          <a:prstGeom prst="rect">
            <a:avLst/>
          </a:prstGeom>
          <a:noFill/>
          <a:ln/>
        </p:spPr>
        <p:txBody>
          <a:bodyPr wrap="square" lIns="0" tIns="0" rIns="0" bIns="0" rtlCol="0" anchor="ctr"/>
          <a:lstStyle/>
          <a:p>
            <a:pPr indent="0" marL="0">
              <a:buNone/>
            </a:pPr>
            <a:r>
              <a:rPr lang="en-US" sz="2700" b="1" dirty="0">
                <a:solidFill>
                  <a:srgbClr val="E3B23C"/>
                </a:solidFill>
                <a:latin typeface="Cambria" pitchFamily="34" charset="0"/>
                <a:ea typeface="Cambria" pitchFamily="34" charset="-122"/>
                <a:cs typeface="Cambria" pitchFamily="34" charset="-120"/>
              </a:rPr>
              <a:t>septante</a:t>
            </a:r>
            <a:endParaRPr lang="en-US" sz="2700" dirty="0"/>
          </a:p>
        </p:txBody>
      </p:sp>
      <p:sp>
        <p:nvSpPr>
          <p:cNvPr id="13" name="Text 10"/>
          <p:cNvSpPr txBox="1"/>
          <p:nvPr/>
        </p:nvSpPr>
        <p:spPr>
          <a:xfrm>
            <a:off x="8396021" y="2651760"/>
            <a:ext cx="2917850" cy="1051560"/>
          </a:xfrm>
          <a:prstGeom prst="rect">
            <a:avLst/>
          </a:prstGeom>
          <a:noFill/>
          <a:ln/>
        </p:spPr>
        <p:txBody>
          <a:bodyPr wrap="square" lIns="0" tIns="0" rIns="0" bIns="0" rtlCol="0" anchor="ctr"/>
          <a:lstStyle/>
          <a:p>
            <a:pPr indent="0" marL="0">
              <a:lnSpc>
                <a:spcPct val="106000"/>
              </a:lnSpc>
              <a:buNone/>
            </a:pPr>
            <a:r>
              <a:rPr lang="en-US" sz="1100" dirty="0">
                <a:solidFill>
                  <a:srgbClr val="CFCFD8"/>
                </a:solidFill>
                <a:latin typeface="Calibri" pitchFamily="34" charset="0"/>
                <a:ea typeface="Calibri" pitchFamily="34" charset="-122"/>
                <a:cs typeface="Calibri" pitchFamily="34" charset="-120"/>
              </a:rPr>
              <a:t>Belgian French keeps septante for 70 and nonante for 90, where France says soixante-dix and quatre-vingt-dix.</a:t>
            </a:r>
            <a:endParaRPr lang="en-US" sz="1100" dirty="0"/>
          </a:p>
        </p:txBody>
      </p:sp>
      <p:sp>
        <p:nvSpPr>
          <p:cNvPr id="14" name="Text 11"/>
          <p:cNvSpPr txBox="1"/>
          <p:nvPr/>
        </p:nvSpPr>
        <p:spPr>
          <a:xfrm>
            <a:off x="640080" y="4041648"/>
            <a:ext cx="10911535" cy="256032"/>
          </a:xfrm>
          <a:prstGeom prst="rect">
            <a:avLst/>
          </a:prstGeom>
          <a:noFill/>
          <a:ln/>
        </p:spPr>
        <p:txBody>
          <a:bodyPr wrap="square" lIns="0" tIns="0" rIns="0" bIns="0" rtlCol="0" anchor="ctr"/>
          <a:lstStyle/>
          <a:p>
            <a:pPr indent="0" marL="0">
              <a:buNone/>
            </a:pPr>
            <a:r>
              <a:rPr lang="en-US" sz="1100" b="1" spc="120" kern="0" dirty="0">
                <a:solidFill>
                  <a:srgbClr val="E3B23C"/>
                </a:solidFill>
                <a:latin typeface="Calibri" pitchFamily="34" charset="0"/>
                <a:ea typeface="Calibri" pitchFamily="34" charset="-122"/>
                <a:cs typeface="Calibri" pitchFamily="34" charset="-120"/>
              </a:rPr>
              <a:t>A few Belgicismes worth knowing</a:t>
            </a:r>
            <a:endParaRPr lang="en-US" sz="1100" dirty="0"/>
          </a:p>
        </p:txBody>
      </p:sp>
      <p:sp>
        <p:nvSpPr>
          <p:cNvPr id="15" name="Text 12"/>
          <p:cNvSpPr txBox="1"/>
          <p:nvPr/>
        </p:nvSpPr>
        <p:spPr>
          <a:xfrm>
            <a:off x="640080" y="4334256"/>
            <a:ext cx="10911535" cy="365760"/>
          </a:xfrm>
          <a:prstGeom prst="rect">
            <a:avLst/>
          </a:prstGeom>
          <a:noFill/>
          <a:ln/>
        </p:spPr>
        <p:txBody>
          <a:bodyPr wrap="square" lIns="0" tIns="0" rIns="0" bIns="0" rtlCol="0" anchor="ctr"/>
          <a:lstStyle/>
          <a:p>
            <a:pPr indent="0" marL="0">
              <a:buNone/>
            </a:pPr>
            <a:r>
              <a:rPr lang="en-US" sz="1200" dirty="0">
                <a:solidFill>
                  <a:srgbClr val="D6D6DE"/>
                </a:solidFill>
                <a:latin typeface="Calibri" pitchFamily="34" charset="0"/>
                <a:ea typeface="Calibri" pitchFamily="34" charset="-122"/>
                <a:cs typeface="Calibri" pitchFamily="34" charset="-120"/>
              </a:rPr>
              <a:t>un GSM — a mobile phone  ·  une drache — a sudden downpour  ·  faire la file — to queue  ·  savoir used where France would say pouvoir  ·  un kot — a student room</a:t>
            </a:r>
            <a:endParaRPr lang="en-US" sz="1200" dirty="0"/>
          </a:p>
        </p:txBody>
      </p:sp>
      <p:sp>
        <p:nvSpPr>
          <p:cNvPr id="16" name="Shape 13"/>
          <p:cNvSpPr/>
          <p:nvPr/>
        </p:nvSpPr>
        <p:spPr>
          <a:xfrm>
            <a:off x="640080" y="4864608"/>
            <a:ext cx="10911535" cy="1024128"/>
          </a:xfrm>
          <a:prstGeom prst="roundRect">
            <a:avLst>
              <a:gd name="adj" fmla="val 8036"/>
            </a:avLst>
          </a:prstGeom>
          <a:solidFill>
            <a:srgbClr val="E3B23C"/>
          </a:solidFill>
          <a:ln/>
        </p:spPr>
      </p:sp>
      <p:sp>
        <p:nvSpPr>
          <p:cNvPr id="17" name="Text 14"/>
          <p:cNvSpPr txBox="1"/>
          <p:nvPr/>
        </p:nvSpPr>
        <p:spPr>
          <a:xfrm>
            <a:off x="950976" y="5010912"/>
            <a:ext cx="10289743" cy="777240"/>
          </a:xfrm>
          <a:prstGeom prst="rect">
            <a:avLst/>
          </a:prstGeom>
          <a:noFill/>
          <a:ln/>
        </p:spPr>
        <p:txBody>
          <a:bodyPr wrap="square" lIns="0" tIns="0" rIns="0" bIns="0" rtlCol="0" anchor="ctr"/>
          <a:lstStyle/>
          <a:p>
            <a:pPr indent="0" marL="0">
              <a:lnSpc>
                <a:spcPct val="106000"/>
              </a:lnSpc>
              <a:buNone/>
            </a:pPr>
            <a:r>
              <a:rPr lang="en-US" sz="1250" b="1" dirty="0">
                <a:solidFill>
                  <a:srgbClr val="17171B"/>
                </a:solidFill>
                <a:latin typeface="Calibri" pitchFamily="34" charset="0"/>
                <a:ea typeface="Calibri" pitchFamily="34" charset="-122"/>
                <a:cs typeface="Calibri" pitchFamily="34" charset="-120"/>
              </a:rPr>
              <a:t>Belgium is where Germanic and Latin Europe meet. It is a small, young, complicated country that has learned to hold three languages, six parliaments and two thousand years of other people's empires — and it houses the capital of Europe while doing it.</a:t>
            </a:r>
            <a:endParaRPr lang="en-US" sz="1250" dirty="0"/>
          </a:p>
        </p:txBody>
      </p:sp>
      <p:sp>
        <p:nvSpPr>
          <p:cNvPr id="18" name="Shape 15"/>
          <p:cNvSpPr/>
          <p:nvPr/>
        </p:nvSpPr>
        <p:spPr>
          <a:xfrm>
            <a:off x="640080" y="6163056"/>
            <a:ext cx="384048" cy="384048"/>
          </a:xfrm>
          <a:prstGeom prst="ellipse">
            <a:avLst/>
          </a:prstGeom>
          <a:solidFill>
            <a:srgbClr val="E3B23C"/>
          </a:solidFill>
          <a:ln/>
        </p:spPr>
      </p:sp>
      <p:sp>
        <p:nvSpPr>
          <p:cNvPr id="19" name="Text 16"/>
          <p:cNvSpPr txBox="1"/>
          <p:nvPr/>
        </p:nvSpPr>
        <p:spPr>
          <a:xfrm>
            <a:off x="640080" y="6163056"/>
            <a:ext cx="384048" cy="384048"/>
          </a:xfrm>
          <a:prstGeom prst="rect">
            <a:avLst/>
          </a:prstGeom>
          <a:noFill/>
          <a:ln/>
        </p:spPr>
        <p:txBody>
          <a:bodyPr wrap="square" lIns="0" tIns="0" rIns="0" bIns="0" rtlCol="0" anchor="ctr"/>
          <a:lstStyle/>
          <a:p>
            <a:pPr algn="ctr" indent="0" marL="0">
              <a:buNone/>
            </a:pPr>
            <a:r>
              <a:rPr lang="en-US" sz="1200" b="1" dirty="0">
                <a:solidFill>
                  <a:srgbClr val="17171B"/>
                </a:solidFill>
                <a:latin typeface="Calibri" pitchFamily="34" charset="0"/>
                <a:ea typeface="Calibri" pitchFamily="34" charset="-122"/>
                <a:cs typeface="Calibri" pitchFamily="34" charset="-120"/>
              </a:rPr>
              <a:t>20</a:t>
            </a:r>
            <a:endParaRPr lang="en-US" sz="1200" dirty="0"/>
          </a:p>
        </p:txBody>
      </p:sp>
      <p:sp>
        <p:nvSpPr>
          <p:cNvPr id="20" name="Text 17"/>
          <p:cNvSpPr txBox="1"/>
          <p:nvPr/>
        </p:nvSpPr>
        <p:spPr>
          <a:xfrm>
            <a:off x="6035040" y="6245352"/>
            <a:ext cx="5516575" cy="237744"/>
          </a:xfrm>
          <a:prstGeom prst="rect">
            <a:avLst/>
          </a:prstGeom>
          <a:noFill/>
          <a:ln/>
        </p:spPr>
        <p:txBody>
          <a:bodyPr wrap="square" lIns="0" tIns="0" rIns="0" bIns="0" rtlCol="0" anchor="ctr"/>
          <a:lstStyle/>
          <a:p>
            <a:pPr algn="r" indent="0" marL="0">
              <a:buNone/>
            </a:pPr>
            <a:r>
              <a:rPr lang="en-US" sz="900" dirty="0">
                <a:solidFill>
                  <a:srgbClr val="8A8A96"/>
                </a:solidFill>
                <a:latin typeface="Calibri" pitchFamily="34" charset="0"/>
                <a:ea typeface="Calibri" pitchFamily="34" charset="-122"/>
                <a:cs typeface="Calibri" pitchFamily="34" charset="-120"/>
              </a:rPr>
              <a:t>La Belgique  ·  FREN 201  ·  Projet Francophonie</a:t>
            </a:r>
            <a:endParaRPr lang="en-US" sz="900"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640080" y="402336"/>
            <a:ext cx="10911535" cy="237744"/>
          </a:xfrm>
          <a:prstGeom prst="rect">
            <a:avLst/>
          </a:prstGeom>
          <a:noFill/>
          <a:ln/>
        </p:spPr>
        <p:txBody>
          <a:bodyPr wrap="square" lIns="0" tIns="0" rIns="0" bIns="0" rtlCol="0" anchor="ctr"/>
          <a:lstStyle/>
          <a:p>
            <a:pPr indent="0" marL="0">
              <a:buNone/>
            </a:pPr>
            <a:r>
              <a:rPr lang="en-US" sz="1150" b="1" spc="220" kern="0" dirty="0">
                <a:solidFill>
                  <a:srgbClr val="E3B23C"/>
                </a:solidFill>
                <a:latin typeface="Calibri" pitchFamily="34" charset="0"/>
                <a:ea typeface="Calibri" pitchFamily="34" charset="-122"/>
                <a:cs typeface="Calibri" pitchFamily="34" charset="-120"/>
              </a:rPr>
              <a:t>SOURCES</a:t>
            </a:r>
            <a:endParaRPr lang="en-US" sz="1150" dirty="0"/>
          </a:p>
        </p:txBody>
      </p:sp>
      <p:sp>
        <p:nvSpPr>
          <p:cNvPr id="3" name="Text 1"/>
          <p:cNvSpPr txBox="1"/>
          <p:nvPr/>
        </p:nvSpPr>
        <p:spPr>
          <a:xfrm>
            <a:off x="640080" y="676656"/>
            <a:ext cx="10911535" cy="603504"/>
          </a:xfrm>
          <a:prstGeom prst="rect">
            <a:avLst/>
          </a:prstGeom>
          <a:noFill/>
          <a:ln/>
        </p:spPr>
        <p:txBody>
          <a:bodyPr wrap="square" lIns="0" tIns="0" rIns="0" bIns="0" rtlCol="0" anchor="ctr"/>
          <a:lstStyle/>
          <a:p>
            <a:pPr indent="0" marL="0">
              <a:buNone/>
            </a:pPr>
            <a:r>
              <a:rPr lang="en-US" sz="3100" b="1" dirty="0">
                <a:solidFill>
                  <a:srgbClr val="17171B"/>
                </a:solidFill>
                <a:latin typeface="Cambria" pitchFamily="34" charset="0"/>
                <a:ea typeface="Cambria" pitchFamily="34" charset="-122"/>
                <a:cs typeface="Cambria" pitchFamily="34" charset="-120"/>
              </a:rPr>
              <a:t>Where the facts in this presentation come from</a:t>
            </a:r>
            <a:endParaRPr lang="en-US" sz="3100" dirty="0"/>
          </a:p>
        </p:txBody>
      </p:sp>
      <p:sp>
        <p:nvSpPr>
          <p:cNvPr id="4" name="Shape 2"/>
          <p:cNvSpPr/>
          <p:nvPr/>
        </p:nvSpPr>
        <p:spPr>
          <a:xfrm>
            <a:off x="640080" y="6163056"/>
            <a:ext cx="384048" cy="384048"/>
          </a:xfrm>
          <a:prstGeom prst="ellipse">
            <a:avLst/>
          </a:prstGeom>
          <a:solidFill>
            <a:srgbClr val="E3B23C"/>
          </a:solidFill>
          <a:ln/>
        </p:spPr>
      </p:sp>
      <p:sp>
        <p:nvSpPr>
          <p:cNvPr id="5" name="Text 3"/>
          <p:cNvSpPr txBox="1"/>
          <p:nvPr/>
        </p:nvSpPr>
        <p:spPr>
          <a:xfrm>
            <a:off x="640080" y="6163056"/>
            <a:ext cx="384048" cy="384048"/>
          </a:xfrm>
          <a:prstGeom prst="rect">
            <a:avLst/>
          </a:prstGeom>
          <a:noFill/>
          <a:ln/>
        </p:spPr>
        <p:txBody>
          <a:bodyPr wrap="square" lIns="0" tIns="0" rIns="0" bIns="0" rtlCol="0" anchor="ctr"/>
          <a:lstStyle/>
          <a:p>
            <a:pPr algn="ctr" indent="0" marL="0">
              <a:buNone/>
            </a:pPr>
            <a:r>
              <a:rPr lang="en-US" sz="1200" b="1" dirty="0">
                <a:solidFill>
                  <a:srgbClr val="17171B"/>
                </a:solidFill>
                <a:latin typeface="Calibri" pitchFamily="34" charset="0"/>
                <a:ea typeface="Calibri" pitchFamily="34" charset="-122"/>
                <a:cs typeface="Calibri" pitchFamily="34" charset="-120"/>
              </a:rPr>
              <a:t>21</a:t>
            </a:r>
            <a:endParaRPr lang="en-US" sz="1200" dirty="0"/>
          </a:p>
        </p:txBody>
      </p:sp>
      <p:sp>
        <p:nvSpPr>
          <p:cNvPr id="6" name="Text 4"/>
          <p:cNvSpPr txBox="1"/>
          <p:nvPr/>
        </p:nvSpPr>
        <p:spPr>
          <a:xfrm>
            <a:off x="6035040" y="6245352"/>
            <a:ext cx="5516575" cy="237744"/>
          </a:xfrm>
          <a:prstGeom prst="rect">
            <a:avLst/>
          </a:prstGeom>
          <a:noFill/>
          <a:ln/>
        </p:spPr>
        <p:txBody>
          <a:bodyPr wrap="square" lIns="0" tIns="0" rIns="0" bIns="0" rtlCol="0" anchor="ctr"/>
          <a:lstStyle/>
          <a:p>
            <a:pPr algn="r" indent="0" marL="0">
              <a:buNone/>
            </a:pPr>
            <a:r>
              <a:rPr lang="en-US" sz="900" dirty="0">
                <a:solidFill>
                  <a:srgbClr val="70707C"/>
                </a:solidFill>
                <a:latin typeface="Calibri" pitchFamily="34" charset="0"/>
                <a:ea typeface="Calibri" pitchFamily="34" charset="-122"/>
                <a:cs typeface="Calibri" pitchFamily="34" charset="-120"/>
              </a:rPr>
              <a:t>La Belgique  ·  FREN 201  ·  Projet Francophonie</a:t>
            </a:r>
            <a:endParaRPr lang="en-US" sz="900" dirty="0"/>
          </a:p>
        </p:txBody>
      </p:sp>
      <p:sp>
        <p:nvSpPr>
          <p:cNvPr id="7" name="Shape 5"/>
          <p:cNvSpPr/>
          <p:nvPr/>
        </p:nvSpPr>
        <p:spPr>
          <a:xfrm>
            <a:off x="640080" y="1499616"/>
            <a:ext cx="310896" cy="310896"/>
          </a:xfrm>
          <a:prstGeom prst="ellipse">
            <a:avLst/>
          </a:prstGeom>
          <a:solidFill>
            <a:srgbClr val="E3B23C"/>
          </a:solidFill>
          <a:ln/>
        </p:spPr>
      </p:sp>
      <p:sp>
        <p:nvSpPr>
          <p:cNvPr id="8" name="Text 6"/>
          <p:cNvSpPr txBox="1"/>
          <p:nvPr/>
        </p:nvSpPr>
        <p:spPr>
          <a:xfrm>
            <a:off x="640080" y="1499616"/>
            <a:ext cx="310896" cy="310896"/>
          </a:xfrm>
          <a:prstGeom prst="rect">
            <a:avLst/>
          </a:prstGeom>
          <a:noFill/>
          <a:ln/>
        </p:spPr>
        <p:txBody>
          <a:bodyPr wrap="square" lIns="0" tIns="0" rIns="0" bIns="0" rtlCol="0" anchor="ctr"/>
          <a:lstStyle/>
          <a:p>
            <a:pPr algn="ctr" indent="0" marL="0">
              <a:buNone/>
            </a:pPr>
            <a:r>
              <a:rPr lang="en-US" sz="1150" b="1" dirty="0">
                <a:solidFill>
                  <a:srgbClr val="17171B"/>
                </a:solidFill>
                <a:latin typeface="Calibri" pitchFamily="34" charset="0"/>
                <a:ea typeface="Calibri" pitchFamily="34" charset="-122"/>
                <a:cs typeface="Calibri" pitchFamily="34" charset="-120"/>
              </a:rPr>
              <a:t>1</a:t>
            </a:r>
            <a:endParaRPr lang="en-US" sz="1150" dirty="0"/>
          </a:p>
        </p:txBody>
      </p:sp>
      <p:sp>
        <p:nvSpPr>
          <p:cNvPr id="9" name="Text 7"/>
          <p:cNvSpPr txBox="1"/>
          <p:nvPr/>
        </p:nvSpPr>
        <p:spPr>
          <a:xfrm>
            <a:off x="1097280" y="1481328"/>
            <a:ext cx="4023360" cy="256032"/>
          </a:xfrm>
          <a:prstGeom prst="rect">
            <a:avLst/>
          </a:prstGeom>
          <a:noFill/>
          <a:ln/>
        </p:spPr>
        <p:txBody>
          <a:bodyPr wrap="square" lIns="0" tIns="0" rIns="0" bIns="0" rtlCol="0" anchor="ctr"/>
          <a:lstStyle/>
          <a:p>
            <a:pPr indent="0" marL="0">
              <a:buNone/>
            </a:pPr>
            <a:r>
              <a:rPr lang="en-US" sz="1150" b="1" dirty="0">
                <a:solidFill>
                  <a:srgbClr val="17171B"/>
                </a:solidFill>
                <a:latin typeface="Calibri" pitchFamily="34" charset="0"/>
                <a:ea typeface="Calibri" pitchFamily="34" charset="-122"/>
                <a:cs typeface="Calibri" pitchFamily="34" charset="-120"/>
              </a:rPr>
              <a:t>belgium.be</a:t>
            </a:r>
            <a:endParaRPr lang="en-US" sz="1150" dirty="0"/>
          </a:p>
        </p:txBody>
      </p:sp>
      <p:sp>
        <p:nvSpPr>
          <p:cNvPr id="10" name="Text 8"/>
          <p:cNvSpPr txBox="1"/>
          <p:nvPr/>
        </p:nvSpPr>
        <p:spPr>
          <a:xfrm>
            <a:off x="5212080" y="1481328"/>
            <a:ext cx="6339535" cy="365760"/>
          </a:xfrm>
          <a:prstGeom prst="rect">
            <a:avLst/>
          </a:prstGeom>
          <a:noFill/>
          <a:ln/>
        </p:spPr>
        <p:txBody>
          <a:bodyPr wrap="square" lIns="0" tIns="0" rIns="0" bIns="0" rtlCol="0" anchor="ctr"/>
          <a:lstStyle/>
          <a:p>
            <a:pPr indent="0" marL="0">
              <a:buNone/>
            </a:pPr>
            <a:r>
              <a:rPr lang="en-US" sz="1100" dirty="0">
                <a:solidFill>
                  <a:srgbClr val="3E3E48"/>
                </a:solidFill>
                <a:latin typeface="Calibri" pitchFamily="34" charset="0"/>
                <a:ea typeface="Calibri" pitchFamily="34" charset="-122"/>
                <a:cs typeface="Calibri" pitchFamily="34" charset="-120"/>
              </a:rPr>
              <a:t>The federal government's official portal — history, regions and institutions.</a:t>
            </a:r>
            <a:endParaRPr lang="en-US" sz="1100" dirty="0"/>
          </a:p>
        </p:txBody>
      </p:sp>
      <p:sp>
        <p:nvSpPr>
          <p:cNvPr id="11" name="Shape 9"/>
          <p:cNvSpPr/>
          <p:nvPr/>
        </p:nvSpPr>
        <p:spPr>
          <a:xfrm>
            <a:off x="640080" y="2002536"/>
            <a:ext cx="310896" cy="310896"/>
          </a:xfrm>
          <a:prstGeom prst="ellipse">
            <a:avLst/>
          </a:prstGeom>
          <a:solidFill>
            <a:srgbClr val="E3B23C"/>
          </a:solidFill>
          <a:ln/>
        </p:spPr>
      </p:sp>
      <p:sp>
        <p:nvSpPr>
          <p:cNvPr id="12" name="Text 10"/>
          <p:cNvSpPr txBox="1"/>
          <p:nvPr/>
        </p:nvSpPr>
        <p:spPr>
          <a:xfrm>
            <a:off x="640080" y="2002536"/>
            <a:ext cx="310896" cy="310896"/>
          </a:xfrm>
          <a:prstGeom prst="rect">
            <a:avLst/>
          </a:prstGeom>
          <a:noFill/>
          <a:ln/>
        </p:spPr>
        <p:txBody>
          <a:bodyPr wrap="square" lIns="0" tIns="0" rIns="0" bIns="0" rtlCol="0" anchor="ctr"/>
          <a:lstStyle/>
          <a:p>
            <a:pPr algn="ctr" indent="0" marL="0">
              <a:buNone/>
            </a:pPr>
            <a:r>
              <a:rPr lang="en-US" sz="1150" b="1" dirty="0">
                <a:solidFill>
                  <a:srgbClr val="17171B"/>
                </a:solidFill>
                <a:latin typeface="Calibri" pitchFamily="34" charset="0"/>
                <a:ea typeface="Calibri" pitchFamily="34" charset="-122"/>
                <a:cs typeface="Calibri" pitchFamily="34" charset="-120"/>
              </a:rPr>
              <a:t>2</a:t>
            </a:r>
            <a:endParaRPr lang="en-US" sz="1150" dirty="0"/>
          </a:p>
        </p:txBody>
      </p:sp>
      <p:sp>
        <p:nvSpPr>
          <p:cNvPr id="13" name="Text 11"/>
          <p:cNvSpPr txBox="1"/>
          <p:nvPr/>
        </p:nvSpPr>
        <p:spPr>
          <a:xfrm>
            <a:off x="1097280" y="1984248"/>
            <a:ext cx="4023360" cy="256032"/>
          </a:xfrm>
          <a:prstGeom prst="rect">
            <a:avLst/>
          </a:prstGeom>
          <a:noFill/>
          <a:ln/>
        </p:spPr>
        <p:txBody>
          <a:bodyPr wrap="square" lIns="0" tIns="0" rIns="0" bIns="0" rtlCol="0" anchor="ctr"/>
          <a:lstStyle/>
          <a:p>
            <a:pPr indent="0" marL="0">
              <a:buNone/>
            </a:pPr>
            <a:r>
              <a:rPr lang="en-US" sz="1150" b="1" dirty="0">
                <a:solidFill>
                  <a:srgbClr val="17171B"/>
                </a:solidFill>
                <a:latin typeface="Calibri" pitchFamily="34" charset="0"/>
                <a:ea typeface="Calibri" pitchFamily="34" charset="-122"/>
                <a:cs typeface="Calibri" pitchFamily="34" charset="-120"/>
              </a:rPr>
              <a:t>monarchie.be</a:t>
            </a:r>
            <a:endParaRPr lang="en-US" sz="1150" dirty="0"/>
          </a:p>
        </p:txBody>
      </p:sp>
      <p:sp>
        <p:nvSpPr>
          <p:cNvPr id="14" name="Text 12"/>
          <p:cNvSpPr txBox="1"/>
          <p:nvPr/>
        </p:nvSpPr>
        <p:spPr>
          <a:xfrm>
            <a:off x="5212080" y="1984248"/>
            <a:ext cx="6339535" cy="365760"/>
          </a:xfrm>
          <a:prstGeom prst="rect">
            <a:avLst/>
          </a:prstGeom>
          <a:noFill/>
          <a:ln/>
        </p:spPr>
        <p:txBody>
          <a:bodyPr wrap="square" lIns="0" tIns="0" rIns="0" bIns="0" rtlCol="0" anchor="ctr"/>
          <a:lstStyle/>
          <a:p>
            <a:pPr indent="0" marL="0">
              <a:buNone/>
            </a:pPr>
            <a:r>
              <a:rPr lang="en-US" sz="1100" dirty="0">
                <a:solidFill>
                  <a:srgbClr val="3E3E48"/>
                </a:solidFill>
                <a:latin typeface="Calibri" pitchFamily="34" charset="0"/>
                <a:ea typeface="Calibri" pitchFamily="34" charset="-122"/>
                <a:cs typeface="Calibri" pitchFamily="34" charset="-120"/>
              </a:rPr>
              <a:t>The Belgian Monarchy — the King's role, duties and family.</a:t>
            </a:r>
            <a:endParaRPr lang="en-US" sz="1100" dirty="0"/>
          </a:p>
        </p:txBody>
      </p:sp>
      <p:sp>
        <p:nvSpPr>
          <p:cNvPr id="15" name="Shape 13"/>
          <p:cNvSpPr/>
          <p:nvPr/>
        </p:nvSpPr>
        <p:spPr>
          <a:xfrm>
            <a:off x="640080" y="2505456"/>
            <a:ext cx="310896" cy="310896"/>
          </a:xfrm>
          <a:prstGeom prst="ellipse">
            <a:avLst/>
          </a:prstGeom>
          <a:solidFill>
            <a:srgbClr val="E3B23C"/>
          </a:solidFill>
          <a:ln/>
        </p:spPr>
      </p:sp>
      <p:sp>
        <p:nvSpPr>
          <p:cNvPr id="16" name="Text 14"/>
          <p:cNvSpPr txBox="1"/>
          <p:nvPr/>
        </p:nvSpPr>
        <p:spPr>
          <a:xfrm>
            <a:off x="640080" y="2505456"/>
            <a:ext cx="310896" cy="310896"/>
          </a:xfrm>
          <a:prstGeom prst="rect">
            <a:avLst/>
          </a:prstGeom>
          <a:noFill/>
          <a:ln/>
        </p:spPr>
        <p:txBody>
          <a:bodyPr wrap="square" lIns="0" tIns="0" rIns="0" bIns="0" rtlCol="0" anchor="ctr"/>
          <a:lstStyle/>
          <a:p>
            <a:pPr algn="ctr" indent="0" marL="0">
              <a:buNone/>
            </a:pPr>
            <a:r>
              <a:rPr lang="en-US" sz="1150" b="1" dirty="0">
                <a:solidFill>
                  <a:srgbClr val="17171B"/>
                </a:solidFill>
                <a:latin typeface="Calibri" pitchFamily="34" charset="0"/>
                <a:ea typeface="Calibri" pitchFamily="34" charset="-122"/>
                <a:cs typeface="Calibri" pitchFamily="34" charset="-120"/>
              </a:rPr>
              <a:t>3</a:t>
            </a:r>
            <a:endParaRPr lang="en-US" sz="1150" dirty="0"/>
          </a:p>
        </p:txBody>
      </p:sp>
      <p:sp>
        <p:nvSpPr>
          <p:cNvPr id="17" name="Text 15"/>
          <p:cNvSpPr txBox="1"/>
          <p:nvPr/>
        </p:nvSpPr>
        <p:spPr>
          <a:xfrm>
            <a:off x="1097280" y="2487168"/>
            <a:ext cx="4023360" cy="256032"/>
          </a:xfrm>
          <a:prstGeom prst="rect">
            <a:avLst/>
          </a:prstGeom>
          <a:noFill/>
          <a:ln/>
        </p:spPr>
        <p:txBody>
          <a:bodyPr wrap="square" lIns="0" tIns="0" rIns="0" bIns="0" rtlCol="0" anchor="ctr"/>
          <a:lstStyle/>
          <a:p>
            <a:pPr indent="0" marL="0">
              <a:buNone/>
            </a:pPr>
            <a:r>
              <a:rPr lang="en-US" sz="1150" b="1" dirty="0">
                <a:solidFill>
                  <a:srgbClr val="17171B"/>
                </a:solidFill>
                <a:latin typeface="Calibri" pitchFamily="34" charset="0"/>
                <a:ea typeface="Calibri" pitchFamily="34" charset="-122"/>
                <a:cs typeface="Calibri" pitchFamily="34" charset="-120"/>
              </a:rPr>
              <a:t>premier.be  ·  kanselarij.belgium.be</a:t>
            </a:r>
            <a:endParaRPr lang="en-US" sz="1150" dirty="0"/>
          </a:p>
        </p:txBody>
      </p:sp>
      <p:sp>
        <p:nvSpPr>
          <p:cNvPr id="18" name="Text 16"/>
          <p:cNvSpPr txBox="1"/>
          <p:nvPr/>
        </p:nvSpPr>
        <p:spPr>
          <a:xfrm>
            <a:off x="5212080" y="2487168"/>
            <a:ext cx="6339535" cy="365760"/>
          </a:xfrm>
          <a:prstGeom prst="rect">
            <a:avLst/>
          </a:prstGeom>
          <a:noFill/>
          <a:ln/>
        </p:spPr>
        <p:txBody>
          <a:bodyPr wrap="square" lIns="0" tIns="0" rIns="0" bIns="0" rtlCol="0" anchor="ctr"/>
          <a:lstStyle/>
          <a:p>
            <a:pPr indent="0" marL="0">
              <a:buNone/>
            </a:pPr>
            <a:r>
              <a:rPr lang="en-US" sz="1100" dirty="0">
                <a:solidFill>
                  <a:srgbClr val="3E3E48"/>
                </a:solidFill>
                <a:latin typeface="Calibri" pitchFamily="34" charset="0"/>
                <a:ea typeface="Calibri" pitchFamily="34" charset="-122"/>
                <a:cs typeface="Calibri" pitchFamily="34" charset="-120"/>
              </a:rPr>
              <a:t>Office of the Prime Minister — the current federal government.</a:t>
            </a:r>
            <a:endParaRPr lang="en-US" sz="1100" dirty="0"/>
          </a:p>
        </p:txBody>
      </p:sp>
      <p:sp>
        <p:nvSpPr>
          <p:cNvPr id="19" name="Shape 17"/>
          <p:cNvSpPr/>
          <p:nvPr/>
        </p:nvSpPr>
        <p:spPr>
          <a:xfrm>
            <a:off x="640080" y="3008376"/>
            <a:ext cx="310896" cy="310896"/>
          </a:xfrm>
          <a:prstGeom prst="ellipse">
            <a:avLst/>
          </a:prstGeom>
          <a:solidFill>
            <a:srgbClr val="E3B23C"/>
          </a:solidFill>
          <a:ln/>
        </p:spPr>
      </p:sp>
      <p:sp>
        <p:nvSpPr>
          <p:cNvPr id="20" name="Text 18"/>
          <p:cNvSpPr txBox="1"/>
          <p:nvPr/>
        </p:nvSpPr>
        <p:spPr>
          <a:xfrm>
            <a:off x="640080" y="3008376"/>
            <a:ext cx="310896" cy="310896"/>
          </a:xfrm>
          <a:prstGeom prst="rect">
            <a:avLst/>
          </a:prstGeom>
          <a:noFill/>
          <a:ln/>
        </p:spPr>
        <p:txBody>
          <a:bodyPr wrap="square" lIns="0" tIns="0" rIns="0" bIns="0" rtlCol="0" anchor="ctr"/>
          <a:lstStyle/>
          <a:p>
            <a:pPr algn="ctr" indent="0" marL="0">
              <a:buNone/>
            </a:pPr>
            <a:r>
              <a:rPr lang="en-US" sz="1150" b="1" dirty="0">
                <a:solidFill>
                  <a:srgbClr val="17171B"/>
                </a:solidFill>
                <a:latin typeface="Calibri" pitchFamily="34" charset="0"/>
                <a:ea typeface="Calibri" pitchFamily="34" charset="-122"/>
                <a:cs typeface="Calibri" pitchFamily="34" charset="-120"/>
              </a:rPr>
              <a:t>4</a:t>
            </a:r>
            <a:endParaRPr lang="en-US" sz="1150" dirty="0"/>
          </a:p>
        </p:txBody>
      </p:sp>
      <p:sp>
        <p:nvSpPr>
          <p:cNvPr id="21" name="Text 19"/>
          <p:cNvSpPr txBox="1"/>
          <p:nvPr/>
        </p:nvSpPr>
        <p:spPr>
          <a:xfrm>
            <a:off x="1097280" y="2990088"/>
            <a:ext cx="4023360" cy="256032"/>
          </a:xfrm>
          <a:prstGeom prst="rect">
            <a:avLst/>
          </a:prstGeom>
          <a:noFill/>
          <a:ln/>
        </p:spPr>
        <p:txBody>
          <a:bodyPr wrap="square" lIns="0" tIns="0" rIns="0" bIns="0" rtlCol="0" anchor="ctr"/>
          <a:lstStyle/>
          <a:p>
            <a:pPr indent="0" marL="0">
              <a:buNone/>
            </a:pPr>
            <a:r>
              <a:rPr lang="en-US" sz="1150" b="1" dirty="0">
                <a:solidFill>
                  <a:srgbClr val="17171B"/>
                </a:solidFill>
                <a:latin typeface="Calibri" pitchFamily="34" charset="0"/>
                <a:ea typeface="Calibri" pitchFamily="34" charset="-122"/>
                <a:cs typeface="Calibri" pitchFamily="34" charset="-120"/>
              </a:rPr>
              <a:t>european-union.europa.eu</a:t>
            </a:r>
            <a:endParaRPr lang="en-US" sz="1150" dirty="0"/>
          </a:p>
        </p:txBody>
      </p:sp>
      <p:sp>
        <p:nvSpPr>
          <p:cNvPr id="22" name="Text 20"/>
          <p:cNvSpPr txBox="1"/>
          <p:nvPr/>
        </p:nvSpPr>
        <p:spPr>
          <a:xfrm>
            <a:off x="5212080" y="2990088"/>
            <a:ext cx="6339535" cy="365760"/>
          </a:xfrm>
          <a:prstGeom prst="rect">
            <a:avLst/>
          </a:prstGeom>
          <a:noFill/>
          <a:ln/>
        </p:spPr>
        <p:txBody>
          <a:bodyPr wrap="square" lIns="0" tIns="0" rIns="0" bIns="0" rtlCol="0" anchor="ctr"/>
          <a:lstStyle/>
          <a:p>
            <a:pPr indent="0" marL="0">
              <a:buNone/>
            </a:pPr>
            <a:r>
              <a:rPr lang="en-US" sz="1100" dirty="0">
                <a:solidFill>
                  <a:srgbClr val="3E3E48"/>
                </a:solidFill>
                <a:latin typeface="Calibri" pitchFamily="34" charset="0"/>
                <a:ea typeface="Calibri" pitchFamily="34" charset="-122"/>
                <a:cs typeface="Calibri" pitchFamily="34" charset="-120"/>
              </a:rPr>
              <a:t>European Union country profile: Belgium.</a:t>
            </a:r>
            <a:endParaRPr lang="en-US" sz="1100" dirty="0"/>
          </a:p>
        </p:txBody>
      </p:sp>
      <p:sp>
        <p:nvSpPr>
          <p:cNvPr id="23" name="Shape 21"/>
          <p:cNvSpPr/>
          <p:nvPr/>
        </p:nvSpPr>
        <p:spPr>
          <a:xfrm>
            <a:off x="640080" y="3511296"/>
            <a:ext cx="310896" cy="310896"/>
          </a:xfrm>
          <a:prstGeom prst="ellipse">
            <a:avLst/>
          </a:prstGeom>
          <a:solidFill>
            <a:srgbClr val="E3B23C"/>
          </a:solidFill>
          <a:ln/>
        </p:spPr>
      </p:sp>
      <p:sp>
        <p:nvSpPr>
          <p:cNvPr id="24" name="Text 22"/>
          <p:cNvSpPr txBox="1"/>
          <p:nvPr/>
        </p:nvSpPr>
        <p:spPr>
          <a:xfrm>
            <a:off x="640080" y="3511296"/>
            <a:ext cx="310896" cy="310896"/>
          </a:xfrm>
          <a:prstGeom prst="rect">
            <a:avLst/>
          </a:prstGeom>
          <a:noFill/>
          <a:ln/>
        </p:spPr>
        <p:txBody>
          <a:bodyPr wrap="square" lIns="0" tIns="0" rIns="0" bIns="0" rtlCol="0" anchor="ctr"/>
          <a:lstStyle/>
          <a:p>
            <a:pPr algn="ctr" indent="0" marL="0">
              <a:buNone/>
            </a:pPr>
            <a:r>
              <a:rPr lang="en-US" sz="1150" b="1" dirty="0">
                <a:solidFill>
                  <a:srgbClr val="17171B"/>
                </a:solidFill>
                <a:latin typeface="Calibri" pitchFamily="34" charset="0"/>
                <a:ea typeface="Calibri" pitchFamily="34" charset="-122"/>
                <a:cs typeface="Calibri" pitchFamily="34" charset="-120"/>
              </a:rPr>
              <a:t>5</a:t>
            </a:r>
            <a:endParaRPr lang="en-US" sz="1150" dirty="0"/>
          </a:p>
        </p:txBody>
      </p:sp>
      <p:sp>
        <p:nvSpPr>
          <p:cNvPr id="25" name="Text 23"/>
          <p:cNvSpPr txBox="1"/>
          <p:nvPr/>
        </p:nvSpPr>
        <p:spPr>
          <a:xfrm>
            <a:off x="1097280" y="3493008"/>
            <a:ext cx="4023360" cy="256032"/>
          </a:xfrm>
          <a:prstGeom prst="rect">
            <a:avLst/>
          </a:prstGeom>
          <a:noFill/>
          <a:ln/>
        </p:spPr>
        <p:txBody>
          <a:bodyPr wrap="square" lIns="0" tIns="0" rIns="0" bIns="0" rtlCol="0" anchor="ctr"/>
          <a:lstStyle/>
          <a:p>
            <a:pPr indent="0" marL="0">
              <a:buNone/>
            </a:pPr>
            <a:r>
              <a:rPr lang="en-US" sz="1150" b="1" dirty="0">
                <a:solidFill>
                  <a:srgbClr val="17171B"/>
                </a:solidFill>
                <a:latin typeface="Calibri" pitchFamily="34" charset="0"/>
                <a:ea typeface="Calibri" pitchFamily="34" charset="-122"/>
                <a:cs typeface="Calibri" pitchFamily="34" charset="-120"/>
              </a:rPr>
              <a:t>whc.unesco.org</a:t>
            </a:r>
            <a:endParaRPr lang="en-US" sz="1150" dirty="0"/>
          </a:p>
        </p:txBody>
      </p:sp>
      <p:sp>
        <p:nvSpPr>
          <p:cNvPr id="26" name="Text 24"/>
          <p:cNvSpPr txBox="1"/>
          <p:nvPr/>
        </p:nvSpPr>
        <p:spPr>
          <a:xfrm>
            <a:off x="5212080" y="3493008"/>
            <a:ext cx="6339535" cy="365760"/>
          </a:xfrm>
          <a:prstGeom prst="rect">
            <a:avLst/>
          </a:prstGeom>
          <a:noFill/>
          <a:ln/>
        </p:spPr>
        <p:txBody>
          <a:bodyPr wrap="square" lIns="0" tIns="0" rIns="0" bIns="0" rtlCol="0" anchor="ctr"/>
          <a:lstStyle/>
          <a:p>
            <a:pPr indent="0" marL="0">
              <a:buNone/>
            </a:pPr>
            <a:r>
              <a:rPr lang="en-US" sz="1100" dirty="0">
                <a:solidFill>
                  <a:srgbClr val="3E3E48"/>
                </a:solidFill>
                <a:latin typeface="Calibri" pitchFamily="34" charset="0"/>
                <a:ea typeface="Calibri" pitchFamily="34" charset="-122"/>
                <a:cs typeface="Calibri" pitchFamily="34" charset="-120"/>
              </a:rPr>
              <a:t>UNESCO World Heritage Centre — Belgium's listed sites and its beer culture.</a:t>
            </a:r>
            <a:endParaRPr lang="en-US" sz="1100" dirty="0"/>
          </a:p>
        </p:txBody>
      </p:sp>
      <p:sp>
        <p:nvSpPr>
          <p:cNvPr id="27" name="Shape 25"/>
          <p:cNvSpPr/>
          <p:nvPr/>
        </p:nvSpPr>
        <p:spPr>
          <a:xfrm>
            <a:off x="640080" y="4014216"/>
            <a:ext cx="310896" cy="310896"/>
          </a:xfrm>
          <a:prstGeom prst="ellipse">
            <a:avLst/>
          </a:prstGeom>
          <a:solidFill>
            <a:srgbClr val="E3B23C"/>
          </a:solidFill>
          <a:ln/>
        </p:spPr>
      </p:sp>
      <p:sp>
        <p:nvSpPr>
          <p:cNvPr id="28" name="Text 26"/>
          <p:cNvSpPr txBox="1"/>
          <p:nvPr/>
        </p:nvSpPr>
        <p:spPr>
          <a:xfrm>
            <a:off x="640080" y="4014216"/>
            <a:ext cx="310896" cy="310896"/>
          </a:xfrm>
          <a:prstGeom prst="rect">
            <a:avLst/>
          </a:prstGeom>
          <a:noFill/>
          <a:ln/>
        </p:spPr>
        <p:txBody>
          <a:bodyPr wrap="square" lIns="0" tIns="0" rIns="0" bIns="0" rtlCol="0" anchor="ctr"/>
          <a:lstStyle/>
          <a:p>
            <a:pPr algn="ctr" indent="0" marL="0">
              <a:buNone/>
            </a:pPr>
            <a:r>
              <a:rPr lang="en-US" sz="1150" b="1" dirty="0">
                <a:solidFill>
                  <a:srgbClr val="17171B"/>
                </a:solidFill>
                <a:latin typeface="Calibri" pitchFamily="34" charset="0"/>
                <a:ea typeface="Calibri" pitchFamily="34" charset="-122"/>
                <a:cs typeface="Calibri" pitchFamily="34" charset="-120"/>
              </a:rPr>
              <a:t>6</a:t>
            </a:r>
            <a:endParaRPr lang="en-US" sz="1150" dirty="0"/>
          </a:p>
        </p:txBody>
      </p:sp>
      <p:sp>
        <p:nvSpPr>
          <p:cNvPr id="29" name="Text 27"/>
          <p:cNvSpPr txBox="1"/>
          <p:nvPr/>
        </p:nvSpPr>
        <p:spPr>
          <a:xfrm>
            <a:off x="1097280" y="3995928"/>
            <a:ext cx="4023360" cy="256032"/>
          </a:xfrm>
          <a:prstGeom prst="rect">
            <a:avLst/>
          </a:prstGeom>
          <a:noFill/>
          <a:ln/>
        </p:spPr>
        <p:txBody>
          <a:bodyPr wrap="square" lIns="0" tIns="0" rIns="0" bIns="0" rtlCol="0" anchor="ctr"/>
          <a:lstStyle/>
          <a:p>
            <a:pPr indent="0" marL="0">
              <a:buNone/>
            </a:pPr>
            <a:r>
              <a:rPr lang="en-US" sz="1150" b="1" dirty="0">
                <a:solidFill>
                  <a:srgbClr val="17171B"/>
                </a:solidFill>
                <a:latin typeface="Calibri" pitchFamily="34" charset="0"/>
                <a:ea typeface="Calibri" pitchFamily="34" charset="-122"/>
                <a:cs typeface="Calibri" pitchFamily="34" charset="-120"/>
              </a:rPr>
              <a:t>diplomatie.belgium.be</a:t>
            </a:r>
            <a:endParaRPr lang="en-US" sz="1150" dirty="0"/>
          </a:p>
        </p:txBody>
      </p:sp>
      <p:sp>
        <p:nvSpPr>
          <p:cNvPr id="30" name="Text 28"/>
          <p:cNvSpPr txBox="1"/>
          <p:nvPr/>
        </p:nvSpPr>
        <p:spPr>
          <a:xfrm>
            <a:off x="5212080" y="3995928"/>
            <a:ext cx="6339535" cy="365760"/>
          </a:xfrm>
          <a:prstGeom prst="rect">
            <a:avLst/>
          </a:prstGeom>
          <a:noFill/>
          <a:ln/>
        </p:spPr>
        <p:txBody>
          <a:bodyPr wrap="square" lIns="0" tIns="0" rIns="0" bIns="0" rtlCol="0" anchor="ctr"/>
          <a:lstStyle/>
          <a:p>
            <a:pPr indent="0" marL="0">
              <a:buNone/>
            </a:pPr>
            <a:r>
              <a:rPr lang="en-US" sz="1100" dirty="0">
                <a:solidFill>
                  <a:srgbClr val="3E3E48"/>
                </a:solidFill>
                <a:latin typeface="Calibri" pitchFamily="34" charset="0"/>
                <a:ea typeface="Calibri" pitchFamily="34" charset="-122"/>
                <a:cs typeface="Calibri" pitchFamily="34" charset="-120"/>
              </a:rPr>
              <a:t>Belgian Foreign Affairs — Belgium and the Organisation internationale de la Francophonie.</a:t>
            </a:r>
            <a:endParaRPr lang="en-US" sz="1100" dirty="0"/>
          </a:p>
        </p:txBody>
      </p:sp>
      <p:sp>
        <p:nvSpPr>
          <p:cNvPr id="31" name="Shape 29"/>
          <p:cNvSpPr/>
          <p:nvPr/>
        </p:nvSpPr>
        <p:spPr>
          <a:xfrm>
            <a:off x="640080" y="4517136"/>
            <a:ext cx="310896" cy="310896"/>
          </a:xfrm>
          <a:prstGeom prst="ellipse">
            <a:avLst/>
          </a:prstGeom>
          <a:solidFill>
            <a:srgbClr val="E3B23C"/>
          </a:solidFill>
          <a:ln/>
        </p:spPr>
      </p:sp>
      <p:sp>
        <p:nvSpPr>
          <p:cNvPr id="32" name="Text 30"/>
          <p:cNvSpPr txBox="1"/>
          <p:nvPr/>
        </p:nvSpPr>
        <p:spPr>
          <a:xfrm>
            <a:off x="640080" y="4517136"/>
            <a:ext cx="310896" cy="310896"/>
          </a:xfrm>
          <a:prstGeom prst="rect">
            <a:avLst/>
          </a:prstGeom>
          <a:noFill/>
          <a:ln/>
        </p:spPr>
        <p:txBody>
          <a:bodyPr wrap="square" lIns="0" tIns="0" rIns="0" bIns="0" rtlCol="0" anchor="ctr"/>
          <a:lstStyle/>
          <a:p>
            <a:pPr algn="ctr" indent="0" marL="0">
              <a:buNone/>
            </a:pPr>
            <a:r>
              <a:rPr lang="en-US" sz="1150" b="1" dirty="0">
                <a:solidFill>
                  <a:srgbClr val="17171B"/>
                </a:solidFill>
                <a:latin typeface="Calibri" pitchFamily="34" charset="0"/>
                <a:ea typeface="Calibri" pitchFamily="34" charset="-122"/>
                <a:cs typeface="Calibri" pitchFamily="34" charset="-120"/>
              </a:rPr>
              <a:t>7</a:t>
            </a:r>
            <a:endParaRPr lang="en-US" sz="1150" dirty="0"/>
          </a:p>
        </p:txBody>
      </p:sp>
      <p:sp>
        <p:nvSpPr>
          <p:cNvPr id="33" name="Text 31"/>
          <p:cNvSpPr txBox="1"/>
          <p:nvPr/>
        </p:nvSpPr>
        <p:spPr>
          <a:xfrm>
            <a:off x="1097280" y="4498848"/>
            <a:ext cx="4023360" cy="256032"/>
          </a:xfrm>
          <a:prstGeom prst="rect">
            <a:avLst/>
          </a:prstGeom>
          <a:noFill/>
          <a:ln/>
        </p:spPr>
        <p:txBody>
          <a:bodyPr wrap="square" lIns="0" tIns="0" rIns="0" bIns="0" rtlCol="0" anchor="ctr"/>
          <a:lstStyle/>
          <a:p>
            <a:pPr indent="0" marL="0">
              <a:buNone/>
            </a:pPr>
            <a:r>
              <a:rPr lang="en-US" sz="1150" b="1" dirty="0">
                <a:solidFill>
                  <a:srgbClr val="17171B"/>
                </a:solidFill>
                <a:latin typeface="Calibri" pitchFamily="34" charset="0"/>
                <a:ea typeface="Calibri" pitchFamily="34" charset="-122"/>
                <a:cs typeface="Calibri" pitchFamily="34" charset="-120"/>
              </a:rPr>
              <a:t>Britannica  ·  CIA World Factbook</a:t>
            </a:r>
            <a:endParaRPr lang="en-US" sz="1150" dirty="0"/>
          </a:p>
        </p:txBody>
      </p:sp>
      <p:sp>
        <p:nvSpPr>
          <p:cNvPr id="34" name="Text 32"/>
          <p:cNvSpPr txBox="1"/>
          <p:nvPr/>
        </p:nvSpPr>
        <p:spPr>
          <a:xfrm>
            <a:off x="5212080" y="4498848"/>
            <a:ext cx="6339535" cy="365760"/>
          </a:xfrm>
          <a:prstGeom prst="rect">
            <a:avLst/>
          </a:prstGeom>
          <a:noFill/>
          <a:ln/>
        </p:spPr>
        <p:txBody>
          <a:bodyPr wrap="square" lIns="0" tIns="0" rIns="0" bIns="0" rtlCol="0" anchor="ctr"/>
          <a:lstStyle/>
          <a:p>
            <a:pPr indent="0" marL="0">
              <a:buNone/>
            </a:pPr>
            <a:r>
              <a:rPr lang="en-US" sz="1100" dirty="0">
                <a:solidFill>
                  <a:srgbClr val="3E3E48"/>
                </a:solidFill>
                <a:latin typeface="Calibri" pitchFamily="34" charset="0"/>
                <a:ea typeface="Calibri" pitchFamily="34" charset="-122"/>
                <a:cs typeface="Calibri" pitchFamily="34" charset="-120"/>
              </a:rPr>
              <a:t>Population, area, borders, coastline and general geography.</a:t>
            </a:r>
            <a:endParaRPr lang="en-US" sz="1100" dirty="0"/>
          </a:p>
        </p:txBody>
      </p:sp>
      <p:sp>
        <p:nvSpPr>
          <p:cNvPr id="35" name="Shape 33"/>
          <p:cNvSpPr/>
          <p:nvPr/>
        </p:nvSpPr>
        <p:spPr>
          <a:xfrm>
            <a:off x="640080" y="5020056"/>
            <a:ext cx="310896" cy="310896"/>
          </a:xfrm>
          <a:prstGeom prst="ellipse">
            <a:avLst/>
          </a:prstGeom>
          <a:solidFill>
            <a:srgbClr val="E3B23C"/>
          </a:solidFill>
          <a:ln/>
        </p:spPr>
      </p:sp>
      <p:sp>
        <p:nvSpPr>
          <p:cNvPr id="36" name="Text 34"/>
          <p:cNvSpPr txBox="1"/>
          <p:nvPr/>
        </p:nvSpPr>
        <p:spPr>
          <a:xfrm>
            <a:off x="640080" y="5020056"/>
            <a:ext cx="310896" cy="310896"/>
          </a:xfrm>
          <a:prstGeom prst="rect">
            <a:avLst/>
          </a:prstGeom>
          <a:noFill/>
          <a:ln/>
        </p:spPr>
        <p:txBody>
          <a:bodyPr wrap="square" lIns="0" tIns="0" rIns="0" bIns="0" rtlCol="0" anchor="ctr"/>
          <a:lstStyle/>
          <a:p>
            <a:pPr algn="ctr" indent="0" marL="0">
              <a:buNone/>
            </a:pPr>
            <a:r>
              <a:rPr lang="en-US" sz="1150" b="1" dirty="0">
                <a:solidFill>
                  <a:srgbClr val="17171B"/>
                </a:solidFill>
                <a:latin typeface="Calibri" pitchFamily="34" charset="0"/>
                <a:ea typeface="Calibri" pitchFamily="34" charset="-122"/>
                <a:cs typeface="Calibri" pitchFamily="34" charset="-120"/>
              </a:rPr>
              <a:t>8</a:t>
            </a:r>
            <a:endParaRPr lang="en-US" sz="1150" dirty="0"/>
          </a:p>
        </p:txBody>
      </p:sp>
      <p:sp>
        <p:nvSpPr>
          <p:cNvPr id="37" name="Text 35"/>
          <p:cNvSpPr txBox="1"/>
          <p:nvPr/>
        </p:nvSpPr>
        <p:spPr>
          <a:xfrm>
            <a:off x="1097280" y="5001768"/>
            <a:ext cx="4023360" cy="256032"/>
          </a:xfrm>
          <a:prstGeom prst="rect">
            <a:avLst/>
          </a:prstGeom>
          <a:noFill/>
          <a:ln/>
        </p:spPr>
        <p:txBody>
          <a:bodyPr wrap="square" lIns="0" tIns="0" rIns="0" bIns="0" rtlCol="0" anchor="ctr"/>
          <a:lstStyle/>
          <a:p>
            <a:pPr indent="0" marL="0">
              <a:buNone/>
            </a:pPr>
            <a:r>
              <a:rPr lang="en-US" sz="1150" b="1" dirty="0">
                <a:solidFill>
                  <a:srgbClr val="17171B"/>
                </a:solidFill>
                <a:latin typeface="Calibri" pitchFamily="34" charset="0"/>
                <a:ea typeface="Calibri" pitchFamily="34" charset="-122"/>
                <a:cs typeface="Calibri" pitchFamily="34" charset="-120"/>
              </a:rPr>
              <a:t>visitflanders.com  ·  visitbruges.be  ·  visitwallonia.be</a:t>
            </a:r>
            <a:endParaRPr lang="en-US" sz="1150" dirty="0"/>
          </a:p>
        </p:txBody>
      </p:sp>
      <p:sp>
        <p:nvSpPr>
          <p:cNvPr id="38" name="Text 36"/>
          <p:cNvSpPr txBox="1"/>
          <p:nvPr/>
        </p:nvSpPr>
        <p:spPr>
          <a:xfrm>
            <a:off x="5212080" y="5001768"/>
            <a:ext cx="6339535" cy="365760"/>
          </a:xfrm>
          <a:prstGeom prst="rect">
            <a:avLst/>
          </a:prstGeom>
          <a:noFill/>
          <a:ln/>
        </p:spPr>
        <p:txBody>
          <a:bodyPr wrap="square" lIns="0" tIns="0" rIns="0" bIns="0" rtlCol="0" anchor="ctr"/>
          <a:lstStyle/>
          <a:p>
            <a:pPr indent="0" marL="0">
              <a:buNone/>
            </a:pPr>
            <a:r>
              <a:rPr lang="en-US" sz="1100" dirty="0">
                <a:solidFill>
                  <a:srgbClr val="3E3E48"/>
                </a:solidFill>
                <a:latin typeface="Calibri" pitchFamily="34" charset="0"/>
                <a:ea typeface="Calibri" pitchFamily="34" charset="-122"/>
                <a:cs typeface="Calibri" pitchFamily="34" charset="-120"/>
              </a:rPr>
              <a:t>Official tourist boards — visitor information.</a:t>
            </a:r>
            <a:endParaRPr lang="en-US" sz="1100" dirty="0"/>
          </a:p>
        </p:txBody>
      </p:sp>
      <p:sp>
        <p:nvSpPr>
          <p:cNvPr id="39" name="Text 37"/>
          <p:cNvSpPr txBox="1"/>
          <p:nvPr/>
        </p:nvSpPr>
        <p:spPr>
          <a:xfrm>
            <a:off x="1170432" y="5705856"/>
            <a:ext cx="10381183" cy="640080"/>
          </a:xfrm>
          <a:prstGeom prst="rect">
            <a:avLst/>
          </a:prstGeom>
          <a:noFill/>
          <a:ln/>
        </p:spPr>
        <p:txBody>
          <a:bodyPr wrap="square" lIns="0" tIns="0" rIns="0" bIns="0" rtlCol="0" anchor="ctr"/>
          <a:lstStyle/>
          <a:p>
            <a:pPr indent="0" marL="0">
              <a:lnSpc>
                <a:spcPct val="106000"/>
              </a:lnSpc>
              <a:buNone/>
            </a:pPr>
            <a:r>
              <a:rPr lang="en-US" sz="1000" i="1" dirty="0">
                <a:solidFill>
                  <a:srgbClr val="70707C"/>
                </a:solidFill>
                <a:latin typeface="Calibri" pitchFamily="34" charset="0"/>
                <a:ea typeface="Calibri" pitchFamily="34" charset="-122"/>
                <a:cs typeface="Calibri" pitchFamily="34" charset="-120"/>
              </a:rPr>
              <a:t>Photographs licensed from Adobe Stock. The map of Europe is the blank outline map supplied with the assignment, with Belgium marked and its neighbours labelled; the map of Belgium's regions was drawn from that same outline. Language and community boundaries are shown approximately.</a:t>
            </a:r>
            <a:endParaRPr lang="en-US" sz="10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21</Slides>
  <Notes>21</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21</vt:i4>
      </vt:variant>
    </vt:vector>
  </HeadingPairs>
  <TitlesOfParts>
    <vt:vector size="24"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La Belgique</dc:title>
  <dc:subject>PptxGenJS Presentation</dc:subject>
  <dc:creator>FREN 201 — Projet Francophonie</dc:creator>
  <cp:lastModifiedBy>FREN 201 — Projet Francophonie</cp:lastModifiedBy>
  <cp:revision>1</cp:revision>
  <dcterms:created xsi:type="dcterms:W3CDTF">2026-09-03T20:28:28Z</dcterms:created>
  <dcterms:modified xsi:type="dcterms:W3CDTF">2026-09-03T20:28:28Z</dcterms:modified>
</cp:coreProperties>
</file>