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Open: Belgium — a French-speaking country in Europe, and the one that happens to host the capital of the EU. Region chosen for the assignment: Europe.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The assignment's map requirement. Belgium is the red country: France below, the Netherlands above, Germany and Luxembourg to the east, and a short North Sea coast facing Britain. It is small — 30,689 km2, about Maryland — but it sits exactly where Germanic and Latin Europe meet, which explains both its wealth and its wars.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The identity card. Two things to stress: Belgium is fully independent — it is NOT a French territory, it just shares the language. And it is a monarchy with a prime minister, which the next slides unpack.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The single most important thing to understand about Belgium. Gold is Dutch-speaking Flanders, red is French-speaking Wallonia, and Brussels is the bilingual capital — a French-speaking island inside Flanders. This split runs through everything: the parties, the parliaments, the governments.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The name traces straight back to Caesar. Hit the Caesar quote and the King of the Belgians detail — both are memorable and both make the point that Belgium's identity is about a people, not a fixed territory.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The through-line: for nearly two thousand years this land was ruled from somewhere else — Rome, Burgundy, Madrid, Vienna, Paris, The Hague. Independence in 1830 is very recent. Don't read every row; land the pattern and point at Waterloo.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The modern country in five beats. Worth saying out loud: in 2020 King Philippe expressed his 'deepest regrets' for the wounds of the colonial past — the first Belgian monarch to do so. Then the Menin Gate photo: the Last Post still sounds there every 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Answers the assignment's question directly: democracy not dictatorship, monarchy not republic. The four chips are the fastest way to say it. Then the three levels — a country of 11.8 million with six parliaments. Mention compulsory voting; it usually gets a reaction.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Two people, two jobs. The King reigns but does not rule — no veto. De Wever governs, and he is the first Flemish nationalist ever to lead the country. The 541-day record is the line people remember; use it to explain why the language split makes governing so 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Brussels is the payoff slide. A city of 1.25 million that runs a continent: the Commission, the Council, and NATO. And it is a French-speaking island inside Dutch-speaking Flanders — which is exactly why it works as neutral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Pick two, don't read all three. Best bets: Magritte, because everyone has seen the pipe; and Tintin and the Smurfs, because almost nobody knows they are Belgian. Adolphe Sax and the saxophone is a good closer.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 Move fast, the pictures do the work. Two facts worth saying: the praline was invented in Brussels in 1912, and Belgian beer culture is on the UNESCO heritage list. The frites-are-Belgian-not-French claim usually gets a laugh.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Bruges is the postcard, Ghent is the one locals prefer, Antwerp is the working city. The diamond statistic — over 70 % of the world's rough diamonds — is the one that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 Fastest slide in the deck — do not read the boxes. Say three things: it is in Schengen so no visa for 90 days, the trains reach everything in two hours, and which language you open with matters.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Close here. Read the gold box out loud — it is the thesis. Then stop and take questions. Do not click to the sources slide unless someone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 Leave this up during questions. Timings on each slide add up to 9 minutes 15, leaving about 45 seconds of buffer in a 10-minute slot.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image" Target="../media/image-12-3.jpg"/><Relationship Id="rId4" Type="http://schemas.openxmlformats.org/officeDocument/2006/relationships/image" Target="../media/image-12-4.jp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image" Target="../media/image-13-3.jp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71B"/>
        </a:solidFill>
      </p:bgPr>
    </p:bg>
    <p:spTree>
      <p:nvGrpSpPr>
        <p:cNvPr id="1" name=""/>
        <p:cNvGrpSpPr/>
        <p:nvPr/>
      </p:nvGrpSpPr>
      <p:grpSpPr>
        <a:xfrm>
          <a:off x="0" y="0"/>
          <a:ext cx="0" cy="0"/>
          <a:chOff x="0" y="0"/>
          <a:chExt cx="0" cy="0"/>
        </a:xfrm>
      </p:grpSpPr>
      <p:pic>
        <p:nvPicPr>
          <p:cNvPr id="2" name="Image 0" descr="/tmp/claude-0/-home-user-BOYNT-WORK/856f02cf-0e32-5bfe-bffb-9edb29b314f9/scratchpad/deckimg/grandplace.jpg">    </p:cNvPr>
          <p:cNvPicPr>
            <a:picLocks noChangeAspect="1"/>
          </p:cNvPicPr>
          <p:nvPr/>
        </p:nvPicPr>
        <p:blipFill>
          <a:blip r:embed="rId1">
            <a:alphaModFix amt="38000"/>
          </a:blip>
          <a:srcRect l="0" r="0" t="0" b="0"/>
          <a:stretch/>
        </p:blipFill>
        <p:spPr>
          <a:xfrm>
            <a:off x="0" y="0"/>
            <a:ext cx="12191695" cy="6858000"/>
          </a:xfrm>
          <a:prstGeom prst="rect">
            <a:avLst/>
          </a:prstGeom>
        </p:spPr>
      </p:pic>
      <p:sp>
        <p:nvSpPr>
          <p:cNvPr id="3" name="Shape 0"/>
          <p:cNvSpPr/>
          <p:nvPr/>
        </p:nvSpPr>
        <p:spPr>
          <a:xfrm>
            <a:off x="0" y="0"/>
            <a:ext cx="6309360" cy="6858000"/>
          </a:xfrm>
          <a:prstGeom prst="rect">
            <a:avLst/>
          </a:prstGeom>
          <a:solidFill>
            <a:srgbClr val="17171B">
              <a:alpha val="78000"/>
            </a:srgbClr>
          </a:solidFill>
          <a:ln/>
        </p:spPr>
      </p:sp>
      <p:sp>
        <p:nvSpPr>
          <p:cNvPr id="4" name="Text 1"/>
          <p:cNvSpPr txBox="1"/>
          <p:nvPr/>
        </p:nvSpPr>
        <p:spPr>
          <a:xfrm>
            <a:off x="640080" y="1417320"/>
            <a:ext cx="5669280" cy="274320"/>
          </a:xfrm>
          <a:prstGeom prst="rect">
            <a:avLst/>
          </a:prstGeom>
          <a:noFill/>
          <a:ln/>
        </p:spPr>
        <p:txBody>
          <a:bodyPr wrap="square" lIns="0" tIns="0" rIns="0" bIns="0" rtlCol="0" anchor="ctr"/>
          <a:lstStyle/>
          <a:p>
            <a:pPr indent="0" marL="0">
              <a:buNone/>
            </a:pPr>
            <a:r>
              <a:rPr lang="en-US" sz="1250" b="1" spc="240" kern="0" dirty="0">
                <a:solidFill>
                  <a:srgbClr val="E3B23C"/>
                </a:solidFill>
                <a:latin typeface="Calibri" pitchFamily="34" charset="0"/>
                <a:ea typeface="Calibri" pitchFamily="34" charset="-122"/>
                <a:cs typeface="Calibri" pitchFamily="34" charset="-120"/>
              </a:rPr>
              <a:t>PROJET FRANCOPHONIE  ·  FREN 201</a:t>
            </a:r>
            <a:endParaRPr lang="en-US" sz="1250" dirty="0"/>
          </a:p>
        </p:txBody>
      </p:sp>
      <p:sp>
        <p:nvSpPr>
          <p:cNvPr id="5" name="Text 2"/>
          <p:cNvSpPr txBox="1"/>
          <p:nvPr/>
        </p:nvSpPr>
        <p:spPr>
          <a:xfrm>
            <a:off x="640080" y="1847088"/>
            <a:ext cx="6949440" cy="1005840"/>
          </a:xfrm>
          <a:prstGeom prst="rect">
            <a:avLst/>
          </a:prstGeom>
          <a:noFill/>
          <a:ln/>
        </p:spPr>
        <p:txBody>
          <a:bodyPr wrap="square" lIns="0" tIns="0" rIns="0" bIns="0" rtlCol="0" anchor="ctr"/>
          <a:lstStyle/>
          <a:p>
            <a:pPr indent="0" marL="0">
              <a:buNone/>
            </a:pPr>
            <a:r>
              <a:rPr lang="en-US" sz="6000" b="1" spc="100" kern="0" dirty="0">
                <a:solidFill>
                  <a:srgbClr val="FFFFFF"/>
                </a:solidFill>
                <a:latin typeface="Cambria" pitchFamily="34" charset="0"/>
                <a:ea typeface="Cambria" pitchFamily="34" charset="-122"/>
                <a:cs typeface="Cambria" pitchFamily="34" charset="-120"/>
              </a:rPr>
              <a:t>LA BELGIQUE</a:t>
            </a:r>
            <a:endParaRPr lang="en-US" sz="6000" dirty="0"/>
          </a:p>
        </p:txBody>
      </p:sp>
      <p:sp>
        <p:nvSpPr>
          <p:cNvPr id="6" name="Text 3"/>
          <p:cNvSpPr txBox="1"/>
          <p:nvPr/>
        </p:nvSpPr>
        <p:spPr>
          <a:xfrm>
            <a:off x="640080" y="3035808"/>
            <a:ext cx="5852160" cy="411480"/>
          </a:xfrm>
          <a:prstGeom prst="rect">
            <a:avLst/>
          </a:prstGeom>
          <a:noFill/>
          <a:ln/>
        </p:spPr>
        <p:txBody>
          <a:bodyPr wrap="square" lIns="0" tIns="0" rIns="0" bIns="0" rtlCol="0" anchor="ctr"/>
          <a:lstStyle/>
          <a:p>
            <a:pPr indent="0" marL="0">
              <a:buNone/>
            </a:pPr>
            <a:r>
              <a:rPr lang="en-US" sz="2200" i="1" dirty="0">
                <a:solidFill>
                  <a:srgbClr val="F2D68C"/>
                </a:solidFill>
                <a:latin typeface="Cambria" pitchFamily="34" charset="0"/>
                <a:ea typeface="Cambria" pitchFamily="34" charset="-122"/>
                <a:cs typeface="Cambria" pitchFamily="34" charset="-120"/>
              </a:rPr>
              <a:t>Le Royaume de Belgique</a:t>
            </a:r>
            <a:endParaRPr lang="en-US" sz="2200" dirty="0"/>
          </a:p>
        </p:txBody>
      </p:sp>
      <p:sp>
        <p:nvSpPr>
          <p:cNvPr id="7" name="Text 4"/>
          <p:cNvSpPr txBox="1"/>
          <p:nvPr/>
        </p:nvSpPr>
        <p:spPr>
          <a:xfrm>
            <a:off x="640080" y="3493008"/>
            <a:ext cx="5852160" cy="274320"/>
          </a:xfrm>
          <a:prstGeom prst="rect">
            <a:avLst/>
          </a:prstGeom>
          <a:noFill/>
          <a:ln/>
        </p:spPr>
        <p:txBody>
          <a:bodyPr wrap="square" lIns="0" tIns="0" rIns="0" bIns="0" rtlCol="0" anchor="ctr"/>
          <a:lstStyle/>
          <a:p>
            <a:pPr indent="0" marL="0">
              <a:buNone/>
            </a:pPr>
            <a:r>
              <a:rPr lang="en-US" sz="1250" dirty="0">
                <a:solidFill>
                  <a:srgbClr val="BDBDC6"/>
                </a:solidFill>
                <a:latin typeface="Calibri" pitchFamily="34" charset="0"/>
                <a:ea typeface="Calibri" pitchFamily="34" charset="-122"/>
                <a:cs typeface="Calibri" pitchFamily="34" charset="-120"/>
              </a:rPr>
              <a:t>Koninkrijk België  ·  Königreich Belgien  ·  Kingdom of Belgium</a:t>
            </a:r>
            <a:endParaRPr lang="en-US" sz="1250" dirty="0"/>
          </a:p>
        </p:txBody>
      </p:sp>
      <p:sp>
        <p:nvSpPr>
          <p:cNvPr id="8" name="Shape 5"/>
          <p:cNvSpPr/>
          <p:nvPr/>
        </p:nvSpPr>
        <p:spPr>
          <a:xfrm>
            <a:off x="640080" y="4114800"/>
            <a:ext cx="5120640" cy="914400"/>
          </a:xfrm>
          <a:prstGeom prst="roundRect">
            <a:avLst>
              <a:gd name="adj" fmla="val 9000"/>
            </a:avLst>
          </a:prstGeom>
          <a:solidFill>
            <a:srgbClr val="24242C"/>
          </a:solidFill>
          <a:ln w="12700">
            <a:solidFill>
              <a:srgbClr val="3A3A44"/>
            </a:solidFill>
            <a:prstDash val="solid"/>
          </a:ln>
        </p:spPr>
      </p:sp>
      <p:sp>
        <p:nvSpPr>
          <p:cNvPr id="9" name="Text 6"/>
          <p:cNvSpPr txBox="1"/>
          <p:nvPr/>
        </p:nvSpPr>
        <p:spPr>
          <a:xfrm>
            <a:off x="896112" y="4261104"/>
            <a:ext cx="4617720" cy="274320"/>
          </a:xfrm>
          <a:prstGeom prst="rect">
            <a:avLst/>
          </a:prstGeom>
          <a:noFill/>
          <a:ln/>
        </p:spPr>
        <p:txBody>
          <a:bodyPr wrap="square" lIns="0" tIns="0" rIns="0" bIns="0" rtlCol="0" anchor="ctr"/>
          <a:lstStyle/>
          <a:p>
            <a:pPr indent="0" marL="0">
              <a:buNone/>
            </a:pPr>
            <a:r>
              <a:rPr lang="en-US" sz="1200" dirty="0">
                <a:solidFill>
                  <a:srgbClr val="BDBDC6"/>
                </a:solidFill>
                <a:latin typeface="Calibri" pitchFamily="34" charset="0"/>
                <a:ea typeface="Calibri" pitchFamily="34" charset="-122"/>
                <a:cs typeface="Calibri" pitchFamily="34" charset="-120"/>
              </a:rPr>
              <a:t>A French-speaking country in the heart of Europe —</a:t>
            </a:r>
            <a:endParaRPr lang="en-US" sz="1200" dirty="0"/>
          </a:p>
        </p:txBody>
      </p:sp>
      <p:sp>
        <p:nvSpPr>
          <p:cNvPr id="10" name="Text 7"/>
          <p:cNvSpPr txBox="1"/>
          <p:nvPr/>
        </p:nvSpPr>
        <p:spPr>
          <a:xfrm>
            <a:off x="896112" y="4535424"/>
            <a:ext cx="4617720" cy="274320"/>
          </a:xfrm>
          <a:prstGeom prst="rect">
            <a:avLst/>
          </a:prstGeom>
          <a:noFill/>
          <a:ln/>
        </p:spPr>
        <p:txBody>
          <a:bodyPr wrap="square" lIns="0" tIns="0" rIns="0" bIns="0" rtlCol="0" anchor="ctr"/>
          <a:lstStyle/>
          <a:p>
            <a:pPr indent="0" marL="0">
              <a:buNone/>
            </a:pPr>
            <a:r>
              <a:rPr lang="en-US" sz="1200" dirty="0">
                <a:solidFill>
                  <a:srgbClr val="BDBDC6"/>
                </a:solidFill>
                <a:latin typeface="Calibri" pitchFamily="34" charset="0"/>
                <a:ea typeface="Calibri" pitchFamily="34" charset="-122"/>
                <a:cs typeface="Calibri" pitchFamily="34" charset="-120"/>
              </a:rPr>
              <a:t>and the capital of the European Union.</a:t>
            </a:r>
            <a:endParaRPr lang="en-US" sz="1200" dirty="0"/>
          </a:p>
        </p:txBody>
      </p:sp>
      <p:sp>
        <p:nvSpPr>
          <p:cNvPr id="11" name="Text 8"/>
          <p:cNvSpPr txBox="1"/>
          <p:nvPr/>
        </p:nvSpPr>
        <p:spPr>
          <a:xfrm>
            <a:off x="640080" y="5989320"/>
            <a:ext cx="6583680" cy="274320"/>
          </a:xfrm>
          <a:prstGeom prst="rect">
            <a:avLst/>
          </a:prstGeom>
          <a:noFill/>
          <a:ln/>
        </p:spPr>
        <p:txBody>
          <a:bodyPr wrap="square" lIns="0" tIns="0" rIns="0" bIns="0" rtlCol="0" anchor="ctr"/>
          <a:lstStyle/>
          <a:p>
            <a:pPr indent="0" marL="0">
              <a:buNone/>
            </a:pPr>
            <a:r>
              <a:rPr lang="en-US" sz="1100" dirty="0">
                <a:solidFill>
                  <a:srgbClr val="8A8A96"/>
                </a:solidFill>
                <a:latin typeface="Calibri" pitchFamily="34" charset="0"/>
                <a:ea typeface="Calibri" pitchFamily="34" charset="-122"/>
                <a:cs typeface="Calibri" pitchFamily="34" charset="-120"/>
              </a:rPr>
              <a:t>Nom  ______________________________     Date  ____________________</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10911535" cy="237744"/>
          </a:xfrm>
          <a:prstGeom prst="rect">
            <a:avLst/>
          </a:prstGeom>
          <a:noFill/>
          <a:ln/>
        </p:spPr>
        <p:txBody>
          <a:bodyPr wrap="square" lIns="0" tIns="0" rIns="0" bIns="0" rtlCol="0" anchor="ctr"/>
          <a:lstStyle/>
          <a:p>
            <a:pPr indent="0" marL="0">
              <a:buNone/>
            </a:pPr>
            <a:r>
              <a:rPr lang="en-US" sz="1150" b="1" spc="220" kern="0" dirty="0">
                <a:solidFill>
                  <a:srgbClr val="E3B23C"/>
                </a:solidFill>
                <a:latin typeface="Calibri" pitchFamily="34" charset="0"/>
                <a:ea typeface="Calibri" pitchFamily="34" charset="-122"/>
                <a:cs typeface="Calibri" pitchFamily="34" charset="-120"/>
              </a:rPr>
              <a:t>OÙ SE TROUVE LA BELGIQUE ?</a:t>
            </a:r>
            <a:endParaRPr lang="en-US" sz="1150" dirty="0"/>
          </a:p>
        </p:txBody>
      </p:sp>
      <p:sp>
        <p:nvSpPr>
          <p:cNvPr id="3" name="Text 1"/>
          <p:cNvSpPr txBox="1"/>
          <p:nvPr/>
        </p:nvSpPr>
        <p:spPr>
          <a:xfrm>
            <a:off x="640080" y="676656"/>
            <a:ext cx="10911535" cy="603504"/>
          </a:xfrm>
          <a:prstGeom prst="rect">
            <a:avLst/>
          </a:prstGeom>
          <a:noFill/>
          <a:ln/>
        </p:spPr>
        <p:txBody>
          <a:bodyPr wrap="square" lIns="0" tIns="0" rIns="0" bIns="0" rtlCol="0" anchor="ctr"/>
          <a:lstStyle/>
          <a:p>
            <a:pPr indent="0" marL="0">
              <a:buNone/>
            </a:pPr>
            <a:r>
              <a:rPr lang="en-US" sz="3100" b="1" dirty="0">
                <a:solidFill>
                  <a:srgbClr val="17171B"/>
                </a:solidFill>
                <a:latin typeface="Cambria" pitchFamily="34" charset="0"/>
                <a:ea typeface="Cambria" pitchFamily="34" charset="-122"/>
                <a:cs typeface="Cambria" pitchFamily="34" charset="-120"/>
              </a:rPr>
              <a:t>Western Europe, on the North Sea</a:t>
            </a:r>
            <a:endParaRPr lang="en-US" sz="3100" dirty="0"/>
          </a:p>
        </p:txBody>
      </p:sp>
      <p:sp>
        <p:nvSpPr>
          <p:cNvPr id="4" name="Shape 2"/>
          <p:cNvSpPr/>
          <p:nvPr/>
        </p:nvSpPr>
        <p:spPr>
          <a:xfrm>
            <a:off x="640080" y="6163056"/>
            <a:ext cx="384048" cy="384048"/>
          </a:xfrm>
          <a:prstGeom prst="ellipse">
            <a:avLst/>
          </a:prstGeom>
          <a:solidFill>
            <a:srgbClr val="E3B23C"/>
          </a:solidFill>
          <a:ln/>
        </p:spPr>
      </p:sp>
      <p:sp>
        <p:nvSpPr>
          <p:cNvPr id="5" name="Text 3"/>
          <p:cNvSpPr txBox="1"/>
          <p:nvPr/>
        </p:nvSpPr>
        <p:spPr>
          <a:xfrm>
            <a:off x="640080" y="6163056"/>
            <a:ext cx="384048" cy="384048"/>
          </a:xfrm>
          <a:prstGeom prst="rect">
            <a:avLst/>
          </a:prstGeom>
          <a:noFill/>
          <a:ln/>
        </p:spPr>
        <p:txBody>
          <a:bodyPr wrap="square" lIns="0" tIns="0" rIns="0" bIns="0" rtlCol="0" anchor="ctr"/>
          <a:lstStyle/>
          <a:p>
            <a:pPr algn="ctr" indent="0" marL="0">
              <a:buNone/>
            </a:pPr>
            <a:r>
              <a:rPr lang="en-US" sz="1200" b="1" dirty="0">
                <a:solidFill>
                  <a:srgbClr val="17171B"/>
                </a:solidFill>
                <a:latin typeface="Calibri" pitchFamily="34" charset="0"/>
                <a:ea typeface="Calibri" pitchFamily="34" charset="-122"/>
                <a:cs typeface="Calibri" pitchFamily="34" charset="-120"/>
              </a:rPr>
              <a:t>2</a:t>
            </a:r>
            <a:endParaRPr lang="en-US" sz="1200" dirty="0"/>
          </a:p>
        </p:txBody>
      </p:sp>
      <p:sp>
        <p:nvSpPr>
          <p:cNvPr id="6" name="Text 4"/>
          <p:cNvSpPr txBox="1"/>
          <p:nvPr/>
        </p:nvSpPr>
        <p:spPr>
          <a:xfrm>
            <a:off x="6035040" y="6245352"/>
            <a:ext cx="5516575" cy="237744"/>
          </a:xfrm>
          <a:prstGeom prst="rect">
            <a:avLst/>
          </a:prstGeom>
          <a:noFill/>
          <a:ln/>
        </p:spPr>
        <p:txBody>
          <a:bodyPr wrap="square" lIns="0" tIns="0" rIns="0" bIns="0" rtlCol="0" anchor="ctr"/>
          <a:lstStyle/>
          <a:p>
            <a:pPr algn="r" indent="0" marL="0">
              <a:buNone/>
            </a:pPr>
            <a:r>
              <a:rPr lang="en-US" sz="900" dirty="0">
                <a:solidFill>
                  <a:srgbClr val="70707C"/>
                </a:solidFill>
                <a:latin typeface="Calibri" pitchFamily="34" charset="0"/>
                <a:ea typeface="Calibri" pitchFamily="34" charset="-122"/>
                <a:cs typeface="Calibri" pitchFamily="34" charset="-120"/>
              </a:rPr>
              <a:t>La Belgique  ·  FREN 201  ·  Projet Francophonie</a:t>
            </a:r>
            <a:endParaRPr lang="en-US" sz="900" dirty="0"/>
          </a:p>
        </p:txBody>
      </p:sp>
      <p:pic>
        <p:nvPicPr>
          <p:cNvPr id="7" name="Image 0" descr="/tmp/claude-0/-home-user-BOYNT-WORK/856f02cf-0e32-5bfe-bffb-9edb29b314f9/scratchpad/deckimg/map_europe_belgium.png">    </p:cNvPr>
          <p:cNvPicPr>
            <a:picLocks noChangeAspect="1"/>
          </p:cNvPicPr>
          <p:nvPr/>
        </p:nvPicPr>
        <p:blipFill>
          <a:blip r:embed="rId1"/>
          <a:stretch>
            <a:fillRect/>
          </a:stretch>
        </p:blipFill>
        <p:spPr>
          <a:xfrm>
            <a:off x="640080" y="1481328"/>
            <a:ext cx="5577840" cy="4300902"/>
          </a:xfrm>
          <a:prstGeom prst="rect">
            <a:avLst/>
          </a:prstGeom>
        </p:spPr>
      </p:pic>
      <p:sp>
        <p:nvSpPr>
          <p:cNvPr id="8" name="Text 5"/>
          <p:cNvSpPr txBox="1"/>
          <p:nvPr/>
        </p:nvSpPr>
        <p:spPr>
          <a:xfrm>
            <a:off x="640080" y="5891958"/>
            <a:ext cx="5577840" cy="274320"/>
          </a:xfrm>
          <a:prstGeom prst="rect">
            <a:avLst/>
          </a:prstGeom>
          <a:noFill/>
          <a:ln/>
        </p:spPr>
        <p:txBody>
          <a:bodyPr wrap="square" lIns="0" tIns="0" rIns="0" bIns="0" rtlCol="0" anchor="ctr"/>
          <a:lstStyle/>
          <a:p>
            <a:pPr indent="0" marL="0">
              <a:buNone/>
            </a:pPr>
            <a:r>
              <a:rPr lang="en-US" sz="950" i="1" dirty="0">
                <a:solidFill>
                  <a:srgbClr val="70707C"/>
                </a:solidFill>
                <a:latin typeface="Calibri" pitchFamily="34" charset="0"/>
                <a:ea typeface="Calibri" pitchFamily="34" charset="-122"/>
                <a:cs typeface="Calibri" pitchFamily="34" charset="-120"/>
              </a:rPr>
              <a:t>Belgium marked in red on the blank outline map supplied with the assignment.</a:t>
            </a:r>
            <a:endParaRPr lang="en-US" sz="950" dirty="0"/>
          </a:p>
        </p:txBody>
      </p:sp>
      <p:sp>
        <p:nvSpPr>
          <p:cNvPr id="9" name="Shape 6"/>
          <p:cNvSpPr/>
          <p:nvPr/>
        </p:nvSpPr>
        <p:spPr>
          <a:xfrm>
            <a:off x="6693408" y="1481328"/>
            <a:ext cx="4858207" cy="1847088"/>
          </a:xfrm>
          <a:prstGeom prst="roundRect">
            <a:avLst>
              <a:gd name="adj" fmla="val 4455"/>
            </a:avLst>
          </a:prstGeom>
          <a:solidFill>
            <a:srgbClr val="F4F4F6"/>
          </a:solidFill>
          <a:ln w="12700">
            <a:solidFill>
              <a:srgbClr val="E4E4E9"/>
            </a:solidFill>
            <a:prstDash val="solid"/>
          </a:ln>
          <a:effectLst>
            <a:outerShdw sx="100000" sy="100000" kx="0" ky="0" algn="bl" rotWithShape="0" blurRad="127000" dist="25400" dir="5400000">
              <a:srgbClr val="9A9AA6">
                <a:alpha val="22000"/>
              </a:srgbClr>
            </a:outerShdw>
          </a:effectLst>
        </p:spPr>
      </p:sp>
      <p:sp>
        <p:nvSpPr>
          <p:cNvPr id="10" name="Text 7"/>
          <p:cNvSpPr txBox="1"/>
          <p:nvPr/>
        </p:nvSpPr>
        <p:spPr>
          <a:xfrm>
            <a:off x="6949440" y="1627632"/>
            <a:ext cx="4346143" cy="237744"/>
          </a:xfrm>
          <a:prstGeom prst="rect">
            <a:avLst/>
          </a:prstGeom>
          <a:noFill/>
          <a:ln/>
        </p:spPr>
        <p:txBody>
          <a:bodyPr wrap="square" lIns="0" tIns="0" rIns="0" bIns="0" rtlCol="0" anchor="ctr"/>
          <a:lstStyle/>
          <a:p>
            <a:pPr indent="0" marL="0">
              <a:buNone/>
            </a:pPr>
            <a:r>
              <a:rPr lang="en-US" sz="1050" b="1" spc="110" kern="0" dirty="0">
                <a:solidFill>
                  <a:srgbClr val="E3B23C"/>
                </a:solidFill>
                <a:latin typeface="Calibri" pitchFamily="34" charset="0"/>
                <a:ea typeface="Calibri" pitchFamily="34" charset="-122"/>
                <a:cs typeface="Calibri" pitchFamily="34" charset="-120"/>
              </a:rPr>
              <a:t>LAND BORDERS  ·  1,297 km IN TOTAL</a:t>
            </a:r>
            <a:endParaRPr lang="en-US" sz="1050" dirty="0"/>
          </a:p>
        </p:txBody>
      </p:sp>
      <p:sp>
        <p:nvSpPr>
          <p:cNvPr id="11" name="Text 8"/>
          <p:cNvSpPr txBox="1"/>
          <p:nvPr/>
        </p:nvSpPr>
        <p:spPr>
          <a:xfrm>
            <a:off x="6949440" y="1920240"/>
            <a:ext cx="1298448" cy="329184"/>
          </a:xfrm>
          <a:prstGeom prst="rect">
            <a:avLst/>
          </a:prstGeom>
          <a:noFill/>
          <a:ln/>
        </p:spPr>
        <p:txBody>
          <a:bodyPr wrap="square" lIns="0" tIns="0" rIns="0" bIns="0" rtlCol="0" anchor="t"/>
          <a:lstStyle/>
          <a:p>
            <a:pPr indent="0" marL="0">
              <a:buNone/>
            </a:pPr>
            <a:r>
              <a:rPr lang="en-US" sz="1100" b="1" dirty="0">
                <a:solidFill>
                  <a:srgbClr val="17171B"/>
                </a:solidFill>
                <a:latin typeface="Calibri" pitchFamily="34" charset="0"/>
                <a:ea typeface="Calibri" pitchFamily="34" charset="-122"/>
                <a:cs typeface="Calibri" pitchFamily="34" charset="-120"/>
              </a:rPr>
              <a:t>France</a:t>
            </a:r>
            <a:endParaRPr lang="en-US" sz="1100" dirty="0"/>
          </a:p>
        </p:txBody>
      </p:sp>
      <p:sp>
        <p:nvSpPr>
          <p:cNvPr id="12" name="Text 9"/>
          <p:cNvSpPr txBox="1"/>
          <p:nvPr/>
        </p:nvSpPr>
        <p:spPr>
          <a:xfrm>
            <a:off x="8247888" y="1920240"/>
            <a:ext cx="3047695" cy="329184"/>
          </a:xfrm>
          <a:prstGeom prst="rect">
            <a:avLst/>
          </a:prstGeom>
          <a:noFill/>
          <a:ln/>
        </p:spPr>
        <p:txBody>
          <a:bodyPr wrap="square" lIns="0" tIns="0" rIns="0" bIns="0" rtlCol="0" anchor="t"/>
          <a:lstStyle/>
          <a:p>
            <a:pPr indent="0" marL="0">
              <a:buNone/>
            </a:pPr>
            <a:r>
              <a:rPr lang="en-US" sz="1100" dirty="0">
                <a:solidFill>
                  <a:srgbClr val="3E3E48"/>
                </a:solidFill>
                <a:latin typeface="Calibri" pitchFamily="34" charset="0"/>
                <a:ea typeface="Calibri" pitchFamily="34" charset="-122"/>
                <a:cs typeface="Calibri" pitchFamily="34" charset="-120"/>
              </a:rPr>
              <a:t>556 km — south and south-west</a:t>
            </a:r>
            <a:endParaRPr lang="en-US" sz="1100" dirty="0"/>
          </a:p>
        </p:txBody>
      </p:sp>
      <p:sp>
        <p:nvSpPr>
          <p:cNvPr id="13" name="Text 10"/>
          <p:cNvSpPr txBox="1"/>
          <p:nvPr/>
        </p:nvSpPr>
        <p:spPr>
          <a:xfrm>
            <a:off x="6949440" y="2249424"/>
            <a:ext cx="1298448" cy="329184"/>
          </a:xfrm>
          <a:prstGeom prst="rect">
            <a:avLst/>
          </a:prstGeom>
          <a:noFill/>
          <a:ln/>
        </p:spPr>
        <p:txBody>
          <a:bodyPr wrap="square" lIns="0" tIns="0" rIns="0" bIns="0" rtlCol="0" anchor="t"/>
          <a:lstStyle/>
          <a:p>
            <a:pPr indent="0" marL="0">
              <a:buNone/>
            </a:pPr>
            <a:r>
              <a:rPr lang="en-US" sz="1100" b="1" dirty="0">
                <a:solidFill>
                  <a:srgbClr val="17171B"/>
                </a:solidFill>
                <a:latin typeface="Calibri" pitchFamily="34" charset="0"/>
                <a:ea typeface="Calibri" pitchFamily="34" charset="-122"/>
                <a:cs typeface="Calibri" pitchFamily="34" charset="-120"/>
              </a:rPr>
              <a:t>Netherlands</a:t>
            </a:r>
            <a:endParaRPr lang="en-US" sz="1100" dirty="0"/>
          </a:p>
        </p:txBody>
      </p:sp>
      <p:sp>
        <p:nvSpPr>
          <p:cNvPr id="14" name="Text 11"/>
          <p:cNvSpPr txBox="1"/>
          <p:nvPr/>
        </p:nvSpPr>
        <p:spPr>
          <a:xfrm>
            <a:off x="8247888" y="2249424"/>
            <a:ext cx="3047695" cy="329184"/>
          </a:xfrm>
          <a:prstGeom prst="rect">
            <a:avLst/>
          </a:prstGeom>
          <a:noFill/>
          <a:ln/>
        </p:spPr>
        <p:txBody>
          <a:bodyPr wrap="square" lIns="0" tIns="0" rIns="0" bIns="0" rtlCol="0" anchor="t"/>
          <a:lstStyle/>
          <a:p>
            <a:pPr indent="0" marL="0">
              <a:buNone/>
            </a:pPr>
            <a:r>
              <a:rPr lang="en-US" sz="1100" dirty="0">
                <a:solidFill>
                  <a:srgbClr val="3E3E48"/>
                </a:solidFill>
                <a:latin typeface="Calibri" pitchFamily="34" charset="0"/>
                <a:ea typeface="Calibri" pitchFamily="34" charset="-122"/>
                <a:cs typeface="Calibri" pitchFamily="34" charset="-120"/>
              </a:rPr>
              <a:t>478 km — north</a:t>
            </a:r>
            <a:endParaRPr lang="en-US" sz="1100" dirty="0"/>
          </a:p>
        </p:txBody>
      </p:sp>
      <p:sp>
        <p:nvSpPr>
          <p:cNvPr id="15" name="Text 12"/>
          <p:cNvSpPr txBox="1"/>
          <p:nvPr/>
        </p:nvSpPr>
        <p:spPr>
          <a:xfrm>
            <a:off x="6949440" y="2578608"/>
            <a:ext cx="1298448" cy="329184"/>
          </a:xfrm>
          <a:prstGeom prst="rect">
            <a:avLst/>
          </a:prstGeom>
          <a:noFill/>
          <a:ln/>
        </p:spPr>
        <p:txBody>
          <a:bodyPr wrap="square" lIns="0" tIns="0" rIns="0" bIns="0" rtlCol="0" anchor="t"/>
          <a:lstStyle/>
          <a:p>
            <a:pPr indent="0" marL="0">
              <a:buNone/>
            </a:pPr>
            <a:r>
              <a:rPr lang="en-US" sz="1100" b="1" dirty="0">
                <a:solidFill>
                  <a:srgbClr val="17171B"/>
                </a:solidFill>
                <a:latin typeface="Calibri" pitchFamily="34" charset="0"/>
                <a:ea typeface="Calibri" pitchFamily="34" charset="-122"/>
                <a:cs typeface="Calibri" pitchFamily="34" charset="-120"/>
              </a:rPr>
              <a:t>Germany</a:t>
            </a:r>
            <a:endParaRPr lang="en-US" sz="1100" dirty="0"/>
          </a:p>
        </p:txBody>
      </p:sp>
      <p:sp>
        <p:nvSpPr>
          <p:cNvPr id="16" name="Text 13"/>
          <p:cNvSpPr txBox="1"/>
          <p:nvPr/>
        </p:nvSpPr>
        <p:spPr>
          <a:xfrm>
            <a:off x="8247888" y="2578608"/>
            <a:ext cx="3047695" cy="329184"/>
          </a:xfrm>
          <a:prstGeom prst="rect">
            <a:avLst/>
          </a:prstGeom>
          <a:noFill/>
          <a:ln/>
        </p:spPr>
        <p:txBody>
          <a:bodyPr wrap="square" lIns="0" tIns="0" rIns="0" bIns="0" rtlCol="0" anchor="t"/>
          <a:lstStyle/>
          <a:p>
            <a:pPr indent="0" marL="0">
              <a:buNone/>
            </a:pPr>
            <a:r>
              <a:rPr lang="en-US" sz="1100" dirty="0">
                <a:solidFill>
                  <a:srgbClr val="3E3E48"/>
                </a:solidFill>
                <a:latin typeface="Calibri" pitchFamily="34" charset="0"/>
                <a:ea typeface="Calibri" pitchFamily="34" charset="-122"/>
                <a:cs typeface="Calibri" pitchFamily="34" charset="-120"/>
              </a:rPr>
              <a:t>133 km — east</a:t>
            </a:r>
            <a:endParaRPr lang="en-US" sz="1100" dirty="0"/>
          </a:p>
        </p:txBody>
      </p:sp>
      <p:sp>
        <p:nvSpPr>
          <p:cNvPr id="17" name="Text 14"/>
          <p:cNvSpPr txBox="1"/>
          <p:nvPr/>
        </p:nvSpPr>
        <p:spPr>
          <a:xfrm>
            <a:off x="6949440" y="2907792"/>
            <a:ext cx="1298448" cy="329184"/>
          </a:xfrm>
          <a:prstGeom prst="rect">
            <a:avLst/>
          </a:prstGeom>
          <a:noFill/>
          <a:ln/>
        </p:spPr>
        <p:txBody>
          <a:bodyPr wrap="square" lIns="0" tIns="0" rIns="0" bIns="0" rtlCol="0" anchor="t"/>
          <a:lstStyle/>
          <a:p>
            <a:pPr indent="0" marL="0">
              <a:buNone/>
            </a:pPr>
            <a:r>
              <a:rPr lang="en-US" sz="1100" b="1" dirty="0">
                <a:solidFill>
                  <a:srgbClr val="17171B"/>
                </a:solidFill>
                <a:latin typeface="Calibri" pitchFamily="34" charset="0"/>
                <a:ea typeface="Calibri" pitchFamily="34" charset="-122"/>
                <a:cs typeface="Calibri" pitchFamily="34" charset="-120"/>
              </a:rPr>
              <a:t>Luxembourg</a:t>
            </a:r>
            <a:endParaRPr lang="en-US" sz="1100" dirty="0"/>
          </a:p>
        </p:txBody>
      </p:sp>
      <p:sp>
        <p:nvSpPr>
          <p:cNvPr id="18" name="Text 15"/>
          <p:cNvSpPr txBox="1"/>
          <p:nvPr/>
        </p:nvSpPr>
        <p:spPr>
          <a:xfrm>
            <a:off x="8247888" y="2907792"/>
            <a:ext cx="3047695" cy="329184"/>
          </a:xfrm>
          <a:prstGeom prst="rect">
            <a:avLst/>
          </a:prstGeom>
          <a:noFill/>
          <a:ln/>
        </p:spPr>
        <p:txBody>
          <a:bodyPr wrap="square" lIns="0" tIns="0" rIns="0" bIns="0" rtlCol="0" anchor="t"/>
          <a:lstStyle/>
          <a:p>
            <a:pPr indent="0" marL="0">
              <a:buNone/>
            </a:pPr>
            <a:r>
              <a:rPr lang="en-US" sz="1100" dirty="0">
                <a:solidFill>
                  <a:srgbClr val="3E3E48"/>
                </a:solidFill>
                <a:latin typeface="Calibri" pitchFamily="34" charset="0"/>
                <a:ea typeface="Calibri" pitchFamily="34" charset="-122"/>
                <a:cs typeface="Calibri" pitchFamily="34" charset="-120"/>
              </a:rPr>
              <a:t>130 km — south-east</a:t>
            </a:r>
            <a:endParaRPr lang="en-US" sz="1100" dirty="0"/>
          </a:p>
        </p:txBody>
      </p:sp>
      <p:sp>
        <p:nvSpPr>
          <p:cNvPr id="19" name="Shape 16"/>
          <p:cNvSpPr/>
          <p:nvPr/>
        </p:nvSpPr>
        <p:spPr>
          <a:xfrm>
            <a:off x="6693408" y="3474720"/>
            <a:ext cx="4858207" cy="1719072"/>
          </a:xfrm>
          <a:prstGeom prst="roundRect">
            <a:avLst>
              <a:gd name="adj" fmla="val 4787"/>
            </a:avLst>
          </a:prstGeom>
          <a:solidFill>
            <a:srgbClr val="F4F4F6"/>
          </a:solidFill>
          <a:ln w="12700">
            <a:solidFill>
              <a:srgbClr val="E4E4E9"/>
            </a:solidFill>
            <a:prstDash val="solid"/>
          </a:ln>
          <a:effectLst>
            <a:outerShdw sx="100000" sy="100000" kx="0" ky="0" algn="bl" rotWithShape="0" blurRad="127000" dist="25400" dir="5400000">
              <a:srgbClr val="9A9AA6">
                <a:alpha val="22000"/>
              </a:srgbClr>
            </a:outerShdw>
          </a:effectLst>
        </p:spPr>
      </p:sp>
      <p:sp>
        <p:nvSpPr>
          <p:cNvPr id="20" name="Text 17"/>
          <p:cNvSpPr txBox="1"/>
          <p:nvPr/>
        </p:nvSpPr>
        <p:spPr>
          <a:xfrm>
            <a:off x="6949440" y="3621024"/>
            <a:ext cx="4346143" cy="237744"/>
          </a:xfrm>
          <a:prstGeom prst="rect">
            <a:avLst/>
          </a:prstGeom>
          <a:noFill/>
          <a:ln/>
        </p:spPr>
        <p:txBody>
          <a:bodyPr wrap="square" lIns="0" tIns="0" rIns="0" bIns="0" rtlCol="0" anchor="ctr"/>
          <a:lstStyle/>
          <a:p>
            <a:pPr indent="0" marL="0">
              <a:buNone/>
            </a:pPr>
            <a:r>
              <a:rPr lang="en-US" sz="1050" b="1" spc="110" kern="0" dirty="0">
                <a:solidFill>
                  <a:srgbClr val="E3B23C"/>
                </a:solidFill>
                <a:latin typeface="Calibri" pitchFamily="34" charset="0"/>
                <a:ea typeface="Calibri" pitchFamily="34" charset="-122"/>
                <a:cs typeface="Calibri" pitchFamily="34" charset="-120"/>
              </a:rPr>
              <a:t>THREE LANDSCAPES</a:t>
            </a:r>
            <a:endParaRPr lang="en-US" sz="1050" dirty="0"/>
          </a:p>
        </p:txBody>
      </p:sp>
      <p:sp>
        <p:nvSpPr>
          <p:cNvPr id="21" name="Text 18"/>
          <p:cNvSpPr txBox="1"/>
          <p:nvPr/>
        </p:nvSpPr>
        <p:spPr>
          <a:xfrm>
            <a:off x="6949440" y="3913632"/>
            <a:ext cx="1051560" cy="420624"/>
          </a:xfrm>
          <a:prstGeom prst="rect">
            <a:avLst/>
          </a:prstGeom>
          <a:noFill/>
          <a:ln/>
        </p:spPr>
        <p:txBody>
          <a:bodyPr wrap="square" lIns="0" tIns="0" rIns="0" bIns="0" rtlCol="0" anchor="t"/>
          <a:lstStyle/>
          <a:p>
            <a:pPr indent="0" marL="0">
              <a:buNone/>
            </a:pPr>
            <a:r>
              <a:rPr lang="en-US" sz="1100" b="1" dirty="0">
                <a:solidFill>
                  <a:srgbClr val="17171B"/>
                </a:solidFill>
                <a:latin typeface="Calibri" pitchFamily="34" charset="0"/>
                <a:ea typeface="Calibri" pitchFamily="34" charset="-122"/>
                <a:cs typeface="Calibri" pitchFamily="34" charset="-120"/>
              </a:rPr>
              <a:t>Coast</a:t>
            </a:r>
            <a:endParaRPr lang="en-US" sz="1100" dirty="0"/>
          </a:p>
        </p:txBody>
      </p:sp>
      <p:sp>
        <p:nvSpPr>
          <p:cNvPr id="22" name="Text 19"/>
          <p:cNvSpPr txBox="1"/>
          <p:nvPr/>
        </p:nvSpPr>
        <p:spPr>
          <a:xfrm>
            <a:off x="8001000" y="3913632"/>
            <a:ext cx="3294583" cy="420624"/>
          </a:xfrm>
          <a:prstGeom prst="rect">
            <a:avLst/>
          </a:prstGeom>
          <a:noFill/>
          <a:ln/>
        </p:spPr>
        <p:txBody>
          <a:bodyPr wrap="square" lIns="0" tIns="0" rIns="0" bIns="0" rtlCol="0" anchor="t"/>
          <a:lstStyle/>
          <a:p>
            <a:pPr indent="0" marL="0">
              <a:buNone/>
            </a:pPr>
            <a:r>
              <a:rPr lang="en-US" sz="1100" dirty="0">
                <a:solidFill>
                  <a:srgbClr val="3E3E48"/>
                </a:solidFill>
                <a:latin typeface="Calibri" pitchFamily="34" charset="0"/>
                <a:ea typeface="Calibri" pitchFamily="34" charset="-122"/>
                <a:cs typeface="Calibri" pitchFamily="34" charset="-120"/>
              </a:rPr>
              <a:t>66.5 km of North Sea beach and polder</a:t>
            </a:r>
            <a:endParaRPr lang="en-US" sz="1100" dirty="0"/>
          </a:p>
        </p:txBody>
      </p:sp>
      <p:sp>
        <p:nvSpPr>
          <p:cNvPr id="23" name="Text 20"/>
          <p:cNvSpPr txBox="1"/>
          <p:nvPr/>
        </p:nvSpPr>
        <p:spPr>
          <a:xfrm>
            <a:off x="6949440" y="4334256"/>
            <a:ext cx="1051560" cy="420624"/>
          </a:xfrm>
          <a:prstGeom prst="rect">
            <a:avLst/>
          </a:prstGeom>
          <a:noFill/>
          <a:ln/>
        </p:spPr>
        <p:txBody>
          <a:bodyPr wrap="square" lIns="0" tIns="0" rIns="0" bIns="0" rtlCol="0" anchor="t"/>
          <a:lstStyle/>
          <a:p>
            <a:pPr indent="0" marL="0">
              <a:buNone/>
            </a:pPr>
            <a:r>
              <a:rPr lang="en-US" sz="1100" b="1" dirty="0">
                <a:solidFill>
                  <a:srgbClr val="17171B"/>
                </a:solidFill>
                <a:latin typeface="Calibri" pitchFamily="34" charset="0"/>
                <a:ea typeface="Calibri" pitchFamily="34" charset="-122"/>
                <a:cs typeface="Calibri" pitchFamily="34" charset="-120"/>
              </a:rPr>
              <a:t>Middle</a:t>
            </a:r>
            <a:endParaRPr lang="en-US" sz="1100" dirty="0"/>
          </a:p>
        </p:txBody>
      </p:sp>
      <p:sp>
        <p:nvSpPr>
          <p:cNvPr id="24" name="Text 21"/>
          <p:cNvSpPr txBox="1"/>
          <p:nvPr/>
        </p:nvSpPr>
        <p:spPr>
          <a:xfrm>
            <a:off x="8001000" y="4334256"/>
            <a:ext cx="3294583" cy="420624"/>
          </a:xfrm>
          <a:prstGeom prst="rect">
            <a:avLst/>
          </a:prstGeom>
          <a:noFill/>
          <a:ln/>
        </p:spPr>
        <p:txBody>
          <a:bodyPr wrap="square" lIns="0" tIns="0" rIns="0" bIns="0" rtlCol="0" anchor="t"/>
          <a:lstStyle/>
          <a:p>
            <a:pPr indent="0" marL="0">
              <a:buNone/>
            </a:pPr>
            <a:r>
              <a:rPr lang="en-US" sz="1100" dirty="0">
                <a:solidFill>
                  <a:srgbClr val="3E3E48"/>
                </a:solidFill>
                <a:latin typeface="Calibri" pitchFamily="34" charset="0"/>
                <a:ea typeface="Calibri" pitchFamily="34" charset="-122"/>
                <a:cs typeface="Calibri" pitchFamily="34" charset="-120"/>
              </a:rPr>
              <a:t>Fertile loam plateaus — Brussels sits here</a:t>
            </a:r>
            <a:endParaRPr lang="en-US" sz="1100" dirty="0"/>
          </a:p>
        </p:txBody>
      </p:sp>
      <p:sp>
        <p:nvSpPr>
          <p:cNvPr id="25" name="Text 22"/>
          <p:cNvSpPr txBox="1"/>
          <p:nvPr/>
        </p:nvSpPr>
        <p:spPr>
          <a:xfrm>
            <a:off x="6949440" y="4754880"/>
            <a:ext cx="1051560" cy="420624"/>
          </a:xfrm>
          <a:prstGeom prst="rect">
            <a:avLst/>
          </a:prstGeom>
          <a:noFill/>
          <a:ln/>
        </p:spPr>
        <p:txBody>
          <a:bodyPr wrap="square" lIns="0" tIns="0" rIns="0" bIns="0" rtlCol="0" anchor="t"/>
          <a:lstStyle/>
          <a:p>
            <a:pPr indent="0" marL="0">
              <a:buNone/>
            </a:pPr>
            <a:r>
              <a:rPr lang="en-US" sz="1100" b="1" dirty="0">
                <a:solidFill>
                  <a:srgbClr val="17171B"/>
                </a:solidFill>
                <a:latin typeface="Calibri" pitchFamily="34" charset="0"/>
                <a:ea typeface="Calibri" pitchFamily="34" charset="-122"/>
                <a:cs typeface="Calibri" pitchFamily="34" charset="-120"/>
              </a:rPr>
              <a:t>Ardennes</a:t>
            </a:r>
            <a:endParaRPr lang="en-US" sz="1100" dirty="0"/>
          </a:p>
        </p:txBody>
      </p:sp>
      <p:sp>
        <p:nvSpPr>
          <p:cNvPr id="26" name="Text 23"/>
          <p:cNvSpPr txBox="1"/>
          <p:nvPr/>
        </p:nvSpPr>
        <p:spPr>
          <a:xfrm>
            <a:off x="8001000" y="4754880"/>
            <a:ext cx="3294583" cy="420624"/>
          </a:xfrm>
          <a:prstGeom prst="rect">
            <a:avLst/>
          </a:prstGeom>
          <a:noFill/>
          <a:ln/>
        </p:spPr>
        <p:txBody>
          <a:bodyPr wrap="square" lIns="0" tIns="0" rIns="0" bIns="0" rtlCol="0" anchor="t"/>
          <a:lstStyle/>
          <a:p>
            <a:pPr indent="0" marL="0">
              <a:buNone/>
            </a:pPr>
            <a:r>
              <a:rPr lang="en-US" sz="1100" dirty="0">
                <a:solidFill>
                  <a:srgbClr val="3E3E48"/>
                </a:solidFill>
                <a:latin typeface="Calibri" pitchFamily="34" charset="0"/>
                <a:ea typeface="Calibri" pitchFamily="34" charset="-122"/>
                <a:cs typeface="Calibri" pitchFamily="34" charset="-120"/>
              </a:rPr>
              <a:t>Forest and river valleys, up to 694 m</a:t>
            </a:r>
            <a:endParaRPr lang="en-US" sz="1100" dirty="0"/>
          </a:p>
        </p:txBody>
      </p:sp>
      <p:sp>
        <p:nvSpPr>
          <p:cNvPr id="27" name="Shape 24"/>
          <p:cNvSpPr/>
          <p:nvPr/>
        </p:nvSpPr>
        <p:spPr>
          <a:xfrm>
            <a:off x="6693408" y="5340096"/>
            <a:ext cx="4858207" cy="731520"/>
          </a:xfrm>
          <a:prstGeom prst="roundRect">
            <a:avLst>
              <a:gd name="adj" fmla="val 11250"/>
            </a:avLst>
          </a:prstGeom>
          <a:solidFill>
            <a:srgbClr val="17171B"/>
          </a:solidFill>
          <a:ln w="12700">
            <a:solidFill>
              <a:srgbClr val="17171B"/>
            </a:solidFill>
            <a:prstDash val="solid"/>
          </a:ln>
          <a:effectLst>
            <a:outerShdw sx="100000" sy="100000" kx="0" ky="0" algn="bl" rotWithShape="0" blurRad="127000" dist="25400" dir="5400000">
              <a:srgbClr val="9A9AA6">
                <a:alpha val="22000"/>
              </a:srgbClr>
            </a:outerShdw>
          </a:effectLst>
        </p:spPr>
      </p:sp>
      <p:sp>
        <p:nvSpPr>
          <p:cNvPr id="28" name="Text 25"/>
          <p:cNvSpPr txBox="1"/>
          <p:nvPr/>
        </p:nvSpPr>
        <p:spPr>
          <a:xfrm>
            <a:off x="6949440" y="5504688"/>
            <a:ext cx="4346143" cy="420624"/>
          </a:xfrm>
          <a:prstGeom prst="rect">
            <a:avLst/>
          </a:prstGeom>
          <a:noFill/>
          <a:ln/>
        </p:spPr>
        <p:txBody>
          <a:bodyPr wrap="square" lIns="0" tIns="0" rIns="0" bIns="0" rtlCol="0" anchor="ctr"/>
          <a:lstStyle/>
          <a:p>
            <a:pPr indent="0" marL="0">
              <a:lnSpc>
                <a:spcPct val="104000"/>
              </a:lnSpc>
              <a:buNone/>
            </a:pPr>
            <a:r>
              <a:rPr lang="en-US" sz="1050" dirty="0">
                <a:solidFill>
                  <a:srgbClr val="F2D68C"/>
                </a:solidFill>
                <a:latin typeface="Calibri" pitchFamily="34" charset="0"/>
                <a:ea typeface="Calibri" pitchFamily="34" charset="-122"/>
                <a:cs typeface="Calibri" pitchFamily="34" charset="-120"/>
              </a:rPr>
              <a:t>About 50° N, 4° E — where Germanic and Latin Europe meet.</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10911535" cy="237744"/>
          </a:xfrm>
          <a:prstGeom prst="rect">
            <a:avLst/>
          </a:prstGeom>
          <a:noFill/>
          <a:ln/>
        </p:spPr>
        <p:txBody>
          <a:bodyPr wrap="square" lIns="0" tIns="0" rIns="0" bIns="0" rtlCol="0" anchor="ctr"/>
          <a:lstStyle/>
          <a:p>
            <a:pPr indent="0" marL="0">
              <a:buNone/>
            </a:pPr>
            <a:r>
              <a:rPr lang="en-US" sz="1150" b="1" spc="220" kern="0" dirty="0">
                <a:solidFill>
                  <a:srgbClr val="E3B23C"/>
                </a:solidFill>
                <a:latin typeface="Calibri" pitchFamily="34" charset="0"/>
                <a:ea typeface="Calibri" pitchFamily="34" charset="-122"/>
                <a:cs typeface="Calibri" pitchFamily="34" charset="-120"/>
              </a:rPr>
              <a:t>LA BELGIQUE EN CHIFFRES</a:t>
            </a:r>
            <a:endParaRPr lang="en-US" sz="1150" dirty="0"/>
          </a:p>
        </p:txBody>
      </p:sp>
      <p:sp>
        <p:nvSpPr>
          <p:cNvPr id="3" name="Text 1"/>
          <p:cNvSpPr txBox="1"/>
          <p:nvPr/>
        </p:nvSpPr>
        <p:spPr>
          <a:xfrm>
            <a:off x="640080" y="676656"/>
            <a:ext cx="10911535" cy="603504"/>
          </a:xfrm>
          <a:prstGeom prst="rect">
            <a:avLst/>
          </a:prstGeom>
          <a:noFill/>
          <a:ln/>
        </p:spPr>
        <p:txBody>
          <a:bodyPr wrap="square" lIns="0" tIns="0" rIns="0" bIns="0" rtlCol="0" anchor="ctr"/>
          <a:lstStyle/>
          <a:p>
            <a:pPr indent="0" marL="0">
              <a:buNone/>
            </a:pPr>
            <a:r>
              <a:rPr lang="en-US" sz="3100" b="1" dirty="0">
                <a:solidFill>
                  <a:srgbClr val="17171B"/>
                </a:solidFill>
                <a:latin typeface="Cambria" pitchFamily="34" charset="0"/>
                <a:ea typeface="Cambria" pitchFamily="34" charset="-122"/>
                <a:cs typeface="Cambria" pitchFamily="34" charset="-120"/>
              </a:rPr>
              <a:t>The country's identity card</a:t>
            </a:r>
            <a:endParaRPr lang="en-US" sz="3100" dirty="0"/>
          </a:p>
        </p:txBody>
      </p:sp>
      <p:sp>
        <p:nvSpPr>
          <p:cNvPr id="4" name="Shape 2"/>
          <p:cNvSpPr/>
          <p:nvPr/>
        </p:nvSpPr>
        <p:spPr>
          <a:xfrm>
            <a:off x="640080" y="6163056"/>
            <a:ext cx="384048" cy="384048"/>
          </a:xfrm>
          <a:prstGeom prst="ellipse">
            <a:avLst/>
          </a:prstGeom>
          <a:solidFill>
            <a:srgbClr val="E3B23C"/>
          </a:solidFill>
          <a:ln/>
        </p:spPr>
      </p:sp>
      <p:sp>
        <p:nvSpPr>
          <p:cNvPr id="5" name="Text 3"/>
          <p:cNvSpPr txBox="1"/>
          <p:nvPr/>
        </p:nvSpPr>
        <p:spPr>
          <a:xfrm>
            <a:off x="640080" y="6163056"/>
            <a:ext cx="384048" cy="384048"/>
          </a:xfrm>
          <a:prstGeom prst="rect">
            <a:avLst/>
          </a:prstGeom>
          <a:noFill/>
          <a:ln/>
        </p:spPr>
        <p:txBody>
          <a:bodyPr wrap="square" lIns="0" tIns="0" rIns="0" bIns="0" rtlCol="0" anchor="ctr"/>
          <a:lstStyle/>
          <a:p>
            <a:pPr algn="ctr" indent="0" marL="0">
              <a:buNone/>
            </a:pPr>
            <a:r>
              <a:rPr lang="en-US" sz="1200" b="1" dirty="0">
                <a:solidFill>
                  <a:srgbClr val="17171B"/>
                </a:solidFill>
                <a:latin typeface="Calibri" pitchFamily="34" charset="0"/>
                <a:ea typeface="Calibri" pitchFamily="34" charset="-122"/>
                <a:cs typeface="Calibri" pitchFamily="34" charset="-120"/>
              </a:rPr>
              <a:t>3</a:t>
            </a:r>
            <a:endParaRPr lang="en-US" sz="1200" dirty="0"/>
          </a:p>
        </p:txBody>
      </p:sp>
      <p:sp>
        <p:nvSpPr>
          <p:cNvPr id="6" name="Text 4"/>
          <p:cNvSpPr txBox="1"/>
          <p:nvPr/>
        </p:nvSpPr>
        <p:spPr>
          <a:xfrm>
            <a:off x="6035040" y="6245352"/>
            <a:ext cx="5516575" cy="237744"/>
          </a:xfrm>
          <a:prstGeom prst="rect">
            <a:avLst/>
          </a:prstGeom>
          <a:noFill/>
          <a:ln/>
        </p:spPr>
        <p:txBody>
          <a:bodyPr wrap="square" lIns="0" tIns="0" rIns="0" bIns="0" rtlCol="0" anchor="ctr"/>
          <a:lstStyle/>
          <a:p>
            <a:pPr algn="r" indent="0" marL="0">
              <a:buNone/>
            </a:pPr>
            <a:r>
              <a:rPr lang="en-US" sz="900" dirty="0">
                <a:solidFill>
                  <a:srgbClr val="70707C"/>
                </a:solidFill>
                <a:latin typeface="Calibri" pitchFamily="34" charset="0"/>
                <a:ea typeface="Calibri" pitchFamily="34" charset="-122"/>
                <a:cs typeface="Calibri" pitchFamily="34" charset="-120"/>
              </a:rPr>
              <a:t>La Belgique  ·  FREN 201  ·  Projet Francophonie</a:t>
            </a:r>
            <a:endParaRPr lang="en-US" sz="900" dirty="0"/>
          </a:p>
        </p:txBody>
      </p:sp>
      <p:sp>
        <p:nvSpPr>
          <p:cNvPr id="7" name="Shape 5"/>
          <p:cNvSpPr/>
          <p:nvPr/>
        </p:nvSpPr>
        <p:spPr>
          <a:xfrm>
            <a:off x="640080" y="1481328"/>
            <a:ext cx="1977481" cy="1188720"/>
          </a:xfrm>
          <a:prstGeom prst="roundRect">
            <a:avLst>
              <a:gd name="adj" fmla="val 6923"/>
            </a:avLst>
          </a:prstGeom>
          <a:solidFill>
            <a:srgbClr val="17171B"/>
          </a:solidFill>
          <a:ln w="12700">
            <a:solidFill>
              <a:srgbClr val="17171B"/>
            </a:solidFill>
            <a:prstDash val="solid"/>
          </a:ln>
          <a:effectLst>
            <a:outerShdw sx="100000" sy="100000" kx="0" ky="0" algn="bl" rotWithShape="0" blurRad="127000" dist="25400" dir="5400000">
              <a:srgbClr val="9A9AA6">
                <a:alpha val="22000"/>
              </a:srgbClr>
            </a:outerShdw>
          </a:effectLst>
        </p:spPr>
      </p:sp>
      <p:sp>
        <p:nvSpPr>
          <p:cNvPr id="8" name="Text 6"/>
          <p:cNvSpPr txBox="1"/>
          <p:nvPr/>
        </p:nvSpPr>
        <p:spPr>
          <a:xfrm>
            <a:off x="749808" y="1645920"/>
            <a:ext cx="1758025" cy="548640"/>
          </a:xfrm>
          <a:prstGeom prst="rect">
            <a:avLst/>
          </a:prstGeom>
          <a:noFill/>
          <a:ln/>
        </p:spPr>
        <p:txBody>
          <a:bodyPr wrap="square" lIns="0" tIns="0" rIns="0" bIns="0" rtlCol="0" anchor="ctr"/>
          <a:lstStyle/>
          <a:p>
            <a:pPr algn="ctr" indent="0" marL="0">
              <a:buNone/>
            </a:pPr>
            <a:r>
              <a:rPr lang="en-US" sz="3000" b="1" dirty="0">
                <a:solidFill>
                  <a:srgbClr val="E3B23C"/>
                </a:solidFill>
                <a:latin typeface="Cambria" pitchFamily="34" charset="0"/>
                <a:ea typeface="Cambria" pitchFamily="34" charset="-122"/>
                <a:cs typeface="Cambria" pitchFamily="34" charset="-120"/>
              </a:rPr>
              <a:t>11.8 M</a:t>
            </a:r>
            <a:endParaRPr lang="en-US" sz="3000" dirty="0"/>
          </a:p>
        </p:txBody>
      </p:sp>
      <p:sp>
        <p:nvSpPr>
          <p:cNvPr id="9" name="Text 7"/>
          <p:cNvSpPr txBox="1"/>
          <p:nvPr/>
        </p:nvSpPr>
        <p:spPr>
          <a:xfrm>
            <a:off x="731520" y="2249424"/>
            <a:ext cx="1794601" cy="292608"/>
          </a:xfrm>
          <a:prstGeom prst="rect">
            <a:avLst/>
          </a:prstGeom>
          <a:noFill/>
          <a:ln/>
        </p:spPr>
        <p:txBody>
          <a:bodyPr wrap="square" lIns="0" tIns="0" rIns="0" bIns="0" rtlCol="0" anchor="ctr"/>
          <a:lstStyle/>
          <a:p>
            <a:pPr algn="ctr" indent="0" marL="0">
              <a:buNone/>
            </a:pPr>
            <a:r>
              <a:rPr lang="en-US" sz="1050" dirty="0">
                <a:solidFill>
                  <a:srgbClr val="C9C9D2"/>
                </a:solidFill>
                <a:latin typeface="Calibri" pitchFamily="34" charset="0"/>
                <a:ea typeface="Calibri" pitchFamily="34" charset="-122"/>
                <a:cs typeface="Calibri" pitchFamily="34" charset="-120"/>
              </a:rPr>
              <a:t>inhabitants (2025)</a:t>
            </a:r>
            <a:endParaRPr lang="en-US" sz="1050" dirty="0"/>
          </a:p>
        </p:txBody>
      </p:sp>
      <p:sp>
        <p:nvSpPr>
          <p:cNvPr id="10" name="Shape 8"/>
          <p:cNvSpPr/>
          <p:nvPr/>
        </p:nvSpPr>
        <p:spPr>
          <a:xfrm>
            <a:off x="2873593" y="1481328"/>
            <a:ext cx="1977481" cy="1188720"/>
          </a:xfrm>
          <a:prstGeom prst="roundRect">
            <a:avLst>
              <a:gd name="adj" fmla="val 6923"/>
            </a:avLst>
          </a:prstGeom>
          <a:solidFill>
            <a:srgbClr val="17171B"/>
          </a:solidFill>
          <a:ln w="12700">
            <a:solidFill>
              <a:srgbClr val="17171B"/>
            </a:solidFill>
            <a:prstDash val="solid"/>
          </a:ln>
          <a:effectLst>
            <a:outerShdw sx="100000" sy="100000" kx="0" ky="0" algn="bl" rotWithShape="0" blurRad="127000" dist="25400" dir="5400000">
              <a:srgbClr val="9A9AA6">
                <a:alpha val="22000"/>
              </a:srgbClr>
            </a:outerShdw>
          </a:effectLst>
        </p:spPr>
      </p:sp>
      <p:sp>
        <p:nvSpPr>
          <p:cNvPr id="11" name="Text 9"/>
          <p:cNvSpPr txBox="1"/>
          <p:nvPr/>
        </p:nvSpPr>
        <p:spPr>
          <a:xfrm>
            <a:off x="2983321" y="1645920"/>
            <a:ext cx="1758025" cy="548640"/>
          </a:xfrm>
          <a:prstGeom prst="rect">
            <a:avLst/>
          </a:prstGeom>
          <a:noFill/>
          <a:ln/>
        </p:spPr>
        <p:txBody>
          <a:bodyPr wrap="square" lIns="0" tIns="0" rIns="0" bIns="0" rtlCol="0" anchor="ctr"/>
          <a:lstStyle/>
          <a:p>
            <a:pPr algn="ctr" indent="0" marL="0">
              <a:buNone/>
            </a:pPr>
            <a:r>
              <a:rPr lang="en-US" sz="3000" b="1" dirty="0">
                <a:solidFill>
                  <a:srgbClr val="E3B23C"/>
                </a:solidFill>
                <a:latin typeface="Cambria" pitchFamily="34" charset="0"/>
                <a:ea typeface="Cambria" pitchFamily="34" charset="-122"/>
                <a:cs typeface="Cambria" pitchFamily="34" charset="-120"/>
              </a:rPr>
              <a:t>30,689</a:t>
            </a:r>
            <a:endParaRPr lang="en-US" sz="3000" dirty="0"/>
          </a:p>
        </p:txBody>
      </p:sp>
      <p:sp>
        <p:nvSpPr>
          <p:cNvPr id="12" name="Text 10"/>
          <p:cNvSpPr txBox="1"/>
          <p:nvPr/>
        </p:nvSpPr>
        <p:spPr>
          <a:xfrm>
            <a:off x="2965033" y="2249424"/>
            <a:ext cx="1794601" cy="292608"/>
          </a:xfrm>
          <a:prstGeom prst="rect">
            <a:avLst/>
          </a:prstGeom>
          <a:noFill/>
          <a:ln/>
        </p:spPr>
        <p:txBody>
          <a:bodyPr wrap="square" lIns="0" tIns="0" rIns="0" bIns="0" rtlCol="0" anchor="ctr"/>
          <a:lstStyle/>
          <a:p>
            <a:pPr algn="ctr" indent="0" marL="0">
              <a:buNone/>
            </a:pPr>
            <a:r>
              <a:rPr lang="en-US" sz="1050" dirty="0">
                <a:solidFill>
                  <a:srgbClr val="C9C9D2"/>
                </a:solidFill>
                <a:latin typeface="Calibri" pitchFamily="34" charset="0"/>
                <a:ea typeface="Calibri" pitchFamily="34" charset="-122"/>
                <a:cs typeface="Calibri" pitchFamily="34" charset="-120"/>
              </a:rPr>
              <a:t>square kilometres</a:t>
            </a:r>
            <a:endParaRPr lang="en-US" sz="1050" dirty="0"/>
          </a:p>
        </p:txBody>
      </p:sp>
      <p:sp>
        <p:nvSpPr>
          <p:cNvPr id="13" name="Shape 11"/>
          <p:cNvSpPr/>
          <p:nvPr/>
        </p:nvSpPr>
        <p:spPr>
          <a:xfrm>
            <a:off x="5107107" y="1481328"/>
            <a:ext cx="1977481" cy="1188720"/>
          </a:xfrm>
          <a:prstGeom prst="roundRect">
            <a:avLst>
              <a:gd name="adj" fmla="val 6923"/>
            </a:avLst>
          </a:prstGeom>
          <a:solidFill>
            <a:srgbClr val="17171B"/>
          </a:solidFill>
          <a:ln w="12700">
            <a:solidFill>
              <a:srgbClr val="17171B"/>
            </a:solidFill>
            <a:prstDash val="solid"/>
          </a:ln>
          <a:effectLst>
            <a:outerShdw sx="100000" sy="100000" kx="0" ky="0" algn="bl" rotWithShape="0" blurRad="127000" dist="25400" dir="5400000">
              <a:srgbClr val="9A9AA6">
                <a:alpha val="22000"/>
              </a:srgbClr>
            </a:outerShdw>
          </a:effectLst>
        </p:spPr>
      </p:sp>
      <p:sp>
        <p:nvSpPr>
          <p:cNvPr id="14" name="Text 12"/>
          <p:cNvSpPr txBox="1"/>
          <p:nvPr/>
        </p:nvSpPr>
        <p:spPr>
          <a:xfrm>
            <a:off x="5216835" y="1645920"/>
            <a:ext cx="1758025" cy="548640"/>
          </a:xfrm>
          <a:prstGeom prst="rect">
            <a:avLst/>
          </a:prstGeom>
          <a:noFill/>
          <a:ln/>
        </p:spPr>
        <p:txBody>
          <a:bodyPr wrap="square" lIns="0" tIns="0" rIns="0" bIns="0" rtlCol="0" anchor="ctr"/>
          <a:lstStyle/>
          <a:p>
            <a:pPr algn="ctr" indent="0" marL="0">
              <a:buNone/>
            </a:pPr>
            <a:r>
              <a:rPr lang="en-US" sz="3000" b="1" dirty="0">
                <a:solidFill>
                  <a:srgbClr val="E3B23C"/>
                </a:solidFill>
                <a:latin typeface="Cambria" pitchFamily="34" charset="0"/>
                <a:ea typeface="Cambria" pitchFamily="34" charset="-122"/>
                <a:cs typeface="Cambria" pitchFamily="34" charset="-120"/>
              </a:rPr>
              <a:t>389</a:t>
            </a:r>
            <a:endParaRPr lang="en-US" sz="3000" dirty="0"/>
          </a:p>
        </p:txBody>
      </p:sp>
      <p:sp>
        <p:nvSpPr>
          <p:cNvPr id="15" name="Text 13"/>
          <p:cNvSpPr txBox="1"/>
          <p:nvPr/>
        </p:nvSpPr>
        <p:spPr>
          <a:xfrm>
            <a:off x="5198547" y="2249424"/>
            <a:ext cx="1794601" cy="292608"/>
          </a:xfrm>
          <a:prstGeom prst="rect">
            <a:avLst/>
          </a:prstGeom>
          <a:noFill/>
          <a:ln/>
        </p:spPr>
        <p:txBody>
          <a:bodyPr wrap="square" lIns="0" tIns="0" rIns="0" bIns="0" rtlCol="0" anchor="ctr"/>
          <a:lstStyle/>
          <a:p>
            <a:pPr algn="ctr" indent="0" marL="0">
              <a:buNone/>
            </a:pPr>
            <a:r>
              <a:rPr lang="en-US" sz="1050" dirty="0">
                <a:solidFill>
                  <a:srgbClr val="C9C9D2"/>
                </a:solidFill>
                <a:latin typeface="Calibri" pitchFamily="34" charset="0"/>
                <a:ea typeface="Calibri" pitchFamily="34" charset="-122"/>
                <a:cs typeface="Calibri" pitchFamily="34" charset="-120"/>
              </a:rPr>
              <a:t>people per km²</a:t>
            </a:r>
            <a:endParaRPr lang="en-US" sz="1050" dirty="0"/>
          </a:p>
        </p:txBody>
      </p:sp>
      <p:sp>
        <p:nvSpPr>
          <p:cNvPr id="16" name="Shape 14"/>
          <p:cNvSpPr/>
          <p:nvPr/>
        </p:nvSpPr>
        <p:spPr>
          <a:xfrm>
            <a:off x="7340620" y="1481328"/>
            <a:ext cx="1977481" cy="1188720"/>
          </a:xfrm>
          <a:prstGeom prst="roundRect">
            <a:avLst>
              <a:gd name="adj" fmla="val 6923"/>
            </a:avLst>
          </a:prstGeom>
          <a:solidFill>
            <a:srgbClr val="17171B"/>
          </a:solidFill>
          <a:ln w="12700">
            <a:solidFill>
              <a:srgbClr val="17171B"/>
            </a:solidFill>
            <a:prstDash val="solid"/>
          </a:ln>
          <a:effectLst>
            <a:outerShdw sx="100000" sy="100000" kx="0" ky="0" algn="bl" rotWithShape="0" blurRad="127000" dist="25400" dir="5400000">
              <a:srgbClr val="9A9AA6">
                <a:alpha val="22000"/>
              </a:srgbClr>
            </a:outerShdw>
          </a:effectLst>
        </p:spPr>
      </p:sp>
      <p:sp>
        <p:nvSpPr>
          <p:cNvPr id="17" name="Text 15"/>
          <p:cNvSpPr txBox="1"/>
          <p:nvPr/>
        </p:nvSpPr>
        <p:spPr>
          <a:xfrm>
            <a:off x="7450348" y="1645920"/>
            <a:ext cx="1758025" cy="548640"/>
          </a:xfrm>
          <a:prstGeom prst="rect">
            <a:avLst/>
          </a:prstGeom>
          <a:noFill/>
          <a:ln/>
        </p:spPr>
        <p:txBody>
          <a:bodyPr wrap="square" lIns="0" tIns="0" rIns="0" bIns="0" rtlCol="0" anchor="ctr"/>
          <a:lstStyle/>
          <a:p>
            <a:pPr algn="ctr" indent="0" marL="0">
              <a:buNone/>
            </a:pPr>
            <a:r>
              <a:rPr lang="en-US" sz="3000" b="1" dirty="0">
                <a:solidFill>
                  <a:srgbClr val="E3B23C"/>
                </a:solidFill>
                <a:latin typeface="Cambria" pitchFamily="34" charset="0"/>
                <a:ea typeface="Cambria" pitchFamily="34" charset="-122"/>
                <a:cs typeface="Cambria" pitchFamily="34" charset="-120"/>
              </a:rPr>
              <a:t>3</a:t>
            </a:r>
            <a:endParaRPr lang="en-US" sz="3000" dirty="0"/>
          </a:p>
        </p:txBody>
      </p:sp>
      <p:sp>
        <p:nvSpPr>
          <p:cNvPr id="18" name="Text 16"/>
          <p:cNvSpPr txBox="1"/>
          <p:nvPr/>
        </p:nvSpPr>
        <p:spPr>
          <a:xfrm>
            <a:off x="7432060" y="2249424"/>
            <a:ext cx="1794601" cy="292608"/>
          </a:xfrm>
          <a:prstGeom prst="rect">
            <a:avLst/>
          </a:prstGeom>
          <a:noFill/>
          <a:ln/>
        </p:spPr>
        <p:txBody>
          <a:bodyPr wrap="square" lIns="0" tIns="0" rIns="0" bIns="0" rtlCol="0" anchor="ctr"/>
          <a:lstStyle/>
          <a:p>
            <a:pPr algn="ctr" indent="0" marL="0">
              <a:buNone/>
            </a:pPr>
            <a:r>
              <a:rPr lang="en-US" sz="1050" dirty="0">
                <a:solidFill>
                  <a:srgbClr val="C9C9D2"/>
                </a:solidFill>
                <a:latin typeface="Calibri" pitchFamily="34" charset="0"/>
                <a:ea typeface="Calibri" pitchFamily="34" charset="-122"/>
                <a:cs typeface="Calibri" pitchFamily="34" charset="-120"/>
              </a:rPr>
              <a:t>official languages</a:t>
            </a:r>
            <a:endParaRPr lang="en-US" sz="1050" dirty="0"/>
          </a:p>
        </p:txBody>
      </p:sp>
      <p:sp>
        <p:nvSpPr>
          <p:cNvPr id="19" name="Shape 17"/>
          <p:cNvSpPr/>
          <p:nvPr/>
        </p:nvSpPr>
        <p:spPr>
          <a:xfrm>
            <a:off x="9574134" y="1481328"/>
            <a:ext cx="1977481" cy="1188720"/>
          </a:xfrm>
          <a:prstGeom prst="roundRect">
            <a:avLst>
              <a:gd name="adj" fmla="val 6923"/>
            </a:avLst>
          </a:prstGeom>
          <a:solidFill>
            <a:srgbClr val="17171B"/>
          </a:solidFill>
          <a:ln w="12700">
            <a:solidFill>
              <a:srgbClr val="17171B"/>
            </a:solidFill>
            <a:prstDash val="solid"/>
          </a:ln>
          <a:effectLst>
            <a:outerShdw sx="100000" sy="100000" kx="0" ky="0" algn="bl" rotWithShape="0" blurRad="127000" dist="25400" dir="5400000">
              <a:srgbClr val="9A9AA6">
                <a:alpha val="22000"/>
              </a:srgbClr>
            </a:outerShdw>
          </a:effectLst>
        </p:spPr>
      </p:sp>
      <p:sp>
        <p:nvSpPr>
          <p:cNvPr id="20" name="Text 18"/>
          <p:cNvSpPr txBox="1"/>
          <p:nvPr/>
        </p:nvSpPr>
        <p:spPr>
          <a:xfrm>
            <a:off x="9683862" y="1645920"/>
            <a:ext cx="1758025" cy="548640"/>
          </a:xfrm>
          <a:prstGeom prst="rect">
            <a:avLst/>
          </a:prstGeom>
          <a:noFill/>
          <a:ln/>
        </p:spPr>
        <p:txBody>
          <a:bodyPr wrap="square" lIns="0" tIns="0" rIns="0" bIns="0" rtlCol="0" anchor="ctr"/>
          <a:lstStyle/>
          <a:p>
            <a:pPr algn="ctr" indent="0" marL="0">
              <a:buNone/>
            </a:pPr>
            <a:r>
              <a:rPr lang="en-US" sz="3000" b="1" dirty="0">
                <a:solidFill>
                  <a:srgbClr val="E3B23C"/>
                </a:solidFill>
                <a:latin typeface="Cambria" pitchFamily="34" charset="0"/>
                <a:ea typeface="Cambria" pitchFamily="34" charset="-122"/>
                <a:cs typeface="Cambria" pitchFamily="34" charset="-120"/>
              </a:rPr>
              <a:t>1830</a:t>
            </a:r>
            <a:endParaRPr lang="en-US" sz="3000" dirty="0"/>
          </a:p>
        </p:txBody>
      </p:sp>
      <p:sp>
        <p:nvSpPr>
          <p:cNvPr id="21" name="Text 19"/>
          <p:cNvSpPr txBox="1"/>
          <p:nvPr/>
        </p:nvSpPr>
        <p:spPr>
          <a:xfrm>
            <a:off x="9665574" y="2249424"/>
            <a:ext cx="1794601" cy="292608"/>
          </a:xfrm>
          <a:prstGeom prst="rect">
            <a:avLst/>
          </a:prstGeom>
          <a:noFill/>
          <a:ln/>
        </p:spPr>
        <p:txBody>
          <a:bodyPr wrap="square" lIns="0" tIns="0" rIns="0" bIns="0" rtlCol="0" anchor="ctr"/>
          <a:lstStyle/>
          <a:p>
            <a:pPr algn="ctr" indent="0" marL="0">
              <a:buNone/>
            </a:pPr>
            <a:r>
              <a:rPr lang="en-US" sz="1050" dirty="0">
                <a:solidFill>
                  <a:srgbClr val="C9C9D2"/>
                </a:solidFill>
                <a:latin typeface="Calibri" pitchFamily="34" charset="0"/>
                <a:ea typeface="Calibri" pitchFamily="34" charset="-122"/>
                <a:cs typeface="Calibri" pitchFamily="34" charset="-120"/>
              </a:rPr>
              <a:t>independence declared</a:t>
            </a:r>
            <a:endParaRPr lang="en-US" sz="1050" dirty="0"/>
          </a:p>
        </p:txBody>
      </p:sp>
      <p:sp>
        <p:nvSpPr>
          <p:cNvPr id="22" name="Text 20"/>
          <p:cNvSpPr txBox="1"/>
          <p:nvPr/>
        </p:nvSpPr>
        <p:spPr>
          <a:xfrm>
            <a:off x="640080" y="2834640"/>
            <a:ext cx="6537960" cy="237744"/>
          </a:xfrm>
          <a:prstGeom prst="rect">
            <a:avLst/>
          </a:prstGeom>
          <a:noFill/>
          <a:ln/>
        </p:spPr>
        <p:txBody>
          <a:bodyPr wrap="square" lIns="0" tIns="0" rIns="0" bIns="0" rtlCol="0" anchor="ctr"/>
          <a:lstStyle/>
          <a:p>
            <a:pPr indent="0" marL="0">
              <a:buNone/>
            </a:pPr>
            <a:r>
              <a:rPr lang="en-US" sz="1050" b="1" spc="120" kern="0" dirty="0">
                <a:solidFill>
                  <a:srgbClr val="E3B23C"/>
                </a:solidFill>
                <a:latin typeface="Calibri" pitchFamily="34" charset="0"/>
                <a:ea typeface="Calibri" pitchFamily="34" charset="-122"/>
                <a:cs typeface="Calibri" pitchFamily="34" charset="-120"/>
              </a:rPr>
              <a:t>CARTE D'IDENTITÉ</a:t>
            </a:r>
            <a:endParaRPr lang="en-US" sz="1050" dirty="0"/>
          </a:p>
        </p:txBody>
      </p:sp>
      <p:sp>
        <p:nvSpPr>
          <p:cNvPr id="23" name="Text 21"/>
          <p:cNvSpPr txBox="1"/>
          <p:nvPr/>
        </p:nvSpPr>
        <p:spPr>
          <a:xfrm>
            <a:off x="640080" y="3127248"/>
            <a:ext cx="1600200" cy="320040"/>
          </a:xfrm>
          <a:prstGeom prst="rect">
            <a:avLst/>
          </a:prstGeom>
          <a:noFill/>
          <a:ln/>
        </p:spPr>
        <p:txBody>
          <a:bodyPr wrap="square" lIns="0" tIns="0" rIns="0" bIns="0" rtlCol="0" anchor="t"/>
          <a:lstStyle/>
          <a:p>
            <a:pPr indent="0" marL="0">
              <a:buNone/>
            </a:pPr>
            <a:r>
              <a:rPr lang="en-US" sz="1150" b="1" dirty="0">
                <a:solidFill>
                  <a:srgbClr val="17171B"/>
                </a:solidFill>
                <a:latin typeface="Calibri" pitchFamily="34" charset="0"/>
                <a:ea typeface="Calibri" pitchFamily="34" charset="-122"/>
                <a:cs typeface="Calibri" pitchFamily="34" charset="-120"/>
              </a:rPr>
              <a:t>Official name</a:t>
            </a:r>
            <a:endParaRPr lang="en-US" sz="1150" dirty="0"/>
          </a:p>
        </p:txBody>
      </p:sp>
      <p:sp>
        <p:nvSpPr>
          <p:cNvPr id="24" name="Text 22"/>
          <p:cNvSpPr txBox="1"/>
          <p:nvPr/>
        </p:nvSpPr>
        <p:spPr>
          <a:xfrm>
            <a:off x="2240280" y="3127248"/>
            <a:ext cx="4937760" cy="320040"/>
          </a:xfrm>
          <a:prstGeom prst="rect">
            <a:avLst/>
          </a:prstGeom>
          <a:noFill/>
          <a:ln/>
        </p:spPr>
        <p:txBody>
          <a:bodyPr wrap="square" lIns="0" tIns="0" rIns="0" bIns="0" rtlCol="0" anchor="t"/>
          <a:lstStyle/>
          <a:p>
            <a:pPr indent="0" marL="0">
              <a:buNone/>
            </a:pPr>
            <a:r>
              <a:rPr lang="en-US" sz="1150" dirty="0">
                <a:solidFill>
                  <a:srgbClr val="3E3E48"/>
                </a:solidFill>
                <a:latin typeface="Calibri" pitchFamily="34" charset="0"/>
                <a:ea typeface="Calibri" pitchFamily="34" charset="-122"/>
                <a:cs typeface="Calibri" pitchFamily="34" charset="-120"/>
              </a:rPr>
              <a:t>Royaume de Belgique · Koninkrijk België · Königreich Belgien</a:t>
            </a:r>
            <a:endParaRPr lang="en-US" sz="1150" dirty="0"/>
          </a:p>
        </p:txBody>
      </p:sp>
      <p:sp>
        <p:nvSpPr>
          <p:cNvPr id="25" name="Text 23"/>
          <p:cNvSpPr txBox="1"/>
          <p:nvPr/>
        </p:nvSpPr>
        <p:spPr>
          <a:xfrm>
            <a:off x="640080" y="3447288"/>
            <a:ext cx="1600200" cy="320040"/>
          </a:xfrm>
          <a:prstGeom prst="rect">
            <a:avLst/>
          </a:prstGeom>
          <a:noFill/>
          <a:ln/>
        </p:spPr>
        <p:txBody>
          <a:bodyPr wrap="square" lIns="0" tIns="0" rIns="0" bIns="0" rtlCol="0" anchor="t"/>
          <a:lstStyle/>
          <a:p>
            <a:pPr indent="0" marL="0">
              <a:buNone/>
            </a:pPr>
            <a:r>
              <a:rPr lang="en-US" sz="1150" b="1" dirty="0">
                <a:solidFill>
                  <a:srgbClr val="17171B"/>
                </a:solidFill>
                <a:latin typeface="Calibri" pitchFamily="34" charset="0"/>
                <a:ea typeface="Calibri" pitchFamily="34" charset="-122"/>
                <a:cs typeface="Calibri" pitchFamily="34" charset="-120"/>
              </a:rPr>
              <a:t>Capital</a:t>
            </a:r>
            <a:endParaRPr lang="en-US" sz="1150" dirty="0"/>
          </a:p>
        </p:txBody>
      </p:sp>
      <p:sp>
        <p:nvSpPr>
          <p:cNvPr id="26" name="Text 24"/>
          <p:cNvSpPr txBox="1"/>
          <p:nvPr/>
        </p:nvSpPr>
        <p:spPr>
          <a:xfrm>
            <a:off x="2240280" y="3447288"/>
            <a:ext cx="4937760" cy="320040"/>
          </a:xfrm>
          <a:prstGeom prst="rect">
            <a:avLst/>
          </a:prstGeom>
          <a:noFill/>
          <a:ln/>
        </p:spPr>
        <p:txBody>
          <a:bodyPr wrap="square" lIns="0" tIns="0" rIns="0" bIns="0" rtlCol="0" anchor="t"/>
          <a:lstStyle/>
          <a:p>
            <a:pPr indent="0" marL="0">
              <a:buNone/>
            </a:pPr>
            <a:r>
              <a:rPr lang="en-US" sz="1150" dirty="0">
                <a:solidFill>
                  <a:srgbClr val="3E3E48"/>
                </a:solidFill>
                <a:latin typeface="Calibri" pitchFamily="34" charset="0"/>
                <a:ea typeface="Calibri" pitchFamily="34" charset="-122"/>
                <a:cs typeface="Calibri" pitchFamily="34" charset="-120"/>
              </a:rPr>
              <a:t>Brussels (Bruxelles / Brussel) — officially bilingual</a:t>
            </a:r>
            <a:endParaRPr lang="en-US" sz="1150" dirty="0"/>
          </a:p>
        </p:txBody>
      </p:sp>
      <p:sp>
        <p:nvSpPr>
          <p:cNvPr id="27" name="Text 25"/>
          <p:cNvSpPr txBox="1"/>
          <p:nvPr/>
        </p:nvSpPr>
        <p:spPr>
          <a:xfrm>
            <a:off x="640080" y="3767328"/>
            <a:ext cx="1600200" cy="320040"/>
          </a:xfrm>
          <a:prstGeom prst="rect">
            <a:avLst/>
          </a:prstGeom>
          <a:noFill/>
          <a:ln/>
        </p:spPr>
        <p:txBody>
          <a:bodyPr wrap="square" lIns="0" tIns="0" rIns="0" bIns="0" rtlCol="0" anchor="t"/>
          <a:lstStyle/>
          <a:p>
            <a:pPr indent="0" marL="0">
              <a:buNone/>
            </a:pPr>
            <a:r>
              <a:rPr lang="en-US" sz="1150" b="1" dirty="0">
                <a:solidFill>
                  <a:srgbClr val="17171B"/>
                </a:solidFill>
                <a:latin typeface="Calibri" pitchFamily="34" charset="0"/>
                <a:ea typeface="Calibri" pitchFamily="34" charset="-122"/>
                <a:cs typeface="Calibri" pitchFamily="34" charset="-120"/>
              </a:rPr>
              <a:t>Status</a:t>
            </a:r>
            <a:endParaRPr lang="en-US" sz="1150" dirty="0"/>
          </a:p>
        </p:txBody>
      </p:sp>
      <p:sp>
        <p:nvSpPr>
          <p:cNvPr id="28" name="Text 26"/>
          <p:cNvSpPr txBox="1"/>
          <p:nvPr/>
        </p:nvSpPr>
        <p:spPr>
          <a:xfrm>
            <a:off x="2240280" y="3767328"/>
            <a:ext cx="4937760" cy="320040"/>
          </a:xfrm>
          <a:prstGeom prst="rect">
            <a:avLst/>
          </a:prstGeom>
          <a:noFill/>
          <a:ln/>
        </p:spPr>
        <p:txBody>
          <a:bodyPr wrap="square" lIns="0" tIns="0" rIns="0" bIns="0" rtlCol="0" anchor="t"/>
          <a:lstStyle/>
          <a:p>
            <a:pPr indent="0" marL="0">
              <a:buNone/>
            </a:pPr>
            <a:r>
              <a:rPr lang="en-US" sz="1150" dirty="0">
                <a:solidFill>
                  <a:srgbClr val="3E3E48"/>
                </a:solidFill>
                <a:latin typeface="Calibri" pitchFamily="34" charset="0"/>
                <a:ea typeface="Calibri" pitchFamily="34" charset="-122"/>
                <a:cs typeface="Calibri" pitchFamily="34" charset="-120"/>
              </a:rPr>
              <a:t>Fully independent sovereign state since 1830</a:t>
            </a:r>
            <a:endParaRPr lang="en-US" sz="1150" dirty="0"/>
          </a:p>
        </p:txBody>
      </p:sp>
      <p:sp>
        <p:nvSpPr>
          <p:cNvPr id="29" name="Text 27"/>
          <p:cNvSpPr txBox="1"/>
          <p:nvPr/>
        </p:nvSpPr>
        <p:spPr>
          <a:xfrm>
            <a:off x="640080" y="4087368"/>
            <a:ext cx="1600200" cy="320040"/>
          </a:xfrm>
          <a:prstGeom prst="rect">
            <a:avLst/>
          </a:prstGeom>
          <a:noFill/>
          <a:ln/>
        </p:spPr>
        <p:txBody>
          <a:bodyPr wrap="square" lIns="0" tIns="0" rIns="0" bIns="0" rtlCol="0" anchor="t"/>
          <a:lstStyle/>
          <a:p>
            <a:pPr indent="0" marL="0">
              <a:buNone/>
            </a:pPr>
            <a:r>
              <a:rPr lang="en-US" sz="1150" b="1" dirty="0">
                <a:solidFill>
                  <a:srgbClr val="17171B"/>
                </a:solidFill>
                <a:latin typeface="Calibri" pitchFamily="34" charset="0"/>
                <a:ea typeface="Calibri" pitchFamily="34" charset="-122"/>
                <a:cs typeface="Calibri" pitchFamily="34" charset="-120"/>
              </a:rPr>
              <a:t>Government</a:t>
            </a:r>
            <a:endParaRPr lang="en-US" sz="1150" dirty="0"/>
          </a:p>
        </p:txBody>
      </p:sp>
      <p:sp>
        <p:nvSpPr>
          <p:cNvPr id="30" name="Text 28"/>
          <p:cNvSpPr txBox="1"/>
          <p:nvPr/>
        </p:nvSpPr>
        <p:spPr>
          <a:xfrm>
            <a:off x="2240280" y="4087368"/>
            <a:ext cx="4937760" cy="320040"/>
          </a:xfrm>
          <a:prstGeom prst="rect">
            <a:avLst/>
          </a:prstGeom>
          <a:noFill/>
          <a:ln/>
        </p:spPr>
        <p:txBody>
          <a:bodyPr wrap="square" lIns="0" tIns="0" rIns="0" bIns="0" rtlCol="0" anchor="t"/>
          <a:lstStyle/>
          <a:p>
            <a:pPr indent="0" marL="0">
              <a:buNone/>
            </a:pPr>
            <a:r>
              <a:rPr lang="en-US" sz="1150" dirty="0">
                <a:solidFill>
                  <a:srgbClr val="3E3E48"/>
                </a:solidFill>
                <a:latin typeface="Calibri" pitchFamily="34" charset="0"/>
                <a:ea typeface="Calibri" pitchFamily="34" charset="-122"/>
                <a:cs typeface="Calibri" pitchFamily="34" charset="-120"/>
              </a:rPr>
              <a:t>Federal parliamentary constitutional monarchy</a:t>
            </a:r>
            <a:endParaRPr lang="en-US" sz="1150" dirty="0"/>
          </a:p>
        </p:txBody>
      </p:sp>
      <p:sp>
        <p:nvSpPr>
          <p:cNvPr id="31" name="Text 29"/>
          <p:cNvSpPr txBox="1"/>
          <p:nvPr/>
        </p:nvSpPr>
        <p:spPr>
          <a:xfrm>
            <a:off x="640080" y="4407408"/>
            <a:ext cx="1600200" cy="320040"/>
          </a:xfrm>
          <a:prstGeom prst="rect">
            <a:avLst/>
          </a:prstGeom>
          <a:noFill/>
          <a:ln/>
        </p:spPr>
        <p:txBody>
          <a:bodyPr wrap="square" lIns="0" tIns="0" rIns="0" bIns="0" rtlCol="0" anchor="t"/>
          <a:lstStyle/>
          <a:p>
            <a:pPr indent="0" marL="0">
              <a:buNone/>
            </a:pPr>
            <a:r>
              <a:rPr lang="en-US" sz="1150" b="1" dirty="0">
                <a:solidFill>
                  <a:srgbClr val="17171B"/>
                </a:solidFill>
                <a:latin typeface="Calibri" pitchFamily="34" charset="0"/>
                <a:ea typeface="Calibri" pitchFamily="34" charset="-122"/>
                <a:cs typeface="Calibri" pitchFamily="34" charset="-120"/>
              </a:rPr>
              <a:t>Head of State</a:t>
            </a:r>
            <a:endParaRPr lang="en-US" sz="1150" dirty="0"/>
          </a:p>
        </p:txBody>
      </p:sp>
      <p:sp>
        <p:nvSpPr>
          <p:cNvPr id="32" name="Text 30"/>
          <p:cNvSpPr txBox="1"/>
          <p:nvPr/>
        </p:nvSpPr>
        <p:spPr>
          <a:xfrm>
            <a:off x="2240280" y="4407408"/>
            <a:ext cx="4937760" cy="320040"/>
          </a:xfrm>
          <a:prstGeom prst="rect">
            <a:avLst/>
          </a:prstGeom>
          <a:noFill/>
          <a:ln/>
        </p:spPr>
        <p:txBody>
          <a:bodyPr wrap="square" lIns="0" tIns="0" rIns="0" bIns="0" rtlCol="0" anchor="t"/>
          <a:lstStyle/>
          <a:p>
            <a:pPr indent="0" marL="0">
              <a:buNone/>
            </a:pPr>
            <a:r>
              <a:rPr lang="en-US" sz="1150" dirty="0">
                <a:solidFill>
                  <a:srgbClr val="3E3E48"/>
                </a:solidFill>
                <a:latin typeface="Calibri" pitchFamily="34" charset="0"/>
                <a:ea typeface="Calibri" pitchFamily="34" charset="-122"/>
                <a:cs typeface="Calibri" pitchFamily="34" charset="-120"/>
              </a:rPr>
              <a:t>King Philippe, King of the Belgians (since 21 July 2013)</a:t>
            </a:r>
            <a:endParaRPr lang="en-US" sz="1150" dirty="0"/>
          </a:p>
        </p:txBody>
      </p:sp>
      <p:sp>
        <p:nvSpPr>
          <p:cNvPr id="33" name="Text 31"/>
          <p:cNvSpPr txBox="1"/>
          <p:nvPr/>
        </p:nvSpPr>
        <p:spPr>
          <a:xfrm>
            <a:off x="640080" y="4727448"/>
            <a:ext cx="1600200" cy="320040"/>
          </a:xfrm>
          <a:prstGeom prst="rect">
            <a:avLst/>
          </a:prstGeom>
          <a:noFill/>
          <a:ln/>
        </p:spPr>
        <p:txBody>
          <a:bodyPr wrap="square" lIns="0" tIns="0" rIns="0" bIns="0" rtlCol="0" anchor="t"/>
          <a:lstStyle/>
          <a:p>
            <a:pPr indent="0" marL="0">
              <a:buNone/>
            </a:pPr>
            <a:r>
              <a:rPr lang="en-US" sz="1150" b="1" dirty="0">
                <a:solidFill>
                  <a:srgbClr val="17171B"/>
                </a:solidFill>
                <a:latin typeface="Calibri" pitchFamily="34" charset="0"/>
                <a:ea typeface="Calibri" pitchFamily="34" charset="-122"/>
                <a:cs typeface="Calibri" pitchFamily="34" charset="-120"/>
              </a:rPr>
              <a:t>Prime Minister</a:t>
            </a:r>
            <a:endParaRPr lang="en-US" sz="1150" dirty="0"/>
          </a:p>
        </p:txBody>
      </p:sp>
      <p:sp>
        <p:nvSpPr>
          <p:cNvPr id="34" name="Text 32"/>
          <p:cNvSpPr txBox="1"/>
          <p:nvPr/>
        </p:nvSpPr>
        <p:spPr>
          <a:xfrm>
            <a:off x="2240280" y="4727448"/>
            <a:ext cx="4937760" cy="320040"/>
          </a:xfrm>
          <a:prstGeom prst="rect">
            <a:avLst/>
          </a:prstGeom>
          <a:noFill/>
          <a:ln/>
        </p:spPr>
        <p:txBody>
          <a:bodyPr wrap="square" lIns="0" tIns="0" rIns="0" bIns="0" rtlCol="0" anchor="t"/>
          <a:lstStyle/>
          <a:p>
            <a:pPr indent="0" marL="0">
              <a:buNone/>
            </a:pPr>
            <a:r>
              <a:rPr lang="en-US" sz="1150" dirty="0">
                <a:solidFill>
                  <a:srgbClr val="3E3E48"/>
                </a:solidFill>
                <a:latin typeface="Calibri" pitchFamily="34" charset="0"/>
                <a:ea typeface="Calibri" pitchFamily="34" charset="-122"/>
                <a:cs typeface="Calibri" pitchFamily="34" charset="-120"/>
              </a:rPr>
              <a:t>Bart De Wever (since 3 February 2025)</a:t>
            </a:r>
            <a:endParaRPr lang="en-US" sz="1150" dirty="0"/>
          </a:p>
        </p:txBody>
      </p:sp>
      <p:sp>
        <p:nvSpPr>
          <p:cNvPr id="35" name="Text 33"/>
          <p:cNvSpPr txBox="1"/>
          <p:nvPr/>
        </p:nvSpPr>
        <p:spPr>
          <a:xfrm>
            <a:off x="640080" y="5047488"/>
            <a:ext cx="1600200" cy="320040"/>
          </a:xfrm>
          <a:prstGeom prst="rect">
            <a:avLst/>
          </a:prstGeom>
          <a:noFill/>
          <a:ln/>
        </p:spPr>
        <p:txBody>
          <a:bodyPr wrap="square" lIns="0" tIns="0" rIns="0" bIns="0" rtlCol="0" anchor="t"/>
          <a:lstStyle/>
          <a:p>
            <a:pPr indent="0" marL="0">
              <a:buNone/>
            </a:pPr>
            <a:r>
              <a:rPr lang="en-US" sz="1150" b="1" dirty="0">
                <a:solidFill>
                  <a:srgbClr val="17171B"/>
                </a:solidFill>
                <a:latin typeface="Calibri" pitchFamily="34" charset="0"/>
                <a:ea typeface="Calibri" pitchFamily="34" charset="-122"/>
                <a:cs typeface="Calibri" pitchFamily="34" charset="-120"/>
              </a:rPr>
              <a:t>Currency</a:t>
            </a:r>
            <a:endParaRPr lang="en-US" sz="1150" dirty="0"/>
          </a:p>
        </p:txBody>
      </p:sp>
      <p:sp>
        <p:nvSpPr>
          <p:cNvPr id="36" name="Text 34"/>
          <p:cNvSpPr txBox="1"/>
          <p:nvPr/>
        </p:nvSpPr>
        <p:spPr>
          <a:xfrm>
            <a:off x="2240280" y="5047488"/>
            <a:ext cx="4937760" cy="320040"/>
          </a:xfrm>
          <a:prstGeom prst="rect">
            <a:avLst/>
          </a:prstGeom>
          <a:noFill/>
          <a:ln/>
        </p:spPr>
        <p:txBody>
          <a:bodyPr wrap="square" lIns="0" tIns="0" rIns="0" bIns="0" rtlCol="0" anchor="t"/>
          <a:lstStyle/>
          <a:p>
            <a:pPr indent="0" marL="0">
              <a:buNone/>
            </a:pPr>
            <a:r>
              <a:rPr lang="en-US" sz="1150" dirty="0">
                <a:solidFill>
                  <a:srgbClr val="3E3E48"/>
                </a:solidFill>
                <a:latin typeface="Calibri" pitchFamily="34" charset="0"/>
                <a:ea typeface="Calibri" pitchFamily="34" charset="-122"/>
                <a:cs typeface="Calibri" pitchFamily="34" charset="-120"/>
              </a:rPr>
              <a:t>Euro (€) — founding member of the eurozone</a:t>
            </a:r>
            <a:endParaRPr lang="en-US" sz="1150" dirty="0"/>
          </a:p>
        </p:txBody>
      </p:sp>
      <p:sp>
        <p:nvSpPr>
          <p:cNvPr id="37" name="Text 35"/>
          <p:cNvSpPr txBox="1"/>
          <p:nvPr/>
        </p:nvSpPr>
        <p:spPr>
          <a:xfrm>
            <a:off x="640080" y="5367528"/>
            <a:ext cx="1600200" cy="320040"/>
          </a:xfrm>
          <a:prstGeom prst="rect">
            <a:avLst/>
          </a:prstGeom>
          <a:noFill/>
          <a:ln/>
        </p:spPr>
        <p:txBody>
          <a:bodyPr wrap="square" lIns="0" tIns="0" rIns="0" bIns="0" rtlCol="0" anchor="t"/>
          <a:lstStyle/>
          <a:p>
            <a:pPr indent="0" marL="0">
              <a:buNone/>
            </a:pPr>
            <a:r>
              <a:rPr lang="en-US" sz="1150" b="1" dirty="0">
                <a:solidFill>
                  <a:srgbClr val="17171B"/>
                </a:solidFill>
                <a:latin typeface="Calibri" pitchFamily="34" charset="0"/>
                <a:ea typeface="Calibri" pitchFamily="34" charset="-122"/>
                <a:cs typeface="Calibri" pitchFamily="34" charset="-120"/>
              </a:rPr>
              <a:t>National day</a:t>
            </a:r>
            <a:endParaRPr lang="en-US" sz="1150" dirty="0"/>
          </a:p>
        </p:txBody>
      </p:sp>
      <p:sp>
        <p:nvSpPr>
          <p:cNvPr id="38" name="Text 36"/>
          <p:cNvSpPr txBox="1"/>
          <p:nvPr/>
        </p:nvSpPr>
        <p:spPr>
          <a:xfrm>
            <a:off x="2240280" y="5367528"/>
            <a:ext cx="4937760" cy="320040"/>
          </a:xfrm>
          <a:prstGeom prst="rect">
            <a:avLst/>
          </a:prstGeom>
          <a:noFill/>
          <a:ln/>
        </p:spPr>
        <p:txBody>
          <a:bodyPr wrap="square" lIns="0" tIns="0" rIns="0" bIns="0" rtlCol="0" anchor="t"/>
          <a:lstStyle/>
          <a:p>
            <a:pPr indent="0" marL="0">
              <a:buNone/>
            </a:pPr>
            <a:r>
              <a:rPr lang="en-US" sz="1150" dirty="0">
                <a:solidFill>
                  <a:srgbClr val="3E3E48"/>
                </a:solidFill>
                <a:latin typeface="Calibri" pitchFamily="34" charset="0"/>
                <a:ea typeface="Calibri" pitchFamily="34" charset="-122"/>
                <a:cs typeface="Calibri" pitchFamily="34" charset="-120"/>
              </a:rPr>
              <a:t>21 July — accession of Leopold I in 1831</a:t>
            </a:r>
            <a:endParaRPr lang="en-US" sz="1150" dirty="0"/>
          </a:p>
        </p:txBody>
      </p:sp>
      <p:sp>
        <p:nvSpPr>
          <p:cNvPr id="39" name="Text 37"/>
          <p:cNvSpPr txBox="1"/>
          <p:nvPr/>
        </p:nvSpPr>
        <p:spPr>
          <a:xfrm>
            <a:off x="640080" y="5687568"/>
            <a:ext cx="1600200" cy="320040"/>
          </a:xfrm>
          <a:prstGeom prst="rect">
            <a:avLst/>
          </a:prstGeom>
          <a:noFill/>
          <a:ln/>
        </p:spPr>
        <p:txBody>
          <a:bodyPr wrap="square" lIns="0" tIns="0" rIns="0" bIns="0" rtlCol="0" anchor="t"/>
          <a:lstStyle/>
          <a:p>
            <a:pPr indent="0" marL="0">
              <a:buNone/>
            </a:pPr>
            <a:r>
              <a:rPr lang="en-US" sz="1150" b="1" dirty="0">
                <a:solidFill>
                  <a:srgbClr val="17171B"/>
                </a:solidFill>
                <a:latin typeface="Calibri" pitchFamily="34" charset="0"/>
                <a:ea typeface="Calibri" pitchFamily="34" charset="-122"/>
                <a:cs typeface="Calibri" pitchFamily="34" charset="-120"/>
              </a:rPr>
              <a:t>Member of</a:t>
            </a:r>
            <a:endParaRPr lang="en-US" sz="1150" dirty="0"/>
          </a:p>
        </p:txBody>
      </p:sp>
      <p:sp>
        <p:nvSpPr>
          <p:cNvPr id="40" name="Text 38"/>
          <p:cNvSpPr txBox="1"/>
          <p:nvPr/>
        </p:nvSpPr>
        <p:spPr>
          <a:xfrm>
            <a:off x="2240280" y="5687568"/>
            <a:ext cx="4937760" cy="320040"/>
          </a:xfrm>
          <a:prstGeom prst="rect">
            <a:avLst/>
          </a:prstGeom>
          <a:noFill/>
          <a:ln/>
        </p:spPr>
        <p:txBody>
          <a:bodyPr wrap="square" lIns="0" tIns="0" rIns="0" bIns="0" rtlCol="0" anchor="t"/>
          <a:lstStyle/>
          <a:p>
            <a:pPr indent="0" marL="0">
              <a:buNone/>
            </a:pPr>
            <a:r>
              <a:rPr lang="en-US" sz="1150" dirty="0">
                <a:solidFill>
                  <a:srgbClr val="3E3E48"/>
                </a:solidFill>
                <a:latin typeface="Calibri" pitchFamily="34" charset="0"/>
                <a:ea typeface="Calibri" pitchFamily="34" charset="-122"/>
                <a:cs typeface="Calibri" pitchFamily="34" charset="-120"/>
              </a:rPr>
              <a:t>EU · NATO · UN · eurozone · Schengen · Benelux · Francophonie</a:t>
            </a:r>
            <a:endParaRPr lang="en-US" sz="1150" dirty="0"/>
          </a:p>
        </p:txBody>
      </p:sp>
      <p:pic>
        <p:nvPicPr>
          <p:cNvPr id="41" name="Image 0" descr="/tmp/claude-0/-home-user-BOYNT-WORK/856f02cf-0e32-5bfe-bffb-9edb29b314f9/scratchpad/deckimg/flag.jpg">    </p:cNvPr>
          <p:cNvPicPr>
            <a:picLocks noChangeAspect="1"/>
          </p:cNvPicPr>
          <p:nvPr/>
        </p:nvPicPr>
        <p:blipFill>
          <a:blip r:embed="rId1"/>
          <a:srcRect l="0" r="0" t="0" b="0"/>
          <a:stretch/>
        </p:blipFill>
        <p:spPr>
          <a:xfrm>
            <a:off x="7498080" y="3127248"/>
            <a:ext cx="4053535" cy="1737360"/>
          </a:xfrm>
          <a:prstGeom prst="rect">
            <a:avLst/>
          </a:prstGeom>
        </p:spPr>
      </p:pic>
      <p:sp>
        <p:nvSpPr>
          <p:cNvPr id="42" name="Text 39"/>
          <p:cNvSpPr txBox="1"/>
          <p:nvPr/>
        </p:nvSpPr>
        <p:spPr>
          <a:xfrm>
            <a:off x="7498080" y="4956048"/>
            <a:ext cx="4053535" cy="310896"/>
          </a:xfrm>
          <a:prstGeom prst="rect">
            <a:avLst/>
          </a:prstGeom>
          <a:noFill/>
          <a:ln/>
        </p:spPr>
        <p:txBody>
          <a:bodyPr wrap="square" lIns="0" tIns="0" rIns="0" bIns="0" rtlCol="0" anchor="ctr"/>
          <a:lstStyle/>
          <a:p>
            <a:pPr indent="0" marL="0">
              <a:buNone/>
            </a:pPr>
            <a:r>
              <a:rPr lang="en-US" sz="1000" i="1" dirty="0">
                <a:solidFill>
                  <a:srgbClr val="70707C"/>
                </a:solidFill>
                <a:latin typeface="Calibri" pitchFamily="34" charset="0"/>
                <a:ea typeface="Calibri" pitchFamily="34" charset="-122"/>
                <a:cs typeface="Calibri" pitchFamily="34" charset="-120"/>
              </a:rPr>
              <a:t>The tricolour of 1830 — black, yellow and red, from the arms of Brabant.</a:t>
            </a:r>
            <a:endParaRPr lang="en-US" sz="1000" dirty="0"/>
          </a:p>
        </p:txBody>
      </p:sp>
      <p:sp>
        <p:nvSpPr>
          <p:cNvPr id="43" name="Shape 40"/>
          <p:cNvSpPr/>
          <p:nvPr/>
        </p:nvSpPr>
        <p:spPr>
          <a:xfrm>
            <a:off x="7498080" y="5358384"/>
            <a:ext cx="4053535" cy="804672"/>
          </a:xfrm>
          <a:prstGeom prst="roundRect">
            <a:avLst>
              <a:gd name="adj" fmla="val 10227"/>
            </a:avLst>
          </a:prstGeom>
          <a:solidFill>
            <a:srgbClr val="17171B"/>
          </a:solidFill>
          <a:ln w="12700">
            <a:solidFill>
              <a:srgbClr val="17171B"/>
            </a:solidFill>
            <a:prstDash val="solid"/>
          </a:ln>
          <a:effectLst>
            <a:outerShdw sx="100000" sy="100000" kx="0" ky="0" algn="bl" rotWithShape="0" blurRad="127000" dist="25400" dir="5400000">
              <a:srgbClr val="9A9AA6">
                <a:alpha val="22000"/>
              </a:srgbClr>
            </a:outerShdw>
          </a:effectLst>
        </p:spPr>
      </p:sp>
      <p:sp>
        <p:nvSpPr>
          <p:cNvPr id="44" name="Text 41"/>
          <p:cNvSpPr txBox="1"/>
          <p:nvPr/>
        </p:nvSpPr>
        <p:spPr>
          <a:xfrm>
            <a:off x="7735824" y="5486400"/>
            <a:ext cx="3578047" cy="219456"/>
          </a:xfrm>
          <a:prstGeom prst="rect">
            <a:avLst/>
          </a:prstGeom>
          <a:noFill/>
          <a:ln/>
        </p:spPr>
        <p:txBody>
          <a:bodyPr wrap="square" lIns="0" tIns="0" rIns="0" bIns="0" rtlCol="0" anchor="ctr"/>
          <a:lstStyle/>
          <a:p>
            <a:pPr indent="0" marL="0">
              <a:buNone/>
            </a:pPr>
            <a:r>
              <a:rPr lang="en-US" sz="950" b="1" spc="100" kern="0" dirty="0">
                <a:solidFill>
                  <a:srgbClr val="E3B23C"/>
                </a:solidFill>
                <a:latin typeface="Calibri" pitchFamily="34" charset="0"/>
                <a:ea typeface="Calibri" pitchFamily="34" charset="-122"/>
                <a:cs typeface="Calibri" pitchFamily="34" charset="-120"/>
              </a:rPr>
              <a:t>INDEPENDENT — NOT A TERRITORY</a:t>
            </a:r>
            <a:endParaRPr lang="en-US" sz="950" dirty="0"/>
          </a:p>
        </p:txBody>
      </p:sp>
      <p:sp>
        <p:nvSpPr>
          <p:cNvPr id="45" name="Text 42"/>
          <p:cNvSpPr txBox="1"/>
          <p:nvPr/>
        </p:nvSpPr>
        <p:spPr>
          <a:xfrm>
            <a:off x="7735824" y="5724144"/>
            <a:ext cx="3578047" cy="365760"/>
          </a:xfrm>
          <a:prstGeom prst="rect">
            <a:avLst/>
          </a:prstGeom>
          <a:noFill/>
          <a:ln/>
        </p:spPr>
        <p:txBody>
          <a:bodyPr wrap="square" lIns="0" tIns="0" rIns="0" bIns="0" rtlCol="0" anchor="ctr"/>
          <a:lstStyle/>
          <a:p>
            <a:pPr indent="0" marL="0">
              <a:lnSpc>
                <a:spcPct val="104000"/>
              </a:lnSpc>
              <a:buNone/>
            </a:pPr>
            <a:r>
              <a:rPr lang="en-US" sz="1050" dirty="0">
                <a:solidFill>
                  <a:srgbClr val="D2D2DA"/>
                </a:solidFill>
                <a:latin typeface="Calibri" pitchFamily="34" charset="0"/>
                <a:ea typeface="Calibri" pitchFamily="34" charset="-122"/>
                <a:cs typeface="Calibri" pitchFamily="34" charset="-120"/>
              </a:rPr>
              <a:t>A sovereign state since 1830, not a French possession — it simply shares the language.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10911535" cy="237744"/>
          </a:xfrm>
          <a:prstGeom prst="rect">
            <a:avLst/>
          </a:prstGeom>
          <a:noFill/>
          <a:ln/>
        </p:spPr>
        <p:txBody>
          <a:bodyPr wrap="square" lIns="0" tIns="0" rIns="0" bIns="0" rtlCol="0" anchor="ctr"/>
          <a:lstStyle/>
          <a:p>
            <a:pPr indent="0" marL="0">
              <a:buNone/>
            </a:pPr>
            <a:r>
              <a:rPr lang="en-US" sz="1150" b="1" spc="220" kern="0" dirty="0">
                <a:solidFill>
                  <a:srgbClr val="E3B23C"/>
                </a:solidFill>
                <a:latin typeface="Calibri" pitchFamily="34" charset="0"/>
                <a:ea typeface="Calibri" pitchFamily="34" charset="-122"/>
                <a:cs typeface="Calibri" pitchFamily="34" charset="-120"/>
              </a:rPr>
              <a:t>RÉGIONS, COMMUNAUTÉS, LANGUES</a:t>
            </a:r>
            <a:endParaRPr lang="en-US" sz="1150" dirty="0"/>
          </a:p>
        </p:txBody>
      </p:sp>
      <p:sp>
        <p:nvSpPr>
          <p:cNvPr id="3" name="Text 1"/>
          <p:cNvSpPr txBox="1"/>
          <p:nvPr/>
        </p:nvSpPr>
        <p:spPr>
          <a:xfrm>
            <a:off x="640080" y="676656"/>
            <a:ext cx="10911535" cy="603504"/>
          </a:xfrm>
          <a:prstGeom prst="rect">
            <a:avLst/>
          </a:prstGeom>
          <a:noFill/>
          <a:ln/>
        </p:spPr>
        <p:txBody>
          <a:bodyPr wrap="square" lIns="0" tIns="0" rIns="0" bIns="0" rtlCol="0" anchor="ctr"/>
          <a:lstStyle/>
          <a:p>
            <a:pPr indent="0" marL="0">
              <a:buNone/>
            </a:pPr>
            <a:r>
              <a:rPr lang="en-US" sz="3100" b="1" dirty="0">
                <a:solidFill>
                  <a:srgbClr val="17171B"/>
                </a:solidFill>
                <a:latin typeface="Cambria" pitchFamily="34" charset="0"/>
                <a:ea typeface="Cambria" pitchFamily="34" charset="-122"/>
                <a:cs typeface="Cambria" pitchFamily="34" charset="-120"/>
              </a:rPr>
              <a:t>One country, three languages</a:t>
            </a:r>
            <a:endParaRPr lang="en-US" sz="3100" dirty="0"/>
          </a:p>
        </p:txBody>
      </p:sp>
      <p:sp>
        <p:nvSpPr>
          <p:cNvPr id="4" name="Shape 2"/>
          <p:cNvSpPr/>
          <p:nvPr/>
        </p:nvSpPr>
        <p:spPr>
          <a:xfrm>
            <a:off x="640080" y="6163056"/>
            <a:ext cx="384048" cy="384048"/>
          </a:xfrm>
          <a:prstGeom prst="ellipse">
            <a:avLst/>
          </a:prstGeom>
          <a:solidFill>
            <a:srgbClr val="E3B23C"/>
          </a:solidFill>
          <a:ln/>
        </p:spPr>
      </p:sp>
      <p:sp>
        <p:nvSpPr>
          <p:cNvPr id="5" name="Text 3"/>
          <p:cNvSpPr txBox="1"/>
          <p:nvPr/>
        </p:nvSpPr>
        <p:spPr>
          <a:xfrm>
            <a:off x="640080" y="6163056"/>
            <a:ext cx="384048" cy="384048"/>
          </a:xfrm>
          <a:prstGeom prst="rect">
            <a:avLst/>
          </a:prstGeom>
          <a:noFill/>
          <a:ln/>
        </p:spPr>
        <p:txBody>
          <a:bodyPr wrap="square" lIns="0" tIns="0" rIns="0" bIns="0" rtlCol="0" anchor="ctr"/>
          <a:lstStyle/>
          <a:p>
            <a:pPr algn="ctr" indent="0" marL="0">
              <a:buNone/>
            </a:pPr>
            <a:r>
              <a:rPr lang="en-US" sz="1200" b="1" dirty="0">
                <a:solidFill>
                  <a:srgbClr val="17171B"/>
                </a:solidFill>
                <a:latin typeface="Calibri" pitchFamily="34" charset="0"/>
                <a:ea typeface="Calibri" pitchFamily="34" charset="-122"/>
                <a:cs typeface="Calibri" pitchFamily="34" charset="-120"/>
              </a:rPr>
              <a:t>4</a:t>
            </a:r>
            <a:endParaRPr lang="en-US" sz="1200" dirty="0"/>
          </a:p>
        </p:txBody>
      </p:sp>
      <p:sp>
        <p:nvSpPr>
          <p:cNvPr id="6" name="Text 4"/>
          <p:cNvSpPr txBox="1"/>
          <p:nvPr/>
        </p:nvSpPr>
        <p:spPr>
          <a:xfrm>
            <a:off x="6035040" y="6245352"/>
            <a:ext cx="5516575" cy="237744"/>
          </a:xfrm>
          <a:prstGeom prst="rect">
            <a:avLst/>
          </a:prstGeom>
          <a:noFill/>
          <a:ln/>
        </p:spPr>
        <p:txBody>
          <a:bodyPr wrap="square" lIns="0" tIns="0" rIns="0" bIns="0" rtlCol="0" anchor="ctr"/>
          <a:lstStyle/>
          <a:p>
            <a:pPr algn="r" indent="0" marL="0">
              <a:buNone/>
            </a:pPr>
            <a:r>
              <a:rPr lang="en-US" sz="900" dirty="0">
                <a:solidFill>
                  <a:srgbClr val="70707C"/>
                </a:solidFill>
                <a:latin typeface="Calibri" pitchFamily="34" charset="0"/>
                <a:ea typeface="Calibri" pitchFamily="34" charset="-122"/>
                <a:cs typeface="Calibri" pitchFamily="34" charset="-120"/>
              </a:rPr>
              <a:t>La Belgique  ·  FREN 201  ·  Projet Francophonie</a:t>
            </a:r>
            <a:endParaRPr lang="en-US" sz="900" dirty="0"/>
          </a:p>
        </p:txBody>
      </p:sp>
      <p:pic>
        <p:nvPicPr>
          <p:cNvPr id="7" name="Image 0" descr="/tmp/claude-0/-home-user-BOYNT-WORK/856f02cf-0e32-5bfe-bffb-9edb29b314f9/scratchpad/deckimg/map_belgium_regions.png">    </p:cNvPr>
          <p:cNvPicPr>
            <a:picLocks noChangeAspect="1"/>
          </p:cNvPicPr>
          <p:nvPr/>
        </p:nvPicPr>
        <p:blipFill>
          <a:blip r:embed="rId1"/>
          <a:stretch>
            <a:fillRect/>
          </a:stretch>
        </p:blipFill>
        <p:spPr>
          <a:xfrm>
            <a:off x="438912" y="1499616"/>
            <a:ext cx="6492240" cy="4211092"/>
          </a:xfrm>
          <a:prstGeom prst="rect">
            <a:avLst/>
          </a:prstGeom>
        </p:spPr>
      </p:pic>
      <p:sp>
        <p:nvSpPr>
          <p:cNvPr id="8" name="Shape 5"/>
          <p:cNvSpPr/>
          <p:nvPr/>
        </p:nvSpPr>
        <p:spPr>
          <a:xfrm>
            <a:off x="7452360" y="1481328"/>
            <a:ext cx="4099255" cy="987552"/>
          </a:xfrm>
          <a:prstGeom prst="roundRect">
            <a:avLst>
              <a:gd name="adj" fmla="val 8333"/>
            </a:avLst>
          </a:prstGeom>
          <a:solidFill>
            <a:srgbClr val="F4F4F6"/>
          </a:solidFill>
          <a:ln w="12700">
            <a:solidFill>
              <a:srgbClr val="E4E4E9"/>
            </a:solidFill>
            <a:prstDash val="solid"/>
          </a:ln>
          <a:effectLst>
            <a:outerShdw sx="100000" sy="100000" kx="0" ky="0" algn="bl" rotWithShape="0" blurRad="127000" dist="25400" dir="5400000">
              <a:srgbClr val="9A9AA6">
                <a:alpha val="22000"/>
              </a:srgbClr>
            </a:outerShdw>
          </a:effectLst>
        </p:spPr>
      </p:sp>
      <p:sp>
        <p:nvSpPr>
          <p:cNvPr id="9" name="Shape 6"/>
          <p:cNvSpPr/>
          <p:nvPr/>
        </p:nvSpPr>
        <p:spPr>
          <a:xfrm>
            <a:off x="7671816" y="1682496"/>
            <a:ext cx="219456" cy="219456"/>
          </a:xfrm>
          <a:prstGeom prst="ellipse">
            <a:avLst/>
          </a:prstGeom>
          <a:solidFill>
            <a:srgbClr val="E3B23C"/>
          </a:solidFill>
          <a:ln/>
        </p:spPr>
      </p:sp>
      <p:sp>
        <p:nvSpPr>
          <p:cNvPr id="10" name="Text 7"/>
          <p:cNvSpPr txBox="1"/>
          <p:nvPr/>
        </p:nvSpPr>
        <p:spPr>
          <a:xfrm>
            <a:off x="8001000" y="1636776"/>
            <a:ext cx="3331159" cy="256032"/>
          </a:xfrm>
          <a:prstGeom prst="rect">
            <a:avLst/>
          </a:prstGeom>
          <a:noFill/>
          <a:ln/>
        </p:spPr>
        <p:txBody>
          <a:bodyPr wrap="square" lIns="0" tIns="0" rIns="0" bIns="0" rtlCol="0" anchor="ctr"/>
          <a:lstStyle/>
          <a:p>
            <a:pPr indent="0" marL="0">
              <a:buNone/>
            </a:pPr>
            <a:r>
              <a:rPr lang="en-US" sz="1200" b="1" dirty="0">
                <a:solidFill>
                  <a:srgbClr val="17171B"/>
                </a:solidFill>
                <a:latin typeface="Calibri" pitchFamily="34" charset="0"/>
                <a:ea typeface="Calibri" pitchFamily="34" charset="-122"/>
                <a:cs typeface="Calibri" pitchFamily="34" charset="-120"/>
              </a:rPr>
              <a:t>FLANDRE / VLAANDEREN</a:t>
            </a:r>
            <a:endParaRPr lang="en-US" sz="1200" dirty="0"/>
          </a:p>
        </p:txBody>
      </p:sp>
      <p:sp>
        <p:nvSpPr>
          <p:cNvPr id="11" name="Text 8"/>
          <p:cNvSpPr txBox="1"/>
          <p:nvPr/>
        </p:nvSpPr>
        <p:spPr>
          <a:xfrm>
            <a:off x="8001000" y="1892808"/>
            <a:ext cx="3331159" cy="219456"/>
          </a:xfrm>
          <a:prstGeom prst="rect">
            <a:avLst/>
          </a:prstGeom>
          <a:noFill/>
          <a:ln/>
        </p:spPr>
        <p:txBody>
          <a:bodyPr wrap="square" lIns="0" tIns="0" rIns="0" bIns="0" rtlCol="0" anchor="ctr"/>
          <a:lstStyle/>
          <a:p>
            <a:pPr indent="0" marL="0">
              <a:buNone/>
            </a:pPr>
            <a:r>
              <a:rPr lang="en-US" sz="1050" dirty="0">
                <a:solidFill>
                  <a:srgbClr val="70707C"/>
                </a:solidFill>
                <a:latin typeface="Calibri" pitchFamily="34" charset="0"/>
                <a:ea typeface="Calibri" pitchFamily="34" charset="-122"/>
                <a:cs typeface="Calibri" pitchFamily="34" charset="-120"/>
              </a:rPr>
              <a:t>Dutch-speaking · north</a:t>
            </a:r>
            <a:endParaRPr lang="en-US" sz="1050" dirty="0"/>
          </a:p>
        </p:txBody>
      </p:sp>
      <p:sp>
        <p:nvSpPr>
          <p:cNvPr id="12" name="Text 9"/>
          <p:cNvSpPr txBox="1"/>
          <p:nvPr/>
        </p:nvSpPr>
        <p:spPr>
          <a:xfrm>
            <a:off x="8001000" y="2130552"/>
            <a:ext cx="3331159" cy="219456"/>
          </a:xfrm>
          <a:prstGeom prst="rect">
            <a:avLst/>
          </a:prstGeom>
          <a:noFill/>
          <a:ln/>
        </p:spPr>
        <p:txBody>
          <a:bodyPr wrap="square" lIns="0" tIns="0" rIns="0" bIns="0" rtlCol="0" anchor="ctr"/>
          <a:lstStyle/>
          <a:p>
            <a:pPr indent="0" marL="0">
              <a:buNone/>
            </a:pPr>
            <a:r>
              <a:rPr lang="en-US" sz="1050" b="1" dirty="0">
                <a:solidFill>
                  <a:srgbClr val="3E3E48"/>
                </a:solidFill>
                <a:latin typeface="Calibri" pitchFamily="34" charset="0"/>
                <a:ea typeface="Calibri" pitchFamily="34" charset="-122"/>
                <a:cs typeface="Calibri" pitchFamily="34" charset="-120"/>
              </a:rPr>
              <a:t>≈ 13,600 km²  ·  58 % of the population</a:t>
            </a:r>
            <a:endParaRPr lang="en-US" sz="1050" dirty="0"/>
          </a:p>
        </p:txBody>
      </p:sp>
      <p:sp>
        <p:nvSpPr>
          <p:cNvPr id="13" name="Shape 10"/>
          <p:cNvSpPr/>
          <p:nvPr/>
        </p:nvSpPr>
        <p:spPr>
          <a:xfrm>
            <a:off x="7452360" y="2615184"/>
            <a:ext cx="4099255" cy="987552"/>
          </a:xfrm>
          <a:prstGeom prst="roundRect">
            <a:avLst>
              <a:gd name="adj" fmla="val 8333"/>
            </a:avLst>
          </a:prstGeom>
          <a:solidFill>
            <a:srgbClr val="F4F4F6"/>
          </a:solidFill>
          <a:ln w="12700">
            <a:solidFill>
              <a:srgbClr val="E4E4E9"/>
            </a:solidFill>
            <a:prstDash val="solid"/>
          </a:ln>
          <a:effectLst>
            <a:outerShdw sx="100000" sy="100000" kx="0" ky="0" algn="bl" rotWithShape="0" blurRad="127000" dist="25400" dir="5400000">
              <a:srgbClr val="9A9AA6">
                <a:alpha val="22000"/>
              </a:srgbClr>
            </a:outerShdw>
          </a:effectLst>
        </p:spPr>
      </p:sp>
      <p:sp>
        <p:nvSpPr>
          <p:cNvPr id="14" name="Shape 11"/>
          <p:cNvSpPr/>
          <p:nvPr/>
        </p:nvSpPr>
        <p:spPr>
          <a:xfrm>
            <a:off x="7671816" y="2816352"/>
            <a:ext cx="219456" cy="219456"/>
          </a:xfrm>
          <a:prstGeom prst="ellipse">
            <a:avLst/>
          </a:prstGeom>
          <a:solidFill>
            <a:srgbClr val="C1121F"/>
          </a:solidFill>
          <a:ln/>
        </p:spPr>
      </p:sp>
      <p:sp>
        <p:nvSpPr>
          <p:cNvPr id="15" name="Text 12"/>
          <p:cNvSpPr txBox="1"/>
          <p:nvPr/>
        </p:nvSpPr>
        <p:spPr>
          <a:xfrm>
            <a:off x="8001000" y="2770632"/>
            <a:ext cx="3331159" cy="256032"/>
          </a:xfrm>
          <a:prstGeom prst="rect">
            <a:avLst/>
          </a:prstGeom>
          <a:noFill/>
          <a:ln/>
        </p:spPr>
        <p:txBody>
          <a:bodyPr wrap="square" lIns="0" tIns="0" rIns="0" bIns="0" rtlCol="0" anchor="ctr"/>
          <a:lstStyle/>
          <a:p>
            <a:pPr indent="0" marL="0">
              <a:buNone/>
            </a:pPr>
            <a:r>
              <a:rPr lang="en-US" sz="1200" b="1" dirty="0">
                <a:solidFill>
                  <a:srgbClr val="17171B"/>
                </a:solidFill>
                <a:latin typeface="Calibri" pitchFamily="34" charset="0"/>
                <a:ea typeface="Calibri" pitchFamily="34" charset="-122"/>
                <a:cs typeface="Calibri" pitchFamily="34" charset="-120"/>
              </a:rPr>
              <a:t>WALLONIE</a:t>
            </a:r>
            <a:endParaRPr lang="en-US" sz="1200" dirty="0"/>
          </a:p>
        </p:txBody>
      </p:sp>
      <p:sp>
        <p:nvSpPr>
          <p:cNvPr id="16" name="Text 13"/>
          <p:cNvSpPr txBox="1"/>
          <p:nvPr/>
        </p:nvSpPr>
        <p:spPr>
          <a:xfrm>
            <a:off x="8001000" y="3026664"/>
            <a:ext cx="3331159" cy="219456"/>
          </a:xfrm>
          <a:prstGeom prst="rect">
            <a:avLst/>
          </a:prstGeom>
          <a:noFill/>
          <a:ln/>
        </p:spPr>
        <p:txBody>
          <a:bodyPr wrap="square" lIns="0" tIns="0" rIns="0" bIns="0" rtlCol="0" anchor="ctr"/>
          <a:lstStyle/>
          <a:p>
            <a:pPr indent="0" marL="0">
              <a:buNone/>
            </a:pPr>
            <a:r>
              <a:rPr lang="en-US" sz="1050" dirty="0">
                <a:solidFill>
                  <a:srgbClr val="70707C"/>
                </a:solidFill>
                <a:latin typeface="Calibri" pitchFamily="34" charset="0"/>
                <a:ea typeface="Calibri" pitchFamily="34" charset="-122"/>
                <a:cs typeface="Calibri" pitchFamily="34" charset="-120"/>
              </a:rPr>
              <a:t>French-speaking · south</a:t>
            </a:r>
            <a:endParaRPr lang="en-US" sz="1050" dirty="0"/>
          </a:p>
        </p:txBody>
      </p:sp>
      <p:sp>
        <p:nvSpPr>
          <p:cNvPr id="17" name="Text 14"/>
          <p:cNvSpPr txBox="1"/>
          <p:nvPr/>
        </p:nvSpPr>
        <p:spPr>
          <a:xfrm>
            <a:off x="8001000" y="3264408"/>
            <a:ext cx="3331159" cy="219456"/>
          </a:xfrm>
          <a:prstGeom prst="rect">
            <a:avLst/>
          </a:prstGeom>
          <a:noFill/>
          <a:ln/>
        </p:spPr>
        <p:txBody>
          <a:bodyPr wrap="square" lIns="0" tIns="0" rIns="0" bIns="0" rtlCol="0" anchor="ctr"/>
          <a:lstStyle/>
          <a:p>
            <a:pPr indent="0" marL="0">
              <a:buNone/>
            </a:pPr>
            <a:r>
              <a:rPr lang="en-US" sz="1050" b="1" dirty="0">
                <a:solidFill>
                  <a:srgbClr val="3E3E48"/>
                </a:solidFill>
                <a:latin typeface="Calibri" pitchFamily="34" charset="0"/>
                <a:ea typeface="Calibri" pitchFamily="34" charset="-122"/>
                <a:cs typeface="Calibri" pitchFamily="34" charset="-120"/>
              </a:rPr>
              <a:t>≈ 16,900 km²  ·  32 % of the population</a:t>
            </a:r>
            <a:endParaRPr lang="en-US" sz="1050" dirty="0"/>
          </a:p>
        </p:txBody>
      </p:sp>
      <p:sp>
        <p:nvSpPr>
          <p:cNvPr id="18" name="Shape 15"/>
          <p:cNvSpPr/>
          <p:nvPr/>
        </p:nvSpPr>
        <p:spPr>
          <a:xfrm>
            <a:off x="7452360" y="3749040"/>
            <a:ext cx="4099255" cy="987552"/>
          </a:xfrm>
          <a:prstGeom prst="roundRect">
            <a:avLst>
              <a:gd name="adj" fmla="val 8333"/>
            </a:avLst>
          </a:prstGeom>
          <a:solidFill>
            <a:srgbClr val="F4F4F6"/>
          </a:solidFill>
          <a:ln w="12700">
            <a:solidFill>
              <a:srgbClr val="E4E4E9"/>
            </a:solidFill>
            <a:prstDash val="solid"/>
          </a:ln>
          <a:effectLst>
            <a:outerShdw sx="100000" sy="100000" kx="0" ky="0" algn="bl" rotWithShape="0" blurRad="127000" dist="25400" dir="5400000">
              <a:srgbClr val="9A9AA6">
                <a:alpha val="22000"/>
              </a:srgbClr>
            </a:outerShdw>
          </a:effectLst>
        </p:spPr>
      </p:sp>
      <p:sp>
        <p:nvSpPr>
          <p:cNvPr id="19" name="Shape 16"/>
          <p:cNvSpPr/>
          <p:nvPr/>
        </p:nvSpPr>
        <p:spPr>
          <a:xfrm>
            <a:off x="7671816" y="3950208"/>
            <a:ext cx="219456" cy="219456"/>
          </a:xfrm>
          <a:prstGeom prst="ellipse">
            <a:avLst/>
          </a:prstGeom>
          <a:solidFill>
            <a:srgbClr val="17171B"/>
          </a:solidFill>
          <a:ln/>
        </p:spPr>
      </p:sp>
      <p:sp>
        <p:nvSpPr>
          <p:cNvPr id="20" name="Text 17"/>
          <p:cNvSpPr txBox="1"/>
          <p:nvPr/>
        </p:nvSpPr>
        <p:spPr>
          <a:xfrm>
            <a:off x="8001000" y="3904488"/>
            <a:ext cx="3331159" cy="256032"/>
          </a:xfrm>
          <a:prstGeom prst="rect">
            <a:avLst/>
          </a:prstGeom>
          <a:noFill/>
          <a:ln/>
        </p:spPr>
        <p:txBody>
          <a:bodyPr wrap="square" lIns="0" tIns="0" rIns="0" bIns="0" rtlCol="0" anchor="ctr"/>
          <a:lstStyle/>
          <a:p>
            <a:pPr indent="0" marL="0">
              <a:buNone/>
            </a:pPr>
            <a:r>
              <a:rPr lang="en-US" sz="1200" b="1" dirty="0">
                <a:solidFill>
                  <a:srgbClr val="17171B"/>
                </a:solidFill>
                <a:latin typeface="Calibri" pitchFamily="34" charset="0"/>
                <a:ea typeface="Calibri" pitchFamily="34" charset="-122"/>
                <a:cs typeface="Calibri" pitchFamily="34" charset="-120"/>
              </a:rPr>
              <a:t>BRUXELLES-CAPITALE</a:t>
            </a:r>
            <a:endParaRPr lang="en-US" sz="1200" dirty="0"/>
          </a:p>
        </p:txBody>
      </p:sp>
      <p:sp>
        <p:nvSpPr>
          <p:cNvPr id="21" name="Text 18"/>
          <p:cNvSpPr txBox="1"/>
          <p:nvPr/>
        </p:nvSpPr>
        <p:spPr>
          <a:xfrm>
            <a:off x="8001000" y="4160520"/>
            <a:ext cx="3331159" cy="219456"/>
          </a:xfrm>
          <a:prstGeom prst="rect">
            <a:avLst/>
          </a:prstGeom>
          <a:noFill/>
          <a:ln/>
        </p:spPr>
        <p:txBody>
          <a:bodyPr wrap="square" lIns="0" tIns="0" rIns="0" bIns="0" rtlCol="0" anchor="ctr"/>
          <a:lstStyle/>
          <a:p>
            <a:pPr indent="0" marL="0">
              <a:buNone/>
            </a:pPr>
            <a:r>
              <a:rPr lang="en-US" sz="1050" dirty="0">
                <a:solidFill>
                  <a:srgbClr val="70707C"/>
                </a:solidFill>
                <a:latin typeface="Calibri" pitchFamily="34" charset="0"/>
                <a:ea typeface="Calibri" pitchFamily="34" charset="-122"/>
                <a:cs typeface="Calibri" pitchFamily="34" charset="-120"/>
              </a:rPr>
              <a:t>Bilingual French / Dutch</a:t>
            </a:r>
            <a:endParaRPr lang="en-US" sz="1050" dirty="0"/>
          </a:p>
        </p:txBody>
      </p:sp>
      <p:sp>
        <p:nvSpPr>
          <p:cNvPr id="22" name="Text 19"/>
          <p:cNvSpPr txBox="1"/>
          <p:nvPr/>
        </p:nvSpPr>
        <p:spPr>
          <a:xfrm>
            <a:off x="8001000" y="4398264"/>
            <a:ext cx="3331159" cy="219456"/>
          </a:xfrm>
          <a:prstGeom prst="rect">
            <a:avLst/>
          </a:prstGeom>
          <a:noFill/>
          <a:ln/>
        </p:spPr>
        <p:txBody>
          <a:bodyPr wrap="square" lIns="0" tIns="0" rIns="0" bIns="0" rtlCol="0" anchor="ctr"/>
          <a:lstStyle/>
          <a:p>
            <a:pPr indent="0" marL="0">
              <a:buNone/>
            </a:pPr>
            <a:r>
              <a:rPr lang="en-US" sz="1050" b="1" dirty="0">
                <a:solidFill>
                  <a:srgbClr val="3E3E48"/>
                </a:solidFill>
                <a:latin typeface="Calibri" pitchFamily="34" charset="0"/>
                <a:ea typeface="Calibri" pitchFamily="34" charset="-122"/>
                <a:cs typeface="Calibri" pitchFamily="34" charset="-120"/>
              </a:rPr>
              <a:t>162 km²  ·  11 % of the population</a:t>
            </a:r>
            <a:endParaRPr lang="en-US" sz="1050" dirty="0"/>
          </a:p>
        </p:txBody>
      </p:sp>
      <p:sp>
        <p:nvSpPr>
          <p:cNvPr id="23" name="Shape 20"/>
          <p:cNvSpPr/>
          <p:nvPr/>
        </p:nvSpPr>
        <p:spPr>
          <a:xfrm>
            <a:off x="7452360" y="4901184"/>
            <a:ext cx="4099255" cy="1060704"/>
          </a:xfrm>
          <a:prstGeom prst="roundRect">
            <a:avLst>
              <a:gd name="adj" fmla="val 7759"/>
            </a:avLst>
          </a:prstGeom>
          <a:solidFill>
            <a:srgbClr val="17171B"/>
          </a:solidFill>
          <a:ln w="12700">
            <a:solidFill>
              <a:srgbClr val="17171B"/>
            </a:solidFill>
            <a:prstDash val="solid"/>
          </a:ln>
          <a:effectLst>
            <a:outerShdw sx="100000" sy="100000" kx="0" ky="0" algn="bl" rotWithShape="0" blurRad="127000" dist="25400" dir="5400000">
              <a:srgbClr val="9A9AA6">
                <a:alpha val="22000"/>
              </a:srgbClr>
            </a:outerShdw>
          </a:effectLst>
        </p:spPr>
      </p:sp>
      <p:sp>
        <p:nvSpPr>
          <p:cNvPr id="24" name="Text 21"/>
          <p:cNvSpPr txBox="1"/>
          <p:nvPr/>
        </p:nvSpPr>
        <p:spPr>
          <a:xfrm>
            <a:off x="7690104" y="5047488"/>
            <a:ext cx="3623767" cy="219456"/>
          </a:xfrm>
          <a:prstGeom prst="rect">
            <a:avLst/>
          </a:prstGeom>
          <a:noFill/>
          <a:ln/>
        </p:spPr>
        <p:txBody>
          <a:bodyPr wrap="square" lIns="0" tIns="0" rIns="0" bIns="0" rtlCol="0" anchor="ctr"/>
          <a:lstStyle/>
          <a:p>
            <a:pPr indent="0" marL="0">
              <a:buNone/>
            </a:pPr>
            <a:r>
              <a:rPr lang="en-US" sz="1000" b="1" spc="110" kern="0" dirty="0">
                <a:solidFill>
                  <a:srgbClr val="E3B23C"/>
                </a:solidFill>
                <a:latin typeface="Calibri" pitchFamily="34" charset="0"/>
                <a:ea typeface="Calibri" pitchFamily="34" charset="-122"/>
                <a:cs typeface="Calibri" pitchFamily="34" charset="-120"/>
              </a:rPr>
              <a:t>AND THREE COMMUNITIES</a:t>
            </a:r>
            <a:endParaRPr lang="en-US" sz="1000" dirty="0"/>
          </a:p>
        </p:txBody>
      </p:sp>
      <p:sp>
        <p:nvSpPr>
          <p:cNvPr id="25" name="Text 22"/>
          <p:cNvSpPr txBox="1"/>
          <p:nvPr/>
        </p:nvSpPr>
        <p:spPr>
          <a:xfrm>
            <a:off x="7690104" y="5285232"/>
            <a:ext cx="3623767" cy="658368"/>
          </a:xfrm>
          <a:prstGeom prst="rect">
            <a:avLst/>
          </a:prstGeom>
          <a:noFill/>
          <a:ln/>
        </p:spPr>
        <p:txBody>
          <a:bodyPr wrap="square" lIns="0" tIns="0" rIns="0" bIns="0" rtlCol="0" anchor="ctr"/>
          <a:lstStyle/>
          <a:p>
            <a:pPr indent="0" marL="0">
              <a:lnSpc>
                <a:spcPct val="103000"/>
              </a:lnSpc>
              <a:buNone/>
            </a:pPr>
            <a:r>
              <a:rPr lang="en-US" sz="1050" dirty="0">
                <a:solidFill>
                  <a:srgbClr val="D2D2DA"/>
                </a:solidFill>
                <a:latin typeface="Calibri" pitchFamily="34" charset="0"/>
                <a:ea typeface="Calibri" pitchFamily="34" charset="-122"/>
                <a:cs typeface="Calibri" pitchFamily="34" charset="-120"/>
              </a:rPr>
              <a:t>Regions govern territory — economy, transport, environment. Communities govern people — language, education and culture. The German-speaking Community has about 78,000 members.</a:t>
            </a:r>
            <a:endParaRPr lang="en-US" sz="1050" dirty="0"/>
          </a:p>
        </p:txBody>
      </p:sp>
      <p:sp>
        <p:nvSpPr>
          <p:cNvPr id="26" name="Text 23"/>
          <p:cNvSpPr txBox="1"/>
          <p:nvPr/>
        </p:nvSpPr>
        <p:spPr>
          <a:xfrm>
            <a:off x="1170432" y="5820436"/>
            <a:ext cx="6492240" cy="274320"/>
          </a:xfrm>
          <a:prstGeom prst="rect">
            <a:avLst/>
          </a:prstGeom>
          <a:noFill/>
          <a:ln/>
        </p:spPr>
        <p:txBody>
          <a:bodyPr wrap="square" lIns="0" tIns="0" rIns="0" bIns="0" rtlCol="0" anchor="ctr"/>
          <a:lstStyle/>
          <a:p>
            <a:pPr indent="0" marL="0">
              <a:buNone/>
            </a:pPr>
            <a:r>
              <a:rPr lang="en-US" sz="1050" i="1" dirty="0">
                <a:solidFill>
                  <a:srgbClr val="70707C"/>
                </a:solidFill>
                <a:latin typeface="Calibri" pitchFamily="34" charset="0"/>
                <a:ea typeface="Calibri" pitchFamily="34" charset="-122"/>
                <a:cs typeface="Calibri" pitchFamily="34" charset="-120"/>
              </a:rPr>
              <a:t>Dutch is spoken by about 60 % of Belgians, French by about 40 %, German by under 1 %.</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10911535" cy="237744"/>
          </a:xfrm>
          <a:prstGeom prst="rect">
            <a:avLst/>
          </a:prstGeom>
          <a:noFill/>
          <a:ln/>
        </p:spPr>
        <p:txBody>
          <a:bodyPr wrap="square" lIns="0" tIns="0" rIns="0" bIns="0" rtlCol="0" anchor="ctr"/>
          <a:lstStyle/>
          <a:p>
            <a:pPr indent="0" marL="0">
              <a:buNone/>
            </a:pPr>
            <a:r>
              <a:rPr lang="en-US" sz="1150" b="1" spc="220" kern="0" dirty="0">
                <a:solidFill>
                  <a:srgbClr val="E3B23C"/>
                </a:solidFill>
                <a:latin typeface="Calibri" pitchFamily="34" charset="0"/>
                <a:ea typeface="Calibri" pitchFamily="34" charset="-122"/>
                <a:cs typeface="Calibri" pitchFamily="34" charset="-120"/>
              </a:rPr>
              <a:t>LE NOM, HIER ET AUJOURD'HUI</a:t>
            </a:r>
            <a:endParaRPr lang="en-US" sz="1150" dirty="0"/>
          </a:p>
        </p:txBody>
      </p:sp>
      <p:sp>
        <p:nvSpPr>
          <p:cNvPr id="3" name="Text 1"/>
          <p:cNvSpPr txBox="1"/>
          <p:nvPr/>
        </p:nvSpPr>
        <p:spPr>
          <a:xfrm>
            <a:off x="640080" y="676656"/>
            <a:ext cx="10911535" cy="603504"/>
          </a:xfrm>
          <a:prstGeom prst="rect">
            <a:avLst/>
          </a:prstGeom>
          <a:noFill/>
          <a:ln/>
        </p:spPr>
        <p:txBody>
          <a:bodyPr wrap="square" lIns="0" tIns="0" rIns="0" bIns="0" rtlCol="0" anchor="ctr"/>
          <a:lstStyle/>
          <a:p>
            <a:pPr indent="0" marL="0">
              <a:buNone/>
            </a:pPr>
            <a:r>
              <a:rPr lang="en-US" sz="3100" b="1" dirty="0">
                <a:solidFill>
                  <a:srgbClr val="17171B"/>
                </a:solidFill>
                <a:latin typeface="Cambria" pitchFamily="34" charset="0"/>
                <a:ea typeface="Cambria" pitchFamily="34" charset="-122"/>
                <a:cs typeface="Cambria" pitchFamily="34" charset="-120"/>
              </a:rPr>
              <a:t>Former names and the name today</a:t>
            </a:r>
            <a:endParaRPr lang="en-US" sz="3100" dirty="0"/>
          </a:p>
        </p:txBody>
      </p:sp>
      <p:sp>
        <p:nvSpPr>
          <p:cNvPr id="4" name="Shape 2"/>
          <p:cNvSpPr/>
          <p:nvPr/>
        </p:nvSpPr>
        <p:spPr>
          <a:xfrm>
            <a:off x="640080" y="6163056"/>
            <a:ext cx="384048" cy="384048"/>
          </a:xfrm>
          <a:prstGeom prst="ellipse">
            <a:avLst/>
          </a:prstGeom>
          <a:solidFill>
            <a:srgbClr val="E3B23C"/>
          </a:solidFill>
          <a:ln/>
        </p:spPr>
      </p:sp>
      <p:sp>
        <p:nvSpPr>
          <p:cNvPr id="5" name="Text 3"/>
          <p:cNvSpPr txBox="1"/>
          <p:nvPr/>
        </p:nvSpPr>
        <p:spPr>
          <a:xfrm>
            <a:off x="640080" y="6163056"/>
            <a:ext cx="384048" cy="384048"/>
          </a:xfrm>
          <a:prstGeom prst="rect">
            <a:avLst/>
          </a:prstGeom>
          <a:noFill/>
          <a:ln/>
        </p:spPr>
        <p:txBody>
          <a:bodyPr wrap="square" lIns="0" tIns="0" rIns="0" bIns="0" rtlCol="0" anchor="ctr"/>
          <a:lstStyle/>
          <a:p>
            <a:pPr algn="ctr" indent="0" marL="0">
              <a:buNone/>
            </a:pPr>
            <a:r>
              <a:rPr lang="en-US" sz="1200" b="1" dirty="0">
                <a:solidFill>
                  <a:srgbClr val="17171B"/>
                </a:solidFill>
                <a:latin typeface="Calibri" pitchFamily="34" charset="0"/>
                <a:ea typeface="Calibri" pitchFamily="34" charset="-122"/>
                <a:cs typeface="Calibri" pitchFamily="34" charset="-120"/>
              </a:rPr>
              <a:t>5</a:t>
            </a:r>
            <a:endParaRPr lang="en-US" sz="1200" dirty="0"/>
          </a:p>
        </p:txBody>
      </p:sp>
      <p:sp>
        <p:nvSpPr>
          <p:cNvPr id="6" name="Text 4"/>
          <p:cNvSpPr txBox="1"/>
          <p:nvPr/>
        </p:nvSpPr>
        <p:spPr>
          <a:xfrm>
            <a:off x="6035040" y="6245352"/>
            <a:ext cx="5516575" cy="237744"/>
          </a:xfrm>
          <a:prstGeom prst="rect">
            <a:avLst/>
          </a:prstGeom>
          <a:noFill/>
          <a:ln/>
        </p:spPr>
        <p:txBody>
          <a:bodyPr wrap="square" lIns="0" tIns="0" rIns="0" bIns="0" rtlCol="0" anchor="ctr"/>
          <a:lstStyle/>
          <a:p>
            <a:pPr algn="r" indent="0" marL="0">
              <a:buNone/>
            </a:pPr>
            <a:r>
              <a:rPr lang="en-US" sz="900" dirty="0">
                <a:solidFill>
                  <a:srgbClr val="70707C"/>
                </a:solidFill>
                <a:latin typeface="Calibri" pitchFamily="34" charset="0"/>
                <a:ea typeface="Calibri" pitchFamily="34" charset="-122"/>
                <a:cs typeface="Calibri" pitchFamily="34" charset="-120"/>
              </a:rPr>
              <a:t>La Belgique  ·  FREN 201  ·  Projet Francophonie</a:t>
            </a:r>
            <a:endParaRPr lang="en-US" sz="900" dirty="0"/>
          </a:p>
        </p:txBody>
      </p:sp>
      <p:sp>
        <p:nvSpPr>
          <p:cNvPr id="7" name="Shape 5"/>
          <p:cNvSpPr/>
          <p:nvPr/>
        </p:nvSpPr>
        <p:spPr>
          <a:xfrm>
            <a:off x="640080" y="1508760"/>
            <a:ext cx="1097280" cy="310896"/>
          </a:xfrm>
          <a:prstGeom prst="roundRect">
            <a:avLst>
              <a:gd name="adj" fmla="val 17647"/>
            </a:avLst>
          </a:prstGeom>
          <a:solidFill>
            <a:srgbClr val="17171B"/>
          </a:solidFill>
          <a:ln w="12700">
            <a:solidFill>
              <a:srgbClr val="17171B"/>
            </a:solidFill>
            <a:prstDash val="solid"/>
          </a:ln>
        </p:spPr>
      </p:sp>
      <p:sp>
        <p:nvSpPr>
          <p:cNvPr id="8" name="Text 6"/>
          <p:cNvSpPr txBox="1"/>
          <p:nvPr/>
        </p:nvSpPr>
        <p:spPr>
          <a:xfrm>
            <a:off x="640080" y="1508760"/>
            <a:ext cx="1097280" cy="310896"/>
          </a:xfrm>
          <a:prstGeom prst="rect">
            <a:avLst/>
          </a:prstGeom>
          <a:noFill/>
          <a:ln/>
        </p:spPr>
        <p:txBody>
          <a:bodyPr wrap="square" lIns="0" tIns="0" rIns="0" bIns="0" rtlCol="0" anchor="ctr"/>
          <a:lstStyle/>
          <a:p>
            <a:pPr algn="ctr" indent="0" marL="0">
              <a:buNone/>
            </a:pPr>
            <a:r>
              <a:rPr lang="en-US" sz="1100" b="1" dirty="0">
                <a:solidFill>
                  <a:srgbClr val="E3B23C"/>
                </a:solidFill>
                <a:latin typeface="Calibri" pitchFamily="34" charset="0"/>
                <a:ea typeface="Calibri" pitchFamily="34" charset="-122"/>
                <a:cs typeface="Calibri" pitchFamily="34" charset="-120"/>
              </a:rPr>
              <a:t>57 BC</a:t>
            </a:r>
            <a:endParaRPr lang="en-US" sz="1100" dirty="0"/>
          </a:p>
        </p:txBody>
      </p:sp>
      <p:sp>
        <p:nvSpPr>
          <p:cNvPr id="9" name="Text 7"/>
          <p:cNvSpPr txBox="1"/>
          <p:nvPr/>
        </p:nvSpPr>
        <p:spPr>
          <a:xfrm>
            <a:off x="1938528" y="1481328"/>
            <a:ext cx="5605272" cy="256032"/>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Belgae</a:t>
            </a:r>
            <a:endParaRPr lang="en-US" sz="1350" dirty="0"/>
          </a:p>
        </p:txBody>
      </p:sp>
      <p:sp>
        <p:nvSpPr>
          <p:cNvPr id="10" name="Text 8"/>
          <p:cNvSpPr txBox="1"/>
          <p:nvPr/>
        </p:nvSpPr>
        <p:spPr>
          <a:xfrm>
            <a:off x="1938528" y="1737360"/>
            <a:ext cx="5605272" cy="475488"/>
          </a:xfrm>
          <a:prstGeom prst="rect">
            <a:avLst/>
          </a:prstGeom>
          <a:noFill/>
          <a:ln/>
        </p:spPr>
        <p:txBody>
          <a:bodyPr wrap="square" lIns="0" tIns="0" rIns="0" bIns="0" rtlCol="0" anchor="ctr"/>
          <a:lstStyle/>
          <a:p>
            <a:pPr indent="0" marL="0">
              <a:lnSpc>
                <a:spcPct val="102000"/>
              </a:lnSpc>
              <a:buNone/>
            </a:pPr>
            <a:r>
              <a:rPr lang="en-US" sz="1150" dirty="0">
                <a:solidFill>
                  <a:srgbClr val="3E3E48"/>
                </a:solidFill>
                <a:latin typeface="Calibri" pitchFamily="34" charset="0"/>
                <a:ea typeface="Calibri" pitchFamily="34" charset="-122"/>
                <a:cs typeface="Calibri" pitchFamily="34" charset="-120"/>
              </a:rPr>
              <a:t>Julius Caesar describes the Belgae, the tribes living between the Seine and the Rhine, in his account of the Gallic Wars. Their name is the root of every later one.</a:t>
            </a:r>
            <a:endParaRPr lang="en-US" sz="1150" dirty="0"/>
          </a:p>
        </p:txBody>
      </p:sp>
      <p:sp>
        <p:nvSpPr>
          <p:cNvPr id="11" name="Shape 9"/>
          <p:cNvSpPr/>
          <p:nvPr/>
        </p:nvSpPr>
        <p:spPr>
          <a:xfrm>
            <a:off x="640080" y="2395728"/>
            <a:ext cx="1097280" cy="310896"/>
          </a:xfrm>
          <a:prstGeom prst="roundRect">
            <a:avLst>
              <a:gd name="adj" fmla="val 17647"/>
            </a:avLst>
          </a:prstGeom>
          <a:solidFill>
            <a:srgbClr val="17171B"/>
          </a:solidFill>
          <a:ln w="12700">
            <a:solidFill>
              <a:srgbClr val="17171B"/>
            </a:solidFill>
            <a:prstDash val="solid"/>
          </a:ln>
        </p:spPr>
      </p:sp>
      <p:sp>
        <p:nvSpPr>
          <p:cNvPr id="12" name="Text 10"/>
          <p:cNvSpPr txBox="1"/>
          <p:nvPr/>
        </p:nvSpPr>
        <p:spPr>
          <a:xfrm>
            <a:off x="640080" y="2395728"/>
            <a:ext cx="1097280" cy="310896"/>
          </a:xfrm>
          <a:prstGeom prst="rect">
            <a:avLst/>
          </a:prstGeom>
          <a:noFill/>
          <a:ln/>
        </p:spPr>
        <p:txBody>
          <a:bodyPr wrap="square" lIns="0" tIns="0" rIns="0" bIns="0" rtlCol="0" anchor="ctr"/>
          <a:lstStyle/>
          <a:p>
            <a:pPr algn="ctr" indent="0" marL="0">
              <a:buNone/>
            </a:pPr>
            <a:r>
              <a:rPr lang="en-US" sz="1100" b="1" dirty="0">
                <a:solidFill>
                  <a:srgbClr val="E3B23C"/>
                </a:solidFill>
                <a:latin typeface="Calibri" pitchFamily="34" charset="0"/>
                <a:ea typeface="Calibri" pitchFamily="34" charset="-122"/>
                <a:cs typeface="Calibri" pitchFamily="34" charset="-120"/>
              </a:rPr>
              <a:t>c. 22 BC</a:t>
            </a:r>
            <a:endParaRPr lang="en-US" sz="1100" dirty="0"/>
          </a:p>
        </p:txBody>
      </p:sp>
      <p:sp>
        <p:nvSpPr>
          <p:cNvPr id="13" name="Text 11"/>
          <p:cNvSpPr txBox="1"/>
          <p:nvPr/>
        </p:nvSpPr>
        <p:spPr>
          <a:xfrm>
            <a:off x="1938528" y="2368296"/>
            <a:ext cx="5605272" cy="256032"/>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Gallia Belgica</a:t>
            </a:r>
            <a:endParaRPr lang="en-US" sz="1350" dirty="0"/>
          </a:p>
        </p:txBody>
      </p:sp>
      <p:sp>
        <p:nvSpPr>
          <p:cNvPr id="14" name="Text 12"/>
          <p:cNvSpPr txBox="1"/>
          <p:nvPr/>
        </p:nvSpPr>
        <p:spPr>
          <a:xfrm>
            <a:off x="1938528" y="2624328"/>
            <a:ext cx="5605272" cy="475488"/>
          </a:xfrm>
          <a:prstGeom prst="rect">
            <a:avLst/>
          </a:prstGeom>
          <a:noFill/>
          <a:ln/>
        </p:spPr>
        <p:txBody>
          <a:bodyPr wrap="square" lIns="0" tIns="0" rIns="0" bIns="0" rtlCol="0" anchor="ctr"/>
          <a:lstStyle/>
          <a:p>
            <a:pPr indent="0" marL="0">
              <a:lnSpc>
                <a:spcPct val="102000"/>
              </a:lnSpc>
              <a:buNone/>
            </a:pPr>
            <a:r>
              <a:rPr lang="en-US" sz="1150" dirty="0">
                <a:solidFill>
                  <a:srgbClr val="3E3E48"/>
                </a:solidFill>
                <a:latin typeface="Calibri" pitchFamily="34" charset="0"/>
                <a:ea typeface="Calibri" pitchFamily="34" charset="-122"/>
                <a:cs typeface="Calibri" pitchFamily="34" charset="-120"/>
              </a:rPr>
              <a:t>Rome organises the conquered land as the province of Gallia Belgica — the first time the name marks a territory.</a:t>
            </a:r>
            <a:endParaRPr lang="en-US" sz="1150" dirty="0"/>
          </a:p>
        </p:txBody>
      </p:sp>
      <p:sp>
        <p:nvSpPr>
          <p:cNvPr id="15" name="Shape 13"/>
          <p:cNvSpPr/>
          <p:nvPr/>
        </p:nvSpPr>
        <p:spPr>
          <a:xfrm>
            <a:off x="640080" y="3282696"/>
            <a:ext cx="1097280" cy="310896"/>
          </a:xfrm>
          <a:prstGeom prst="roundRect">
            <a:avLst>
              <a:gd name="adj" fmla="val 17647"/>
            </a:avLst>
          </a:prstGeom>
          <a:solidFill>
            <a:srgbClr val="17171B"/>
          </a:solidFill>
          <a:ln w="12700">
            <a:solidFill>
              <a:srgbClr val="17171B"/>
            </a:solidFill>
            <a:prstDash val="solid"/>
          </a:ln>
        </p:spPr>
      </p:sp>
      <p:sp>
        <p:nvSpPr>
          <p:cNvPr id="16" name="Text 14"/>
          <p:cNvSpPr txBox="1"/>
          <p:nvPr/>
        </p:nvSpPr>
        <p:spPr>
          <a:xfrm>
            <a:off x="640080" y="3282696"/>
            <a:ext cx="1097280" cy="310896"/>
          </a:xfrm>
          <a:prstGeom prst="rect">
            <a:avLst/>
          </a:prstGeom>
          <a:noFill/>
          <a:ln/>
        </p:spPr>
        <p:txBody>
          <a:bodyPr wrap="square" lIns="0" tIns="0" rIns="0" bIns="0" rtlCol="0" anchor="ctr"/>
          <a:lstStyle/>
          <a:p>
            <a:pPr algn="ctr" indent="0" marL="0">
              <a:buNone/>
            </a:pPr>
            <a:r>
              <a:rPr lang="en-US" sz="1100" b="1" dirty="0">
                <a:solidFill>
                  <a:srgbClr val="E3B23C"/>
                </a:solidFill>
                <a:latin typeface="Calibri" pitchFamily="34" charset="0"/>
                <a:ea typeface="Calibri" pitchFamily="34" charset="-122"/>
                <a:cs typeface="Calibri" pitchFamily="34" charset="-120"/>
              </a:rPr>
              <a:t>1556–1794</a:t>
            </a:r>
            <a:endParaRPr lang="en-US" sz="1100" dirty="0"/>
          </a:p>
        </p:txBody>
      </p:sp>
      <p:sp>
        <p:nvSpPr>
          <p:cNvPr id="17" name="Text 15"/>
          <p:cNvSpPr txBox="1"/>
          <p:nvPr/>
        </p:nvSpPr>
        <p:spPr>
          <a:xfrm>
            <a:off x="1938528" y="3255264"/>
            <a:ext cx="5605272" cy="256032"/>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Pays-Bas espagnols, puis autrichiens</a:t>
            </a:r>
            <a:endParaRPr lang="en-US" sz="1350" dirty="0"/>
          </a:p>
        </p:txBody>
      </p:sp>
      <p:sp>
        <p:nvSpPr>
          <p:cNvPr id="18" name="Text 16"/>
          <p:cNvSpPr txBox="1"/>
          <p:nvPr/>
        </p:nvSpPr>
        <p:spPr>
          <a:xfrm>
            <a:off x="1938528" y="3511296"/>
            <a:ext cx="5605272" cy="475488"/>
          </a:xfrm>
          <a:prstGeom prst="rect">
            <a:avLst/>
          </a:prstGeom>
          <a:noFill/>
          <a:ln/>
        </p:spPr>
        <p:txBody>
          <a:bodyPr wrap="square" lIns="0" tIns="0" rIns="0" bIns="0" rtlCol="0" anchor="ctr"/>
          <a:lstStyle/>
          <a:p>
            <a:pPr indent="0" marL="0">
              <a:lnSpc>
                <a:spcPct val="102000"/>
              </a:lnSpc>
              <a:buNone/>
            </a:pPr>
            <a:r>
              <a:rPr lang="en-US" sz="1150" dirty="0">
                <a:solidFill>
                  <a:srgbClr val="3E3E48"/>
                </a:solidFill>
                <a:latin typeface="Calibri" pitchFamily="34" charset="0"/>
                <a:ea typeface="Calibri" pitchFamily="34" charset="-122"/>
                <a:cs typeface="Calibri" pitchFamily="34" charset="-120"/>
              </a:rPr>
              <a:t>The Spanish Netherlands, then the Austrian Netherlands: the southern, Catholic half of the Low Countries, ruled from Madrid and then Vienna.</a:t>
            </a:r>
            <a:endParaRPr lang="en-US" sz="1150" dirty="0"/>
          </a:p>
        </p:txBody>
      </p:sp>
      <p:sp>
        <p:nvSpPr>
          <p:cNvPr id="19" name="Shape 17"/>
          <p:cNvSpPr/>
          <p:nvPr/>
        </p:nvSpPr>
        <p:spPr>
          <a:xfrm>
            <a:off x="640080" y="4169664"/>
            <a:ext cx="1097280" cy="310896"/>
          </a:xfrm>
          <a:prstGeom prst="roundRect">
            <a:avLst>
              <a:gd name="adj" fmla="val 17647"/>
            </a:avLst>
          </a:prstGeom>
          <a:solidFill>
            <a:srgbClr val="17171B"/>
          </a:solidFill>
          <a:ln w="12700">
            <a:solidFill>
              <a:srgbClr val="17171B"/>
            </a:solidFill>
            <a:prstDash val="solid"/>
          </a:ln>
        </p:spPr>
      </p:sp>
      <p:sp>
        <p:nvSpPr>
          <p:cNvPr id="20" name="Text 18"/>
          <p:cNvSpPr txBox="1"/>
          <p:nvPr/>
        </p:nvSpPr>
        <p:spPr>
          <a:xfrm>
            <a:off x="640080" y="4169664"/>
            <a:ext cx="1097280" cy="310896"/>
          </a:xfrm>
          <a:prstGeom prst="rect">
            <a:avLst/>
          </a:prstGeom>
          <a:noFill/>
          <a:ln/>
        </p:spPr>
        <p:txBody>
          <a:bodyPr wrap="square" lIns="0" tIns="0" rIns="0" bIns="0" rtlCol="0" anchor="ctr"/>
          <a:lstStyle/>
          <a:p>
            <a:pPr algn="ctr" indent="0" marL="0">
              <a:buNone/>
            </a:pPr>
            <a:r>
              <a:rPr lang="en-US" sz="1100" b="1" dirty="0">
                <a:solidFill>
                  <a:srgbClr val="E3B23C"/>
                </a:solidFill>
                <a:latin typeface="Calibri" pitchFamily="34" charset="0"/>
                <a:ea typeface="Calibri" pitchFamily="34" charset="-122"/>
                <a:cs typeface="Calibri" pitchFamily="34" charset="-120"/>
              </a:rPr>
              <a:t>1790</a:t>
            </a:r>
            <a:endParaRPr lang="en-US" sz="1100" dirty="0"/>
          </a:p>
        </p:txBody>
      </p:sp>
      <p:sp>
        <p:nvSpPr>
          <p:cNvPr id="21" name="Text 19"/>
          <p:cNvSpPr txBox="1"/>
          <p:nvPr/>
        </p:nvSpPr>
        <p:spPr>
          <a:xfrm>
            <a:off x="1938528" y="4142232"/>
            <a:ext cx="5605272" cy="256032"/>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États-Belgiques-Unis</a:t>
            </a:r>
            <a:endParaRPr lang="en-US" sz="1350" dirty="0"/>
          </a:p>
        </p:txBody>
      </p:sp>
      <p:sp>
        <p:nvSpPr>
          <p:cNvPr id="22" name="Text 20"/>
          <p:cNvSpPr txBox="1"/>
          <p:nvPr/>
        </p:nvSpPr>
        <p:spPr>
          <a:xfrm>
            <a:off x="1938528" y="4398264"/>
            <a:ext cx="5605272" cy="475488"/>
          </a:xfrm>
          <a:prstGeom prst="rect">
            <a:avLst/>
          </a:prstGeom>
          <a:noFill/>
          <a:ln/>
        </p:spPr>
        <p:txBody>
          <a:bodyPr wrap="square" lIns="0" tIns="0" rIns="0" bIns="0" rtlCol="0" anchor="ctr"/>
          <a:lstStyle/>
          <a:p>
            <a:pPr indent="0" marL="0">
              <a:lnSpc>
                <a:spcPct val="102000"/>
              </a:lnSpc>
              <a:buNone/>
            </a:pPr>
            <a:r>
              <a:rPr lang="en-US" sz="1150" dirty="0">
                <a:solidFill>
                  <a:srgbClr val="3E3E48"/>
                </a:solidFill>
                <a:latin typeface="Calibri" pitchFamily="34" charset="0"/>
                <a:ea typeface="Calibri" pitchFamily="34" charset="-122"/>
                <a:cs typeface="Calibri" pitchFamily="34" charset="-120"/>
              </a:rPr>
              <a:t>The short-lived United Belgian States — the first time a country actually calls itself Belgian. It lasted less than a year.</a:t>
            </a:r>
            <a:endParaRPr lang="en-US" sz="1150" dirty="0"/>
          </a:p>
        </p:txBody>
      </p:sp>
      <p:sp>
        <p:nvSpPr>
          <p:cNvPr id="23" name="Shape 21"/>
          <p:cNvSpPr/>
          <p:nvPr/>
        </p:nvSpPr>
        <p:spPr>
          <a:xfrm>
            <a:off x="640080" y="5056632"/>
            <a:ext cx="1097280" cy="310896"/>
          </a:xfrm>
          <a:prstGeom prst="roundRect">
            <a:avLst>
              <a:gd name="adj" fmla="val 17647"/>
            </a:avLst>
          </a:prstGeom>
          <a:solidFill>
            <a:srgbClr val="17171B"/>
          </a:solidFill>
          <a:ln w="12700">
            <a:solidFill>
              <a:srgbClr val="17171B"/>
            </a:solidFill>
            <a:prstDash val="solid"/>
          </a:ln>
        </p:spPr>
      </p:sp>
      <p:sp>
        <p:nvSpPr>
          <p:cNvPr id="24" name="Text 22"/>
          <p:cNvSpPr txBox="1"/>
          <p:nvPr/>
        </p:nvSpPr>
        <p:spPr>
          <a:xfrm>
            <a:off x="640080" y="5056632"/>
            <a:ext cx="1097280" cy="310896"/>
          </a:xfrm>
          <a:prstGeom prst="rect">
            <a:avLst/>
          </a:prstGeom>
          <a:noFill/>
          <a:ln/>
        </p:spPr>
        <p:txBody>
          <a:bodyPr wrap="square" lIns="0" tIns="0" rIns="0" bIns="0" rtlCol="0" anchor="ctr"/>
          <a:lstStyle/>
          <a:p>
            <a:pPr algn="ctr" indent="0" marL="0">
              <a:buNone/>
            </a:pPr>
            <a:r>
              <a:rPr lang="en-US" sz="1100" b="1" dirty="0">
                <a:solidFill>
                  <a:srgbClr val="E3B23C"/>
                </a:solidFill>
                <a:latin typeface="Calibri" pitchFamily="34" charset="0"/>
                <a:ea typeface="Calibri" pitchFamily="34" charset="-122"/>
                <a:cs typeface="Calibri" pitchFamily="34" charset="-120"/>
              </a:rPr>
              <a:t>1830 →</a:t>
            </a:r>
            <a:endParaRPr lang="en-US" sz="1100" dirty="0"/>
          </a:p>
        </p:txBody>
      </p:sp>
      <p:sp>
        <p:nvSpPr>
          <p:cNvPr id="25" name="Text 23"/>
          <p:cNvSpPr txBox="1"/>
          <p:nvPr/>
        </p:nvSpPr>
        <p:spPr>
          <a:xfrm>
            <a:off x="1938528" y="5029200"/>
            <a:ext cx="5605272" cy="256032"/>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Royaume de Belgique</a:t>
            </a:r>
            <a:endParaRPr lang="en-US" sz="1350" dirty="0"/>
          </a:p>
        </p:txBody>
      </p:sp>
      <p:sp>
        <p:nvSpPr>
          <p:cNvPr id="26" name="Text 24"/>
          <p:cNvSpPr txBox="1"/>
          <p:nvPr/>
        </p:nvSpPr>
        <p:spPr>
          <a:xfrm>
            <a:off x="1938528" y="5285232"/>
            <a:ext cx="5605272" cy="475488"/>
          </a:xfrm>
          <a:prstGeom prst="rect">
            <a:avLst/>
          </a:prstGeom>
          <a:noFill/>
          <a:ln/>
        </p:spPr>
        <p:txBody>
          <a:bodyPr wrap="square" lIns="0" tIns="0" rIns="0" bIns="0" rtlCol="0" anchor="ctr"/>
          <a:lstStyle/>
          <a:p>
            <a:pPr indent="0" marL="0">
              <a:lnSpc>
                <a:spcPct val="102000"/>
              </a:lnSpc>
              <a:buNone/>
            </a:pPr>
            <a:r>
              <a:rPr lang="en-US" sz="1150" dirty="0">
                <a:solidFill>
                  <a:srgbClr val="3E3E48"/>
                </a:solidFill>
                <a:latin typeface="Calibri" pitchFamily="34" charset="0"/>
                <a:ea typeface="Calibri" pitchFamily="34" charset="-122"/>
                <a:cs typeface="Calibri" pitchFamily="34" charset="-120"/>
              </a:rPr>
              <a:t>The modern kingdom. In Dutch Koninkrijk België, in German Königreich Belgien — three official names for one country.</a:t>
            </a:r>
            <a:endParaRPr lang="en-US" sz="1150" dirty="0"/>
          </a:p>
        </p:txBody>
      </p:sp>
      <p:sp>
        <p:nvSpPr>
          <p:cNvPr id="27" name="Shape 25"/>
          <p:cNvSpPr/>
          <p:nvPr/>
        </p:nvSpPr>
        <p:spPr>
          <a:xfrm>
            <a:off x="7955280" y="1481328"/>
            <a:ext cx="3596335" cy="2286000"/>
          </a:xfrm>
          <a:prstGeom prst="roundRect">
            <a:avLst>
              <a:gd name="adj" fmla="val 3600"/>
            </a:avLst>
          </a:prstGeom>
          <a:solidFill>
            <a:srgbClr val="17171B"/>
          </a:solidFill>
          <a:ln w="12700">
            <a:solidFill>
              <a:srgbClr val="17171B"/>
            </a:solidFill>
            <a:prstDash val="solid"/>
          </a:ln>
          <a:effectLst>
            <a:outerShdw sx="100000" sy="100000" kx="0" ky="0" algn="bl" rotWithShape="0" blurRad="127000" dist="25400" dir="5400000">
              <a:srgbClr val="9A9AA6">
                <a:alpha val="22000"/>
              </a:srgbClr>
            </a:outerShdw>
          </a:effectLst>
        </p:spPr>
      </p:sp>
      <p:sp>
        <p:nvSpPr>
          <p:cNvPr id="28" name="Text 26"/>
          <p:cNvSpPr txBox="1"/>
          <p:nvPr/>
        </p:nvSpPr>
        <p:spPr>
          <a:xfrm>
            <a:off x="8229600" y="1801368"/>
            <a:ext cx="3047695" cy="1097280"/>
          </a:xfrm>
          <a:prstGeom prst="rect">
            <a:avLst/>
          </a:prstGeom>
          <a:noFill/>
          <a:ln/>
        </p:spPr>
        <p:txBody>
          <a:bodyPr wrap="square" lIns="0" tIns="0" rIns="0" bIns="0" rtlCol="0" anchor="ctr"/>
          <a:lstStyle/>
          <a:p>
            <a:pPr indent="0" marL="0">
              <a:lnSpc>
                <a:spcPct val="110000"/>
              </a:lnSpc>
              <a:buNone/>
            </a:pPr>
            <a:r>
              <a:rPr lang="en-US" sz="1700" i="1" dirty="0">
                <a:solidFill>
                  <a:srgbClr val="F2D68C"/>
                </a:solidFill>
                <a:latin typeface="Cambria" pitchFamily="34" charset="0"/>
                <a:ea typeface="Cambria" pitchFamily="34" charset="-122"/>
                <a:cs typeface="Cambria" pitchFamily="34" charset="-120"/>
              </a:rPr>
              <a:t>“Of all these peoples, the bravest are the Belgae.”</a:t>
            </a:r>
            <a:endParaRPr lang="en-US" sz="1700" dirty="0"/>
          </a:p>
        </p:txBody>
      </p:sp>
      <p:sp>
        <p:nvSpPr>
          <p:cNvPr id="29" name="Text 27"/>
          <p:cNvSpPr txBox="1"/>
          <p:nvPr/>
        </p:nvSpPr>
        <p:spPr>
          <a:xfrm>
            <a:off x="8229600" y="3035808"/>
            <a:ext cx="3047695" cy="548640"/>
          </a:xfrm>
          <a:prstGeom prst="rect">
            <a:avLst/>
          </a:prstGeom>
          <a:noFill/>
          <a:ln/>
        </p:spPr>
        <p:txBody>
          <a:bodyPr wrap="square" lIns="0" tIns="0" rIns="0" bIns="0" rtlCol="0" anchor="ctr"/>
          <a:lstStyle/>
          <a:p>
            <a:pPr indent="0" marL="0">
              <a:buNone/>
            </a:pPr>
            <a:r>
              <a:rPr lang="en-US" sz="1050" dirty="0">
                <a:solidFill>
                  <a:srgbClr val="A8A8B4"/>
                </a:solidFill>
                <a:latin typeface="Calibri" pitchFamily="34" charset="0"/>
                <a:ea typeface="Calibri" pitchFamily="34" charset="-122"/>
                <a:cs typeface="Calibri" pitchFamily="34" charset="-120"/>
              </a:rPr>
              <a:t>Julius Caesar, De Bello Gallico, Book I — the sentence Belgian schoolchildren still learn.</a:t>
            </a:r>
            <a:endParaRPr lang="en-US" sz="1050" dirty="0"/>
          </a:p>
        </p:txBody>
      </p:sp>
      <p:sp>
        <p:nvSpPr>
          <p:cNvPr id="30" name="Shape 28"/>
          <p:cNvSpPr/>
          <p:nvPr/>
        </p:nvSpPr>
        <p:spPr>
          <a:xfrm>
            <a:off x="7955280" y="3995928"/>
            <a:ext cx="3596335" cy="1965960"/>
          </a:xfrm>
          <a:prstGeom prst="roundRect">
            <a:avLst>
              <a:gd name="adj" fmla="val 4186"/>
            </a:avLst>
          </a:prstGeom>
          <a:solidFill>
            <a:srgbClr val="F4F4F6"/>
          </a:solidFill>
          <a:ln w="12700">
            <a:solidFill>
              <a:srgbClr val="E4E4E9"/>
            </a:solidFill>
            <a:prstDash val="solid"/>
          </a:ln>
          <a:effectLst>
            <a:outerShdw sx="100000" sy="100000" kx="0" ky="0" algn="bl" rotWithShape="0" blurRad="127000" dist="25400" dir="5400000">
              <a:srgbClr val="9A9AA6">
                <a:alpha val="22000"/>
              </a:srgbClr>
            </a:outerShdw>
          </a:effectLst>
        </p:spPr>
      </p:sp>
      <p:sp>
        <p:nvSpPr>
          <p:cNvPr id="31" name="Text 29"/>
          <p:cNvSpPr txBox="1"/>
          <p:nvPr/>
        </p:nvSpPr>
        <p:spPr>
          <a:xfrm>
            <a:off x="8229600" y="4178808"/>
            <a:ext cx="3047695" cy="237744"/>
          </a:xfrm>
          <a:prstGeom prst="rect">
            <a:avLst/>
          </a:prstGeom>
          <a:noFill/>
          <a:ln/>
        </p:spPr>
        <p:txBody>
          <a:bodyPr wrap="square" lIns="0" tIns="0" rIns="0" bIns="0" rtlCol="0" anchor="ctr"/>
          <a:lstStyle/>
          <a:p>
            <a:pPr indent="0" marL="0">
              <a:buNone/>
            </a:pPr>
            <a:r>
              <a:rPr lang="en-US" sz="1050" b="1" spc="110" kern="0" dirty="0">
                <a:solidFill>
                  <a:srgbClr val="E3B23C"/>
                </a:solidFill>
                <a:latin typeface="Calibri" pitchFamily="34" charset="0"/>
                <a:ea typeface="Calibri" pitchFamily="34" charset="-122"/>
                <a:cs typeface="Calibri" pitchFamily="34" charset="-120"/>
              </a:rPr>
              <a:t>A DETAIL THAT MATTERS</a:t>
            </a:r>
            <a:endParaRPr lang="en-US" sz="1050" dirty="0"/>
          </a:p>
        </p:txBody>
      </p:sp>
      <p:sp>
        <p:nvSpPr>
          <p:cNvPr id="32" name="Text 30"/>
          <p:cNvSpPr txBox="1"/>
          <p:nvPr/>
        </p:nvSpPr>
        <p:spPr>
          <a:xfrm>
            <a:off x="8229600" y="4480560"/>
            <a:ext cx="3047695" cy="1371600"/>
          </a:xfrm>
          <a:prstGeom prst="rect">
            <a:avLst/>
          </a:prstGeom>
          <a:noFill/>
          <a:ln/>
        </p:spPr>
        <p:txBody>
          <a:bodyPr wrap="square" lIns="0" tIns="0" rIns="0" bIns="0" rtlCol="0" anchor="ctr"/>
          <a:lstStyle/>
          <a:p>
            <a:pPr indent="0" marL="0">
              <a:lnSpc>
                <a:spcPct val="105000"/>
              </a:lnSpc>
              <a:buNone/>
            </a:pPr>
            <a:r>
              <a:rPr lang="en-US" sz="1100" dirty="0">
                <a:solidFill>
                  <a:srgbClr val="3E3E48"/>
                </a:solidFill>
                <a:latin typeface="Calibri" pitchFamily="34" charset="0"/>
                <a:ea typeface="Calibri" pitchFamily="34" charset="-122"/>
                <a:cs typeface="Calibri" pitchFamily="34" charset="-120"/>
              </a:rPr>
              <a:t>The monarch's title is Roi des Belges — King of the Belgians, not King of Belgium. The crown belongs to a people, not to a piece of land. That wording was deliberate in 1831 and it still says something about how the country understands itself.</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6035040" cy="237744"/>
          </a:xfrm>
          <a:prstGeom prst="rect">
            <a:avLst/>
          </a:prstGeom>
          <a:noFill/>
          <a:ln/>
        </p:spPr>
        <p:txBody>
          <a:bodyPr wrap="square" lIns="0" tIns="0" rIns="0" bIns="0" rtlCol="0" anchor="ctr"/>
          <a:lstStyle/>
          <a:p>
            <a:pPr indent="0" marL="0">
              <a:buNone/>
            </a:pPr>
            <a:r>
              <a:rPr lang="en-US" sz="1150" b="1" spc="220" kern="0" dirty="0">
                <a:solidFill>
                  <a:srgbClr val="E3B23C"/>
                </a:solidFill>
                <a:latin typeface="Calibri" pitchFamily="34" charset="0"/>
                <a:ea typeface="Calibri" pitchFamily="34" charset="-122"/>
                <a:cs typeface="Calibri" pitchFamily="34" charset="-120"/>
              </a:rPr>
              <a:t>HISTOIRE I  ·  57 AV. J.-C. – 1815</a:t>
            </a:r>
            <a:endParaRPr lang="en-US" sz="1150" dirty="0"/>
          </a:p>
        </p:txBody>
      </p:sp>
      <p:sp>
        <p:nvSpPr>
          <p:cNvPr id="3" name="Text 1"/>
          <p:cNvSpPr txBox="1"/>
          <p:nvPr/>
        </p:nvSpPr>
        <p:spPr>
          <a:xfrm>
            <a:off x="640080" y="676656"/>
            <a:ext cx="6035040" cy="603504"/>
          </a:xfrm>
          <a:prstGeom prst="rect">
            <a:avLst/>
          </a:prstGeom>
          <a:noFill/>
          <a:ln/>
        </p:spPr>
        <p:txBody>
          <a:bodyPr wrap="square" lIns="0" tIns="0" rIns="0" bIns="0" rtlCol="0" anchor="ctr"/>
          <a:lstStyle/>
          <a:p>
            <a:pPr indent="0" marL="0">
              <a:buNone/>
            </a:pPr>
            <a:r>
              <a:rPr lang="en-US" sz="3100" b="1" dirty="0">
                <a:solidFill>
                  <a:srgbClr val="17171B"/>
                </a:solidFill>
                <a:latin typeface="Cambria" pitchFamily="34" charset="0"/>
                <a:ea typeface="Cambria" pitchFamily="34" charset="-122"/>
                <a:cs typeface="Cambria" pitchFamily="34" charset="-120"/>
              </a:rPr>
              <a:t>Ruled by everyone else</a:t>
            </a:r>
            <a:endParaRPr lang="en-US" sz="3100" dirty="0"/>
          </a:p>
        </p:txBody>
      </p:sp>
      <p:sp>
        <p:nvSpPr>
          <p:cNvPr id="4" name="Shape 2"/>
          <p:cNvSpPr/>
          <p:nvPr/>
        </p:nvSpPr>
        <p:spPr>
          <a:xfrm>
            <a:off x="640080" y="6163056"/>
            <a:ext cx="384048" cy="384048"/>
          </a:xfrm>
          <a:prstGeom prst="ellipse">
            <a:avLst/>
          </a:prstGeom>
          <a:solidFill>
            <a:srgbClr val="E3B23C"/>
          </a:solidFill>
          <a:ln/>
        </p:spPr>
      </p:sp>
      <p:sp>
        <p:nvSpPr>
          <p:cNvPr id="5" name="Text 3"/>
          <p:cNvSpPr txBox="1"/>
          <p:nvPr/>
        </p:nvSpPr>
        <p:spPr>
          <a:xfrm>
            <a:off x="640080" y="6163056"/>
            <a:ext cx="384048" cy="384048"/>
          </a:xfrm>
          <a:prstGeom prst="rect">
            <a:avLst/>
          </a:prstGeom>
          <a:noFill/>
          <a:ln/>
        </p:spPr>
        <p:txBody>
          <a:bodyPr wrap="square" lIns="0" tIns="0" rIns="0" bIns="0" rtlCol="0" anchor="ctr"/>
          <a:lstStyle/>
          <a:p>
            <a:pPr algn="ctr" indent="0" marL="0">
              <a:buNone/>
            </a:pPr>
            <a:r>
              <a:rPr lang="en-US" sz="1200" b="1" dirty="0">
                <a:solidFill>
                  <a:srgbClr val="17171B"/>
                </a:solidFill>
                <a:latin typeface="Calibri" pitchFamily="34" charset="0"/>
                <a:ea typeface="Calibri" pitchFamily="34" charset="-122"/>
                <a:cs typeface="Calibri" pitchFamily="34" charset="-120"/>
              </a:rPr>
              <a:t>6</a:t>
            </a:r>
            <a:endParaRPr lang="en-US" sz="1200" dirty="0"/>
          </a:p>
        </p:txBody>
      </p:sp>
      <p:sp>
        <p:nvSpPr>
          <p:cNvPr id="6" name="Text 4"/>
          <p:cNvSpPr txBox="1"/>
          <p:nvPr/>
        </p:nvSpPr>
        <p:spPr>
          <a:xfrm>
            <a:off x="6035040" y="6245352"/>
            <a:ext cx="5516575" cy="237744"/>
          </a:xfrm>
          <a:prstGeom prst="rect">
            <a:avLst/>
          </a:prstGeom>
          <a:noFill/>
          <a:ln/>
        </p:spPr>
        <p:txBody>
          <a:bodyPr wrap="square" lIns="0" tIns="0" rIns="0" bIns="0" rtlCol="0" anchor="ctr"/>
          <a:lstStyle/>
          <a:p>
            <a:pPr algn="r" indent="0" marL="0">
              <a:buNone/>
            </a:pPr>
            <a:r>
              <a:rPr lang="en-US" sz="900" dirty="0">
                <a:solidFill>
                  <a:srgbClr val="70707C"/>
                </a:solidFill>
                <a:latin typeface="Calibri" pitchFamily="34" charset="0"/>
                <a:ea typeface="Calibri" pitchFamily="34" charset="-122"/>
                <a:cs typeface="Calibri" pitchFamily="34" charset="-120"/>
              </a:rPr>
              <a:t>La Belgique  ·  FREN 201  ·  Projet Francophonie</a:t>
            </a:r>
            <a:endParaRPr lang="en-US" sz="900" dirty="0"/>
          </a:p>
        </p:txBody>
      </p:sp>
      <p:pic>
        <p:nvPicPr>
          <p:cNvPr id="7" name="Image 0" descr="/tmp/claude-0/-home-user-BOYNT-WORK/856f02cf-0e32-5bfe-bffb-9edb29b314f9/scratchpad/deckimg/waterloo.jpg">    </p:cNvPr>
          <p:cNvPicPr>
            <a:picLocks noChangeAspect="1"/>
          </p:cNvPicPr>
          <p:nvPr/>
        </p:nvPicPr>
        <p:blipFill>
          <a:blip r:embed="rId1"/>
          <a:srcRect l="0" r="0" t="0" b="0"/>
          <a:stretch/>
        </p:blipFill>
        <p:spPr>
          <a:xfrm>
            <a:off x="6720840" y="0"/>
            <a:ext cx="5470855" cy="6858000"/>
          </a:xfrm>
          <a:prstGeom prst="rect">
            <a:avLst/>
          </a:prstGeom>
        </p:spPr>
      </p:pic>
      <p:sp>
        <p:nvSpPr>
          <p:cNvPr id="8" name="Shape 5"/>
          <p:cNvSpPr/>
          <p:nvPr/>
        </p:nvSpPr>
        <p:spPr>
          <a:xfrm>
            <a:off x="6720840" y="5074920"/>
            <a:ext cx="5470855" cy="1783080"/>
          </a:xfrm>
          <a:prstGeom prst="rect">
            <a:avLst/>
          </a:prstGeom>
          <a:solidFill>
            <a:srgbClr val="17171B">
              <a:alpha val="88000"/>
            </a:srgbClr>
          </a:solidFill>
          <a:ln/>
        </p:spPr>
      </p:sp>
      <p:sp>
        <p:nvSpPr>
          <p:cNvPr id="9" name="Text 6"/>
          <p:cNvSpPr txBox="1"/>
          <p:nvPr/>
        </p:nvSpPr>
        <p:spPr>
          <a:xfrm>
            <a:off x="7040880" y="5321808"/>
            <a:ext cx="4754880" cy="256032"/>
          </a:xfrm>
          <a:prstGeom prst="rect">
            <a:avLst/>
          </a:prstGeom>
          <a:noFill/>
          <a:ln/>
        </p:spPr>
        <p:txBody>
          <a:bodyPr wrap="square" lIns="0" tIns="0" rIns="0" bIns="0" rtlCol="0" anchor="ctr"/>
          <a:lstStyle/>
          <a:p>
            <a:pPr indent="0" marL="0">
              <a:buNone/>
            </a:pPr>
            <a:r>
              <a:rPr lang="en-US" sz="1100" b="1" spc="140" kern="0" dirty="0">
                <a:solidFill>
                  <a:srgbClr val="E3B23C"/>
                </a:solidFill>
                <a:latin typeface="Calibri" pitchFamily="34" charset="0"/>
                <a:ea typeface="Calibri" pitchFamily="34" charset="-122"/>
                <a:cs typeface="Calibri" pitchFamily="34" charset="-120"/>
              </a:rPr>
              <a:t>THE LION'S MOUND, WATERLOO</a:t>
            </a:r>
            <a:endParaRPr lang="en-US" sz="1100" dirty="0"/>
          </a:p>
        </p:txBody>
      </p:sp>
      <p:sp>
        <p:nvSpPr>
          <p:cNvPr id="10" name="Text 7"/>
          <p:cNvSpPr txBox="1"/>
          <p:nvPr/>
        </p:nvSpPr>
        <p:spPr>
          <a:xfrm>
            <a:off x="7040880" y="5614416"/>
            <a:ext cx="4754880" cy="914400"/>
          </a:xfrm>
          <a:prstGeom prst="rect">
            <a:avLst/>
          </a:prstGeom>
          <a:noFill/>
          <a:ln/>
        </p:spPr>
        <p:txBody>
          <a:bodyPr wrap="square" lIns="0" tIns="0" rIns="0" bIns="0" rtlCol="0" anchor="ctr"/>
          <a:lstStyle/>
          <a:p>
            <a:pPr indent="0" marL="0">
              <a:lnSpc>
                <a:spcPct val="105000"/>
              </a:lnSpc>
              <a:buNone/>
            </a:pPr>
            <a:r>
              <a:rPr lang="en-US" sz="1100" dirty="0">
                <a:solidFill>
                  <a:srgbClr val="E2E2E8"/>
                </a:solidFill>
                <a:latin typeface="Calibri" pitchFamily="34" charset="0"/>
                <a:ea typeface="Calibri" pitchFamily="34" charset="-122"/>
                <a:cs typeface="Calibri" pitchFamily="34" charset="-120"/>
              </a:rPr>
              <a:t>Raised on the battlefield 15 km south of Brussels where Napoleon was finally defeated on 18 June 1815 — on what was not yet Belgian soil.</a:t>
            </a:r>
            <a:endParaRPr lang="en-US" sz="1100" dirty="0"/>
          </a:p>
        </p:txBody>
      </p:sp>
      <p:sp>
        <p:nvSpPr>
          <p:cNvPr id="11" name="Shape 8"/>
          <p:cNvSpPr/>
          <p:nvPr/>
        </p:nvSpPr>
        <p:spPr>
          <a:xfrm>
            <a:off x="640080" y="1508760"/>
            <a:ext cx="1051560" cy="310896"/>
          </a:xfrm>
          <a:prstGeom prst="roundRect">
            <a:avLst>
              <a:gd name="adj" fmla="val 17647"/>
            </a:avLst>
          </a:prstGeom>
          <a:solidFill>
            <a:srgbClr val="17171B"/>
          </a:solidFill>
          <a:ln w="12700">
            <a:solidFill>
              <a:srgbClr val="17171B"/>
            </a:solidFill>
            <a:prstDash val="solid"/>
          </a:ln>
        </p:spPr>
      </p:sp>
      <p:sp>
        <p:nvSpPr>
          <p:cNvPr id="12" name="Text 9"/>
          <p:cNvSpPr txBox="1"/>
          <p:nvPr/>
        </p:nvSpPr>
        <p:spPr>
          <a:xfrm>
            <a:off x="640080" y="1508760"/>
            <a:ext cx="1051560" cy="310896"/>
          </a:xfrm>
          <a:prstGeom prst="rect">
            <a:avLst/>
          </a:prstGeom>
          <a:noFill/>
          <a:ln/>
        </p:spPr>
        <p:txBody>
          <a:bodyPr wrap="square" lIns="0" tIns="0" rIns="0" bIns="0" rtlCol="0" anchor="ctr"/>
          <a:lstStyle/>
          <a:p>
            <a:pPr algn="ctr" indent="0" marL="0">
              <a:buNone/>
            </a:pPr>
            <a:r>
              <a:rPr lang="en-US" sz="1100" b="1" dirty="0">
                <a:solidFill>
                  <a:srgbClr val="E3B23C"/>
                </a:solidFill>
                <a:latin typeface="Calibri" pitchFamily="34" charset="0"/>
                <a:ea typeface="Calibri" pitchFamily="34" charset="-122"/>
                <a:cs typeface="Calibri" pitchFamily="34" charset="-120"/>
              </a:rPr>
              <a:t>57 BC</a:t>
            </a:r>
            <a:endParaRPr lang="en-US" sz="1100" dirty="0"/>
          </a:p>
        </p:txBody>
      </p:sp>
      <p:sp>
        <p:nvSpPr>
          <p:cNvPr id="13" name="Text 10"/>
          <p:cNvSpPr txBox="1"/>
          <p:nvPr/>
        </p:nvSpPr>
        <p:spPr>
          <a:xfrm>
            <a:off x="1892808" y="1481328"/>
            <a:ext cx="4553712" cy="256032"/>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Rome conquers the Belgae</a:t>
            </a:r>
            <a:endParaRPr lang="en-US" sz="1350" dirty="0"/>
          </a:p>
        </p:txBody>
      </p:sp>
      <p:sp>
        <p:nvSpPr>
          <p:cNvPr id="14" name="Text 11"/>
          <p:cNvSpPr txBox="1"/>
          <p:nvPr/>
        </p:nvSpPr>
        <p:spPr>
          <a:xfrm>
            <a:off x="1892808" y="1737360"/>
            <a:ext cx="4553712" cy="475488"/>
          </a:xfrm>
          <a:prstGeom prst="rect">
            <a:avLst/>
          </a:prstGeom>
          <a:noFill/>
          <a:ln/>
        </p:spPr>
        <p:txBody>
          <a:bodyPr wrap="square" lIns="0" tIns="0" rIns="0" bIns="0" rtlCol="0" anchor="ctr"/>
          <a:lstStyle/>
          <a:p>
            <a:pPr indent="0" marL="0">
              <a:lnSpc>
                <a:spcPct val="102000"/>
              </a:lnSpc>
              <a:buNone/>
            </a:pPr>
            <a:r>
              <a:rPr lang="en-US" sz="1150" dirty="0">
                <a:solidFill>
                  <a:srgbClr val="3E3E48"/>
                </a:solidFill>
                <a:latin typeface="Calibri" pitchFamily="34" charset="0"/>
                <a:ea typeface="Calibri" pitchFamily="34" charset="-122"/>
                <a:cs typeface="Calibri" pitchFamily="34" charset="-120"/>
              </a:rPr>
              <a:t>Caesar defeats the Belgic tribes and the land becomes the Roman province of Gallia Belgica. It stays Roman for four centuries.</a:t>
            </a:r>
            <a:endParaRPr lang="en-US" sz="1150" dirty="0"/>
          </a:p>
        </p:txBody>
      </p:sp>
      <p:sp>
        <p:nvSpPr>
          <p:cNvPr id="15" name="Shape 12"/>
          <p:cNvSpPr/>
          <p:nvPr/>
        </p:nvSpPr>
        <p:spPr>
          <a:xfrm>
            <a:off x="640080" y="2414016"/>
            <a:ext cx="1051560" cy="310896"/>
          </a:xfrm>
          <a:prstGeom prst="roundRect">
            <a:avLst>
              <a:gd name="adj" fmla="val 17647"/>
            </a:avLst>
          </a:prstGeom>
          <a:solidFill>
            <a:srgbClr val="17171B"/>
          </a:solidFill>
          <a:ln w="12700">
            <a:solidFill>
              <a:srgbClr val="17171B"/>
            </a:solidFill>
            <a:prstDash val="solid"/>
          </a:ln>
        </p:spPr>
      </p:sp>
      <p:sp>
        <p:nvSpPr>
          <p:cNvPr id="16" name="Text 13"/>
          <p:cNvSpPr txBox="1"/>
          <p:nvPr/>
        </p:nvSpPr>
        <p:spPr>
          <a:xfrm>
            <a:off x="640080" y="2414016"/>
            <a:ext cx="1051560" cy="310896"/>
          </a:xfrm>
          <a:prstGeom prst="rect">
            <a:avLst/>
          </a:prstGeom>
          <a:noFill/>
          <a:ln/>
        </p:spPr>
        <p:txBody>
          <a:bodyPr wrap="square" lIns="0" tIns="0" rIns="0" bIns="0" rtlCol="0" anchor="ctr"/>
          <a:lstStyle/>
          <a:p>
            <a:pPr algn="ctr" indent="0" marL="0">
              <a:buNone/>
            </a:pPr>
            <a:r>
              <a:rPr lang="en-US" sz="1100" b="1" dirty="0">
                <a:solidFill>
                  <a:srgbClr val="E3B23C"/>
                </a:solidFill>
                <a:latin typeface="Calibri" pitchFamily="34" charset="0"/>
                <a:ea typeface="Calibri" pitchFamily="34" charset="-122"/>
                <a:cs typeface="Calibri" pitchFamily="34" charset="-120"/>
              </a:rPr>
              <a:t>5th c.</a:t>
            </a:r>
            <a:endParaRPr lang="en-US" sz="1100" dirty="0"/>
          </a:p>
        </p:txBody>
      </p:sp>
      <p:sp>
        <p:nvSpPr>
          <p:cNvPr id="17" name="Text 14"/>
          <p:cNvSpPr txBox="1"/>
          <p:nvPr/>
        </p:nvSpPr>
        <p:spPr>
          <a:xfrm>
            <a:off x="1892808" y="2386584"/>
            <a:ext cx="4553712" cy="256032"/>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The Franks</a:t>
            </a:r>
            <a:endParaRPr lang="en-US" sz="1350" dirty="0"/>
          </a:p>
        </p:txBody>
      </p:sp>
      <p:sp>
        <p:nvSpPr>
          <p:cNvPr id="18" name="Text 15"/>
          <p:cNvSpPr txBox="1"/>
          <p:nvPr/>
        </p:nvSpPr>
        <p:spPr>
          <a:xfrm>
            <a:off x="1892808" y="2642616"/>
            <a:ext cx="4553712" cy="475488"/>
          </a:xfrm>
          <a:prstGeom prst="rect">
            <a:avLst/>
          </a:prstGeom>
          <a:noFill/>
          <a:ln/>
        </p:spPr>
        <p:txBody>
          <a:bodyPr wrap="square" lIns="0" tIns="0" rIns="0" bIns="0" rtlCol="0" anchor="ctr"/>
          <a:lstStyle/>
          <a:p>
            <a:pPr indent="0" marL="0">
              <a:lnSpc>
                <a:spcPct val="102000"/>
              </a:lnSpc>
              <a:buNone/>
            </a:pPr>
            <a:r>
              <a:rPr lang="en-US" sz="1150" dirty="0">
                <a:solidFill>
                  <a:srgbClr val="3E3E48"/>
                </a:solidFill>
                <a:latin typeface="Calibri" pitchFamily="34" charset="0"/>
                <a:ea typeface="Calibri" pitchFamily="34" charset="-122"/>
                <a:cs typeface="Calibri" pitchFamily="34" charset="-120"/>
              </a:rPr>
              <a:t>Roman rule collapses. The Merovingians and then the Carolingians rule from the Meuse valley — Charlemagne's family heartland.</a:t>
            </a:r>
            <a:endParaRPr lang="en-US" sz="1150" dirty="0"/>
          </a:p>
        </p:txBody>
      </p:sp>
      <p:sp>
        <p:nvSpPr>
          <p:cNvPr id="19" name="Shape 16"/>
          <p:cNvSpPr/>
          <p:nvPr/>
        </p:nvSpPr>
        <p:spPr>
          <a:xfrm>
            <a:off x="640080" y="3319272"/>
            <a:ext cx="1051560" cy="310896"/>
          </a:xfrm>
          <a:prstGeom prst="roundRect">
            <a:avLst>
              <a:gd name="adj" fmla="val 17647"/>
            </a:avLst>
          </a:prstGeom>
          <a:solidFill>
            <a:srgbClr val="17171B"/>
          </a:solidFill>
          <a:ln w="12700">
            <a:solidFill>
              <a:srgbClr val="17171B"/>
            </a:solidFill>
            <a:prstDash val="solid"/>
          </a:ln>
        </p:spPr>
      </p:sp>
      <p:sp>
        <p:nvSpPr>
          <p:cNvPr id="20" name="Text 17"/>
          <p:cNvSpPr txBox="1"/>
          <p:nvPr/>
        </p:nvSpPr>
        <p:spPr>
          <a:xfrm>
            <a:off x="640080" y="3319272"/>
            <a:ext cx="1051560" cy="310896"/>
          </a:xfrm>
          <a:prstGeom prst="rect">
            <a:avLst/>
          </a:prstGeom>
          <a:noFill/>
          <a:ln/>
        </p:spPr>
        <p:txBody>
          <a:bodyPr wrap="square" lIns="0" tIns="0" rIns="0" bIns="0" rtlCol="0" anchor="ctr"/>
          <a:lstStyle/>
          <a:p>
            <a:pPr algn="ctr" indent="0" marL="0">
              <a:buNone/>
            </a:pPr>
            <a:r>
              <a:rPr lang="en-US" sz="1100" b="1" dirty="0">
                <a:solidFill>
                  <a:srgbClr val="E3B23C"/>
                </a:solidFill>
                <a:latin typeface="Calibri" pitchFamily="34" charset="0"/>
                <a:ea typeface="Calibri" pitchFamily="34" charset="-122"/>
                <a:cs typeface="Calibri" pitchFamily="34" charset="-120"/>
              </a:rPr>
              <a:t>11th–15th c.</a:t>
            </a:r>
            <a:endParaRPr lang="en-US" sz="1100" dirty="0"/>
          </a:p>
        </p:txBody>
      </p:sp>
      <p:sp>
        <p:nvSpPr>
          <p:cNvPr id="21" name="Text 18"/>
          <p:cNvSpPr txBox="1"/>
          <p:nvPr/>
        </p:nvSpPr>
        <p:spPr>
          <a:xfrm>
            <a:off x="1892808" y="3291840"/>
            <a:ext cx="4553712" cy="256032"/>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Cloth cities and Burgundy</a:t>
            </a:r>
            <a:endParaRPr lang="en-US" sz="1350" dirty="0"/>
          </a:p>
        </p:txBody>
      </p:sp>
      <p:sp>
        <p:nvSpPr>
          <p:cNvPr id="22" name="Text 19"/>
          <p:cNvSpPr txBox="1"/>
          <p:nvPr/>
        </p:nvSpPr>
        <p:spPr>
          <a:xfrm>
            <a:off x="1892808" y="3547872"/>
            <a:ext cx="4553712" cy="475488"/>
          </a:xfrm>
          <a:prstGeom prst="rect">
            <a:avLst/>
          </a:prstGeom>
          <a:noFill/>
          <a:ln/>
        </p:spPr>
        <p:txBody>
          <a:bodyPr wrap="square" lIns="0" tIns="0" rIns="0" bIns="0" rtlCol="0" anchor="ctr"/>
          <a:lstStyle/>
          <a:p>
            <a:pPr indent="0" marL="0">
              <a:lnSpc>
                <a:spcPct val="102000"/>
              </a:lnSpc>
              <a:buNone/>
            </a:pPr>
            <a:r>
              <a:rPr lang="en-US" sz="1150" dirty="0">
                <a:solidFill>
                  <a:srgbClr val="3E3E48"/>
                </a:solidFill>
                <a:latin typeface="Calibri" pitchFamily="34" charset="0"/>
                <a:ea typeface="Calibri" pitchFamily="34" charset="-122"/>
                <a:cs typeface="Calibri" pitchFamily="34" charset="-120"/>
              </a:rPr>
              <a:t>Bruges, Ghent and Ypres grow rich weaving English wool. The Dukes of Burgundy unite the Low Countries and Flemish painting has its golden age.</a:t>
            </a:r>
            <a:endParaRPr lang="en-US" sz="1150" dirty="0"/>
          </a:p>
        </p:txBody>
      </p:sp>
      <p:sp>
        <p:nvSpPr>
          <p:cNvPr id="23" name="Shape 20"/>
          <p:cNvSpPr/>
          <p:nvPr/>
        </p:nvSpPr>
        <p:spPr>
          <a:xfrm>
            <a:off x="640080" y="4224528"/>
            <a:ext cx="1051560" cy="310896"/>
          </a:xfrm>
          <a:prstGeom prst="roundRect">
            <a:avLst>
              <a:gd name="adj" fmla="val 17647"/>
            </a:avLst>
          </a:prstGeom>
          <a:solidFill>
            <a:srgbClr val="17171B"/>
          </a:solidFill>
          <a:ln w="12700">
            <a:solidFill>
              <a:srgbClr val="17171B"/>
            </a:solidFill>
            <a:prstDash val="solid"/>
          </a:ln>
        </p:spPr>
      </p:sp>
      <p:sp>
        <p:nvSpPr>
          <p:cNvPr id="24" name="Text 21"/>
          <p:cNvSpPr txBox="1"/>
          <p:nvPr/>
        </p:nvSpPr>
        <p:spPr>
          <a:xfrm>
            <a:off x="640080" y="4224528"/>
            <a:ext cx="1051560" cy="310896"/>
          </a:xfrm>
          <a:prstGeom prst="rect">
            <a:avLst/>
          </a:prstGeom>
          <a:noFill/>
          <a:ln/>
        </p:spPr>
        <p:txBody>
          <a:bodyPr wrap="square" lIns="0" tIns="0" rIns="0" bIns="0" rtlCol="0" anchor="ctr"/>
          <a:lstStyle/>
          <a:p>
            <a:pPr algn="ctr" indent="0" marL="0">
              <a:buNone/>
            </a:pPr>
            <a:r>
              <a:rPr lang="en-US" sz="1100" b="1" dirty="0">
                <a:solidFill>
                  <a:srgbClr val="E3B23C"/>
                </a:solidFill>
                <a:latin typeface="Calibri" pitchFamily="34" charset="0"/>
                <a:ea typeface="Calibri" pitchFamily="34" charset="-122"/>
                <a:cs typeface="Calibri" pitchFamily="34" charset="-120"/>
              </a:rPr>
              <a:t>1556–1794</a:t>
            </a:r>
            <a:endParaRPr lang="en-US" sz="1100" dirty="0"/>
          </a:p>
        </p:txBody>
      </p:sp>
      <p:sp>
        <p:nvSpPr>
          <p:cNvPr id="25" name="Text 22"/>
          <p:cNvSpPr txBox="1"/>
          <p:nvPr/>
        </p:nvSpPr>
        <p:spPr>
          <a:xfrm>
            <a:off x="1892808" y="4197096"/>
            <a:ext cx="4553712" cy="256032"/>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The Habsburgs</a:t>
            </a:r>
            <a:endParaRPr lang="en-US" sz="1350" dirty="0"/>
          </a:p>
        </p:txBody>
      </p:sp>
      <p:sp>
        <p:nvSpPr>
          <p:cNvPr id="26" name="Text 23"/>
          <p:cNvSpPr txBox="1"/>
          <p:nvPr/>
        </p:nvSpPr>
        <p:spPr>
          <a:xfrm>
            <a:off x="1892808" y="4453128"/>
            <a:ext cx="4553712" cy="475488"/>
          </a:xfrm>
          <a:prstGeom prst="rect">
            <a:avLst/>
          </a:prstGeom>
          <a:noFill/>
          <a:ln/>
        </p:spPr>
        <p:txBody>
          <a:bodyPr wrap="square" lIns="0" tIns="0" rIns="0" bIns="0" rtlCol="0" anchor="ctr"/>
          <a:lstStyle/>
          <a:p>
            <a:pPr indent="0" marL="0">
              <a:lnSpc>
                <a:spcPct val="102000"/>
              </a:lnSpc>
              <a:buNone/>
            </a:pPr>
            <a:r>
              <a:rPr lang="en-US" sz="1150" dirty="0">
                <a:solidFill>
                  <a:srgbClr val="3E3E48"/>
                </a:solidFill>
                <a:latin typeface="Calibri" pitchFamily="34" charset="0"/>
                <a:ea typeface="Calibri" pitchFamily="34" charset="-122"/>
                <a:cs typeface="Calibri" pitchFamily="34" charset="-120"/>
              </a:rPr>
              <a:t>The Spanish Netherlands, then the Austrian Netherlands. The Dutch Revolt splits the Protestant north from the Catholic south — the origin of today's border.</a:t>
            </a:r>
            <a:endParaRPr lang="en-US" sz="1150" dirty="0"/>
          </a:p>
        </p:txBody>
      </p:sp>
      <p:sp>
        <p:nvSpPr>
          <p:cNvPr id="27" name="Shape 24"/>
          <p:cNvSpPr/>
          <p:nvPr/>
        </p:nvSpPr>
        <p:spPr>
          <a:xfrm>
            <a:off x="640080" y="5129784"/>
            <a:ext cx="1051560" cy="310896"/>
          </a:xfrm>
          <a:prstGeom prst="roundRect">
            <a:avLst>
              <a:gd name="adj" fmla="val 17647"/>
            </a:avLst>
          </a:prstGeom>
          <a:solidFill>
            <a:srgbClr val="17171B"/>
          </a:solidFill>
          <a:ln w="12700">
            <a:solidFill>
              <a:srgbClr val="17171B"/>
            </a:solidFill>
            <a:prstDash val="solid"/>
          </a:ln>
        </p:spPr>
      </p:sp>
      <p:sp>
        <p:nvSpPr>
          <p:cNvPr id="28" name="Text 25"/>
          <p:cNvSpPr txBox="1"/>
          <p:nvPr/>
        </p:nvSpPr>
        <p:spPr>
          <a:xfrm>
            <a:off x="640080" y="5129784"/>
            <a:ext cx="1051560" cy="310896"/>
          </a:xfrm>
          <a:prstGeom prst="rect">
            <a:avLst/>
          </a:prstGeom>
          <a:noFill/>
          <a:ln/>
        </p:spPr>
        <p:txBody>
          <a:bodyPr wrap="square" lIns="0" tIns="0" rIns="0" bIns="0" rtlCol="0" anchor="ctr"/>
          <a:lstStyle/>
          <a:p>
            <a:pPr algn="ctr" indent="0" marL="0">
              <a:buNone/>
            </a:pPr>
            <a:r>
              <a:rPr lang="en-US" sz="1100" b="1" dirty="0">
                <a:solidFill>
                  <a:srgbClr val="E3B23C"/>
                </a:solidFill>
                <a:latin typeface="Calibri" pitchFamily="34" charset="0"/>
                <a:ea typeface="Calibri" pitchFamily="34" charset="-122"/>
                <a:cs typeface="Calibri" pitchFamily="34" charset="-120"/>
              </a:rPr>
              <a:t>1795–1815</a:t>
            </a:r>
            <a:endParaRPr lang="en-US" sz="1100" dirty="0"/>
          </a:p>
        </p:txBody>
      </p:sp>
      <p:sp>
        <p:nvSpPr>
          <p:cNvPr id="29" name="Text 26"/>
          <p:cNvSpPr txBox="1"/>
          <p:nvPr/>
        </p:nvSpPr>
        <p:spPr>
          <a:xfrm>
            <a:off x="1892808" y="5102352"/>
            <a:ext cx="4553712" cy="256032"/>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France, then Waterloo</a:t>
            </a:r>
            <a:endParaRPr lang="en-US" sz="1350" dirty="0"/>
          </a:p>
        </p:txBody>
      </p:sp>
      <p:sp>
        <p:nvSpPr>
          <p:cNvPr id="30" name="Text 27"/>
          <p:cNvSpPr txBox="1"/>
          <p:nvPr/>
        </p:nvSpPr>
        <p:spPr>
          <a:xfrm>
            <a:off x="1892808" y="5358384"/>
            <a:ext cx="4553712" cy="475488"/>
          </a:xfrm>
          <a:prstGeom prst="rect">
            <a:avLst/>
          </a:prstGeom>
          <a:noFill/>
          <a:ln/>
        </p:spPr>
        <p:txBody>
          <a:bodyPr wrap="square" lIns="0" tIns="0" rIns="0" bIns="0" rtlCol="0" anchor="ctr"/>
          <a:lstStyle/>
          <a:p>
            <a:pPr indent="0" marL="0">
              <a:lnSpc>
                <a:spcPct val="102000"/>
              </a:lnSpc>
              <a:buNone/>
            </a:pPr>
            <a:r>
              <a:rPr lang="en-US" sz="1150" dirty="0">
                <a:solidFill>
                  <a:srgbClr val="3E3E48"/>
                </a:solidFill>
                <a:latin typeface="Calibri" pitchFamily="34" charset="0"/>
                <a:ea typeface="Calibri" pitchFamily="34" charset="-122"/>
                <a:cs typeface="Calibri" pitchFamily="34" charset="-120"/>
              </a:rPr>
              <a:t>Revolutionary France annexes the territory and makes French the language of law. Napoleon is beaten at Waterloo, and the powers hand the land to the Dutch.</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6035040" cy="237744"/>
          </a:xfrm>
          <a:prstGeom prst="rect">
            <a:avLst/>
          </a:prstGeom>
          <a:noFill/>
          <a:ln/>
        </p:spPr>
        <p:txBody>
          <a:bodyPr wrap="square" lIns="0" tIns="0" rIns="0" bIns="0" rtlCol="0" anchor="ctr"/>
          <a:lstStyle/>
          <a:p>
            <a:pPr indent="0" marL="0">
              <a:buNone/>
            </a:pPr>
            <a:r>
              <a:rPr lang="en-US" sz="1150" b="1" spc="220" kern="0" dirty="0">
                <a:solidFill>
                  <a:srgbClr val="E3B23C"/>
                </a:solidFill>
                <a:latin typeface="Calibri" pitchFamily="34" charset="0"/>
                <a:ea typeface="Calibri" pitchFamily="34" charset="-122"/>
                <a:cs typeface="Calibri" pitchFamily="34" charset="-120"/>
              </a:rPr>
              <a:t>HISTOIRE II  ·  1830 – AUJOURD'HUI</a:t>
            </a:r>
            <a:endParaRPr lang="en-US" sz="1150" dirty="0"/>
          </a:p>
        </p:txBody>
      </p:sp>
      <p:sp>
        <p:nvSpPr>
          <p:cNvPr id="3" name="Text 1"/>
          <p:cNvSpPr txBox="1"/>
          <p:nvPr/>
        </p:nvSpPr>
        <p:spPr>
          <a:xfrm>
            <a:off x="640080" y="676656"/>
            <a:ext cx="6035040" cy="603504"/>
          </a:xfrm>
          <a:prstGeom prst="rect">
            <a:avLst/>
          </a:prstGeom>
          <a:noFill/>
          <a:ln/>
        </p:spPr>
        <p:txBody>
          <a:bodyPr wrap="square" lIns="0" tIns="0" rIns="0" bIns="0" rtlCol="0" anchor="ctr"/>
          <a:lstStyle/>
          <a:p>
            <a:pPr indent="0" marL="0">
              <a:buNone/>
            </a:pPr>
            <a:r>
              <a:rPr lang="en-US" sz="3100" b="1" dirty="0">
                <a:solidFill>
                  <a:srgbClr val="17171B"/>
                </a:solidFill>
                <a:latin typeface="Cambria" pitchFamily="34" charset="0"/>
                <a:ea typeface="Cambria" pitchFamily="34" charset="-122"/>
                <a:cs typeface="Cambria" pitchFamily="34" charset="-120"/>
              </a:rPr>
              <a:t>Independence, empire and war</a:t>
            </a:r>
            <a:endParaRPr lang="en-US" sz="3100" dirty="0"/>
          </a:p>
        </p:txBody>
      </p:sp>
      <p:sp>
        <p:nvSpPr>
          <p:cNvPr id="4" name="Shape 2"/>
          <p:cNvSpPr/>
          <p:nvPr/>
        </p:nvSpPr>
        <p:spPr>
          <a:xfrm>
            <a:off x="640080" y="6163056"/>
            <a:ext cx="384048" cy="384048"/>
          </a:xfrm>
          <a:prstGeom prst="ellipse">
            <a:avLst/>
          </a:prstGeom>
          <a:solidFill>
            <a:srgbClr val="E3B23C"/>
          </a:solidFill>
          <a:ln/>
        </p:spPr>
      </p:sp>
      <p:sp>
        <p:nvSpPr>
          <p:cNvPr id="5" name="Text 3"/>
          <p:cNvSpPr txBox="1"/>
          <p:nvPr/>
        </p:nvSpPr>
        <p:spPr>
          <a:xfrm>
            <a:off x="640080" y="6163056"/>
            <a:ext cx="384048" cy="384048"/>
          </a:xfrm>
          <a:prstGeom prst="rect">
            <a:avLst/>
          </a:prstGeom>
          <a:noFill/>
          <a:ln/>
        </p:spPr>
        <p:txBody>
          <a:bodyPr wrap="square" lIns="0" tIns="0" rIns="0" bIns="0" rtlCol="0" anchor="ctr"/>
          <a:lstStyle/>
          <a:p>
            <a:pPr algn="ctr" indent="0" marL="0">
              <a:buNone/>
            </a:pPr>
            <a:r>
              <a:rPr lang="en-US" sz="1200" b="1" dirty="0">
                <a:solidFill>
                  <a:srgbClr val="17171B"/>
                </a:solidFill>
                <a:latin typeface="Calibri" pitchFamily="34" charset="0"/>
                <a:ea typeface="Calibri" pitchFamily="34" charset="-122"/>
                <a:cs typeface="Calibri" pitchFamily="34" charset="-120"/>
              </a:rPr>
              <a:t>7</a:t>
            </a:r>
            <a:endParaRPr lang="en-US" sz="1200" dirty="0"/>
          </a:p>
        </p:txBody>
      </p:sp>
      <p:sp>
        <p:nvSpPr>
          <p:cNvPr id="6" name="Text 4"/>
          <p:cNvSpPr txBox="1"/>
          <p:nvPr/>
        </p:nvSpPr>
        <p:spPr>
          <a:xfrm>
            <a:off x="6035040" y="6245352"/>
            <a:ext cx="5516575" cy="237744"/>
          </a:xfrm>
          <a:prstGeom prst="rect">
            <a:avLst/>
          </a:prstGeom>
          <a:noFill/>
          <a:ln/>
        </p:spPr>
        <p:txBody>
          <a:bodyPr wrap="square" lIns="0" tIns="0" rIns="0" bIns="0" rtlCol="0" anchor="ctr"/>
          <a:lstStyle/>
          <a:p>
            <a:pPr algn="r" indent="0" marL="0">
              <a:buNone/>
            </a:pPr>
            <a:r>
              <a:rPr lang="en-US" sz="900" dirty="0">
                <a:solidFill>
                  <a:srgbClr val="70707C"/>
                </a:solidFill>
                <a:latin typeface="Calibri" pitchFamily="34" charset="0"/>
                <a:ea typeface="Calibri" pitchFamily="34" charset="-122"/>
                <a:cs typeface="Calibri" pitchFamily="34" charset="-120"/>
              </a:rPr>
              <a:t>La Belgique  ·  FREN 201  ·  Projet Francophonie</a:t>
            </a:r>
            <a:endParaRPr lang="en-US" sz="900" dirty="0"/>
          </a:p>
        </p:txBody>
      </p:sp>
      <p:pic>
        <p:nvPicPr>
          <p:cNvPr id="7" name="Image 0" descr="/tmp/claude-0/-home-user-BOYNT-WORK/856f02cf-0e32-5bfe-bffb-9edb29b314f9/scratchpad/deckimg/ypres_menin.jpg">    </p:cNvPr>
          <p:cNvPicPr>
            <a:picLocks noChangeAspect="1"/>
          </p:cNvPicPr>
          <p:nvPr/>
        </p:nvPicPr>
        <p:blipFill>
          <a:blip r:embed="rId1"/>
          <a:srcRect l="0" r="0" t="0" b="0"/>
          <a:stretch/>
        </p:blipFill>
        <p:spPr>
          <a:xfrm>
            <a:off x="6720840" y="0"/>
            <a:ext cx="5470855" cy="6858000"/>
          </a:xfrm>
          <a:prstGeom prst="rect">
            <a:avLst/>
          </a:prstGeom>
        </p:spPr>
      </p:pic>
      <p:sp>
        <p:nvSpPr>
          <p:cNvPr id="8" name="Shape 5"/>
          <p:cNvSpPr/>
          <p:nvPr/>
        </p:nvSpPr>
        <p:spPr>
          <a:xfrm>
            <a:off x="6720840" y="5074920"/>
            <a:ext cx="5470855" cy="1783080"/>
          </a:xfrm>
          <a:prstGeom prst="rect">
            <a:avLst/>
          </a:prstGeom>
          <a:solidFill>
            <a:srgbClr val="17171B">
              <a:alpha val="88000"/>
            </a:srgbClr>
          </a:solidFill>
          <a:ln/>
        </p:spPr>
      </p:sp>
      <p:sp>
        <p:nvSpPr>
          <p:cNvPr id="9" name="Text 6"/>
          <p:cNvSpPr txBox="1"/>
          <p:nvPr/>
        </p:nvSpPr>
        <p:spPr>
          <a:xfrm>
            <a:off x="7040880" y="5321808"/>
            <a:ext cx="4754880" cy="256032"/>
          </a:xfrm>
          <a:prstGeom prst="rect">
            <a:avLst/>
          </a:prstGeom>
          <a:noFill/>
          <a:ln/>
        </p:spPr>
        <p:txBody>
          <a:bodyPr wrap="square" lIns="0" tIns="0" rIns="0" bIns="0" rtlCol="0" anchor="ctr"/>
          <a:lstStyle/>
          <a:p>
            <a:pPr indent="0" marL="0">
              <a:buNone/>
            </a:pPr>
            <a:r>
              <a:rPr lang="en-US" sz="1100" b="1" spc="140" kern="0" dirty="0">
                <a:solidFill>
                  <a:srgbClr val="E3B23C"/>
                </a:solidFill>
                <a:latin typeface="Calibri" pitchFamily="34" charset="0"/>
                <a:ea typeface="Calibri" pitchFamily="34" charset="-122"/>
                <a:cs typeface="Calibri" pitchFamily="34" charset="-120"/>
              </a:rPr>
              <a:t>THE MENIN GATE, YPRES</a:t>
            </a:r>
            <a:endParaRPr lang="en-US" sz="1100" dirty="0"/>
          </a:p>
        </p:txBody>
      </p:sp>
      <p:sp>
        <p:nvSpPr>
          <p:cNvPr id="10" name="Text 7"/>
          <p:cNvSpPr txBox="1"/>
          <p:nvPr/>
        </p:nvSpPr>
        <p:spPr>
          <a:xfrm>
            <a:off x="7040880" y="5614416"/>
            <a:ext cx="4754880" cy="914400"/>
          </a:xfrm>
          <a:prstGeom prst="rect">
            <a:avLst/>
          </a:prstGeom>
          <a:noFill/>
          <a:ln/>
        </p:spPr>
        <p:txBody>
          <a:bodyPr wrap="square" lIns="0" tIns="0" rIns="0" bIns="0" rtlCol="0" anchor="ctr"/>
          <a:lstStyle/>
          <a:p>
            <a:pPr indent="0" marL="0">
              <a:lnSpc>
                <a:spcPct val="105000"/>
              </a:lnSpc>
              <a:buNone/>
            </a:pPr>
            <a:r>
              <a:rPr lang="en-US" sz="1100" dirty="0">
                <a:solidFill>
                  <a:srgbClr val="E2E2E8"/>
                </a:solidFill>
                <a:latin typeface="Calibri" pitchFamily="34" charset="0"/>
                <a:ea typeface="Calibri" pitchFamily="34" charset="-122"/>
                <a:cs typeface="Calibri" pitchFamily="34" charset="-120"/>
              </a:rPr>
              <a:t>A memorial to 54,000 missing soldiers of the Ypres Salient. The Last Post has been sounded here every evening since 1928.</a:t>
            </a:r>
            <a:endParaRPr lang="en-US" sz="1100" dirty="0"/>
          </a:p>
        </p:txBody>
      </p:sp>
      <p:sp>
        <p:nvSpPr>
          <p:cNvPr id="11" name="Shape 8"/>
          <p:cNvSpPr/>
          <p:nvPr/>
        </p:nvSpPr>
        <p:spPr>
          <a:xfrm>
            <a:off x="640080" y="1508760"/>
            <a:ext cx="1051560" cy="310896"/>
          </a:xfrm>
          <a:prstGeom prst="roundRect">
            <a:avLst>
              <a:gd name="adj" fmla="val 17647"/>
            </a:avLst>
          </a:prstGeom>
          <a:solidFill>
            <a:srgbClr val="17171B"/>
          </a:solidFill>
          <a:ln w="12700">
            <a:solidFill>
              <a:srgbClr val="17171B"/>
            </a:solidFill>
            <a:prstDash val="solid"/>
          </a:ln>
        </p:spPr>
      </p:sp>
      <p:sp>
        <p:nvSpPr>
          <p:cNvPr id="12" name="Text 9"/>
          <p:cNvSpPr txBox="1"/>
          <p:nvPr/>
        </p:nvSpPr>
        <p:spPr>
          <a:xfrm>
            <a:off x="640080" y="1508760"/>
            <a:ext cx="1051560" cy="310896"/>
          </a:xfrm>
          <a:prstGeom prst="rect">
            <a:avLst/>
          </a:prstGeom>
          <a:noFill/>
          <a:ln/>
        </p:spPr>
        <p:txBody>
          <a:bodyPr wrap="square" lIns="0" tIns="0" rIns="0" bIns="0" rtlCol="0" anchor="ctr"/>
          <a:lstStyle/>
          <a:p>
            <a:pPr algn="ctr" indent="0" marL="0">
              <a:buNone/>
            </a:pPr>
            <a:r>
              <a:rPr lang="en-US" sz="1100" b="1" dirty="0">
                <a:solidFill>
                  <a:srgbClr val="E3B23C"/>
                </a:solidFill>
                <a:latin typeface="Calibri" pitchFamily="34" charset="0"/>
                <a:ea typeface="Calibri" pitchFamily="34" charset="-122"/>
                <a:cs typeface="Calibri" pitchFamily="34" charset="-120"/>
              </a:rPr>
              <a:t>1830–31</a:t>
            </a:r>
            <a:endParaRPr lang="en-US" sz="1100" dirty="0"/>
          </a:p>
        </p:txBody>
      </p:sp>
      <p:sp>
        <p:nvSpPr>
          <p:cNvPr id="13" name="Text 10"/>
          <p:cNvSpPr txBox="1"/>
          <p:nvPr/>
        </p:nvSpPr>
        <p:spPr>
          <a:xfrm>
            <a:off x="1892808" y="1481328"/>
            <a:ext cx="4553712" cy="256032"/>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Revolution and a king</a:t>
            </a:r>
            <a:endParaRPr lang="en-US" sz="1350" dirty="0"/>
          </a:p>
        </p:txBody>
      </p:sp>
      <p:sp>
        <p:nvSpPr>
          <p:cNvPr id="14" name="Text 11"/>
          <p:cNvSpPr txBox="1"/>
          <p:nvPr/>
        </p:nvSpPr>
        <p:spPr>
          <a:xfrm>
            <a:off x="1892808" y="1737360"/>
            <a:ext cx="4553712" cy="475488"/>
          </a:xfrm>
          <a:prstGeom prst="rect">
            <a:avLst/>
          </a:prstGeom>
          <a:noFill/>
          <a:ln/>
        </p:spPr>
        <p:txBody>
          <a:bodyPr wrap="square" lIns="0" tIns="0" rIns="0" bIns="0" rtlCol="0" anchor="ctr"/>
          <a:lstStyle/>
          <a:p>
            <a:pPr indent="0" marL="0">
              <a:lnSpc>
                <a:spcPct val="102000"/>
              </a:lnSpc>
              <a:buNone/>
            </a:pPr>
            <a:r>
              <a:rPr lang="en-US" sz="1150" dirty="0">
                <a:solidFill>
                  <a:srgbClr val="3E3E48"/>
                </a:solidFill>
                <a:latin typeface="Calibri" pitchFamily="34" charset="0"/>
                <a:ea typeface="Calibri" pitchFamily="34" charset="-122"/>
                <a:cs typeface="Calibri" pitchFamily="34" charset="-120"/>
              </a:rPr>
              <a:t>A performance of the opera La Muette de Portici sets off riots in Brussels. Independence is declared on 4 October 1830, and Leopold I is sworn in on 21 July 1831 — still the national day.</a:t>
            </a:r>
            <a:endParaRPr lang="en-US" sz="1150" dirty="0"/>
          </a:p>
        </p:txBody>
      </p:sp>
      <p:sp>
        <p:nvSpPr>
          <p:cNvPr id="15" name="Shape 12"/>
          <p:cNvSpPr/>
          <p:nvPr/>
        </p:nvSpPr>
        <p:spPr>
          <a:xfrm>
            <a:off x="640080" y="2414016"/>
            <a:ext cx="1051560" cy="310896"/>
          </a:xfrm>
          <a:prstGeom prst="roundRect">
            <a:avLst>
              <a:gd name="adj" fmla="val 17647"/>
            </a:avLst>
          </a:prstGeom>
          <a:solidFill>
            <a:srgbClr val="17171B"/>
          </a:solidFill>
          <a:ln w="12700">
            <a:solidFill>
              <a:srgbClr val="17171B"/>
            </a:solidFill>
            <a:prstDash val="solid"/>
          </a:ln>
        </p:spPr>
      </p:sp>
      <p:sp>
        <p:nvSpPr>
          <p:cNvPr id="16" name="Text 13"/>
          <p:cNvSpPr txBox="1"/>
          <p:nvPr/>
        </p:nvSpPr>
        <p:spPr>
          <a:xfrm>
            <a:off x="640080" y="2414016"/>
            <a:ext cx="1051560" cy="310896"/>
          </a:xfrm>
          <a:prstGeom prst="rect">
            <a:avLst/>
          </a:prstGeom>
          <a:noFill/>
          <a:ln/>
        </p:spPr>
        <p:txBody>
          <a:bodyPr wrap="square" lIns="0" tIns="0" rIns="0" bIns="0" rtlCol="0" anchor="ctr"/>
          <a:lstStyle/>
          <a:p>
            <a:pPr algn="ctr" indent="0" marL="0">
              <a:buNone/>
            </a:pPr>
            <a:r>
              <a:rPr lang="en-US" sz="1100" b="1" dirty="0">
                <a:solidFill>
                  <a:srgbClr val="E3B23C"/>
                </a:solidFill>
                <a:latin typeface="Calibri" pitchFamily="34" charset="0"/>
                <a:ea typeface="Calibri" pitchFamily="34" charset="-122"/>
                <a:cs typeface="Calibri" pitchFamily="34" charset="-120"/>
              </a:rPr>
              <a:t>1839</a:t>
            </a:r>
            <a:endParaRPr lang="en-US" sz="1100" dirty="0"/>
          </a:p>
        </p:txBody>
      </p:sp>
      <p:sp>
        <p:nvSpPr>
          <p:cNvPr id="17" name="Text 14"/>
          <p:cNvSpPr txBox="1"/>
          <p:nvPr/>
        </p:nvSpPr>
        <p:spPr>
          <a:xfrm>
            <a:off x="1892808" y="2386584"/>
            <a:ext cx="4553712" cy="256032"/>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Recognised at last</a:t>
            </a:r>
            <a:endParaRPr lang="en-US" sz="1350" dirty="0"/>
          </a:p>
        </p:txBody>
      </p:sp>
      <p:sp>
        <p:nvSpPr>
          <p:cNvPr id="18" name="Text 15"/>
          <p:cNvSpPr txBox="1"/>
          <p:nvPr/>
        </p:nvSpPr>
        <p:spPr>
          <a:xfrm>
            <a:off x="1892808" y="2642616"/>
            <a:ext cx="4553712" cy="475488"/>
          </a:xfrm>
          <a:prstGeom prst="rect">
            <a:avLst/>
          </a:prstGeom>
          <a:noFill/>
          <a:ln/>
        </p:spPr>
        <p:txBody>
          <a:bodyPr wrap="square" lIns="0" tIns="0" rIns="0" bIns="0" rtlCol="0" anchor="ctr"/>
          <a:lstStyle/>
          <a:p>
            <a:pPr indent="0" marL="0">
              <a:lnSpc>
                <a:spcPct val="102000"/>
              </a:lnSpc>
              <a:buNone/>
            </a:pPr>
            <a:r>
              <a:rPr lang="en-US" sz="1150" dirty="0">
                <a:solidFill>
                  <a:srgbClr val="3E3E48"/>
                </a:solidFill>
                <a:latin typeface="Calibri" pitchFamily="34" charset="0"/>
                <a:ea typeface="Calibri" pitchFamily="34" charset="-122"/>
                <a:cs typeface="Calibri" pitchFamily="34" charset="-120"/>
              </a:rPr>
              <a:t>The Treaty of London: the Netherlands accepts Belgian independence and the powers guarantee Belgium's permanent neutrality.</a:t>
            </a:r>
            <a:endParaRPr lang="en-US" sz="1150" dirty="0"/>
          </a:p>
        </p:txBody>
      </p:sp>
      <p:sp>
        <p:nvSpPr>
          <p:cNvPr id="19" name="Shape 16"/>
          <p:cNvSpPr/>
          <p:nvPr/>
        </p:nvSpPr>
        <p:spPr>
          <a:xfrm>
            <a:off x="640080" y="3319272"/>
            <a:ext cx="1051560" cy="310896"/>
          </a:xfrm>
          <a:prstGeom prst="roundRect">
            <a:avLst>
              <a:gd name="adj" fmla="val 17647"/>
            </a:avLst>
          </a:prstGeom>
          <a:solidFill>
            <a:srgbClr val="17171B"/>
          </a:solidFill>
          <a:ln w="12700">
            <a:solidFill>
              <a:srgbClr val="17171B"/>
            </a:solidFill>
            <a:prstDash val="solid"/>
          </a:ln>
        </p:spPr>
      </p:sp>
      <p:sp>
        <p:nvSpPr>
          <p:cNvPr id="20" name="Text 17"/>
          <p:cNvSpPr txBox="1"/>
          <p:nvPr/>
        </p:nvSpPr>
        <p:spPr>
          <a:xfrm>
            <a:off x="640080" y="3319272"/>
            <a:ext cx="1051560" cy="310896"/>
          </a:xfrm>
          <a:prstGeom prst="rect">
            <a:avLst/>
          </a:prstGeom>
          <a:noFill/>
          <a:ln/>
        </p:spPr>
        <p:txBody>
          <a:bodyPr wrap="square" lIns="0" tIns="0" rIns="0" bIns="0" rtlCol="0" anchor="ctr"/>
          <a:lstStyle/>
          <a:p>
            <a:pPr algn="ctr" indent="0" marL="0">
              <a:buNone/>
            </a:pPr>
            <a:r>
              <a:rPr lang="en-US" sz="1100" b="1" dirty="0">
                <a:solidFill>
                  <a:srgbClr val="E3B23C"/>
                </a:solidFill>
                <a:latin typeface="Calibri" pitchFamily="34" charset="0"/>
                <a:ea typeface="Calibri" pitchFamily="34" charset="-122"/>
                <a:cs typeface="Calibri" pitchFamily="34" charset="-120"/>
              </a:rPr>
              <a:t>1885–1960</a:t>
            </a:r>
            <a:endParaRPr lang="en-US" sz="1100" dirty="0"/>
          </a:p>
        </p:txBody>
      </p:sp>
      <p:sp>
        <p:nvSpPr>
          <p:cNvPr id="21" name="Text 18"/>
          <p:cNvSpPr txBox="1"/>
          <p:nvPr/>
        </p:nvSpPr>
        <p:spPr>
          <a:xfrm>
            <a:off x="1892808" y="3291840"/>
            <a:ext cx="4553712" cy="256032"/>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The Congo</a:t>
            </a:r>
            <a:endParaRPr lang="en-US" sz="1350" dirty="0"/>
          </a:p>
        </p:txBody>
      </p:sp>
      <p:sp>
        <p:nvSpPr>
          <p:cNvPr id="22" name="Text 19"/>
          <p:cNvSpPr txBox="1"/>
          <p:nvPr/>
        </p:nvSpPr>
        <p:spPr>
          <a:xfrm>
            <a:off x="1892808" y="3547872"/>
            <a:ext cx="4553712" cy="475488"/>
          </a:xfrm>
          <a:prstGeom prst="rect">
            <a:avLst/>
          </a:prstGeom>
          <a:noFill/>
          <a:ln/>
        </p:spPr>
        <p:txBody>
          <a:bodyPr wrap="square" lIns="0" tIns="0" rIns="0" bIns="0" rtlCol="0" anchor="ctr"/>
          <a:lstStyle/>
          <a:p>
            <a:pPr indent="0" marL="0">
              <a:lnSpc>
                <a:spcPct val="102000"/>
              </a:lnSpc>
              <a:buNone/>
            </a:pPr>
            <a:r>
              <a:rPr lang="en-US" sz="1150" dirty="0">
                <a:solidFill>
                  <a:srgbClr val="3E3E48"/>
                </a:solidFill>
                <a:latin typeface="Calibri" pitchFamily="34" charset="0"/>
                <a:ea typeface="Calibri" pitchFamily="34" charset="-122"/>
                <a:cs typeface="Calibri" pitchFamily="34" charset="-120"/>
              </a:rPr>
              <a:t>Leopold II takes the Congo as personal property; his regime's violence forces Belgium to take it over in 1908. The Congo becomes independent in 1960, Rwanda and Burundi in 1962.</a:t>
            </a:r>
            <a:endParaRPr lang="en-US" sz="1150" dirty="0"/>
          </a:p>
        </p:txBody>
      </p:sp>
      <p:sp>
        <p:nvSpPr>
          <p:cNvPr id="23" name="Shape 20"/>
          <p:cNvSpPr/>
          <p:nvPr/>
        </p:nvSpPr>
        <p:spPr>
          <a:xfrm>
            <a:off x="640080" y="4224528"/>
            <a:ext cx="1051560" cy="310896"/>
          </a:xfrm>
          <a:prstGeom prst="roundRect">
            <a:avLst>
              <a:gd name="adj" fmla="val 17647"/>
            </a:avLst>
          </a:prstGeom>
          <a:solidFill>
            <a:srgbClr val="17171B"/>
          </a:solidFill>
          <a:ln w="12700">
            <a:solidFill>
              <a:srgbClr val="17171B"/>
            </a:solidFill>
            <a:prstDash val="solid"/>
          </a:ln>
        </p:spPr>
      </p:sp>
      <p:sp>
        <p:nvSpPr>
          <p:cNvPr id="24" name="Text 21"/>
          <p:cNvSpPr txBox="1"/>
          <p:nvPr/>
        </p:nvSpPr>
        <p:spPr>
          <a:xfrm>
            <a:off x="640080" y="4224528"/>
            <a:ext cx="1051560" cy="310896"/>
          </a:xfrm>
          <a:prstGeom prst="rect">
            <a:avLst/>
          </a:prstGeom>
          <a:noFill/>
          <a:ln/>
        </p:spPr>
        <p:txBody>
          <a:bodyPr wrap="square" lIns="0" tIns="0" rIns="0" bIns="0" rtlCol="0" anchor="ctr"/>
          <a:lstStyle/>
          <a:p>
            <a:pPr algn="ctr" indent="0" marL="0">
              <a:buNone/>
            </a:pPr>
            <a:r>
              <a:rPr lang="en-US" sz="1100" b="1" dirty="0">
                <a:solidFill>
                  <a:srgbClr val="E3B23C"/>
                </a:solidFill>
                <a:latin typeface="Calibri" pitchFamily="34" charset="0"/>
                <a:ea typeface="Calibri" pitchFamily="34" charset="-122"/>
                <a:cs typeface="Calibri" pitchFamily="34" charset="-120"/>
              </a:rPr>
              <a:t>1914–1945</a:t>
            </a:r>
            <a:endParaRPr lang="en-US" sz="1100" dirty="0"/>
          </a:p>
        </p:txBody>
      </p:sp>
      <p:sp>
        <p:nvSpPr>
          <p:cNvPr id="25" name="Text 22"/>
          <p:cNvSpPr txBox="1"/>
          <p:nvPr/>
        </p:nvSpPr>
        <p:spPr>
          <a:xfrm>
            <a:off x="1892808" y="4197096"/>
            <a:ext cx="4553712" cy="256032"/>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Neutrality broken twice</a:t>
            </a:r>
            <a:endParaRPr lang="en-US" sz="1350" dirty="0"/>
          </a:p>
        </p:txBody>
      </p:sp>
      <p:sp>
        <p:nvSpPr>
          <p:cNvPr id="26" name="Text 23"/>
          <p:cNvSpPr txBox="1"/>
          <p:nvPr/>
        </p:nvSpPr>
        <p:spPr>
          <a:xfrm>
            <a:off x="1892808" y="4453128"/>
            <a:ext cx="4553712" cy="475488"/>
          </a:xfrm>
          <a:prstGeom prst="rect">
            <a:avLst/>
          </a:prstGeom>
          <a:noFill/>
          <a:ln/>
        </p:spPr>
        <p:txBody>
          <a:bodyPr wrap="square" lIns="0" tIns="0" rIns="0" bIns="0" rtlCol="0" anchor="ctr"/>
          <a:lstStyle/>
          <a:p>
            <a:pPr indent="0" marL="0">
              <a:lnSpc>
                <a:spcPct val="102000"/>
              </a:lnSpc>
              <a:buNone/>
            </a:pPr>
            <a:r>
              <a:rPr lang="en-US" sz="1150" dirty="0">
                <a:solidFill>
                  <a:srgbClr val="3E3E48"/>
                </a:solidFill>
                <a:latin typeface="Calibri" pitchFamily="34" charset="0"/>
                <a:ea typeface="Calibri" pitchFamily="34" charset="-122"/>
                <a:cs typeface="Calibri" pitchFamily="34" charset="-120"/>
              </a:rPr>
              <a:t>Germany invades in 1914 and again in 1940. The Western Front settles into Flanders — Ypres, Passchendaele — and the Ardennes see the Battle of the Bulge.</a:t>
            </a:r>
            <a:endParaRPr lang="en-US" sz="1150" dirty="0"/>
          </a:p>
        </p:txBody>
      </p:sp>
      <p:sp>
        <p:nvSpPr>
          <p:cNvPr id="27" name="Shape 24"/>
          <p:cNvSpPr/>
          <p:nvPr/>
        </p:nvSpPr>
        <p:spPr>
          <a:xfrm>
            <a:off x="640080" y="5129784"/>
            <a:ext cx="1051560" cy="310896"/>
          </a:xfrm>
          <a:prstGeom prst="roundRect">
            <a:avLst>
              <a:gd name="adj" fmla="val 17647"/>
            </a:avLst>
          </a:prstGeom>
          <a:solidFill>
            <a:srgbClr val="17171B"/>
          </a:solidFill>
          <a:ln w="12700">
            <a:solidFill>
              <a:srgbClr val="17171B"/>
            </a:solidFill>
            <a:prstDash val="solid"/>
          </a:ln>
        </p:spPr>
      </p:sp>
      <p:sp>
        <p:nvSpPr>
          <p:cNvPr id="28" name="Text 25"/>
          <p:cNvSpPr txBox="1"/>
          <p:nvPr/>
        </p:nvSpPr>
        <p:spPr>
          <a:xfrm>
            <a:off x="640080" y="5129784"/>
            <a:ext cx="1051560" cy="310896"/>
          </a:xfrm>
          <a:prstGeom prst="rect">
            <a:avLst/>
          </a:prstGeom>
          <a:noFill/>
          <a:ln/>
        </p:spPr>
        <p:txBody>
          <a:bodyPr wrap="square" lIns="0" tIns="0" rIns="0" bIns="0" rtlCol="0" anchor="ctr"/>
          <a:lstStyle/>
          <a:p>
            <a:pPr algn="ctr" indent="0" marL="0">
              <a:buNone/>
            </a:pPr>
            <a:r>
              <a:rPr lang="en-US" sz="1100" b="1" dirty="0">
                <a:solidFill>
                  <a:srgbClr val="E3B23C"/>
                </a:solidFill>
                <a:latin typeface="Calibri" pitchFamily="34" charset="0"/>
                <a:ea typeface="Calibri" pitchFamily="34" charset="-122"/>
                <a:cs typeface="Calibri" pitchFamily="34" charset="-120"/>
              </a:rPr>
              <a:t>1970–2014</a:t>
            </a:r>
            <a:endParaRPr lang="en-US" sz="1100" dirty="0"/>
          </a:p>
        </p:txBody>
      </p:sp>
      <p:sp>
        <p:nvSpPr>
          <p:cNvPr id="29" name="Text 26"/>
          <p:cNvSpPr txBox="1"/>
          <p:nvPr/>
        </p:nvSpPr>
        <p:spPr>
          <a:xfrm>
            <a:off x="1892808" y="5102352"/>
            <a:ext cx="4553712" cy="256032"/>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Six state reforms</a:t>
            </a:r>
            <a:endParaRPr lang="en-US" sz="1350" dirty="0"/>
          </a:p>
        </p:txBody>
      </p:sp>
      <p:sp>
        <p:nvSpPr>
          <p:cNvPr id="30" name="Text 27"/>
          <p:cNvSpPr txBox="1"/>
          <p:nvPr/>
        </p:nvSpPr>
        <p:spPr>
          <a:xfrm>
            <a:off x="1892808" y="5358384"/>
            <a:ext cx="4553712" cy="475488"/>
          </a:xfrm>
          <a:prstGeom prst="rect">
            <a:avLst/>
          </a:prstGeom>
          <a:noFill/>
          <a:ln/>
        </p:spPr>
        <p:txBody>
          <a:bodyPr wrap="square" lIns="0" tIns="0" rIns="0" bIns="0" rtlCol="0" anchor="ctr"/>
          <a:lstStyle/>
          <a:p>
            <a:pPr indent="0" marL="0">
              <a:lnSpc>
                <a:spcPct val="102000"/>
              </a:lnSpc>
              <a:buNone/>
            </a:pPr>
            <a:r>
              <a:rPr lang="en-US" sz="1150" dirty="0">
                <a:solidFill>
                  <a:srgbClr val="3E3E48"/>
                </a:solidFill>
                <a:latin typeface="Calibri" pitchFamily="34" charset="0"/>
                <a:ea typeface="Calibri" pitchFamily="34" charset="-122"/>
                <a:cs typeface="Calibri" pitchFamily="34" charset="-120"/>
              </a:rPr>
              <a:t>Tension between Dutch and French speakers is answered by rebuilding the country from the inside, turning a unitary state into today's federation.</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10911535" cy="237744"/>
          </a:xfrm>
          <a:prstGeom prst="rect">
            <a:avLst/>
          </a:prstGeom>
          <a:noFill/>
          <a:ln/>
        </p:spPr>
        <p:txBody>
          <a:bodyPr wrap="square" lIns="0" tIns="0" rIns="0" bIns="0" rtlCol="0" anchor="ctr"/>
          <a:lstStyle/>
          <a:p>
            <a:pPr indent="0" marL="0">
              <a:buNone/>
            </a:pPr>
            <a:r>
              <a:rPr lang="en-US" sz="1150" b="1" spc="220" kern="0" dirty="0">
                <a:solidFill>
                  <a:srgbClr val="E3B23C"/>
                </a:solidFill>
                <a:latin typeface="Calibri" pitchFamily="34" charset="0"/>
                <a:ea typeface="Calibri" pitchFamily="34" charset="-122"/>
                <a:cs typeface="Calibri" pitchFamily="34" charset="-120"/>
              </a:rPr>
              <a:t>ORGANISATION POLITIQUE</a:t>
            </a:r>
            <a:endParaRPr lang="en-US" sz="1150" dirty="0"/>
          </a:p>
        </p:txBody>
      </p:sp>
      <p:sp>
        <p:nvSpPr>
          <p:cNvPr id="3" name="Text 1"/>
          <p:cNvSpPr txBox="1"/>
          <p:nvPr/>
        </p:nvSpPr>
        <p:spPr>
          <a:xfrm>
            <a:off x="640080" y="676656"/>
            <a:ext cx="10911535" cy="603504"/>
          </a:xfrm>
          <a:prstGeom prst="rect">
            <a:avLst/>
          </a:prstGeom>
          <a:noFill/>
          <a:ln/>
        </p:spPr>
        <p:txBody>
          <a:bodyPr wrap="square" lIns="0" tIns="0" rIns="0" bIns="0" rtlCol="0" anchor="ctr"/>
          <a:lstStyle/>
          <a:p>
            <a:pPr indent="0" marL="0">
              <a:buNone/>
            </a:pPr>
            <a:r>
              <a:rPr lang="en-US" sz="3100" b="1" dirty="0">
                <a:solidFill>
                  <a:srgbClr val="17171B"/>
                </a:solidFill>
                <a:latin typeface="Cambria" pitchFamily="34" charset="0"/>
                <a:ea typeface="Cambria" pitchFamily="34" charset="-122"/>
                <a:cs typeface="Cambria" pitchFamily="34" charset="-120"/>
              </a:rPr>
              <a:t>A federal parliamentary constitutional monarchy</a:t>
            </a:r>
            <a:endParaRPr lang="en-US" sz="3100" dirty="0"/>
          </a:p>
        </p:txBody>
      </p:sp>
      <p:sp>
        <p:nvSpPr>
          <p:cNvPr id="4" name="Shape 2"/>
          <p:cNvSpPr/>
          <p:nvPr/>
        </p:nvSpPr>
        <p:spPr>
          <a:xfrm>
            <a:off x="640080" y="6163056"/>
            <a:ext cx="384048" cy="384048"/>
          </a:xfrm>
          <a:prstGeom prst="ellipse">
            <a:avLst/>
          </a:prstGeom>
          <a:solidFill>
            <a:srgbClr val="E3B23C"/>
          </a:solidFill>
          <a:ln/>
        </p:spPr>
      </p:sp>
      <p:sp>
        <p:nvSpPr>
          <p:cNvPr id="5" name="Text 3"/>
          <p:cNvSpPr txBox="1"/>
          <p:nvPr/>
        </p:nvSpPr>
        <p:spPr>
          <a:xfrm>
            <a:off x="640080" y="6163056"/>
            <a:ext cx="384048" cy="384048"/>
          </a:xfrm>
          <a:prstGeom prst="rect">
            <a:avLst/>
          </a:prstGeom>
          <a:noFill/>
          <a:ln/>
        </p:spPr>
        <p:txBody>
          <a:bodyPr wrap="square" lIns="0" tIns="0" rIns="0" bIns="0" rtlCol="0" anchor="ctr"/>
          <a:lstStyle/>
          <a:p>
            <a:pPr algn="ctr" indent="0" marL="0">
              <a:buNone/>
            </a:pPr>
            <a:r>
              <a:rPr lang="en-US" sz="1200" b="1" dirty="0">
                <a:solidFill>
                  <a:srgbClr val="17171B"/>
                </a:solidFill>
                <a:latin typeface="Calibri" pitchFamily="34" charset="0"/>
                <a:ea typeface="Calibri" pitchFamily="34" charset="-122"/>
                <a:cs typeface="Calibri" pitchFamily="34" charset="-120"/>
              </a:rPr>
              <a:t>8</a:t>
            </a:r>
            <a:endParaRPr lang="en-US" sz="1200" dirty="0"/>
          </a:p>
        </p:txBody>
      </p:sp>
      <p:sp>
        <p:nvSpPr>
          <p:cNvPr id="6" name="Text 4"/>
          <p:cNvSpPr txBox="1"/>
          <p:nvPr/>
        </p:nvSpPr>
        <p:spPr>
          <a:xfrm>
            <a:off x="6035040" y="6245352"/>
            <a:ext cx="5516575" cy="237744"/>
          </a:xfrm>
          <a:prstGeom prst="rect">
            <a:avLst/>
          </a:prstGeom>
          <a:noFill/>
          <a:ln/>
        </p:spPr>
        <p:txBody>
          <a:bodyPr wrap="square" lIns="0" tIns="0" rIns="0" bIns="0" rtlCol="0" anchor="ctr"/>
          <a:lstStyle/>
          <a:p>
            <a:pPr algn="r" indent="0" marL="0">
              <a:buNone/>
            </a:pPr>
            <a:r>
              <a:rPr lang="en-US" sz="900" dirty="0">
                <a:solidFill>
                  <a:srgbClr val="70707C"/>
                </a:solidFill>
                <a:latin typeface="Calibri" pitchFamily="34" charset="0"/>
                <a:ea typeface="Calibri" pitchFamily="34" charset="-122"/>
                <a:cs typeface="Calibri" pitchFamily="34" charset="-120"/>
              </a:rPr>
              <a:t>La Belgique  ·  FREN 201  ·  Projet Francophonie</a:t>
            </a:r>
            <a:endParaRPr lang="en-US" sz="900" dirty="0"/>
          </a:p>
        </p:txBody>
      </p:sp>
      <p:sp>
        <p:nvSpPr>
          <p:cNvPr id="7" name="Shape 5"/>
          <p:cNvSpPr/>
          <p:nvPr/>
        </p:nvSpPr>
        <p:spPr>
          <a:xfrm>
            <a:off x="640080" y="1481328"/>
            <a:ext cx="2535860" cy="841248"/>
          </a:xfrm>
          <a:prstGeom prst="roundRect">
            <a:avLst>
              <a:gd name="adj" fmla="val 9783"/>
            </a:avLst>
          </a:prstGeom>
          <a:solidFill>
            <a:srgbClr val="17171B"/>
          </a:solidFill>
          <a:ln w="12700">
            <a:solidFill>
              <a:srgbClr val="17171B"/>
            </a:solidFill>
            <a:prstDash val="solid"/>
          </a:ln>
          <a:effectLst>
            <a:outerShdw sx="100000" sy="100000" kx="0" ky="0" algn="bl" rotWithShape="0" blurRad="127000" dist="25400" dir="5400000">
              <a:srgbClr val="9A9AA6">
                <a:alpha val="22000"/>
              </a:srgbClr>
            </a:outerShdw>
          </a:effectLst>
        </p:spPr>
      </p:sp>
      <p:sp>
        <p:nvSpPr>
          <p:cNvPr id="8" name="Text 6"/>
          <p:cNvSpPr txBox="1"/>
          <p:nvPr/>
        </p:nvSpPr>
        <p:spPr>
          <a:xfrm>
            <a:off x="777240" y="1636776"/>
            <a:ext cx="2261540" cy="274320"/>
          </a:xfrm>
          <a:prstGeom prst="rect">
            <a:avLst/>
          </a:prstGeom>
          <a:noFill/>
          <a:ln/>
        </p:spPr>
        <p:txBody>
          <a:bodyPr wrap="square" lIns="0" tIns="0" rIns="0" bIns="0" rtlCol="0" anchor="ctr"/>
          <a:lstStyle/>
          <a:p>
            <a:pPr algn="ctr" indent="0" marL="0">
              <a:buNone/>
            </a:pPr>
            <a:r>
              <a:rPr lang="en-US" sz="1400" b="1" dirty="0">
                <a:solidFill>
                  <a:srgbClr val="E3B23C"/>
                </a:solidFill>
                <a:latin typeface="Cambria" pitchFamily="34" charset="0"/>
                <a:ea typeface="Cambria" pitchFamily="34" charset="-122"/>
                <a:cs typeface="Cambria" pitchFamily="34" charset="-120"/>
              </a:rPr>
              <a:t>DEMOCRACY</a:t>
            </a:r>
            <a:endParaRPr lang="en-US" sz="1400" dirty="0"/>
          </a:p>
        </p:txBody>
      </p:sp>
      <p:sp>
        <p:nvSpPr>
          <p:cNvPr id="9" name="Text 7"/>
          <p:cNvSpPr txBox="1"/>
          <p:nvPr/>
        </p:nvSpPr>
        <p:spPr>
          <a:xfrm>
            <a:off x="731520" y="1965960"/>
            <a:ext cx="2352980" cy="256032"/>
          </a:xfrm>
          <a:prstGeom prst="rect">
            <a:avLst/>
          </a:prstGeom>
          <a:noFill/>
          <a:ln/>
        </p:spPr>
        <p:txBody>
          <a:bodyPr wrap="square" lIns="0" tIns="0" rIns="0" bIns="0" rtlCol="0" anchor="ctr"/>
          <a:lstStyle/>
          <a:p>
            <a:pPr algn="ctr" indent="0" marL="0">
              <a:buNone/>
            </a:pPr>
            <a:r>
              <a:rPr lang="en-US" sz="1000" dirty="0">
                <a:solidFill>
                  <a:srgbClr val="BFBFC9"/>
                </a:solidFill>
                <a:latin typeface="Calibri" pitchFamily="34" charset="0"/>
                <a:ea typeface="Calibri" pitchFamily="34" charset="-122"/>
                <a:cs typeface="Calibri" pitchFamily="34" charset="-120"/>
              </a:rPr>
              <a:t>not a dictatorship</a:t>
            </a:r>
            <a:endParaRPr lang="en-US" sz="1000" dirty="0"/>
          </a:p>
        </p:txBody>
      </p:sp>
      <p:sp>
        <p:nvSpPr>
          <p:cNvPr id="10" name="Shape 8"/>
          <p:cNvSpPr/>
          <p:nvPr/>
        </p:nvSpPr>
        <p:spPr>
          <a:xfrm>
            <a:off x="3431972" y="1481328"/>
            <a:ext cx="2535860" cy="841248"/>
          </a:xfrm>
          <a:prstGeom prst="roundRect">
            <a:avLst>
              <a:gd name="adj" fmla="val 9783"/>
            </a:avLst>
          </a:prstGeom>
          <a:solidFill>
            <a:srgbClr val="17171B"/>
          </a:solidFill>
          <a:ln w="12700">
            <a:solidFill>
              <a:srgbClr val="17171B"/>
            </a:solidFill>
            <a:prstDash val="solid"/>
          </a:ln>
          <a:effectLst>
            <a:outerShdw sx="100000" sy="100000" kx="0" ky="0" algn="bl" rotWithShape="0" blurRad="127000" dist="25400" dir="5400000">
              <a:srgbClr val="9A9AA6">
                <a:alpha val="22000"/>
              </a:srgbClr>
            </a:outerShdw>
          </a:effectLst>
        </p:spPr>
      </p:sp>
      <p:sp>
        <p:nvSpPr>
          <p:cNvPr id="11" name="Text 9"/>
          <p:cNvSpPr txBox="1"/>
          <p:nvPr/>
        </p:nvSpPr>
        <p:spPr>
          <a:xfrm>
            <a:off x="3569132" y="1636776"/>
            <a:ext cx="2261540" cy="274320"/>
          </a:xfrm>
          <a:prstGeom prst="rect">
            <a:avLst/>
          </a:prstGeom>
          <a:noFill/>
          <a:ln/>
        </p:spPr>
        <p:txBody>
          <a:bodyPr wrap="square" lIns="0" tIns="0" rIns="0" bIns="0" rtlCol="0" anchor="ctr"/>
          <a:lstStyle/>
          <a:p>
            <a:pPr algn="ctr" indent="0" marL="0">
              <a:buNone/>
            </a:pPr>
            <a:r>
              <a:rPr lang="en-US" sz="1400" b="1" dirty="0">
                <a:solidFill>
                  <a:srgbClr val="E3B23C"/>
                </a:solidFill>
                <a:latin typeface="Cambria" pitchFamily="34" charset="0"/>
                <a:ea typeface="Cambria" pitchFamily="34" charset="-122"/>
                <a:cs typeface="Cambria" pitchFamily="34" charset="-120"/>
              </a:rPr>
              <a:t>MONARCHY</a:t>
            </a:r>
            <a:endParaRPr lang="en-US" sz="1400" dirty="0"/>
          </a:p>
        </p:txBody>
      </p:sp>
      <p:sp>
        <p:nvSpPr>
          <p:cNvPr id="12" name="Text 10"/>
          <p:cNvSpPr txBox="1"/>
          <p:nvPr/>
        </p:nvSpPr>
        <p:spPr>
          <a:xfrm>
            <a:off x="3523412" y="1965960"/>
            <a:ext cx="2352980" cy="256032"/>
          </a:xfrm>
          <a:prstGeom prst="rect">
            <a:avLst/>
          </a:prstGeom>
          <a:noFill/>
          <a:ln/>
        </p:spPr>
        <p:txBody>
          <a:bodyPr wrap="square" lIns="0" tIns="0" rIns="0" bIns="0" rtlCol="0" anchor="ctr"/>
          <a:lstStyle/>
          <a:p>
            <a:pPr algn="ctr" indent="0" marL="0">
              <a:buNone/>
            </a:pPr>
            <a:r>
              <a:rPr lang="en-US" sz="1000" dirty="0">
                <a:solidFill>
                  <a:srgbClr val="BFBFC9"/>
                </a:solidFill>
                <a:latin typeface="Calibri" pitchFamily="34" charset="0"/>
                <a:ea typeface="Calibri" pitchFamily="34" charset="-122"/>
                <a:cs typeface="Calibri" pitchFamily="34" charset="-120"/>
              </a:rPr>
              <a:t>not a republic</a:t>
            </a:r>
            <a:endParaRPr lang="en-US" sz="1000" dirty="0"/>
          </a:p>
        </p:txBody>
      </p:sp>
      <p:sp>
        <p:nvSpPr>
          <p:cNvPr id="13" name="Shape 11"/>
          <p:cNvSpPr/>
          <p:nvPr/>
        </p:nvSpPr>
        <p:spPr>
          <a:xfrm>
            <a:off x="6223864" y="1481328"/>
            <a:ext cx="2535860" cy="841248"/>
          </a:xfrm>
          <a:prstGeom prst="roundRect">
            <a:avLst>
              <a:gd name="adj" fmla="val 9783"/>
            </a:avLst>
          </a:prstGeom>
          <a:solidFill>
            <a:srgbClr val="17171B"/>
          </a:solidFill>
          <a:ln w="12700">
            <a:solidFill>
              <a:srgbClr val="17171B"/>
            </a:solidFill>
            <a:prstDash val="solid"/>
          </a:ln>
          <a:effectLst>
            <a:outerShdw sx="100000" sy="100000" kx="0" ky="0" algn="bl" rotWithShape="0" blurRad="127000" dist="25400" dir="5400000">
              <a:srgbClr val="9A9AA6">
                <a:alpha val="22000"/>
              </a:srgbClr>
            </a:outerShdw>
          </a:effectLst>
        </p:spPr>
      </p:sp>
      <p:sp>
        <p:nvSpPr>
          <p:cNvPr id="14" name="Text 12"/>
          <p:cNvSpPr txBox="1"/>
          <p:nvPr/>
        </p:nvSpPr>
        <p:spPr>
          <a:xfrm>
            <a:off x="6361024" y="1636776"/>
            <a:ext cx="2261540" cy="274320"/>
          </a:xfrm>
          <a:prstGeom prst="rect">
            <a:avLst/>
          </a:prstGeom>
          <a:noFill/>
          <a:ln/>
        </p:spPr>
        <p:txBody>
          <a:bodyPr wrap="square" lIns="0" tIns="0" rIns="0" bIns="0" rtlCol="0" anchor="ctr"/>
          <a:lstStyle/>
          <a:p>
            <a:pPr algn="ctr" indent="0" marL="0">
              <a:buNone/>
            </a:pPr>
            <a:r>
              <a:rPr lang="en-US" sz="1400" b="1" dirty="0">
                <a:solidFill>
                  <a:srgbClr val="E3B23C"/>
                </a:solidFill>
                <a:latin typeface="Cambria" pitchFamily="34" charset="0"/>
                <a:ea typeface="Cambria" pitchFamily="34" charset="-122"/>
                <a:cs typeface="Cambria" pitchFamily="34" charset="-120"/>
              </a:rPr>
              <a:t>FEDERAL</a:t>
            </a:r>
            <a:endParaRPr lang="en-US" sz="1400" dirty="0"/>
          </a:p>
        </p:txBody>
      </p:sp>
      <p:sp>
        <p:nvSpPr>
          <p:cNvPr id="15" name="Text 13"/>
          <p:cNvSpPr txBox="1"/>
          <p:nvPr/>
        </p:nvSpPr>
        <p:spPr>
          <a:xfrm>
            <a:off x="6315304" y="1965960"/>
            <a:ext cx="2352980" cy="256032"/>
          </a:xfrm>
          <a:prstGeom prst="rect">
            <a:avLst/>
          </a:prstGeom>
          <a:noFill/>
          <a:ln/>
        </p:spPr>
        <p:txBody>
          <a:bodyPr wrap="square" lIns="0" tIns="0" rIns="0" bIns="0" rtlCol="0" anchor="ctr"/>
          <a:lstStyle/>
          <a:p>
            <a:pPr algn="ctr" indent="0" marL="0">
              <a:buNone/>
            </a:pPr>
            <a:r>
              <a:rPr lang="en-US" sz="1000" dirty="0">
                <a:solidFill>
                  <a:srgbClr val="BFBFC9"/>
                </a:solidFill>
                <a:latin typeface="Calibri" pitchFamily="34" charset="0"/>
                <a:ea typeface="Calibri" pitchFamily="34" charset="-122"/>
                <a:cs typeface="Calibri" pitchFamily="34" charset="-120"/>
              </a:rPr>
              <a:t>not unitary, since 1993</a:t>
            </a:r>
            <a:endParaRPr lang="en-US" sz="1000" dirty="0"/>
          </a:p>
        </p:txBody>
      </p:sp>
      <p:sp>
        <p:nvSpPr>
          <p:cNvPr id="16" name="Shape 14"/>
          <p:cNvSpPr/>
          <p:nvPr/>
        </p:nvSpPr>
        <p:spPr>
          <a:xfrm>
            <a:off x="9015755" y="1481328"/>
            <a:ext cx="2535860" cy="841248"/>
          </a:xfrm>
          <a:prstGeom prst="roundRect">
            <a:avLst>
              <a:gd name="adj" fmla="val 9783"/>
            </a:avLst>
          </a:prstGeom>
          <a:solidFill>
            <a:srgbClr val="17171B"/>
          </a:solidFill>
          <a:ln w="12700">
            <a:solidFill>
              <a:srgbClr val="17171B"/>
            </a:solidFill>
            <a:prstDash val="solid"/>
          </a:ln>
          <a:effectLst>
            <a:outerShdw sx="100000" sy="100000" kx="0" ky="0" algn="bl" rotWithShape="0" blurRad="127000" dist="25400" dir="5400000">
              <a:srgbClr val="9A9AA6">
                <a:alpha val="22000"/>
              </a:srgbClr>
            </a:outerShdw>
          </a:effectLst>
        </p:spPr>
      </p:sp>
      <p:sp>
        <p:nvSpPr>
          <p:cNvPr id="17" name="Text 15"/>
          <p:cNvSpPr txBox="1"/>
          <p:nvPr/>
        </p:nvSpPr>
        <p:spPr>
          <a:xfrm>
            <a:off x="9152915" y="1636776"/>
            <a:ext cx="2261540" cy="274320"/>
          </a:xfrm>
          <a:prstGeom prst="rect">
            <a:avLst/>
          </a:prstGeom>
          <a:noFill/>
          <a:ln/>
        </p:spPr>
        <p:txBody>
          <a:bodyPr wrap="square" lIns="0" tIns="0" rIns="0" bIns="0" rtlCol="0" anchor="ctr"/>
          <a:lstStyle/>
          <a:p>
            <a:pPr algn="ctr" indent="0" marL="0">
              <a:buNone/>
            </a:pPr>
            <a:r>
              <a:rPr lang="en-US" sz="1400" b="1" dirty="0">
                <a:solidFill>
                  <a:srgbClr val="E3B23C"/>
                </a:solidFill>
                <a:latin typeface="Cambria" pitchFamily="34" charset="0"/>
                <a:ea typeface="Cambria" pitchFamily="34" charset="-122"/>
                <a:cs typeface="Cambria" pitchFamily="34" charset="-120"/>
              </a:rPr>
              <a:t>PARLIAMENTARY</a:t>
            </a:r>
            <a:endParaRPr lang="en-US" sz="1400" dirty="0"/>
          </a:p>
        </p:txBody>
      </p:sp>
      <p:sp>
        <p:nvSpPr>
          <p:cNvPr id="18" name="Text 16"/>
          <p:cNvSpPr txBox="1"/>
          <p:nvPr/>
        </p:nvSpPr>
        <p:spPr>
          <a:xfrm>
            <a:off x="9107195" y="1965960"/>
            <a:ext cx="2352980" cy="256032"/>
          </a:xfrm>
          <a:prstGeom prst="rect">
            <a:avLst/>
          </a:prstGeom>
          <a:noFill/>
          <a:ln/>
        </p:spPr>
        <p:txBody>
          <a:bodyPr wrap="square" lIns="0" tIns="0" rIns="0" bIns="0" rtlCol="0" anchor="ctr"/>
          <a:lstStyle/>
          <a:p>
            <a:pPr algn="ctr" indent="0" marL="0">
              <a:buNone/>
            </a:pPr>
            <a:r>
              <a:rPr lang="en-US" sz="1000" dirty="0">
                <a:solidFill>
                  <a:srgbClr val="BFBFC9"/>
                </a:solidFill>
                <a:latin typeface="Calibri" pitchFamily="34" charset="0"/>
                <a:ea typeface="Calibri" pitchFamily="34" charset="-122"/>
                <a:cs typeface="Calibri" pitchFamily="34" charset="-120"/>
              </a:rPr>
              <a:t>the government answers to parliament</a:t>
            </a:r>
            <a:endParaRPr lang="en-US" sz="1000" dirty="0"/>
          </a:p>
        </p:txBody>
      </p:sp>
      <p:sp>
        <p:nvSpPr>
          <p:cNvPr id="19" name="Text 17"/>
          <p:cNvSpPr txBox="1"/>
          <p:nvPr/>
        </p:nvSpPr>
        <p:spPr>
          <a:xfrm>
            <a:off x="640080" y="2487168"/>
            <a:ext cx="10911535" cy="237744"/>
          </a:xfrm>
          <a:prstGeom prst="rect">
            <a:avLst/>
          </a:prstGeom>
          <a:noFill/>
          <a:ln/>
        </p:spPr>
        <p:txBody>
          <a:bodyPr wrap="square" lIns="0" tIns="0" rIns="0" bIns="0" rtlCol="0" anchor="ctr"/>
          <a:lstStyle/>
          <a:p>
            <a:pPr indent="0" marL="0">
              <a:buNone/>
            </a:pPr>
            <a:r>
              <a:rPr lang="en-US" sz="1050" b="1" spc="120" kern="0" dirty="0">
                <a:solidFill>
                  <a:srgbClr val="E3B23C"/>
                </a:solidFill>
                <a:latin typeface="Calibri" pitchFamily="34" charset="0"/>
                <a:ea typeface="Calibri" pitchFamily="34" charset="-122"/>
                <a:cs typeface="Calibri" pitchFamily="34" charset="-120"/>
              </a:rPr>
              <a:t>THREE LEVELS OF GOVERNMENT</a:t>
            </a:r>
            <a:endParaRPr lang="en-US" sz="1050" dirty="0"/>
          </a:p>
        </p:txBody>
      </p:sp>
      <p:sp>
        <p:nvSpPr>
          <p:cNvPr id="20" name="Shape 18"/>
          <p:cNvSpPr/>
          <p:nvPr/>
        </p:nvSpPr>
        <p:spPr>
          <a:xfrm>
            <a:off x="640080" y="2779776"/>
            <a:ext cx="10911535" cy="969264"/>
          </a:xfrm>
          <a:prstGeom prst="roundRect">
            <a:avLst>
              <a:gd name="adj" fmla="val 8491"/>
            </a:avLst>
          </a:prstGeom>
          <a:solidFill>
            <a:srgbClr val="F4F4F6"/>
          </a:solidFill>
          <a:ln w="12700">
            <a:solidFill>
              <a:srgbClr val="E4E4E9"/>
            </a:solidFill>
            <a:prstDash val="solid"/>
          </a:ln>
          <a:effectLst>
            <a:outerShdw sx="100000" sy="100000" kx="0" ky="0" algn="bl" rotWithShape="0" blurRad="127000" dist="25400" dir="5400000">
              <a:srgbClr val="9A9AA6">
                <a:alpha val="22000"/>
              </a:srgbClr>
            </a:outerShdw>
          </a:effectLst>
        </p:spPr>
      </p:sp>
      <p:sp>
        <p:nvSpPr>
          <p:cNvPr id="21" name="Shape 19"/>
          <p:cNvSpPr/>
          <p:nvPr/>
        </p:nvSpPr>
        <p:spPr>
          <a:xfrm>
            <a:off x="896112" y="3063240"/>
            <a:ext cx="402336" cy="402336"/>
          </a:xfrm>
          <a:prstGeom prst="ellipse">
            <a:avLst/>
          </a:prstGeom>
          <a:solidFill>
            <a:srgbClr val="E3B23C"/>
          </a:solidFill>
          <a:ln/>
        </p:spPr>
      </p:sp>
      <p:sp>
        <p:nvSpPr>
          <p:cNvPr id="22" name="Text 20"/>
          <p:cNvSpPr txBox="1"/>
          <p:nvPr/>
        </p:nvSpPr>
        <p:spPr>
          <a:xfrm>
            <a:off x="896112" y="3063240"/>
            <a:ext cx="402336" cy="402336"/>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1</a:t>
            </a:r>
            <a:endParaRPr lang="en-US" sz="1150" dirty="0"/>
          </a:p>
        </p:txBody>
      </p:sp>
      <p:sp>
        <p:nvSpPr>
          <p:cNvPr id="23" name="Text 21"/>
          <p:cNvSpPr txBox="1"/>
          <p:nvPr/>
        </p:nvSpPr>
        <p:spPr>
          <a:xfrm>
            <a:off x="1463040" y="2898648"/>
            <a:ext cx="3108960" cy="256032"/>
          </a:xfrm>
          <a:prstGeom prst="rect">
            <a:avLst/>
          </a:prstGeom>
          <a:noFill/>
          <a:ln/>
        </p:spPr>
        <p:txBody>
          <a:bodyPr wrap="square" lIns="0" tIns="0" rIns="0" bIns="0" rtlCol="0" anchor="ctr"/>
          <a:lstStyle/>
          <a:p>
            <a:pPr indent="0" marL="0">
              <a:buNone/>
            </a:pPr>
            <a:r>
              <a:rPr lang="en-US" sz="1300" b="1" dirty="0">
                <a:solidFill>
                  <a:srgbClr val="17171B"/>
                </a:solidFill>
                <a:latin typeface="Calibri" pitchFamily="34" charset="0"/>
                <a:ea typeface="Calibri" pitchFamily="34" charset="-122"/>
                <a:cs typeface="Calibri" pitchFamily="34" charset="-120"/>
              </a:rPr>
              <a:t>THE FEDERAL LEVEL</a:t>
            </a:r>
            <a:endParaRPr lang="en-US" sz="1300" dirty="0"/>
          </a:p>
        </p:txBody>
      </p:sp>
      <p:sp>
        <p:nvSpPr>
          <p:cNvPr id="24" name="Text 22"/>
          <p:cNvSpPr txBox="1"/>
          <p:nvPr/>
        </p:nvSpPr>
        <p:spPr>
          <a:xfrm>
            <a:off x="1463040" y="3163824"/>
            <a:ext cx="3108960" cy="502920"/>
          </a:xfrm>
          <a:prstGeom prst="rect">
            <a:avLst/>
          </a:prstGeom>
          <a:noFill/>
          <a:ln/>
        </p:spPr>
        <p:txBody>
          <a:bodyPr wrap="square" lIns="0" tIns="0" rIns="0" bIns="0" rtlCol="0" anchor="ctr"/>
          <a:lstStyle/>
          <a:p>
            <a:pPr indent="0" marL="0">
              <a:lnSpc>
                <a:spcPct val="100000"/>
              </a:lnSpc>
              <a:buNone/>
            </a:pPr>
            <a:r>
              <a:rPr lang="en-US" sz="950" dirty="0">
                <a:solidFill>
                  <a:srgbClr val="70707C"/>
                </a:solidFill>
                <a:latin typeface="Calibri" pitchFamily="34" charset="0"/>
                <a:ea typeface="Calibri" pitchFamily="34" charset="-122"/>
                <a:cs typeface="Calibri" pitchFamily="34" charset="-120"/>
              </a:rPr>
              <a:t>Defence, justice, police, foreign affairs, social security, most taxation.</a:t>
            </a:r>
            <a:endParaRPr lang="en-US" sz="950" dirty="0"/>
          </a:p>
        </p:txBody>
      </p:sp>
      <p:sp>
        <p:nvSpPr>
          <p:cNvPr id="25" name="Text 23"/>
          <p:cNvSpPr txBox="1"/>
          <p:nvPr/>
        </p:nvSpPr>
        <p:spPr>
          <a:xfrm>
            <a:off x="4754880" y="2926080"/>
            <a:ext cx="6522415" cy="713232"/>
          </a:xfrm>
          <a:prstGeom prst="rect">
            <a:avLst/>
          </a:prstGeom>
          <a:noFill/>
          <a:ln/>
        </p:spPr>
        <p:txBody>
          <a:bodyPr wrap="square" lIns="0" tIns="0" rIns="0" bIns="0" rtlCol="0" anchor="ctr"/>
          <a:lstStyle/>
          <a:p>
            <a:pPr indent="0" marL="0">
              <a:lnSpc>
                <a:spcPct val="105000"/>
              </a:lnSpc>
              <a:buNone/>
            </a:pPr>
            <a:r>
              <a:rPr lang="en-US" sz="1050" dirty="0">
                <a:solidFill>
                  <a:srgbClr val="3E3E48"/>
                </a:solidFill>
                <a:latin typeface="Calibri" pitchFamily="34" charset="0"/>
                <a:ea typeface="Calibri" pitchFamily="34" charset="-122"/>
                <a:cs typeface="Calibri" pitchFamily="34" charset="-120"/>
              </a:rPr>
              <a:t>King Philippe, Head of State  ·  Prime Minister Bart De Wever  ·  Chamber of Representatives, 150 members elected by proportional representation  ·  Senate, 60 members, mostly appointed by the regional and community parliaments</a:t>
            </a:r>
            <a:endParaRPr lang="en-US" sz="1050" dirty="0"/>
          </a:p>
        </p:txBody>
      </p:sp>
      <p:sp>
        <p:nvSpPr>
          <p:cNvPr id="26" name="Shape 24"/>
          <p:cNvSpPr/>
          <p:nvPr/>
        </p:nvSpPr>
        <p:spPr>
          <a:xfrm>
            <a:off x="640080" y="3858768"/>
            <a:ext cx="10911535" cy="969264"/>
          </a:xfrm>
          <a:prstGeom prst="roundRect">
            <a:avLst>
              <a:gd name="adj" fmla="val 8491"/>
            </a:avLst>
          </a:prstGeom>
          <a:solidFill>
            <a:srgbClr val="F4F4F6"/>
          </a:solidFill>
          <a:ln w="12700">
            <a:solidFill>
              <a:srgbClr val="E4E4E9"/>
            </a:solidFill>
            <a:prstDash val="solid"/>
          </a:ln>
          <a:effectLst>
            <a:outerShdw sx="100000" sy="100000" kx="0" ky="0" algn="bl" rotWithShape="0" blurRad="127000" dist="25400" dir="5400000">
              <a:srgbClr val="9A9AA6">
                <a:alpha val="22000"/>
              </a:srgbClr>
            </a:outerShdw>
          </a:effectLst>
        </p:spPr>
      </p:sp>
      <p:sp>
        <p:nvSpPr>
          <p:cNvPr id="27" name="Shape 25"/>
          <p:cNvSpPr/>
          <p:nvPr/>
        </p:nvSpPr>
        <p:spPr>
          <a:xfrm>
            <a:off x="896112" y="4142232"/>
            <a:ext cx="402336" cy="402336"/>
          </a:xfrm>
          <a:prstGeom prst="ellipse">
            <a:avLst/>
          </a:prstGeom>
          <a:solidFill>
            <a:srgbClr val="E3B23C"/>
          </a:solidFill>
          <a:ln/>
        </p:spPr>
      </p:sp>
      <p:sp>
        <p:nvSpPr>
          <p:cNvPr id="28" name="Text 26"/>
          <p:cNvSpPr txBox="1"/>
          <p:nvPr/>
        </p:nvSpPr>
        <p:spPr>
          <a:xfrm>
            <a:off x="896112" y="4142232"/>
            <a:ext cx="402336" cy="402336"/>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2</a:t>
            </a:r>
            <a:endParaRPr lang="en-US" sz="1150" dirty="0"/>
          </a:p>
        </p:txBody>
      </p:sp>
      <p:sp>
        <p:nvSpPr>
          <p:cNvPr id="29" name="Text 27"/>
          <p:cNvSpPr txBox="1"/>
          <p:nvPr/>
        </p:nvSpPr>
        <p:spPr>
          <a:xfrm>
            <a:off x="1463040" y="3977640"/>
            <a:ext cx="3108960" cy="256032"/>
          </a:xfrm>
          <a:prstGeom prst="rect">
            <a:avLst/>
          </a:prstGeom>
          <a:noFill/>
          <a:ln/>
        </p:spPr>
        <p:txBody>
          <a:bodyPr wrap="square" lIns="0" tIns="0" rIns="0" bIns="0" rtlCol="0" anchor="ctr"/>
          <a:lstStyle/>
          <a:p>
            <a:pPr indent="0" marL="0">
              <a:buNone/>
            </a:pPr>
            <a:r>
              <a:rPr lang="en-US" sz="1300" b="1" dirty="0">
                <a:solidFill>
                  <a:srgbClr val="17171B"/>
                </a:solidFill>
                <a:latin typeface="Calibri" pitchFamily="34" charset="0"/>
                <a:ea typeface="Calibri" pitchFamily="34" charset="-122"/>
                <a:cs typeface="Calibri" pitchFamily="34" charset="-120"/>
              </a:rPr>
              <a:t>THE THREE REGIONS</a:t>
            </a:r>
            <a:endParaRPr lang="en-US" sz="1300" dirty="0"/>
          </a:p>
        </p:txBody>
      </p:sp>
      <p:sp>
        <p:nvSpPr>
          <p:cNvPr id="30" name="Text 28"/>
          <p:cNvSpPr txBox="1"/>
          <p:nvPr/>
        </p:nvSpPr>
        <p:spPr>
          <a:xfrm>
            <a:off x="1463040" y="4242816"/>
            <a:ext cx="3108960" cy="502920"/>
          </a:xfrm>
          <a:prstGeom prst="rect">
            <a:avLst/>
          </a:prstGeom>
          <a:noFill/>
          <a:ln/>
        </p:spPr>
        <p:txBody>
          <a:bodyPr wrap="square" lIns="0" tIns="0" rIns="0" bIns="0" rtlCol="0" anchor="ctr"/>
          <a:lstStyle/>
          <a:p>
            <a:pPr indent="0" marL="0">
              <a:lnSpc>
                <a:spcPct val="100000"/>
              </a:lnSpc>
              <a:buNone/>
            </a:pPr>
            <a:r>
              <a:rPr lang="en-US" sz="950" dirty="0">
                <a:solidFill>
                  <a:srgbClr val="70707C"/>
                </a:solidFill>
                <a:latin typeface="Calibri" pitchFamily="34" charset="0"/>
                <a:ea typeface="Calibri" pitchFamily="34" charset="-122"/>
                <a:cs typeface="Calibri" pitchFamily="34" charset="-120"/>
              </a:rPr>
              <a:t>Territory: economy, employment, transport, housing, environment, agriculture.</a:t>
            </a:r>
            <a:endParaRPr lang="en-US" sz="950" dirty="0"/>
          </a:p>
        </p:txBody>
      </p:sp>
      <p:sp>
        <p:nvSpPr>
          <p:cNvPr id="31" name="Text 29"/>
          <p:cNvSpPr txBox="1"/>
          <p:nvPr/>
        </p:nvSpPr>
        <p:spPr>
          <a:xfrm>
            <a:off x="4754880" y="4005072"/>
            <a:ext cx="6522415" cy="713232"/>
          </a:xfrm>
          <a:prstGeom prst="rect">
            <a:avLst/>
          </a:prstGeom>
          <a:noFill/>
          <a:ln/>
        </p:spPr>
        <p:txBody>
          <a:bodyPr wrap="square" lIns="0" tIns="0" rIns="0" bIns="0" rtlCol="0" anchor="ctr"/>
          <a:lstStyle/>
          <a:p>
            <a:pPr indent="0" marL="0">
              <a:lnSpc>
                <a:spcPct val="105000"/>
              </a:lnSpc>
              <a:buNone/>
            </a:pPr>
            <a:r>
              <a:rPr lang="en-US" sz="1050" dirty="0">
                <a:solidFill>
                  <a:srgbClr val="3E3E48"/>
                </a:solidFill>
                <a:latin typeface="Calibri" pitchFamily="34" charset="0"/>
                <a:ea typeface="Calibri" pitchFamily="34" charset="-122"/>
                <a:cs typeface="Calibri" pitchFamily="34" charset="-120"/>
              </a:rPr>
              <a:t>Flanders  ·  Wallonia  ·  Brussels-Capital — each with its own elected parliament and its own government</a:t>
            </a:r>
            <a:endParaRPr lang="en-US" sz="1050" dirty="0"/>
          </a:p>
        </p:txBody>
      </p:sp>
      <p:sp>
        <p:nvSpPr>
          <p:cNvPr id="32" name="Shape 30"/>
          <p:cNvSpPr/>
          <p:nvPr/>
        </p:nvSpPr>
        <p:spPr>
          <a:xfrm>
            <a:off x="640080" y="4937760"/>
            <a:ext cx="10911535" cy="969264"/>
          </a:xfrm>
          <a:prstGeom prst="roundRect">
            <a:avLst>
              <a:gd name="adj" fmla="val 8491"/>
            </a:avLst>
          </a:prstGeom>
          <a:solidFill>
            <a:srgbClr val="F4F4F6"/>
          </a:solidFill>
          <a:ln w="12700">
            <a:solidFill>
              <a:srgbClr val="E4E4E9"/>
            </a:solidFill>
            <a:prstDash val="solid"/>
          </a:ln>
          <a:effectLst>
            <a:outerShdw sx="100000" sy="100000" kx="0" ky="0" algn="bl" rotWithShape="0" blurRad="127000" dist="25400" dir="5400000">
              <a:srgbClr val="9A9AA6">
                <a:alpha val="22000"/>
              </a:srgbClr>
            </a:outerShdw>
          </a:effectLst>
        </p:spPr>
      </p:sp>
      <p:sp>
        <p:nvSpPr>
          <p:cNvPr id="33" name="Shape 31"/>
          <p:cNvSpPr/>
          <p:nvPr/>
        </p:nvSpPr>
        <p:spPr>
          <a:xfrm>
            <a:off x="896112" y="5221224"/>
            <a:ext cx="402336" cy="402336"/>
          </a:xfrm>
          <a:prstGeom prst="ellipse">
            <a:avLst/>
          </a:prstGeom>
          <a:solidFill>
            <a:srgbClr val="E3B23C"/>
          </a:solidFill>
          <a:ln/>
        </p:spPr>
      </p:sp>
      <p:sp>
        <p:nvSpPr>
          <p:cNvPr id="34" name="Text 32"/>
          <p:cNvSpPr txBox="1"/>
          <p:nvPr/>
        </p:nvSpPr>
        <p:spPr>
          <a:xfrm>
            <a:off x="896112" y="5221224"/>
            <a:ext cx="402336" cy="402336"/>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3</a:t>
            </a:r>
            <a:endParaRPr lang="en-US" sz="1150" dirty="0"/>
          </a:p>
        </p:txBody>
      </p:sp>
      <p:sp>
        <p:nvSpPr>
          <p:cNvPr id="35" name="Text 33"/>
          <p:cNvSpPr txBox="1"/>
          <p:nvPr/>
        </p:nvSpPr>
        <p:spPr>
          <a:xfrm>
            <a:off x="1463040" y="5056632"/>
            <a:ext cx="3108960" cy="256032"/>
          </a:xfrm>
          <a:prstGeom prst="rect">
            <a:avLst/>
          </a:prstGeom>
          <a:noFill/>
          <a:ln/>
        </p:spPr>
        <p:txBody>
          <a:bodyPr wrap="square" lIns="0" tIns="0" rIns="0" bIns="0" rtlCol="0" anchor="ctr"/>
          <a:lstStyle/>
          <a:p>
            <a:pPr indent="0" marL="0">
              <a:buNone/>
            </a:pPr>
            <a:r>
              <a:rPr lang="en-US" sz="1300" b="1" dirty="0">
                <a:solidFill>
                  <a:srgbClr val="17171B"/>
                </a:solidFill>
                <a:latin typeface="Calibri" pitchFamily="34" charset="0"/>
                <a:ea typeface="Calibri" pitchFamily="34" charset="-122"/>
                <a:cs typeface="Calibri" pitchFamily="34" charset="-120"/>
              </a:rPr>
              <a:t>THE THREE COMMUNITIES</a:t>
            </a:r>
            <a:endParaRPr lang="en-US" sz="1300" dirty="0"/>
          </a:p>
        </p:txBody>
      </p:sp>
      <p:sp>
        <p:nvSpPr>
          <p:cNvPr id="36" name="Text 34"/>
          <p:cNvSpPr txBox="1"/>
          <p:nvPr/>
        </p:nvSpPr>
        <p:spPr>
          <a:xfrm>
            <a:off x="1463040" y="5321808"/>
            <a:ext cx="3108960" cy="502920"/>
          </a:xfrm>
          <a:prstGeom prst="rect">
            <a:avLst/>
          </a:prstGeom>
          <a:noFill/>
          <a:ln/>
        </p:spPr>
        <p:txBody>
          <a:bodyPr wrap="square" lIns="0" tIns="0" rIns="0" bIns="0" rtlCol="0" anchor="ctr"/>
          <a:lstStyle/>
          <a:p>
            <a:pPr indent="0" marL="0">
              <a:lnSpc>
                <a:spcPct val="100000"/>
              </a:lnSpc>
              <a:buNone/>
            </a:pPr>
            <a:r>
              <a:rPr lang="en-US" sz="950" dirty="0">
                <a:solidFill>
                  <a:srgbClr val="70707C"/>
                </a:solidFill>
                <a:latin typeface="Calibri" pitchFamily="34" charset="0"/>
                <a:ea typeface="Calibri" pitchFamily="34" charset="-122"/>
                <a:cs typeface="Calibri" pitchFamily="34" charset="-120"/>
              </a:rPr>
              <a:t>People: education, culture, language, health and welfare policy.</a:t>
            </a:r>
            <a:endParaRPr lang="en-US" sz="950" dirty="0"/>
          </a:p>
        </p:txBody>
      </p:sp>
      <p:sp>
        <p:nvSpPr>
          <p:cNvPr id="37" name="Text 35"/>
          <p:cNvSpPr txBox="1"/>
          <p:nvPr/>
        </p:nvSpPr>
        <p:spPr>
          <a:xfrm>
            <a:off x="4754880" y="5084064"/>
            <a:ext cx="6522415" cy="713232"/>
          </a:xfrm>
          <a:prstGeom prst="rect">
            <a:avLst/>
          </a:prstGeom>
          <a:noFill/>
          <a:ln/>
        </p:spPr>
        <p:txBody>
          <a:bodyPr wrap="square" lIns="0" tIns="0" rIns="0" bIns="0" rtlCol="0" anchor="ctr"/>
          <a:lstStyle/>
          <a:p>
            <a:pPr indent="0" marL="0">
              <a:lnSpc>
                <a:spcPct val="105000"/>
              </a:lnSpc>
              <a:buNone/>
            </a:pPr>
            <a:r>
              <a:rPr lang="en-US" sz="1050" dirty="0">
                <a:solidFill>
                  <a:srgbClr val="3E3E48"/>
                </a:solidFill>
                <a:latin typeface="Calibri" pitchFamily="34" charset="0"/>
                <a:ea typeface="Calibri" pitchFamily="34" charset="-122"/>
                <a:cs typeface="Calibri" pitchFamily="34" charset="-120"/>
              </a:rPr>
              <a:t>Flemish Community  ·  French Community (Fédération Wallonie-Bruxelles)  ·  German-speaking Community</a:t>
            </a:r>
            <a:endParaRPr lang="en-US" sz="1050" dirty="0"/>
          </a:p>
        </p:txBody>
      </p:sp>
      <p:sp>
        <p:nvSpPr>
          <p:cNvPr id="38" name="Text 36"/>
          <p:cNvSpPr txBox="1"/>
          <p:nvPr/>
        </p:nvSpPr>
        <p:spPr>
          <a:xfrm>
            <a:off x="1170432" y="5925312"/>
            <a:ext cx="10381183" cy="274320"/>
          </a:xfrm>
          <a:prstGeom prst="rect">
            <a:avLst/>
          </a:prstGeom>
          <a:noFill/>
          <a:ln/>
        </p:spPr>
        <p:txBody>
          <a:bodyPr wrap="square" lIns="0" tIns="0" rIns="0" bIns="0" rtlCol="0" anchor="ctr"/>
          <a:lstStyle/>
          <a:p>
            <a:pPr indent="0" marL="0">
              <a:buNone/>
            </a:pPr>
            <a:r>
              <a:rPr lang="en-US" sz="1050" i="1" dirty="0">
                <a:solidFill>
                  <a:srgbClr val="70707C"/>
                </a:solidFill>
                <a:latin typeface="Calibri" pitchFamily="34" charset="0"/>
                <a:ea typeface="Calibri" pitchFamily="34" charset="-122"/>
                <a:cs typeface="Calibri" pitchFamily="34" charset="-120"/>
              </a:rPr>
              <a:t>Voting is compulsory from the age of 18, and because parties are organised by language, every federal government is a coalition.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5852160" cy="237744"/>
          </a:xfrm>
          <a:prstGeom prst="rect">
            <a:avLst/>
          </a:prstGeom>
          <a:noFill/>
          <a:ln/>
        </p:spPr>
        <p:txBody>
          <a:bodyPr wrap="square" lIns="0" tIns="0" rIns="0" bIns="0" rtlCol="0" anchor="ctr"/>
          <a:lstStyle/>
          <a:p>
            <a:pPr indent="0" marL="0">
              <a:buNone/>
            </a:pPr>
            <a:r>
              <a:rPr lang="en-US" sz="1150" b="1" spc="220" kern="0" dirty="0">
                <a:solidFill>
                  <a:srgbClr val="E3B23C"/>
                </a:solidFill>
                <a:latin typeface="Calibri" pitchFamily="34" charset="0"/>
                <a:ea typeface="Calibri" pitchFamily="34" charset="-122"/>
                <a:cs typeface="Calibri" pitchFamily="34" charset="-120"/>
              </a:rPr>
              <a:t>LE ROI ET LE GOUVERNEMENT</a:t>
            </a:r>
            <a:endParaRPr lang="en-US" sz="1150" dirty="0"/>
          </a:p>
        </p:txBody>
      </p:sp>
      <p:sp>
        <p:nvSpPr>
          <p:cNvPr id="3" name="Text 1"/>
          <p:cNvSpPr txBox="1"/>
          <p:nvPr/>
        </p:nvSpPr>
        <p:spPr>
          <a:xfrm>
            <a:off x="640080" y="676656"/>
            <a:ext cx="5852160" cy="603504"/>
          </a:xfrm>
          <a:prstGeom prst="rect">
            <a:avLst/>
          </a:prstGeom>
          <a:noFill/>
          <a:ln/>
        </p:spPr>
        <p:txBody>
          <a:bodyPr wrap="square" lIns="0" tIns="0" rIns="0" bIns="0" rtlCol="0" anchor="ctr"/>
          <a:lstStyle/>
          <a:p>
            <a:pPr indent="0" marL="0">
              <a:buNone/>
            </a:pPr>
            <a:r>
              <a:rPr lang="en-US" sz="3100" b="1" dirty="0">
                <a:solidFill>
                  <a:srgbClr val="17171B"/>
                </a:solidFill>
                <a:latin typeface="Cambria" pitchFamily="34" charset="0"/>
                <a:ea typeface="Cambria" pitchFamily="34" charset="-122"/>
                <a:cs typeface="Cambria" pitchFamily="34" charset="-120"/>
              </a:rPr>
              <a:t>Who leads Belgium today</a:t>
            </a:r>
            <a:endParaRPr lang="en-US" sz="3100" dirty="0"/>
          </a:p>
        </p:txBody>
      </p:sp>
      <p:sp>
        <p:nvSpPr>
          <p:cNvPr id="4" name="Shape 2"/>
          <p:cNvSpPr/>
          <p:nvPr/>
        </p:nvSpPr>
        <p:spPr>
          <a:xfrm>
            <a:off x="640080" y="6163056"/>
            <a:ext cx="384048" cy="384048"/>
          </a:xfrm>
          <a:prstGeom prst="ellipse">
            <a:avLst/>
          </a:prstGeom>
          <a:solidFill>
            <a:srgbClr val="E3B23C"/>
          </a:solidFill>
          <a:ln/>
        </p:spPr>
      </p:sp>
      <p:sp>
        <p:nvSpPr>
          <p:cNvPr id="5" name="Text 3"/>
          <p:cNvSpPr txBox="1"/>
          <p:nvPr/>
        </p:nvSpPr>
        <p:spPr>
          <a:xfrm>
            <a:off x="640080" y="6163056"/>
            <a:ext cx="384048" cy="384048"/>
          </a:xfrm>
          <a:prstGeom prst="rect">
            <a:avLst/>
          </a:prstGeom>
          <a:noFill/>
          <a:ln/>
        </p:spPr>
        <p:txBody>
          <a:bodyPr wrap="square" lIns="0" tIns="0" rIns="0" bIns="0" rtlCol="0" anchor="ctr"/>
          <a:lstStyle/>
          <a:p>
            <a:pPr algn="ctr" indent="0" marL="0">
              <a:buNone/>
            </a:pPr>
            <a:r>
              <a:rPr lang="en-US" sz="1200" b="1" dirty="0">
                <a:solidFill>
                  <a:srgbClr val="17171B"/>
                </a:solidFill>
                <a:latin typeface="Calibri" pitchFamily="34" charset="0"/>
                <a:ea typeface="Calibri" pitchFamily="34" charset="-122"/>
                <a:cs typeface="Calibri" pitchFamily="34" charset="-120"/>
              </a:rPr>
              <a:t>9</a:t>
            </a:r>
            <a:endParaRPr lang="en-US" sz="1200" dirty="0"/>
          </a:p>
        </p:txBody>
      </p:sp>
      <p:sp>
        <p:nvSpPr>
          <p:cNvPr id="6" name="Text 4"/>
          <p:cNvSpPr txBox="1"/>
          <p:nvPr/>
        </p:nvSpPr>
        <p:spPr>
          <a:xfrm>
            <a:off x="6035040" y="6245352"/>
            <a:ext cx="5516575" cy="237744"/>
          </a:xfrm>
          <a:prstGeom prst="rect">
            <a:avLst/>
          </a:prstGeom>
          <a:noFill/>
          <a:ln/>
        </p:spPr>
        <p:txBody>
          <a:bodyPr wrap="square" lIns="0" tIns="0" rIns="0" bIns="0" rtlCol="0" anchor="ctr"/>
          <a:lstStyle/>
          <a:p>
            <a:pPr algn="r" indent="0" marL="0">
              <a:buNone/>
            </a:pPr>
            <a:r>
              <a:rPr lang="en-US" sz="900" dirty="0">
                <a:solidFill>
                  <a:srgbClr val="70707C"/>
                </a:solidFill>
                <a:latin typeface="Calibri" pitchFamily="34" charset="0"/>
                <a:ea typeface="Calibri" pitchFamily="34" charset="-122"/>
                <a:cs typeface="Calibri" pitchFamily="34" charset="-120"/>
              </a:rPr>
              <a:t>La Belgique  ·  FREN 201  ·  Projet Francophonie</a:t>
            </a:r>
            <a:endParaRPr lang="en-US" sz="900" dirty="0"/>
          </a:p>
        </p:txBody>
      </p:sp>
      <p:pic>
        <p:nvPicPr>
          <p:cNvPr id="7" name="Image 0" descr="/tmp/claude-0/-home-user-BOYNT-WORK/856f02cf-0e32-5bfe-bffb-9edb29b314f9/scratchpad/deckimg/royalpalace.jpg">    </p:cNvPr>
          <p:cNvPicPr>
            <a:picLocks noChangeAspect="1"/>
          </p:cNvPicPr>
          <p:nvPr/>
        </p:nvPicPr>
        <p:blipFill>
          <a:blip r:embed="rId1"/>
          <a:srcRect l="0" r="0" t="0" b="0"/>
          <a:stretch/>
        </p:blipFill>
        <p:spPr>
          <a:xfrm>
            <a:off x="6720840" y="0"/>
            <a:ext cx="5470855" cy="6858000"/>
          </a:xfrm>
          <a:prstGeom prst="rect">
            <a:avLst/>
          </a:prstGeom>
        </p:spPr>
      </p:pic>
      <p:sp>
        <p:nvSpPr>
          <p:cNvPr id="8" name="Shape 5"/>
          <p:cNvSpPr/>
          <p:nvPr/>
        </p:nvSpPr>
        <p:spPr>
          <a:xfrm>
            <a:off x="6720840" y="5212080"/>
            <a:ext cx="5470855" cy="1645920"/>
          </a:xfrm>
          <a:prstGeom prst="rect">
            <a:avLst/>
          </a:prstGeom>
          <a:solidFill>
            <a:srgbClr val="17171B">
              <a:alpha val="88000"/>
            </a:srgbClr>
          </a:solidFill>
          <a:ln/>
        </p:spPr>
      </p:sp>
      <p:sp>
        <p:nvSpPr>
          <p:cNvPr id="9" name="Text 6"/>
          <p:cNvSpPr txBox="1"/>
          <p:nvPr/>
        </p:nvSpPr>
        <p:spPr>
          <a:xfrm>
            <a:off x="7040880" y="5449824"/>
            <a:ext cx="4754880" cy="256032"/>
          </a:xfrm>
          <a:prstGeom prst="rect">
            <a:avLst/>
          </a:prstGeom>
          <a:noFill/>
          <a:ln/>
        </p:spPr>
        <p:txBody>
          <a:bodyPr wrap="square" lIns="0" tIns="0" rIns="0" bIns="0" rtlCol="0" anchor="ctr"/>
          <a:lstStyle/>
          <a:p>
            <a:pPr indent="0" marL="0">
              <a:buNone/>
            </a:pPr>
            <a:r>
              <a:rPr lang="en-US" sz="1100" b="1" spc="140" kern="0" dirty="0">
                <a:solidFill>
                  <a:srgbClr val="E3B23C"/>
                </a:solidFill>
                <a:latin typeface="Calibri" pitchFamily="34" charset="0"/>
                <a:ea typeface="Calibri" pitchFamily="34" charset="-122"/>
                <a:cs typeface="Calibri" pitchFamily="34" charset="-120"/>
              </a:rPr>
              <a:t>THE ROYAL PALACE, BRUSSELS</a:t>
            </a:r>
            <a:endParaRPr lang="en-US" sz="1100" dirty="0"/>
          </a:p>
        </p:txBody>
      </p:sp>
      <p:sp>
        <p:nvSpPr>
          <p:cNvPr id="10" name="Text 7"/>
          <p:cNvSpPr txBox="1"/>
          <p:nvPr/>
        </p:nvSpPr>
        <p:spPr>
          <a:xfrm>
            <a:off x="7040880" y="5742432"/>
            <a:ext cx="4754880" cy="731520"/>
          </a:xfrm>
          <a:prstGeom prst="rect">
            <a:avLst/>
          </a:prstGeom>
          <a:noFill/>
          <a:ln/>
        </p:spPr>
        <p:txBody>
          <a:bodyPr wrap="square" lIns="0" tIns="0" rIns="0" bIns="0" rtlCol="0" anchor="ctr"/>
          <a:lstStyle/>
          <a:p>
            <a:pPr indent="0" marL="0">
              <a:lnSpc>
                <a:spcPct val="105000"/>
              </a:lnSpc>
              <a:buNone/>
            </a:pPr>
            <a:r>
              <a:rPr lang="en-US" sz="1100" dirty="0">
                <a:solidFill>
                  <a:srgbClr val="E2E2E8"/>
                </a:solidFill>
                <a:latin typeface="Calibri" pitchFamily="34" charset="0"/>
                <a:ea typeface="Calibri" pitchFamily="34" charset="-122"/>
                <a:cs typeface="Calibri" pitchFamily="34" charset="-120"/>
              </a:rPr>
              <a:t>The King's official workplace. The royal family actually lives at Laeken, on the edge of the city.</a:t>
            </a:r>
            <a:endParaRPr lang="en-US" sz="1100" dirty="0"/>
          </a:p>
        </p:txBody>
      </p:sp>
      <p:sp>
        <p:nvSpPr>
          <p:cNvPr id="11" name="Shape 8"/>
          <p:cNvSpPr/>
          <p:nvPr/>
        </p:nvSpPr>
        <p:spPr>
          <a:xfrm>
            <a:off x="640080" y="1481328"/>
            <a:ext cx="5806440" cy="2103120"/>
          </a:xfrm>
          <a:prstGeom prst="roundRect">
            <a:avLst>
              <a:gd name="adj" fmla="val 3913"/>
            </a:avLst>
          </a:prstGeom>
          <a:solidFill>
            <a:srgbClr val="17171B"/>
          </a:solidFill>
          <a:ln w="12700">
            <a:solidFill>
              <a:srgbClr val="17171B"/>
            </a:solidFill>
            <a:prstDash val="solid"/>
          </a:ln>
          <a:effectLst>
            <a:outerShdw sx="100000" sy="100000" kx="0" ky="0" algn="bl" rotWithShape="0" blurRad="127000" dist="25400" dir="5400000">
              <a:srgbClr val="9A9AA6">
                <a:alpha val="22000"/>
              </a:srgbClr>
            </a:outerShdw>
          </a:effectLst>
        </p:spPr>
      </p:sp>
      <p:sp>
        <p:nvSpPr>
          <p:cNvPr id="12" name="Text 9"/>
          <p:cNvSpPr txBox="1"/>
          <p:nvPr/>
        </p:nvSpPr>
        <p:spPr>
          <a:xfrm>
            <a:off x="914400" y="1664208"/>
            <a:ext cx="5257800" cy="237744"/>
          </a:xfrm>
          <a:prstGeom prst="rect">
            <a:avLst/>
          </a:prstGeom>
          <a:noFill/>
          <a:ln/>
        </p:spPr>
        <p:txBody>
          <a:bodyPr wrap="square" lIns="0" tIns="0" rIns="0" bIns="0" rtlCol="0" anchor="ctr"/>
          <a:lstStyle/>
          <a:p>
            <a:pPr indent="0" marL="0">
              <a:buNone/>
            </a:pPr>
            <a:r>
              <a:rPr lang="en-US" sz="1000" b="1" spc="110" kern="0" dirty="0">
                <a:solidFill>
                  <a:srgbClr val="E3B23C"/>
                </a:solidFill>
                <a:latin typeface="Calibri" pitchFamily="34" charset="0"/>
                <a:ea typeface="Calibri" pitchFamily="34" charset="-122"/>
                <a:cs typeface="Calibri" pitchFamily="34" charset="-120"/>
              </a:rPr>
              <a:t>CHEF DE L'ÉTAT  ·  HEAD OF STATE</a:t>
            </a:r>
            <a:endParaRPr lang="en-US" sz="1000" dirty="0"/>
          </a:p>
        </p:txBody>
      </p:sp>
      <p:sp>
        <p:nvSpPr>
          <p:cNvPr id="13" name="Text 10"/>
          <p:cNvSpPr txBox="1"/>
          <p:nvPr/>
        </p:nvSpPr>
        <p:spPr>
          <a:xfrm>
            <a:off x="914400" y="1938528"/>
            <a:ext cx="5257800" cy="530352"/>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King Philippe</a:t>
            </a:r>
            <a:endParaRPr lang="en-US" sz="2800" dirty="0"/>
          </a:p>
        </p:txBody>
      </p:sp>
      <p:sp>
        <p:nvSpPr>
          <p:cNvPr id="14" name="Text 11"/>
          <p:cNvSpPr txBox="1"/>
          <p:nvPr/>
        </p:nvSpPr>
        <p:spPr>
          <a:xfrm>
            <a:off x="914400" y="2523744"/>
            <a:ext cx="5257800" cy="603504"/>
          </a:xfrm>
          <a:prstGeom prst="rect">
            <a:avLst/>
          </a:prstGeom>
          <a:noFill/>
          <a:ln/>
        </p:spPr>
        <p:txBody>
          <a:bodyPr wrap="square" lIns="0" tIns="0" rIns="0" bIns="0" rtlCol="0" anchor="ctr"/>
          <a:lstStyle/>
          <a:p>
            <a:pPr indent="0" marL="0">
              <a:lnSpc>
                <a:spcPct val="104000"/>
              </a:lnSpc>
              <a:buNone/>
            </a:pPr>
            <a:r>
              <a:rPr lang="en-US" sz="1050" dirty="0">
                <a:solidFill>
                  <a:srgbClr val="C4C4CE"/>
                </a:solidFill>
                <a:latin typeface="Calibri" pitchFamily="34" charset="0"/>
                <a:ea typeface="Calibri" pitchFamily="34" charset="-122"/>
                <a:cs typeface="Calibri" pitchFamily="34" charset="-120"/>
              </a:rPr>
              <a:t>Seventh King of the Belgians, on the throne since 21 July 2013, when his father Albert II abdicated. His heir is Princess Elisabeth, who will be Belgium's first reigning queen.</a:t>
            </a:r>
            <a:endParaRPr lang="en-US" sz="1050" dirty="0"/>
          </a:p>
        </p:txBody>
      </p:sp>
      <p:sp>
        <p:nvSpPr>
          <p:cNvPr id="15" name="Text 12"/>
          <p:cNvSpPr txBox="1"/>
          <p:nvPr/>
        </p:nvSpPr>
        <p:spPr>
          <a:xfrm>
            <a:off x="914400" y="3145536"/>
            <a:ext cx="5257800" cy="384048"/>
          </a:xfrm>
          <a:prstGeom prst="rect">
            <a:avLst/>
          </a:prstGeom>
          <a:noFill/>
          <a:ln/>
        </p:spPr>
        <p:txBody>
          <a:bodyPr wrap="square" lIns="0" tIns="0" rIns="0" bIns="0" rtlCol="0" anchor="ctr"/>
          <a:lstStyle/>
          <a:p>
            <a:pPr indent="0" marL="0">
              <a:lnSpc>
                <a:spcPct val="104000"/>
              </a:lnSpc>
              <a:buNone/>
            </a:pPr>
            <a:r>
              <a:rPr lang="en-US" sz="1050" dirty="0">
                <a:solidFill>
                  <a:srgbClr val="F2D68C"/>
                </a:solidFill>
                <a:latin typeface="Calibri" pitchFamily="34" charset="0"/>
                <a:ea typeface="Calibri" pitchFamily="34" charset="-122"/>
                <a:cs typeface="Calibri" pitchFamily="34" charset="-120"/>
              </a:rPr>
              <a:t>He signs laws but cannot veto them. His real power is quiet: choosing the negotiators who build a coalition.</a:t>
            </a:r>
            <a:endParaRPr lang="en-US" sz="1050" dirty="0"/>
          </a:p>
        </p:txBody>
      </p:sp>
      <p:sp>
        <p:nvSpPr>
          <p:cNvPr id="16" name="Shape 13"/>
          <p:cNvSpPr/>
          <p:nvPr/>
        </p:nvSpPr>
        <p:spPr>
          <a:xfrm>
            <a:off x="640080" y="3749040"/>
            <a:ext cx="5806440" cy="2048256"/>
          </a:xfrm>
          <a:prstGeom prst="roundRect">
            <a:avLst>
              <a:gd name="adj" fmla="val 4018"/>
            </a:avLst>
          </a:prstGeom>
          <a:solidFill>
            <a:srgbClr val="F4F4F6"/>
          </a:solidFill>
          <a:ln w="12700">
            <a:solidFill>
              <a:srgbClr val="E4E4E9"/>
            </a:solidFill>
            <a:prstDash val="solid"/>
          </a:ln>
          <a:effectLst>
            <a:outerShdw sx="100000" sy="100000" kx="0" ky="0" algn="bl" rotWithShape="0" blurRad="127000" dist="25400" dir="5400000">
              <a:srgbClr val="9A9AA6">
                <a:alpha val="22000"/>
              </a:srgbClr>
            </a:outerShdw>
          </a:effectLst>
        </p:spPr>
      </p:sp>
      <p:sp>
        <p:nvSpPr>
          <p:cNvPr id="17" name="Text 14"/>
          <p:cNvSpPr txBox="1"/>
          <p:nvPr/>
        </p:nvSpPr>
        <p:spPr>
          <a:xfrm>
            <a:off x="914400" y="3913632"/>
            <a:ext cx="5257800" cy="237744"/>
          </a:xfrm>
          <a:prstGeom prst="rect">
            <a:avLst/>
          </a:prstGeom>
          <a:noFill/>
          <a:ln/>
        </p:spPr>
        <p:txBody>
          <a:bodyPr wrap="square" lIns="0" tIns="0" rIns="0" bIns="0" rtlCol="0" anchor="ctr"/>
          <a:lstStyle/>
          <a:p>
            <a:pPr indent="0" marL="0">
              <a:buNone/>
            </a:pPr>
            <a:r>
              <a:rPr lang="en-US" sz="1000" b="1" spc="110" kern="0" dirty="0">
                <a:solidFill>
                  <a:srgbClr val="E3B23C"/>
                </a:solidFill>
                <a:latin typeface="Calibri" pitchFamily="34" charset="0"/>
                <a:ea typeface="Calibri" pitchFamily="34" charset="-122"/>
                <a:cs typeface="Calibri" pitchFamily="34" charset="-120"/>
              </a:rPr>
              <a:t>PREMIER MINISTRE  ·  PRIME MINISTER</a:t>
            </a:r>
            <a:endParaRPr lang="en-US" sz="1000" dirty="0"/>
          </a:p>
        </p:txBody>
      </p:sp>
      <p:sp>
        <p:nvSpPr>
          <p:cNvPr id="18" name="Text 15"/>
          <p:cNvSpPr txBox="1"/>
          <p:nvPr/>
        </p:nvSpPr>
        <p:spPr>
          <a:xfrm>
            <a:off x="914400" y="4187952"/>
            <a:ext cx="5257800" cy="530352"/>
          </a:xfrm>
          <a:prstGeom prst="rect">
            <a:avLst/>
          </a:prstGeom>
          <a:noFill/>
          <a:ln/>
        </p:spPr>
        <p:txBody>
          <a:bodyPr wrap="square" lIns="0" tIns="0" rIns="0" bIns="0" rtlCol="0" anchor="ctr"/>
          <a:lstStyle/>
          <a:p>
            <a:pPr indent="0" marL="0">
              <a:buNone/>
            </a:pPr>
            <a:r>
              <a:rPr lang="en-US" sz="2800" b="1" dirty="0">
                <a:solidFill>
                  <a:srgbClr val="17171B"/>
                </a:solidFill>
                <a:latin typeface="Cambria" pitchFamily="34" charset="0"/>
                <a:ea typeface="Cambria" pitchFamily="34" charset="-122"/>
                <a:cs typeface="Cambria" pitchFamily="34" charset="-120"/>
              </a:rPr>
              <a:t>Bart De Wever</a:t>
            </a:r>
            <a:endParaRPr lang="en-US" sz="2800" dirty="0"/>
          </a:p>
        </p:txBody>
      </p:sp>
      <p:sp>
        <p:nvSpPr>
          <p:cNvPr id="19" name="Text 16"/>
          <p:cNvSpPr txBox="1"/>
          <p:nvPr/>
        </p:nvSpPr>
        <p:spPr>
          <a:xfrm>
            <a:off x="914400" y="4773168"/>
            <a:ext cx="5257800" cy="603504"/>
          </a:xfrm>
          <a:prstGeom prst="rect">
            <a:avLst/>
          </a:prstGeom>
          <a:noFill/>
          <a:ln/>
        </p:spPr>
        <p:txBody>
          <a:bodyPr wrap="square" lIns="0" tIns="0" rIns="0" bIns="0" rtlCol="0" anchor="ctr"/>
          <a:lstStyle/>
          <a:p>
            <a:pPr indent="0" marL="0">
              <a:lnSpc>
                <a:spcPct val="104000"/>
              </a:lnSpc>
              <a:buNone/>
            </a:pPr>
            <a:r>
              <a:rPr lang="en-US" sz="1050" dirty="0">
                <a:solidFill>
                  <a:srgbClr val="3E3E48"/>
                </a:solidFill>
                <a:latin typeface="Calibri" pitchFamily="34" charset="0"/>
                <a:ea typeface="Calibri" pitchFamily="34" charset="-122"/>
                <a:cs typeface="Calibri" pitchFamily="34" charset="-120"/>
              </a:rPr>
              <a:t>Sworn in on 3 February 2025, leading the five-party “Arizona” coalition: N-VA · MR · Les Engagés · Vooruit · CD&amp;V. Head of government, accountable to the Chamber.</a:t>
            </a:r>
            <a:endParaRPr lang="en-US" sz="1050" dirty="0"/>
          </a:p>
        </p:txBody>
      </p:sp>
      <p:sp>
        <p:nvSpPr>
          <p:cNvPr id="20" name="Text 17"/>
          <p:cNvSpPr txBox="1"/>
          <p:nvPr/>
        </p:nvSpPr>
        <p:spPr>
          <a:xfrm>
            <a:off x="914400" y="5394960"/>
            <a:ext cx="5257800" cy="384048"/>
          </a:xfrm>
          <a:prstGeom prst="rect">
            <a:avLst/>
          </a:prstGeom>
          <a:noFill/>
          <a:ln/>
        </p:spPr>
        <p:txBody>
          <a:bodyPr wrap="square" lIns="0" tIns="0" rIns="0" bIns="0" rtlCol="0" anchor="ctr"/>
          <a:lstStyle/>
          <a:p>
            <a:pPr indent="0" marL="0">
              <a:lnSpc>
                <a:spcPct val="104000"/>
              </a:lnSpc>
              <a:buNone/>
            </a:pPr>
            <a:r>
              <a:rPr lang="en-US" sz="1050" b="1" dirty="0">
                <a:solidFill>
                  <a:srgbClr val="C1121F"/>
                </a:solidFill>
                <a:latin typeface="Calibri" pitchFamily="34" charset="0"/>
                <a:ea typeface="Calibri" pitchFamily="34" charset="-122"/>
                <a:cs typeface="Calibri" pitchFamily="34" charset="-120"/>
              </a:rPr>
              <a:t>It took eight months of negotiation to form. Belgium once went 541 days without an elected government.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10911535" cy="237744"/>
          </a:xfrm>
          <a:prstGeom prst="rect">
            <a:avLst/>
          </a:prstGeom>
          <a:noFill/>
          <a:ln/>
        </p:spPr>
        <p:txBody>
          <a:bodyPr wrap="square" lIns="0" tIns="0" rIns="0" bIns="0" rtlCol="0" anchor="ctr"/>
          <a:lstStyle/>
          <a:p>
            <a:pPr indent="0" marL="0">
              <a:buNone/>
            </a:pPr>
            <a:r>
              <a:rPr lang="en-US" sz="1150" b="1" spc="220" kern="0" dirty="0">
                <a:solidFill>
                  <a:srgbClr val="E3B23C"/>
                </a:solidFill>
                <a:latin typeface="Calibri" pitchFamily="34" charset="0"/>
                <a:ea typeface="Calibri" pitchFamily="34" charset="-122"/>
                <a:cs typeface="Calibri" pitchFamily="34" charset="-120"/>
              </a:rPr>
              <a:t>BRUXELLES</a:t>
            </a:r>
            <a:endParaRPr lang="en-US" sz="1150" dirty="0"/>
          </a:p>
        </p:txBody>
      </p:sp>
      <p:sp>
        <p:nvSpPr>
          <p:cNvPr id="3" name="Text 1"/>
          <p:cNvSpPr txBox="1"/>
          <p:nvPr/>
        </p:nvSpPr>
        <p:spPr>
          <a:xfrm>
            <a:off x="640080" y="676656"/>
            <a:ext cx="10911535" cy="603504"/>
          </a:xfrm>
          <a:prstGeom prst="rect">
            <a:avLst/>
          </a:prstGeom>
          <a:noFill/>
          <a:ln/>
        </p:spPr>
        <p:txBody>
          <a:bodyPr wrap="square" lIns="0" tIns="0" rIns="0" bIns="0" rtlCol="0" anchor="ctr"/>
          <a:lstStyle/>
          <a:p>
            <a:pPr indent="0" marL="0">
              <a:buNone/>
            </a:pPr>
            <a:r>
              <a:rPr lang="en-US" sz="3100" b="1" dirty="0">
                <a:solidFill>
                  <a:srgbClr val="17171B"/>
                </a:solidFill>
                <a:latin typeface="Cambria" pitchFamily="34" charset="0"/>
                <a:ea typeface="Cambria" pitchFamily="34" charset="-122"/>
                <a:cs typeface="Cambria" pitchFamily="34" charset="-120"/>
              </a:rPr>
              <a:t>The capital of Belgium — and of Europe</a:t>
            </a:r>
            <a:endParaRPr lang="en-US" sz="3100" dirty="0"/>
          </a:p>
        </p:txBody>
      </p:sp>
      <p:sp>
        <p:nvSpPr>
          <p:cNvPr id="4" name="Shape 2"/>
          <p:cNvSpPr/>
          <p:nvPr/>
        </p:nvSpPr>
        <p:spPr>
          <a:xfrm>
            <a:off x="640080" y="6163056"/>
            <a:ext cx="384048" cy="384048"/>
          </a:xfrm>
          <a:prstGeom prst="ellipse">
            <a:avLst/>
          </a:prstGeom>
          <a:solidFill>
            <a:srgbClr val="E3B23C"/>
          </a:solidFill>
          <a:ln/>
        </p:spPr>
      </p:sp>
      <p:sp>
        <p:nvSpPr>
          <p:cNvPr id="5" name="Text 3"/>
          <p:cNvSpPr txBox="1"/>
          <p:nvPr/>
        </p:nvSpPr>
        <p:spPr>
          <a:xfrm>
            <a:off x="640080" y="6163056"/>
            <a:ext cx="384048" cy="384048"/>
          </a:xfrm>
          <a:prstGeom prst="rect">
            <a:avLst/>
          </a:prstGeom>
          <a:noFill/>
          <a:ln/>
        </p:spPr>
        <p:txBody>
          <a:bodyPr wrap="square" lIns="0" tIns="0" rIns="0" bIns="0" rtlCol="0" anchor="ctr"/>
          <a:lstStyle/>
          <a:p>
            <a:pPr algn="ctr" indent="0" marL="0">
              <a:buNone/>
            </a:pPr>
            <a:r>
              <a:rPr lang="en-US" sz="1200" b="1" dirty="0">
                <a:solidFill>
                  <a:srgbClr val="17171B"/>
                </a:solidFill>
                <a:latin typeface="Calibri" pitchFamily="34" charset="0"/>
                <a:ea typeface="Calibri" pitchFamily="34" charset="-122"/>
                <a:cs typeface="Calibri" pitchFamily="34" charset="-120"/>
              </a:rPr>
              <a:t>10</a:t>
            </a:r>
            <a:endParaRPr lang="en-US" sz="1200" dirty="0"/>
          </a:p>
        </p:txBody>
      </p:sp>
      <p:sp>
        <p:nvSpPr>
          <p:cNvPr id="6" name="Text 4"/>
          <p:cNvSpPr txBox="1"/>
          <p:nvPr/>
        </p:nvSpPr>
        <p:spPr>
          <a:xfrm>
            <a:off x="6035040" y="6245352"/>
            <a:ext cx="5516575" cy="237744"/>
          </a:xfrm>
          <a:prstGeom prst="rect">
            <a:avLst/>
          </a:prstGeom>
          <a:noFill/>
          <a:ln/>
        </p:spPr>
        <p:txBody>
          <a:bodyPr wrap="square" lIns="0" tIns="0" rIns="0" bIns="0" rtlCol="0" anchor="ctr"/>
          <a:lstStyle/>
          <a:p>
            <a:pPr algn="r" indent="0" marL="0">
              <a:buNone/>
            </a:pPr>
            <a:r>
              <a:rPr lang="en-US" sz="900" dirty="0">
                <a:solidFill>
                  <a:srgbClr val="70707C"/>
                </a:solidFill>
                <a:latin typeface="Calibri" pitchFamily="34" charset="0"/>
                <a:ea typeface="Calibri" pitchFamily="34" charset="-122"/>
                <a:cs typeface="Calibri" pitchFamily="34" charset="-120"/>
              </a:rPr>
              <a:t>La Belgique  ·  FREN 201  ·  Projet Francophonie</a:t>
            </a:r>
            <a:endParaRPr lang="en-US" sz="900" dirty="0"/>
          </a:p>
        </p:txBody>
      </p:sp>
      <p:pic>
        <p:nvPicPr>
          <p:cNvPr id="7" name="Image 0" descr="/tmp/claude-0/-home-user-BOYNT-WORK/856f02cf-0e32-5bfe-bffb-9edb29b314f9/scratchpad/deckimg/brussels_aerial.jpg">    </p:cNvPr>
          <p:cNvPicPr>
            <a:picLocks noChangeAspect="1"/>
          </p:cNvPicPr>
          <p:nvPr/>
        </p:nvPicPr>
        <p:blipFill>
          <a:blip r:embed="rId1"/>
          <a:srcRect l="0" r="0" t="0" b="0"/>
          <a:stretch/>
        </p:blipFill>
        <p:spPr>
          <a:xfrm>
            <a:off x="640080" y="1481328"/>
            <a:ext cx="4160520" cy="2889504"/>
          </a:xfrm>
          <a:prstGeom prst="rect">
            <a:avLst/>
          </a:prstGeom>
        </p:spPr>
      </p:pic>
      <p:pic>
        <p:nvPicPr>
          <p:cNvPr id="8" name="Image 1" descr="/tmp/claude-0/-home-user-BOYNT-WORK/856f02cf-0e32-5bfe-bffb-9edb29b314f9/scratchpad/deckimg/berlaymont.jpg">    </p:cNvPr>
          <p:cNvPicPr>
            <a:picLocks noChangeAspect="1"/>
          </p:cNvPicPr>
          <p:nvPr/>
        </p:nvPicPr>
        <p:blipFill>
          <a:blip r:embed="rId2"/>
          <a:srcRect l="0" r="0" t="0" b="0"/>
          <a:stretch/>
        </p:blipFill>
        <p:spPr>
          <a:xfrm>
            <a:off x="5020056" y="1481328"/>
            <a:ext cx="2340864" cy="2889504"/>
          </a:xfrm>
          <a:prstGeom prst="rect">
            <a:avLst/>
          </a:prstGeom>
        </p:spPr>
      </p:pic>
      <p:sp>
        <p:nvSpPr>
          <p:cNvPr id="9" name="Text 5"/>
          <p:cNvSpPr txBox="1"/>
          <p:nvPr/>
        </p:nvSpPr>
        <p:spPr>
          <a:xfrm>
            <a:off x="640080" y="4462272"/>
            <a:ext cx="6720840" cy="365760"/>
          </a:xfrm>
          <a:prstGeom prst="rect">
            <a:avLst/>
          </a:prstGeom>
          <a:noFill/>
          <a:ln/>
        </p:spPr>
        <p:txBody>
          <a:bodyPr wrap="square" lIns="0" tIns="0" rIns="0" bIns="0" rtlCol="0" anchor="ctr"/>
          <a:lstStyle/>
          <a:p>
            <a:pPr indent="0" marL="0">
              <a:buNone/>
            </a:pPr>
            <a:r>
              <a:rPr lang="en-US" sz="950" i="1" dirty="0">
                <a:solidFill>
                  <a:srgbClr val="70707C"/>
                </a:solidFill>
                <a:latin typeface="Calibri" pitchFamily="34" charset="0"/>
                <a:ea typeface="Calibri" pitchFamily="34" charset="-122"/>
                <a:cs typeface="Calibri" pitchFamily="34" charset="-120"/>
              </a:rPr>
              <a:t>Brussels from the Koekelberg basilica — the Atomium is on the horizon. Right: the Berlaymont, home of the European Commission.</a:t>
            </a:r>
            <a:endParaRPr lang="en-US" sz="950" dirty="0"/>
          </a:p>
        </p:txBody>
      </p:sp>
      <p:sp>
        <p:nvSpPr>
          <p:cNvPr id="10" name="Text 6"/>
          <p:cNvSpPr txBox="1"/>
          <p:nvPr/>
        </p:nvSpPr>
        <p:spPr>
          <a:xfrm>
            <a:off x="7452360" y="1481328"/>
            <a:ext cx="4099255" cy="237744"/>
          </a:xfrm>
          <a:prstGeom prst="rect">
            <a:avLst/>
          </a:prstGeom>
          <a:noFill/>
          <a:ln/>
        </p:spPr>
        <p:txBody>
          <a:bodyPr wrap="square" lIns="0" tIns="0" rIns="0" bIns="0" rtlCol="0" anchor="ctr"/>
          <a:lstStyle/>
          <a:p>
            <a:pPr indent="0" marL="0">
              <a:buNone/>
            </a:pPr>
            <a:r>
              <a:rPr lang="en-US" sz="1250" b="1" dirty="0">
                <a:solidFill>
                  <a:srgbClr val="17171B"/>
                </a:solidFill>
                <a:latin typeface="Calibri" pitchFamily="34" charset="0"/>
                <a:ea typeface="Calibri" pitchFamily="34" charset="-122"/>
                <a:cs typeface="Calibri" pitchFamily="34" charset="-120"/>
              </a:rPr>
              <a:t>1.25 million</a:t>
            </a:r>
            <a:endParaRPr lang="en-US" sz="1250" dirty="0"/>
          </a:p>
        </p:txBody>
      </p:sp>
      <p:sp>
        <p:nvSpPr>
          <p:cNvPr id="11" name="Text 7"/>
          <p:cNvSpPr txBox="1"/>
          <p:nvPr/>
        </p:nvSpPr>
        <p:spPr>
          <a:xfrm>
            <a:off x="7452360" y="1719072"/>
            <a:ext cx="4099255" cy="731520"/>
          </a:xfrm>
          <a:prstGeom prst="rect">
            <a:avLst/>
          </a:prstGeom>
          <a:noFill/>
          <a:ln/>
        </p:spPr>
        <p:txBody>
          <a:bodyPr wrap="square" lIns="0" tIns="0" rIns="0" bIns="0" rtlCol="0" anchor="ctr"/>
          <a:lstStyle/>
          <a:p>
            <a:pPr indent="0" marL="0">
              <a:lnSpc>
                <a:spcPct val="103000"/>
              </a:lnSpc>
              <a:buNone/>
            </a:pPr>
            <a:r>
              <a:rPr lang="en-US" sz="1050" dirty="0">
                <a:solidFill>
                  <a:srgbClr val="3E3E48"/>
                </a:solidFill>
                <a:latin typeface="Calibri" pitchFamily="34" charset="0"/>
                <a:ea typeface="Calibri" pitchFamily="34" charset="-122"/>
                <a:cs typeface="Calibri" pitchFamily="34" charset="-120"/>
              </a:rPr>
              <a:t>people in the Brussels-Capital Region; about 2.1 million in the wider metropolitan area.</a:t>
            </a:r>
            <a:endParaRPr lang="en-US" sz="1050" dirty="0"/>
          </a:p>
        </p:txBody>
      </p:sp>
      <p:sp>
        <p:nvSpPr>
          <p:cNvPr id="12" name="Text 8"/>
          <p:cNvSpPr txBox="1"/>
          <p:nvPr/>
        </p:nvSpPr>
        <p:spPr>
          <a:xfrm>
            <a:off x="7452360" y="2395728"/>
            <a:ext cx="4099255" cy="237744"/>
          </a:xfrm>
          <a:prstGeom prst="rect">
            <a:avLst/>
          </a:prstGeom>
          <a:noFill/>
          <a:ln/>
        </p:spPr>
        <p:txBody>
          <a:bodyPr wrap="square" lIns="0" tIns="0" rIns="0" bIns="0" rtlCol="0" anchor="ctr"/>
          <a:lstStyle/>
          <a:p>
            <a:pPr indent="0" marL="0">
              <a:buNone/>
            </a:pPr>
            <a:r>
              <a:rPr lang="en-US" sz="1250" b="1" dirty="0">
                <a:solidFill>
                  <a:srgbClr val="17171B"/>
                </a:solidFill>
                <a:latin typeface="Calibri" pitchFamily="34" charset="0"/>
                <a:ea typeface="Calibri" pitchFamily="34" charset="-122"/>
                <a:cs typeface="Calibri" pitchFamily="34" charset="-120"/>
              </a:rPr>
              <a:t>Officially bilingual</a:t>
            </a:r>
            <a:endParaRPr lang="en-US" sz="1250" dirty="0"/>
          </a:p>
        </p:txBody>
      </p:sp>
      <p:sp>
        <p:nvSpPr>
          <p:cNvPr id="13" name="Text 9"/>
          <p:cNvSpPr txBox="1"/>
          <p:nvPr/>
        </p:nvSpPr>
        <p:spPr>
          <a:xfrm>
            <a:off x="7452360" y="2633472"/>
            <a:ext cx="4099255" cy="731520"/>
          </a:xfrm>
          <a:prstGeom prst="rect">
            <a:avLst/>
          </a:prstGeom>
          <a:noFill/>
          <a:ln/>
        </p:spPr>
        <p:txBody>
          <a:bodyPr wrap="square" lIns="0" tIns="0" rIns="0" bIns="0" rtlCol="0" anchor="ctr"/>
          <a:lstStyle/>
          <a:p>
            <a:pPr indent="0" marL="0">
              <a:lnSpc>
                <a:spcPct val="103000"/>
              </a:lnSpc>
              <a:buNone/>
            </a:pPr>
            <a:r>
              <a:rPr lang="en-US" sz="1050" dirty="0">
                <a:solidFill>
                  <a:srgbClr val="3E3E48"/>
                </a:solidFill>
                <a:latin typeface="Calibri" pitchFamily="34" charset="0"/>
                <a:ea typeface="Calibri" pitchFamily="34" charset="-122"/>
                <a:cs typeface="Calibri" pitchFamily="34" charset="-120"/>
              </a:rPr>
              <a:t>French and Dutch have equal status. In practice around 80 % of residents speak French — a French-speaking region surrounded by Flanders.</a:t>
            </a:r>
            <a:endParaRPr lang="en-US" sz="1050" dirty="0"/>
          </a:p>
        </p:txBody>
      </p:sp>
      <p:sp>
        <p:nvSpPr>
          <p:cNvPr id="14" name="Text 10"/>
          <p:cNvSpPr txBox="1"/>
          <p:nvPr/>
        </p:nvSpPr>
        <p:spPr>
          <a:xfrm>
            <a:off x="7452360" y="3310128"/>
            <a:ext cx="4099255" cy="237744"/>
          </a:xfrm>
          <a:prstGeom prst="rect">
            <a:avLst/>
          </a:prstGeom>
          <a:noFill/>
          <a:ln/>
        </p:spPr>
        <p:txBody>
          <a:bodyPr wrap="square" lIns="0" tIns="0" rIns="0" bIns="0" rtlCol="0" anchor="ctr"/>
          <a:lstStyle/>
          <a:p>
            <a:pPr indent="0" marL="0">
              <a:buNone/>
            </a:pPr>
            <a:r>
              <a:rPr lang="en-US" sz="1250" b="1" dirty="0">
                <a:solidFill>
                  <a:srgbClr val="17171B"/>
                </a:solidFill>
                <a:latin typeface="Calibri" pitchFamily="34" charset="0"/>
                <a:ea typeface="Calibri" pitchFamily="34" charset="-122"/>
                <a:cs typeface="Calibri" pitchFamily="34" charset="-120"/>
              </a:rPr>
              <a:t>Capital of the EU</a:t>
            </a:r>
            <a:endParaRPr lang="en-US" sz="1250" dirty="0"/>
          </a:p>
        </p:txBody>
      </p:sp>
      <p:sp>
        <p:nvSpPr>
          <p:cNvPr id="15" name="Text 11"/>
          <p:cNvSpPr txBox="1"/>
          <p:nvPr/>
        </p:nvSpPr>
        <p:spPr>
          <a:xfrm>
            <a:off x="7452360" y="3547872"/>
            <a:ext cx="4099255" cy="731520"/>
          </a:xfrm>
          <a:prstGeom prst="rect">
            <a:avLst/>
          </a:prstGeom>
          <a:noFill/>
          <a:ln/>
        </p:spPr>
        <p:txBody>
          <a:bodyPr wrap="square" lIns="0" tIns="0" rIns="0" bIns="0" rtlCol="0" anchor="ctr"/>
          <a:lstStyle/>
          <a:p>
            <a:pPr indent="0" marL="0">
              <a:lnSpc>
                <a:spcPct val="103000"/>
              </a:lnSpc>
              <a:buNone/>
            </a:pPr>
            <a:r>
              <a:rPr lang="en-US" sz="1050" dirty="0">
                <a:solidFill>
                  <a:srgbClr val="3E3E48"/>
                </a:solidFill>
                <a:latin typeface="Calibri" pitchFamily="34" charset="0"/>
                <a:ea typeface="Calibri" pitchFamily="34" charset="-122"/>
                <a:cs typeface="Calibri" pitchFamily="34" charset="-120"/>
              </a:rPr>
              <a:t>Home to the European Commission, the Council of the EU and part of the European Parliament.</a:t>
            </a:r>
            <a:endParaRPr lang="en-US" sz="1050" dirty="0"/>
          </a:p>
        </p:txBody>
      </p:sp>
      <p:sp>
        <p:nvSpPr>
          <p:cNvPr id="16" name="Text 12"/>
          <p:cNvSpPr txBox="1"/>
          <p:nvPr/>
        </p:nvSpPr>
        <p:spPr>
          <a:xfrm>
            <a:off x="7452360" y="4224528"/>
            <a:ext cx="4099255" cy="237744"/>
          </a:xfrm>
          <a:prstGeom prst="rect">
            <a:avLst/>
          </a:prstGeom>
          <a:noFill/>
          <a:ln/>
        </p:spPr>
        <p:txBody>
          <a:bodyPr wrap="square" lIns="0" tIns="0" rIns="0" bIns="0" rtlCol="0" anchor="ctr"/>
          <a:lstStyle/>
          <a:p>
            <a:pPr indent="0" marL="0">
              <a:buNone/>
            </a:pPr>
            <a:r>
              <a:rPr lang="en-US" sz="1250" b="1" dirty="0">
                <a:solidFill>
                  <a:srgbClr val="17171B"/>
                </a:solidFill>
                <a:latin typeface="Calibri" pitchFamily="34" charset="0"/>
                <a:ea typeface="Calibri" pitchFamily="34" charset="-122"/>
                <a:cs typeface="Calibri" pitchFamily="34" charset="-120"/>
              </a:rPr>
              <a:t>NATO headquarters</a:t>
            </a:r>
            <a:endParaRPr lang="en-US" sz="1250" dirty="0"/>
          </a:p>
        </p:txBody>
      </p:sp>
      <p:sp>
        <p:nvSpPr>
          <p:cNvPr id="17" name="Text 13"/>
          <p:cNvSpPr txBox="1"/>
          <p:nvPr/>
        </p:nvSpPr>
        <p:spPr>
          <a:xfrm>
            <a:off x="7452360" y="4462272"/>
            <a:ext cx="4099255" cy="731520"/>
          </a:xfrm>
          <a:prstGeom prst="rect">
            <a:avLst/>
          </a:prstGeom>
          <a:noFill/>
          <a:ln/>
        </p:spPr>
        <p:txBody>
          <a:bodyPr wrap="square" lIns="0" tIns="0" rIns="0" bIns="0" rtlCol="0" anchor="ctr"/>
          <a:lstStyle/>
          <a:p>
            <a:pPr indent="0" marL="0">
              <a:lnSpc>
                <a:spcPct val="103000"/>
              </a:lnSpc>
              <a:buNone/>
            </a:pPr>
            <a:r>
              <a:rPr lang="en-US" sz="1050" dirty="0">
                <a:solidFill>
                  <a:srgbClr val="3E3E48"/>
                </a:solidFill>
                <a:latin typeface="Calibri" pitchFamily="34" charset="0"/>
                <a:ea typeface="Calibri" pitchFamily="34" charset="-122"/>
                <a:cs typeface="Calibri" pitchFamily="34" charset="-120"/>
              </a:rPr>
              <a:t>Since 1967 — Belgium was a founding member in 1949.</a:t>
            </a:r>
            <a:endParaRPr lang="en-US" sz="1050" dirty="0"/>
          </a:p>
        </p:txBody>
      </p:sp>
      <p:sp>
        <p:nvSpPr>
          <p:cNvPr id="18" name="Shape 14"/>
          <p:cNvSpPr/>
          <p:nvPr/>
        </p:nvSpPr>
        <p:spPr>
          <a:xfrm>
            <a:off x="640080" y="5102352"/>
            <a:ext cx="10911535" cy="932688"/>
          </a:xfrm>
          <a:prstGeom prst="roundRect">
            <a:avLst>
              <a:gd name="adj" fmla="val 8824"/>
            </a:avLst>
          </a:prstGeom>
          <a:solidFill>
            <a:srgbClr val="17171B"/>
          </a:solidFill>
          <a:ln w="12700">
            <a:solidFill>
              <a:srgbClr val="17171B"/>
            </a:solidFill>
            <a:prstDash val="solid"/>
          </a:ln>
          <a:effectLst>
            <a:outerShdw sx="100000" sy="100000" kx="0" ky="0" algn="bl" rotWithShape="0" blurRad="127000" dist="25400" dir="5400000">
              <a:srgbClr val="9A9AA6">
                <a:alpha val="22000"/>
              </a:srgbClr>
            </a:outerShdw>
          </a:effectLst>
        </p:spPr>
      </p:sp>
      <p:sp>
        <p:nvSpPr>
          <p:cNvPr id="19" name="Text 15"/>
          <p:cNvSpPr txBox="1"/>
          <p:nvPr/>
        </p:nvSpPr>
        <p:spPr>
          <a:xfrm>
            <a:off x="932688" y="5230368"/>
            <a:ext cx="10326319" cy="219456"/>
          </a:xfrm>
          <a:prstGeom prst="rect">
            <a:avLst/>
          </a:prstGeom>
          <a:noFill/>
          <a:ln/>
        </p:spPr>
        <p:txBody>
          <a:bodyPr wrap="square" lIns="0" tIns="0" rIns="0" bIns="0" rtlCol="0" anchor="ctr"/>
          <a:lstStyle/>
          <a:p>
            <a:pPr indent="0" marL="0">
              <a:buNone/>
            </a:pPr>
            <a:r>
              <a:rPr lang="en-US" sz="1000" b="1" spc="120" kern="0" dirty="0">
                <a:solidFill>
                  <a:srgbClr val="E3B23C"/>
                </a:solidFill>
                <a:latin typeface="Calibri" pitchFamily="34" charset="0"/>
                <a:ea typeface="Calibri" pitchFamily="34" charset="-122"/>
                <a:cs typeface="Calibri" pitchFamily="34" charset="-120"/>
              </a:rPr>
              <a:t>WHAT TO SEE</a:t>
            </a:r>
            <a:endParaRPr lang="en-US" sz="1000" dirty="0"/>
          </a:p>
        </p:txBody>
      </p:sp>
      <p:sp>
        <p:nvSpPr>
          <p:cNvPr id="20" name="Text 16"/>
          <p:cNvSpPr txBox="1"/>
          <p:nvPr/>
        </p:nvSpPr>
        <p:spPr>
          <a:xfrm>
            <a:off x="932688" y="5486400"/>
            <a:ext cx="10326319" cy="457200"/>
          </a:xfrm>
          <a:prstGeom prst="rect">
            <a:avLst/>
          </a:prstGeom>
          <a:noFill/>
          <a:ln/>
        </p:spPr>
        <p:txBody>
          <a:bodyPr wrap="square" lIns="0" tIns="0" rIns="0" bIns="0" rtlCol="0" anchor="ctr"/>
          <a:lstStyle/>
          <a:p>
            <a:pPr indent="0" marL="0">
              <a:lnSpc>
                <a:spcPct val="106000"/>
              </a:lnSpc>
              <a:buNone/>
            </a:pPr>
            <a:r>
              <a:rPr lang="en-US" sz="1050" dirty="0">
                <a:solidFill>
                  <a:srgbClr val="D2D2DA"/>
                </a:solidFill>
                <a:latin typeface="Calibri" pitchFamily="34" charset="0"/>
                <a:ea typeface="Calibri" pitchFamily="34" charset="-122"/>
                <a:cs typeface="Calibri" pitchFamily="34" charset="-120"/>
              </a:rPr>
              <a:t>The Grand-Place, a UNESCO World Heritage site since 1998  ·  Manneken Pis  ·  the Art Nouveau town houses of Victor Horta, also UNESCO  ·  the Atomium  ·  the Magritte Museum  ·  the Belgian Comic Strip Center</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10911535" cy="237744"/>
          </a:xfrm>
          <a:prstGeom prst="rect">
            <a:avLst/>
          </a:prstGeom>
          <a:noFill/>
          <a:ln/>
        </p:spPr>
        <p:txBody>
          <a:bodyPr wrap="square" lIns="0" tIns="0" rIns="0" bIns="0" rtlCol="0" anchor="ctr"/>
          <a:lstStyle/>
          <a:p>
            <a:pPr indent="0" marL="0">
              <a:buNone/>
            </a:pPr>
            <a:r>
              <a:rPr lang="en-US" sz="1150" b="1" spc="220" kern="0" dirty="0">
                <a:solidFill>
                  <a:srgbClr val="E3B23C"/>
                </a:solidFill>
                <a:latin typeface="Calibri" pitchFamily="34" charset="0"/>
                <a:ea typeface="Calibri" pitchFamily="34" charset="-122"/>
                <a:cs typeface="Calibri" pitchFamily="34" charset="-120"/>
              </a:rPr>
              <a:t>CULTURE</a:t>
            </a:r>
            <a:endParaRPr lang="en-US" sz="1150" dirty="0"/>
          </a:p>
        </p:txBody>
      </p:sp>
      <p:sp>
        <p:nvSpPr>
          <p:cNvPr id="3" name="Text 1"/>
          <p:cNvSpPr txBox="1"/>
          <p:nvPr/>
        </p:nvSpPr>
        <p:spPr>
          <a:xfrm>
            <a:off x="640080" y="676656"/>
            <a:ext cx="10911535" cy="603504"/>
          </a:xfrm>
          <a:prstGeom prst="rect">
            <a:avLst/>
          </a:prstGeom>
          <a:noFill/>
          <a:ln/>
        </p:spPr>
        <p:txBody>
          <a:bodyPr wrap="square" lIns="0" tIns="0" rIns="0" bIns="0" rtlCol="0" anchor="ctr"/>
          <a:lstStyle/>
          <a:p>
            <a:pPr indent="0" marL="0">
              <a:buNone/>
            </a:pPr>
            <a:r>
              <a:rPr lang="en-US" sz="3100" b="1" dirty="0">
                <a:solidFill>
                  <a:srgbClr val="17171B"/>
                </a:solidFill>
                <a:latin typeface="Cambria" pitchFamily="34" charset="0"/>
                <a:ea typeface="Cambria" pitchFamily="34" charset="-122"/>
                <a:cs typeface="Cambria" pitchFamily="34" charset="-120"/>
              </a:rPr>
              <a:t>Painters, surrealists and the ninth art</a:t>
            </a:r>
            <a:endParaRPr lang="en-US" sz="3100" dirty="0"/>
          </a:p>
        </p:txBody>
      </p:sp>
      <p:sp>
        <p:nvSpPr>
          <p:cNvPr id="4" name="Shape 2"/>
          <p:cNvSpPr/>
          <p:nvPr/>
        </p:nvSpPr>
        <p:spPr>
          <a:xfrm>
            <a:off x="640080" y="6163056"/>
            <a:ext cx="384048" cy="384048"/>
          </a:xfrm>
          <a:prstGeom prst="ellipse">
            <a:avLst/>
          </a:prstGeom>
          <a:solidFill>
            <a:srgbClr val="E3B23C"/>
          </a:solidFill>
          <a:ln/>
        </p:spPr>
      </p:sp>
      <p:sp>
        <p:nvSpPr>
          <p:cNvPr id="5" name="Text 3"/>
          <p:cNvSpPr txBox="1"/>
          <p:nvPr/>
        </p:nvSpPr>
        <p:spPr>
          <a:xfrm>
            <a:off x="640080" y="6163056"/>
            <a:ext cx="384048" cy="384048"/>
          </a:xfrm>
          <a:prstGeom prst="rect">
            <a:avLst/>
          </a:prstGeom>
          <a:noFill/>
          <a:ln/>
        </p:spPr>
        <p:txBody>
          <a:bodyPr wrap="square" lIns="0" tIns="0" rIns="0" bIns="0" rtlCol="0" anchor="ctr"/>
          <a:lstStyle/>
          <a:p>
            <a:pPr algn="ctr" indent="0" marL="0">
              <a:buNone/>
            </a:pPr>
            <a:r>
              <a:rPr lang="en-US" sz="1200" b="1" dirty="0">
                <a:solidFill>
                  <a:srgbClr val="17171B"/>
                </a:solidFill>
                <a:latin typeface="Calibri" pitchFamily="34" charset="0"/>
                <a:ea typeface="Calibri" pitchFamily="34" charset="-122"/>
                <a:cs typeface="Calibri" pitchFamily="34" charset="-120"/>
              </a:rPr>
              <a:t>11</a:t>
            </a:r>
            <a:endParaRPr lang="en-US" sz="1200" dirty="0"/>
          </a:p>
        </p:txBody>
      </p:sp>
      <p:sp>
        <p:nvSpPr>
          <p:cNvPr id="6" name="Text 4"/>
          <p:cNvSpPr txBox="1"/>
          <p:nvPr/>
        </p:nvSpPr>
        <p:spPr>
          <a:xfrm>
            <a:off x="6035040" y="6245352"/>
            <a:ext cx="5516575" cy="237744"/>
          </a:xfrm>
          <a:prstGeom prst="rect">
            <a:avLst/>
          </a:prstGeom>
          <a:noFill/>
          <a:ln/>
        </p:spPr>
        <p:txBody>
          <a:bodyPr wrap="square" lIns="0" tIns="0" rIns="0" bIns="0" rtlCol="0" anchor="ctr"/>
          <a:lstStyle/>
          <a:p>
            <a:pPr algn="r" indent="0" marL="0">
              <a:buNone/>
            </a:pPr>
            <a:r>
              <a:rPr lang="en-US" sz="900" dirty="0">
                <a:solidFill>
                  <a:srgbClr val="70707C"/>
                </a:solidFill>
                <a:latin typeface="Calibri" pitchFamily="34" charset="0"/>
                <a:ea typeface="Calibri" pitchFamily="34" charset="-122"/>
                <a:cs typeface="Calibri" pitchFamily="34" charset="-120"/>
              </a:rPr>
              <a:t>La Belgique  ·  FREN 201  ·  Projet Francophonie</a:t>
            </a:r>
            <a:endParaRPr lang="en-US" sz="900" dirty="0"/>
          </a:p>
        </p:txBody>
      </p:sp>
      <p:sp>
        <p:nvSpPr>
          <p:cNvPr id="7" name="Text 5"/>
          <p:cNvSpPr txBox="1"/>
          <p:nvPr/>
        </p:nvSpPr>
        <p:spPr>
          <a:xfrm>
            <a:off x="640080" y="1481328"/>
            <a:ext cx="6858000" cy="256032"/>
          </a:xfrm>
          <a:prstGeom prst="rect">
            <a:avLst/>
          </a:prstGeom>
          <a:noFill/>
          <a:ln/>
        </p:spPr>
        <p:txBody>
          <a:bodyPr wrap="square" lIns="0" tIns="0" rIns="0" bIns="0" rtlCol="0" anchor="ctr"/>
          <a:lstStyle/>
          <a:p>
            <a:pPr indent="0" marL="0">
              <a:buNone/>
            </a:pPr>
            <a:r>
              <a:rPr lang="en-US" sz="1250" b="1" spc="110" kern="0" dirty="0">
                <a:solidFill>
                  <a:srgbClr val="E3B23C"/>
                </a:solidFill>
                <a:latin typeface="Calibri" pitchFamily="34" charset="0"/>
                <a:ea typeface="Calibri" pitchFamily="34" charset="-122"/>
                <a:cs typeface="Calibri" pitchFamily="34" charset="-120"/>
              </a:rPr>
              <a:t>LA PEINTURE</a:t>
            </a:r>
            <a:endParaRPr lang="en-US" sz="1250" dirty="0"/>
          </a:p>
        </p:txBody>
      </p:sp>
      <p:sp>
        <p:nvSpPr>
          <p:cNvPr id="8" name="Text 6"/>
          <p:cNvSpPr txBox="1"/>
          <p:nvPr/>
        </p:nvSpPr>
        <p:spPr>
          <a:xfrm>
            <a:off x="640080" y="1773936"/>
            <a:ext cx="6858000" cy="1143000"/>
          </a:xfrm>
          <a:prstGeom prst="rect">
            <a:avLst/>
          </a:prstGeom>
          <a:noFill/>
          <a:ln/>
        </p:spPr>
        <p:txBody>
          <a:bodyPr wrap="square" lIns="0" tIns="0" rIns="0" bIns="0" rtlCol="0" anchor="ctr"/>
          <a:lstStyle/>
          <a:p>
            <a:pPr indent="0" marL="0">
              <a:lnSpc>
                <a:spcPct val="106000"/>
              </a:lnSpc>
              <a:buNone/>
            </a:pPr>
            <a:r>
              <a:rPr lang="en-US" sz="1150" dirty="0">
                <a:solidFill>
                  <a:srgbClr val="3E3E48"/>
                </a:solidFill>
                <a:latin typeface="Calibri" pitchFamily="34" charset="0"/>
                <a:ea typeface="Calibri" pitchFamily="34" charset="-122"/>
                <a:cs typeface="Calibri" pitchFamily="34" charset="-120"/>
              </a:rPr>
              <a:t>Jan van Eyck's Ghent Altarpiece (1432) is one of the founding works of European painting. Pieter Bruegel the Elder painted peasant life; Peter Paul Rubens made Antwerp a capital of the baroque; René Magritte turned Belgian surrealism into an image everyone knows — Ceci n'est pas une pipe.</a:t>
            </a:r>
            <a:endParaRPr lang="en-US" sz="1150" dirty="0"/>
          </a:p>
        </p:txBody>
      </p:sp>
      <p:sp>
        <p:nvSpPr>
          <p:cNvPr id="9" name="Text 7"/>
          <p:cNvSpPr txBox="1"/>
          <p:nvPr/>
        </p:nvSpPr>
        <p:spPr>
          <a:xfrm>
            <a:off x="640080" y="3054096"/>
            <a:ext cx="6858000" cy="256032"/>
          </a:xfrm>
          <a:prstGeom prst="rect">
            <a:avLst/>
          </a:prstGeom>
          <a:noFill/>
          <a:ln/>
        </p:spPr>
        <p:txBody>
          <a:bodyPr wrap="square" lIns="0" tIns="0" rIns="0" bIns="0" rtlCol="0" anchor="ctr"/>
          <a:lstStyle/>
          <a:p>
            <a:pPr indent="0" marL="0">
              <a:buNone/>
            </a:pPr>
            <a:r>
              <a:rPr lang="en-US" sz="1250" b="1" spc="110" kern="0" dirty="0">
                <a:solidFill>
                  <a:srgbClr val="E3B23C"/>
                </a:solidFill>
                <a:latin typeface="Calibri" pitchFamily="34" charset="0"/>
                <a:ea typeface="Calibri" pitchFamily="34" charset="-122"/>
                <a:cs typeface="Calibri" pitchFamily="34" charset="-120"/>
              </a:rPr>
              <a:t>LA BANDE DESSINÉE</a:t>
            </a:r>
            <a:endParaRPr lang="en-US" sz="1250" dirty="0"/>
          </a:p>
        </p:txBody>
      </p:sp>
      <p:sp>
        <p:nvSpPr>
          <p:cNvPr id="10" name="Text 8"/>
          <p:cNvSpPr txBox="1"/>
          <p:nvPr/>
        </p:nvSpPr>
        <p:spPr>
          <a:xfrm>
            <a:off x="640080" y="3346704"/>
            <a:ext cx="6858000" cy="1143000"/>
          </a:xfrm>
          <a:prstGeom prst="rect">
            <a:avLst/>
          </a:prstGeom>
          <a:noFill/>
          <a:ln/>
        </p:spPr>
        <p:txBody>
          <a:bodyPr wrap="square" lIns="0" tIns="0" rIns="0" bIns="0" rtlCol="0" anchor="ctr"/>
          <a:lstStyle/>
          <a:p>
            <a:pPr indent="0" marL="0">
              <a:lnSpc>
                <a:spcPct val="106000"/>
              </a:lnSpc>
              <a:buNone/>
            </a:pPr>
            <a:r>
              <a:rPr lang="en-US" sz="1150" dirty="0">
                <a:solidFill>
                  <a:srgbClr val="3E3E48"/>
                </a:solidFill>
                <a:latin typeface="Calibri" pitchFamily="34" charset="0"/>
                <a:ea typeface="Calibri" pitchFamily="34" charset="-122"/>
                <a:cs typeface="Calibri" pitchFamily="34" charset="-120"/>
              </a:rPr>
              <a:t>Belgium invented the modern European comic and calls it the ninth art. Hergé created Tintin in 1929; Peyo created the Smurfs (Les Schtroumpfs); Morris created Lucky Luke. Brussels has a comic-strip museum and a walking trail of painted murals.</a:t>
            </a:r>
            <a:endParaRPr lang="en-US" sz="1150" dirty="0"/>
          </a:p>
        </p:txBody>
      </p:sp>
      <p:sp>
        <p:nvSpPr>
          <p:cNvPr id="11" name="Text 9"/>
          <p:cNvSpPr txBox="1"/>
          <p:nvPr/>
        </p:nvSpPr>
        <p:spPr>
          <a:xfrm>
            <a:off x="640080" y="4626864"/>
            <a:ext cx="6858000" cy="256032"/>
          </a:xfrm>
          <a:prstGeom prst="rect">
            <a:avLst/>
          </a:prstGeom>
          <a:noFill/>
          <a:ln/>
        </p:spPr>
        <p:txBody>
          <a:bodyPr wrap="square" lIns="0" tIns="0" rIns="0" bIns="0" rtlCol="0" anchor="ctr"/>
          <a:lstStyle/>
          <a:p>
            <a:pPr indent="0" marL="0">
              <a:buNone/>
            </a:pPr>
            <a:r>
              <a:rPr lang="en-US" sz="1250" b="1" spc="110" kern="0" dirty="0">
                <a:solidFill>
                  <a:srgbClr val="E3B23C"/>
                </a:solidFill>
                <a:latin typeface="Calibri" pitchFamily="34" charset="0"/>
                <a:ea typeface="Calibri" pitchFamily="34" charset="-122"/>
                <a:cs typeface="Calibri" pitchFamily="34" charset="-120"/>
              </a:rPr>
              <a:t>LA MUSIQUE ET LE CINÉMA</a:t>
            </a:r>
            <a:endParaRPr lang="en-US" sz="1250" dirty="0"/>
          </a:p>
        </p:txBody>
      </p:sp>
      <p:sp>
        <p:nvSpPr>
          <p:cNvPr id="12" name="Text 10"/>
          <p:cNvSpPr txBox="1"/>
          <p:nvPr/>
        </p:nvSpPr>
        <p:spPr>
          <a:xfrm>
            <a:off x="640080" y="4919472"/>
            <a:ext cx="6858000" cy="1143000"/>
          </a:xfrm>
          <a:prstGeom prst="rect">
            <a:avLst/>
          </a:prstGeom>
          <a:noFill/>
          <a:ln/>
        </p:spPr>
        <p:txBody>
          <a:bodyPr wrap="square" lIns="0" tIns="0" rIns="0" bIns="0" rtlCol="0" anchor="ctr"/>
          <a:lstStyle/>
          <a:p>
            <a:pPr indent="0" marL="0">
              <a:lnSpc>
                <a:spcPct val="106000"/>
              </a:lnSpc>
              <a:buNone/>
            </a:pPr>
            <a:r>
              <a:rPr lang="en-US" sz="1150" dirty="0">
                <a:solidFill>
                  <a:srgbClr val="3E3E48"/>
                </a:solidFill>
                <a:latin typeface="Calibri" pitchFamily="34" charset="0"/>
                <a:ea typeface="Calibri" pitchFamily="34" charset="-122"/>
                <a:cs typeface="Calibri" pitchFamily="34" charset="-120"/>
              </a:rPr>
              <a:t>Adolphe Sax, born in Dinant in 1814, invented the saxophone. César Franck came from Liège, Jacques Brel from Brussels. The Dardenne brothers have won the Palme d'Or at Cannes twice.</a:t>
            </a:r>
            <a:endParaRPr lang="en-US" sz="1150" dirty="0"/>
          </a:p>
        </p:txBody>
      </p:sp>
      <p:pic>
        <p:nvPicPr>
          <p:cNvPr id="13" name="Image 0" descr="/tmp/claude-0/-home-user-BOYNT-WORK/856f02cf-0e32-5bfe-bffb-9edb29b314f9/scratchpad/deckimg/antwerp_cathedral.jpg">    </p:cNvPr>
          <p:cNvPicPr>
            <a:picLocks noChangeAspect="1"/>
          </p:cNvPicPr>
          <p:nvPr/>
        </p:nvPicPr>
        <p:blipFill>
          <a:blip r:embed="rId1"/>
          <a:srcRect l="0" r="0" t="0" b="0"/>
          <a:stretch/>
        </p:blipFill>
        <p:spPr>
          <a:xfrm>
            <a:off x="7955280" y="1481328"/>
            <a:ext cx="3596335" cy="2057400"/>
          </a:xfrm>
          <a:prstGeom prst="rect">
            <a:avLst/>
          </a:prstGeom>
        </p:spPr>
      </p:pic>
      <p:sp>
        <p:nvSpPr>
          <p:cNvPr id="14" name="Text 11"/>
          <p:cNvSpPr txBox="1"/>
          <p:nvPr/>
        </p:nvSpPr>
        <p:spPr>
          <a:xfrm>
            <a:off x="7955280" y="3621024"/>
            <a:ext cx="3596335" cy="274320"/>
          </a:xfrm>
          <a:prstGeom prst="rect">
            <a:avLst/>
          </a:prstGeom>
          <a:noFill/>
          <a:ln/>
        </p:spPr>
        <p:txBody>
          <a:bodyPr wrap="square" lIns="0" tIns="0" rIns="0" bIns="0" rtlCol="0" anchor="ctr"/>
          <a:lstStyle/>
          <a:p>
            <a:pPr indent="0" marL="0">
              <a:buNone/>
            </a:pPr>
            <a:r>
              <a:rPr lang="en-US" sz="950" i="1" dirty="0">
                <a:solidFill>
                  <a:srgbClr val="70707C"/>
                </a:solidFill>
                <a:latin typeface="Calibri" pitchFamily="34" charset="0"/>
                <a:ea typeface="Calibri" pitchFamily="34" charset="-122"/>
                <a:cs typeface="Calibri" pitchFamily="34" charset="-120"/>
              </a:rPr>
              <a:t>The Cathedral of Our Lady, Antwerp — its belfry is UNESCO-listed and it holds four Rubens altarpieces.</a:t>
            </a:r>
            <a:endParaRPr lang="en-US" sz="950" dirty="0"/>
          </a:p>
        </p:txBody>
      </p:sp>
      <p:pic>
        <p:nvPicPr>
          <p:cNvPr id="15" name="Image 1" descr="/tmp/claude-0/-home-user-BOYNT-WORK/856f02cf-0e32-5bfe-bffb-9edb29b314f9/scratchpad/deckimg/mannekenpis.jpg">    </p:cNvPr>
          <p:cNvPicPr>
            <a:picLocks noChangeAspect="1"/>
          </p:cNvPicPr>
          <p:nvPr/>
        </p:nvPicPr>
        <p:blipFill>
          <a:blip r:embed="rId2"/>
          <a:srcRect l="0" r="0" t="0" b="0"/>
          <a:stretch/>
        </p:blipFill>
        <p:spPr>
          <a:xfrm>
            <a:off x="7955280" y="4151376"/>
            <a:ext cx="3596335" cy="1572768"/>
          </a:xfrm>
          <a:prstGeom prst="rect">
            <a:avLst/>
          </a:prstGeom>
        </p:spPr>
      </p:pic>
      <p:sp>
        <p:nvSpPr>
          <p:cNvPr id="16" name="Text 12"/>
          <p:cNvSpPr txBox="1"/>
          <p:nvPr/>
        </p:nvSpPr>
        <p:spPr>
          <a:xfrm>
            <a:off x="7955280" y="5806440"/>
            <a:ext cx="3596335" cy="274320"/>
          </a:xfrm>
          <a:prstGeom prst="rect">
            <a:avLst/>
          </a:prstGeom>
          <a:noFill/>
          <a:ln/>
        </p:spPr>
        <p:txBody>
          <a:bodyPr wrap="square" lIns="0" tIns="0" rIns="0" bIns="0" rtlCol="0" anchor="ctr"/>
          <a:lstStyle/>
          <a:p>
            <a:pPr indent="0" marL="0">
              <a:buNone/>
            </a:pPr>
            <a:r>
              <a:rPr lang="en-US" sz="950" i="1" dirty="0">
                <a:solidFill>
                  <a:srgbClr val="70707C"/>
                </a:solidFill>
                <a:latin typeface="Calibri" pitchFamily="34" charset="0"/>
                <a:ea typeface="Calibri" pitchFamily="34" charset="-122"/>
                <a:cs typeface="Calibri" pitchFamily="34" charset="-120"/>
              </a:rPr>
              <a:t>Manneken Pis, Brussels — cast in bronze in 1619.</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10911535" cy="237744"/>
          </a:xfrm>
          <a:prstGeom prst="rect">
            <a:avLst/>
          </a:prstGeom>
          <a:noFill/>
          <a:ln/>
        </p:spPr>
        <p:txBody>
          <a:bodyPr wrap="square" lIns="0" tIns="0" rIns="0" bIns="0" rtlCol="0" anchor="ctr"/>
          <a:lstStyle/>
          <a:p>
            <a:pPr indent="0" marL="0">
              <a:buNone/>
            </a:pPr>
            <a:r>
              <a:rPr lang="en-US" sz="1150" b="1" spc="220" kern="0" dirty="0">
                <a:solidFill>
                  <a:srgbClr val="E3B23C"/>
                </a:solidFill>
                <a:latin typeface="Calibri" pitchFamily="34" charset="0"/>
                <a:ea typeface="Calibri" pitchFamily="34" charset="-122"/>
                <a:cs typeface="Calibri" pitchFamily="34" charset="-120"/>
              </a:rPr>
              <a:t>GASTRONOMIE</a:t>
            </a:r>
            <a:endParaRPr lang="en-US" sz="1150" dirty="0"/>
          </a:p>
        </p:txBody>
      </p:sp>
      <p:sp>
        <p:nvSpPr>
          <p:cNvPr id="3" name="Text 1"/>
          <p:cNvSpPr txBox="1"/>
          <p:nvPr/>
        </p:nvSpPr>
        <p:spPr>
          <a:xfrm>
            <a:off x="640080" y="676656"/>
            <a:ext cx="10911535" cy="603504"/>
          </a:xfrm>
          <a:prstGeom prst="rect">
            <a:avLst/>
          </a:prstGeom>
          <a:noFill/>
          <a:ln/>
        </p:spPr>
        <p:txBody>
          <a:bodyPr wrap="square" lIns="0" tIns="0" rIns="0" bIns="0" rtlCol="0" anchor="ctr"/>
          <a:lstStyle/>
          <a:p>
            <a:pPr indent="0" marL="0">
              <a:buNone/>
            </a:pPr>
            <a:r>
              <a:rPr lang="en-US" sz="3100" b="1" dirty="0">
                <a:solidFill>
                  <a:srgbClr val="17171B"/>
                </a:solidFill>
                <a:latin typeface="Cambria" pitchFamily="34" charset="0"/>
                <a:ea typeface="Cambria" pitchFamily="34" charset="-122"/>
                <a:cs typeface="Cambria" pitchFamily="34" charset="-120"/>
              </a:rPr>
              <a:t>Four things Belgium is famous for — and rightly so</a:t>
            </a:r>
            <a:endParaRPr lang="en-US" sz="3100" dirty="0"/>
          </a:p>
        </p:txBody>
      </p:sp>
      <p:sp>
        <p:nvSpPr>
          <p:cNvPr id="4" name="Shape 2"/>
          <p:cNvSpPr/>
          <p:nvPr/>
        </p:nvSpPr>
        <p:spPr>
          <a:xfrm>
            <a:off x="640080" y="6163056"/>
            <a:ext cx="384048" cy="384048"/>
          </a:xfrm>
          <a:prstGeom prst="ellipse">
            <a:avLst/>
          </a:prstGeom>
          <a:solidFill>
            <a:srgbClr val="E3B23C"/>
          </a:solidFill>
          <a:ln/>
        </p:spPr>
      </p:sp>
      <p:sp>
        <p:nvSpPr>
          <p:cNvPr id="5" name="Text 3"/>
          <p:cNvSpPr txBox="1"/>
          <p:nvPr/>
        </p:nvSpPr>
        <p:spPr>
          <a:xfrm>
            <a:off x="640080" y="6163056"/>
            <a:ext cx="384048" cy="384048"/>
          </a:xfrm>
          <a:prstGeom prst="rect">
            <a:avLst/>
          </a:prstGeom>
          <a:noFill/>
          <a:ln/>
        </p:spPr>
        <p:txBody>
          <a:bodyPr wrap="square" lIns="0" tIns="0" rIns="0" bIns="0" rtlCol="0" anchor="ctr"/>
          <a:lstStyle/>
          <a:p>
            <a:pPr algn="ctr" indent="0" marL="0">
              <a:buNone/>
            </a:pPr>
            <a:r>
              <a:rPr lang="en-US" sz="1200" b="1" dirty="0">
                <a:solidFill>
                  <a:srgbClr val="17171B"/>
                </a:solidFill>
                <a:latin typeface="Calibri" pitchFamily="34" charset="0"/>
                <a:ea typeface="Calibri" pitchFamily="34" charset="-122"/>
                <a:cs typeface="Calibri" pitchFamily="34" charset="-120"/>
              </a:rPr>
              <a:t>12</a:t>
            </a:r>
            <a:endParaRPr lang="en-US" sz="1200" dirty="0"/>
          </a:p>
        </p:txBody>
      </p:sp>
      <p:sp>
        <p:nvSpPr>
          <p:cNvPr id="6" name="Text 4"/>
          <p:cNvSpPr txBox="1"/>
          <p:nvPr/>
        </p:nvSpPr>
        <p:spPr>
          <a:xfrm>
            <a:off x="6035040" y="6245352"/>
            <a:ext cx="5516575" cy="237744"/>
          </a:xfrm>
          <a:prstGeom prst="rect">
            <a:avLst/>
          </a:prstGeom>
          <a:noFill/>
          <a:ln/>
        </p:spPr>
        <p:txBody>
          <a:bodyPr wrap="square" lIns="0" tIns="0" rIns="0" bIns="0" rtlCol="0" anchor="ctr"/>
          <a:lstStyle/>
          <a:p>
            <a:pPr algn="r" indent="0" marL="0">
              <a:buNone/>
            </a:pPr>
            <a:r>
              <a:rPr lang="en-US" sz="900" dirty="0">
                <a:solidFill>
                  <a:srgbClr val="70707C"/>
                </a:solidFill>
                <a:latin typeface="Calibri" pitchFamily="34" charset="0"/>
                <a:ea typeface="Calibri" pitchFamily="34" charset="-122"/>
                <a:cs typeface="Calibri" pitchFamily="34" charset="-120"/>
              </a:rPr>
              <a:t>La Belgique  ·  FREN 201  ·  Projet Francophonie</a:t>
            </a:r>
            <a:endParaRPr lang="en-US" sz="900" dirty="0"/>
          </a:p>
        </p:txBody>
      </p:sp>
      <p:pic>
        <p:nvPicPr>
          <p:cNvPr id="7" name="Image 0" descr="/tmp/claude-0/-home-user-BOYNT-WORK/856f02cf-0e32-5bfe-bffb-9edb29b314f9/scratchpad/deckimg/chocolate.jpg">    </p:cNvPr>
          <p:cNvPicPr>
            <a:picLocks noChangeAspect="1"/>
          </p:cNvPicPr>
          <p:nvPr/>
        </p:nvPicPr>
        <p:blipFill>
          <a:blip r:embed="rId1"/>
          <a:srcRect l="0" r="0" t="0" b="0"/>
          <a:stretch/>
        </p:blipFill>
        <p:spPr>
          <a:xfrm>
            <a:off x="640080" y="1481328"/>
            <a:ext cx="2508428" cy="1874520"/>
          </a:xfrm>
          <a:prstGeom prst="rect">
            <a:avLst/>
          </a:prstGeom>
        </p:spPr>
      </p:pic>
      <p:sp>
        <p:nvSpPr>
          <p:cNvPr id="8" name="Text 5"/>
          <p:cNvSpPr txBox="1"/>
          <p:nvPr/>
        </p:nvSpPr>
        <p:spPr>
          <a:xfrm>
            <a:off x="640080" y="3557016"/>
            <a:ext cx="2508428" cy="274320"/>
          </a:xfrm>
          <a:prstGeom prst="rect">
            <a:avLst/>
          </a:prstGeom>
          <a:noFill/>
          <a:ln/>
        </p:spPr>
        <p:txBody>
          <a:bodyPr wrap="square" lIns="0" tIns="0" rIns="0" bIns="0" rtlCol="0" anchor="ctr"/>
          <a:lstStyle/>
          <a:p>
            <a:pPr indent="0" marL="0">
              <a:buNone/>
            </a:pPr>
            <a:r>
              <a:rPr lang="en-US" sz="1300" b="1" spc="100" kern="0" dirty="0">
                <a:solidFill>
                  <a:srgbClr val="17171B"/>
                </a:solidFill>
                <a:latin typeface="Calibri" pitchFamily="34" charset="0"/>
                <a:ea typeface="Calibri" pitchFamily="34" charset="-122"/>
                <a:cs typeface="Calibri" pitchFamily="34" charset="-120"/>
              </a:rPr>
              <a:t>LE CHOCOLAT</a:t>
            </a:r>
            <a:endParaRPr lang="en-US" sz="1300" dirty="0"/>
          </a:p>
        </p:txBody>
      </p:sp>
      <p:sp>
        <p:nvSpPr>
          <p:cNvPr id="9" name="Text 6"/>
          <p:cNvSpPr txBox="1"/>
          <p:nvPr/>
        </p:nvSpPr>
        <p:spPr>
          <a:xfrm>
            <a:off x="640080" y="3849624"/>
            <a:ext cx="2508428" cy="1188720"/>
          </a:xfrm>
          <a:prstGeom prst="rect">
            <a:avLst/>
          </a:prstGeom>
          <a:noFill/>
          <a:ln/>
        </p:spPr>
        <p:txBody>
          <a:bodyPr wrap="square" lIns="0" tIns="0" rIns="0" bIns="0" rtlCol="0" anchor="ctr"/>
          <a:lstStyle/>
          <a:p>
            <a:pPr indent="0" marL="0">
              <a:lnSpc>
                <a:spcPct val="105000"/>
              </a:lnSpc>
              <a:buNone/>
            </a:pPr>
            <a:r>
              <a:rPr lang="en-US" sz="1100" dirty="0">
                <a:solidFill>
                  <a:srgbClr val="3E3E48"/>
                </a:solidFill>
                <a:latin typeface="Calibri" pitchFamily="34" charset="0"/>
                <a:ea typeface="Calibri" pitchFamily="34" charset="-122"/>
                <a:cs typeface="Calibri" pitchFamily="34" charset="-120"/>
              </a:rPr>
              <a:t>The filled praline was invented in Brussels by Jean Neuhaus II in 1912. Belgium has several hundred chocolatiers and exports chocolate worldwide.</a:t>
            </a:r>
            <a:endParaRPr lang="en-US" sz="1100" dirty="0"/>
          </a:p>
        </p:txBody>
      </p:sp>
      <p:pic>
        <p:nvPicPr>
          <p:cNvPr id="10" name="Image 1" descr="/tmp/claude-0/-home-user-BOYNT-WORK/856f02cf-0e32-5bfe-bffb-9edb29b314f9/scratchpad/deckimg/waffles.jpg">    </p:cNvPr>
          <p:cNvPicPr>
            <a:picLocks noChangeAspect="1"/>
          </p:cNvPicPr>
          <p:nvPr/>
        </p:nvPicPr>
        <p:blipFill>
          <a:blip r:embed="rId2"/>
          <a:srcRect l="0" r="0" t="0" b="0"/>
          <a:stretch/>
        </p:blipFill>
        <p:spPr>
          <a:xfrm>
            <a:off x="3441116" y="1481328"/>
            <a:ext cx="2508428" cy="1874520"/>
          </a:xfrm>
          <a:prstGeom prst="rect">
            <a:avLst/>
          </a:prstGeom>
        </p:spPr>
      </p:pic>
      <p:sp>
        <p:nvSpPr>
          <p:cNvPr id="11" name="Text 7"/>
          <p:cNvSpPr txBox="1"/>
          <p:nvPr/>
        </p:nvSpPr>
        <p:spPr>
          <a:xfrm>
            <a:off x="3441116" y="3557016"/>
            <a:ext cx="2508428" cy="274320"/>
          </a:xfrm>
          <a:prstGeom prst="rect">
            <a:avLst/>
          </a:prstGeom>
          <a:noFill/>
          <a:ln/>
        </p:spPr>
        <p:txBody>
          <a:bodyPr wrap="square" lIns="0" tIns="0" rIns="0" bIns="0" rtlCol="0" anchor="ctr"/>
          <a:lstStyle/>
          <a:p>
            <a:pPr indent="0" marL="0">
              <a:buNone/>
            </a:pPr>
            <a:r>
              <a:rPr lang="en-US" sz="1300" b="1" spc="100" kern="0" dirty="0">
                <a:solidFill>
                  <a:srgbClr val="17171B"/>
                </a:solidFill>
                <a:latin typeface="Calibri" pitchFamily="34" charset="0"/>
                <a:ea typeface="Calibri" pitchFamily="34" charset="-122"/>
                <a:cs typeface="Calibri" pitchFamily="34" charset="-120"/>
              </a:rPr>
              <a:t>LA GAUFRE</a:t>
            </a:r>
            <a:endParaRPr lang="en-US" sz="1300" dirty="0"/>
          </a:p>
        </p:txBody>
      </p:sp>
      <p:sp>
        <p:nvSpPr>
          <p:cNvPr id="12" name="Text 8"/>
          <p:cNvSpPr txBox="1"/>
          <p:nvPr/>
        </p:nvSpPr>
        <p:spPr>
          <a:xfrm>
            <a:off x="3441116" y="3849624"/>
            <a:ext cx="2508428" cy="1188720"/>
          </a:xfrm>
          <a:prstGeom prst="rect">
            <a:avLst/>
          </a:prstGeom>
          <a:noFill/>
          <a:ln/>
        </p:spPr>
        <p:txBody>
          <a:bodyPr wrap="square" lIns="0" tIns="0" rIns="0" bIns="0" rtlCol="0" anchor="ctr"/>
          <a:lstStyle/>
          <a:p>
            <a:pPr indent="0" marL="0">
              <a:lnSpc>
                <a:spcPct val="105000"/>
              </a:lnSpc>
              <a:buNone/>
            </a:pPr>
            <a:r>
              <a:rPr lang="en-US" sz="1100" dirty="0">
                <a:solidFill>
                  <a:srgbClr val="3E3E48"/>
                </a:solidFill>
                <a:latin typeface="Calibri" pitchFamily="34" charset="0"/>
                <a:ea typeface="Calibri" pitchFamily="34" charset="-122"/>
                <a:cs typeface="Calibri" pitchFamily="34" charset="-120"/>
              </a:rPr>
              <a:t>Two rival waffles: the light rectangular gaufre de Bruxelles, and the dense, chewy gaufre de Liège studded with caramelised pearl sugar.</a:t>
            </a:r>
            <a:endParaRPr lang="en-US" sz="1100" dirty="0"/>
          </a:p>
        </p:txBody>
      </p:sp>
      <p:pic>
        <p:nvPicPr>
          <p:cNvPr id="13" name="Image 2" descr="/tmp/claude-0/-home-user-BOYNT-WORK/856f02cf-0e32-5bfe-bffb-9edb29b314f9/scratchpad/deckimg/frites.jpg">    </p:cNvPr>
          <p:cNvPicPr>
            <a:picLocks noChangeAspect="1"/>
          </p:cNvPicPr>
          <p:nvPr/>
        </p:nvPicPr>
        <p:blipFill>
          <a:blip r:embed="rId3"/>
          <a:srcRect l="0" r="0" t="0" b="0"/>
          <a:stretch/>
        </p:blipFill>
        <p:spPr>
          <a:xfrm>
            <a:off x="6242152" y="1481328"/>
            <a:ext cx="2508428" cy="1874520"/>
          </a:xfrm>
          <a:prstGeom prst="rect">
            <a:avLst/>
          </a:prstGeom>
        </p:spPr>
      </p:pic>
      <p:sp>
        <p:nvSpPr>
          <p:cNvPr id="14" name="Text 9"/>
          <p:cNvSpPr txBox="1"/>
          <p:nvPr/>
        </p:nvSpPr>
        <p:spPr>
          <a:xfrm>
            <a:off x="6242152" y="3557016"/>
            <a:ext cx="2508428" cy="274320"/>
          </a:xfrm>
          <a:prstGeom prst="rect">
            <a:avLst/>
          </a:prstGeom>
          <a:noFill/>
          <a:ln/>
        </p:spPr>
        <p:txBody>
          <a:bodyPr wrap="square" lIns="0" tIns="0" rIns="0" bIns="0" rtlCol="0" anchor="ctr"/>
          <a:lstStyle/>
          <a:p>
            <a:pPr indent="0" marL="0">
              <a:buNone/>
            </a:pPr>
            <a:r>
              <a:rPr lang="en-US" sz="1300" b="1" spc="100" kern="0" dirty="0">
                <a:solidFill>
                  <a:srgbClr val="17171B"/>
                </a:solidFill>
                <a:latin typeface="Calibri" pitchFamily="34" charset="0"/>
                <a:ea typeface="Calibri" pitchFamily="34" charset="-122"/>
                <a:cs typeface="Calibri" pitchFamily="34" charset="-120"/>
              </a:rPr>
              <a:t>LES FRITES</a:t>
            </a:r>
            <a:endParaRPr lang="en-US" sz="1300" dirty="0"/>
          </a:p>
        </p:txBody>
      </p:sp>
      <p:sp>
        <p:nvSpPr>
          <p:cNvPr id="15" name="Text 10"/>
          <p:cNvSpPr txBox="1"/>
          <p:nvPr/>
        </p:nvSpPr>
        <p:spPr>
          <a:xfrm>
            <a:off x="6242152" y="3849624"/>
            <a:ext cx="2508428" cy="1188720"/>
          </a:xfrm>
          <a:prstGeom prst="rect">
            <a:avLst/>
          </a:prstGeom>
          <a:noFill/>
          <a:ln/>
        </p:spPr>
        <p:txBody>
          <a:bodyPr wrap="square" lIns="0" tIns="0" rIns="0" bIns="0" rtlCol="0" anchor="ctr"/>
          <a:lstStyle/>
          <a:p>
            <a:pPr indent="0" marL="0">
              <a:lnSpc>
                <a:spcPct val="105000"/>
              </a:lnSpc>
              <a:buNone/>
            </a:pPr>
            <a:r>
              <a:rPr lang="en-US" sz="1100" dirty="0">
                <a:solidFill>
                  <a:srgbClr val="3E3E48"/>
                </a:solidFill>
                <a:latin typeface="Calibri" pitchFamily="34" charset="0"/>
                <a:ea typeface="Calibri" pitchFamily="34" charset="-122"/>
                <a:cs typeface="Calibri" pitchFamily="34" charset="-120"/>
              </a:rPr>
              <a:t>Belgians claim to have invented them, fry them twice, sell them from a friterie and eat them from a paper cone with mayonnaise — never as a side dish.</a:t>
            </a:r>
            <a:endParaRPr lang="en-US" sz="1100" dirty="0"/>
          </a:p>
        </p:txBody>
      </p:sp>
      <p:pic>
        <p:nvPicPr>
          <p:cNvPr id="16" name="Image 3" descr="/tmp/claude-0/-home-user-BOYNT-WORK/856f02cf-0e32-5bfe-bffb-9edb29b314f9/scratchpad/deckimg/beer.jpg">    </p:cNvPr>
          <p:cNvPicPr>
            <a:picLocks noChangeAspect="1"/>
          </p:cNvPicPr>
          <p:nvPr/>
        </p:nvPicPr>
        <p:blipFill>
          <a:blip r:embed="rId4"/>
          <a:srcRect l="0" r="0" t="0" b="0"/>
          <a:stretch/>
        </p:blipFill>
        <p:spPr>
          <a:xfrm>
            <a:off x="9043187" y="1481328"/>
            <a:ext cx="2508428" cy="1874520"/>
          </a:xfrm>
          <a:prstGeom prst="rect">
            <a:avLst/>
          </a:prstGeom>
        </p:spPr>
      </p:pic>
      <p:sp>
        <p:nvSpPr>
          <p:cNvPr id="17" name="Text 11"/>
          <p:cNvSpPr txBox="1"/>
          <p:nvPr/>
        </p:nvSpPr>
        <p:spPr>
          <a:xfrm>
            <a:off x="9043187" y="3557016"/>
            <a:ext cx="2508428" cy="274320"/>
          </a:xfrm>
          <a:prstGeom prst="rect">
            <a:avLst/>
          </a:prstGeom>
          <a:noFill/>
          <a:ln/>
        </p:spPr>
        <p:txBody>
          <a:bodyPr wrap="square" lIns="0" tIns="0" rIns="0" bIns="0" rtlCol="0" anchor="ctr"/>
          <a:lstStyle/>
          <a:p>
            <a:pPr indent="0" marL="0">
              <a:buNone/>
            </a:pPr>
            <a:r>
              <a:rPr lang="en-US" sz="1300" b="1" spc="100" kern="0" dirty="0">
                <a:solidFill>
                  <a:srgbClr val="17171B"/>
                </a:solidFill>
                <a:latin typeface="Calibri" pitchFamily="34" charset="0"/>
                <a:ea typeface="Calibri" pitchFamily="34" charset="-122"/>
                <a:cs typeface="Calibri" pitchFamily="34" charset="-120"/>
              </a:rPr>
              <a:t>LA BIÈRE</a:t>
            </a:r>
            <a:endParaRPr lang="en-US" sz="1300" dirty="0"/>
          </a:p>
        </p:txBody>
      </p:sp>
      <p:sp>
        <p:nvSpPr>
          <p:cNvPr id="18" name="Text 12"/>
          <p:cNvSpPr txBox="1"/>
          <p:nvPr/>
        </p:nvSpPr>
        <p:spPr>
          <a:xfrm>
            <a:off x="9043187" y="3849624"/>
            <a:ext cx="2508428" cy="1188720"/>
          </a:xfrm>
          <a:prstGeom prst="rect">
            <a:avLst/>
          </a:prstGeom>
          <a:noFill/>
          <a:ln/>
        </p:spPr>
        <p:txBody>
          <a:bodyPr wrap="square" lIns="0" tIns="0" rIns="0" bIns="0" rtlCol="0" anchor="ctr"/>
          <a:lstStyle/>
          <a:p>
            <a:pPr indent="0" marL="0">
              <a:lnSpc>
                <a:spcPct val="105000"/>
              </a:lnSpc>
              <a:buNone/>
            </a:pPr>
            <a:r>
              <a:rPr lang="en-US" sz="1100" dirty="0">
                <a:solidFill>
                  <a:srgbClr val="3E3E48"/>
                </a:solidFill>
                <a:latin typeface="Calibri" pitchFamily="34" charset="0"/>
                <a:ea typeface="Calibri" pitchFamily="34" charset="-122"/>
                <a:cs typeface="Calibri" pitchFamily="34" charset="-120"/>
              </a:rPr>
              <a:t>More than a thousand Belgian beers, from Trappist abbey ales to sour lambics. Belgian beer culture was added to UNESCO's Intangible Cultural Heritage list in 2016.</a:t>
            </a:r>
            <a:endParaRPr lang="en-US" sz="1100" dirty="0"/>
          </a:p>
        </p:txBody>
      </p:sp>
      <p:sp>
        <p:nvSpPr>
          <p:cNvPr id="19" name="Shape 13"/>
          <p:cNvSpPr/>
          <p:nvPr/>
        </p:nvSpPr>
        <p:spPr>
          <a:xfrm>
            <a:off x="640080" y="5193792"/>
            <a:ext cx="10911535" cy="841248"/>
          </a:xfrm>
          <a:prstGeom prst="roundRect">
            <a:avLst>
              <a:gd name="adj" fmla="val 9783"/>
            </a:avLst>
          </a:prstGeom>
          <a:solidFill>
            <a:srgbClr val="17171B"/>
          </a:solidFill>
          <a:ln w="12700">
            <a:solidFill>
              <a:srgbClr val="17171B"/>
            </a:solidFill>
            <a:prstDash val="solid"/>
          </a:ln>
          <a:effectLst>
            <a:outerShdw sx="100000" sy="100000" kx="0" ky="0" algn="bl" rotWithShape="0" blurRad="127000" dist="25400" dir="5400000">
              <a:srgbClr val="9A9AA6">
                <a:alpha val="22000"/>
              </a:srgbClr>
            </a:outerShdw>
          </a:effectLst>
        </p:spPr>
      </p:sp>
      <p:sp>
        <p:nvSpPr>
          <p:cNvPr id="20" name="Text 14"/>
          <p:cNvSpPr txBox="1"/>
          <p:nvPr/>
        </p:nvSpPr>
        <p:spPr>
          <a:xfrm>
            <a:off x="932688" y="5321808"/>
            <a:ext cx="10326319" cy="219456"/>
          </a:xfrm>
          <a:prstGeom prst="rect">
            <a:avLst/>
          </a:prstGeom>
          <a:noFill/>
          <a:ln/>
        </p:spPr>
        <p:txBody>
          <a:bodyPr wrap="square" lIns="0" tIns="0" rIns="0" bIns="0" rtlCol="0" anchor="ctr"/>
          <a:lstStyle/>
          <a:p>
            <a:pPr indent="0" marL="0">
              <a:buNone/>
            </a:pPr>
            <a:r>
              <a:rPr lang="en-US" sz="1000" b="1" spc="120" kern="0" dirty="0">
                <a:solidFill>
                  <a:srgbClr val="E3B23C"/>
                </a:solidFill>
                <a:latin typeface="Calibri" pitchFamily="34" charset="0"/>
                <a:ea typeface="Calibri" pitchFamily="34" charset="-122"/>
                <a:cs typeface="Calibri" pitchFamily="34" charset="-120"/>
              </a:rPr>
              <a:t>AT THE TABLE</a:t>
            </a:r>
            <a:endParaRPr lang="en-US" sz="1000" dirty="0"/>
          </a:p>
        </p:txBody>
      </p:sp>
      <p:sp>
        <p:nvSpPr>
          <p:cNvPr id="21" name="Text 15"/>
          <p:cNvSpPr txBox="1"/>
          <p:nvPr/>
        </p:nvSpPr>
        <p:spPr>
          <a:xfrm>
            <a:off x="932688" y="5577840"/>
            <a:ext cx="10326319" cy="420624"/>
          </a:xfrm>
          <a:prstGeom prst="rect">
            <a:avLst/>
          </a:prstGeom>
          <a:noFill/>
          <a:ln/>
        </p:spPr>
        <p:txBody>
          <a:bodyPr wrap="square" lIns="0" tIns="0" rIns="0" bIns="0" rtlCol="0" anchor="ctr"/>
          <a:lstStyle/>
          <a:p>
            <a:pPr indent="0" marL="0">
              <a:lnSpc>
                <a:spcPct val="105000"/>
              </a:lnSpc>
              <a:buNone/>
            </a:pPr>
            <a:r>
              <a:rPr lang="en-US" sz="1100" dirty="0">
                <a:solidFill>
                  <a:srgbClr val="D2D2DA"/>
                </a:solidFill>
                <a:latin typeface="Calibri" pitchFamily="34" charset="0"/>
                <a:ea typeface="Calibri" pitchFamily="34" charset="-122"/>
                <a:cs typeface="Calibri" pitchFamily="34" charset="-120"/>
              </a:rPr>
              <a:t>Moules-frites  ·  carbonnade flamande, beef stewed in beer  ·  waterzooi from Ghent  ·  chicons au gratin  ·  speculoos biscuits  ·  and, in season, the grey shrimp of the North Sea coast.</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10911535" cy="237744"/>
          </a:xfrm>
          <a:prstGeom prst="rect">
            <a:avLst/>
          </a:prstGeom>
          <a:noFill/>
          <a:ln/>
        </p:spPr>
        <p:txBody>
          <a:bodyPr wrap="square" lIns="0" tIns="0" rIns="0" bIns="0" rtlCol="0" anchor="ctr"/>
          <a:lstStyle/>
          <a:p>
            <a:pPr indent="0" marL="0">
              <a:buNone/>
            </a:pPr>
            <a:r>
              <a:rPr lang="en-US" sz="1150" b="1" spc="220" kern="0" dirty="0">
                <a:solidFill>
                  <a:srgbClr val="E3B23C"/>
                </a:solidFill>
                <a:latin typeface="Calibri" pitchFamily="34" charset="0"/>
                <a:ea typeface="Calibri" pitchFamily="34" charset="-122"/>
                <a:cs typeface="Calibri" pitchFamily="34" charset="-120"/>
              </a:rPr>
              <a:t>LES VILLES D'ART</a:t>
            </a:r>
            <a:endParaRPr lang="en-US" sz="1150" dirty="0"/>
          </a:p>
        </p:txBody>
      </p:sp>
      <p:sp>
        <p:nvSpPr>
          <p:cNvPr id="3" name="Text 1"/>
          <p:cNvSpPr txBox="1"/>
          <p:nvPr/>
        </p:nvSpPr>
        <p:spPr>
          <a:xfrm>
            <a:off x="640080" y="676656"/>
            <a:ext cx="10911535" cy="603504"/>
          </a:xfrm>
          <a:prstGeom prst="rect">
            <a:avLst/>
          </a:prstGeom>
          <a:noFill/>
          <a:ln/>
        </p:spPr>
        <p:txBody>
          <a:bodyPr wrap="square" lIns="0" tIns="0" rIns="0" bIns="0" rtlCol="0" anchor="ctr"/>
          <a:lstStyle/>
          <a:p>
            <a:pPr indent="0" marL="0">
              <a:buNone/>
            </a:pPr>
            <a:r>
              <a:rPr lang="en-US" sz="3100" b="1" dirty="0">
                <a:solidFill>
                  <a:srgbClr val="17171B"/>
                </a:solidFill>
                <a:latin typeface="Cambria" pitchFamily="34" charset="0"/>
                <a:ea typeface="Cambria" pitchFamily="34" charset="-122"/>
                <a:cs typeface="Cambria" pitchFamily="34" charset="-120"/>
              </a:rPr>
              <a:t>Three cities worth the trip</a:t>
            </a:r>
            <a:endParaRPr lang="en-US" sz="3100" dirty="0"/>
          </a:p>
        </p:txBody>
      </p:sp>
      <p:sp>
        <p:nvSpPr>
          <p:cNvPr id="4" name="Shape 2"/>
          <p:cNvSpPr/>
          <p:nvPr/>
        </p:nvSpPr>
        <p:spPr>
          <a:xfrm>
            <a:off x="640080" y="6163056"/>
            <a:ext cx="384048" cy="384048"/>
          </a:xfrm>
          <a:prstGeom prst="ellipse">
            <a:avLst/>
          </a:prstGeom>
          <a:solidFill>
            <a:srgbClr val="E3B23C"/>
          </a:solidFill>
          <a:ln/>
        </p:spPr>
      </p:sp>
      <p:sp>
        <p:nvSpPr>
          <p:cNvPr id="5" name="Text 3"/>
          <p:cNvSpPr txBox="1"/>
          <p:nvPr/>
        </p:nvSpPr>
        <p:spPr>
          <a:xfrm>
            <a:off x="640080" y="6163056"/>
            <a:ext cx="384048" cy="384048"/>
          </a:xfrm>
          <a:prstGeom prst="rect">
            <a:avLst/>
          </a:prstGeom>
          <a:noFill/>
          <a:ln/>
        </p:spPr>
        <p:txBody>
          <a:bodyPr wrap="square" lIns="0" tIns="0" rIns="0" bIns="0" rtlCol="0" anchor="ctr"/>
          <a:lstStyle/>
          <a:p>
            <a:pPr algn="ctr" indent="0" marL="0">
              <a:buNone/>
            </a:pPr>
            <a:r>
              <a:rPr lang="en-US" sz="1200" b="1" dirty="0">
                <a:solidFill>
                  <a:srgbClr val="17171B"/>
                </a:solidFill>
                <a:latin typeface="Calibri" pitchFamily="34" charset="0"/>
                <a:ea typeface="Calibri" pitchFamily="34" charset="-122"/>
                <a:cs typeface="Calibri" pitchFamily="34" charset="-120"/>
              </a:rPr>
              <a:t>13</a:t>
            </a:r>
            <a:endParaRPr lang="en-US" sz="1200" dirty="0"/>
          </a:p>
        </p:txBody>
      </p:sp>
      <p:sp>
        <p:nvSpPr>
          <p:cNvPr id="6" name="Text 4"/>
          <p:cNvSpPr txBox="1"/>
          <p:nvPr/>
        </p:nvSpPr>
        <p:spPr>
          <a:xfrm>
            <a:off x="6035040" y="6245352"/>
            <a:ext cx="5516575" cy="237744"/>
          </a:xfrm>
          <a:prstGeom prst="rect">
            <a:avLst/>
          </a:prstGeom>
          <a:noFill/>
          <a:ln/>
        </p:spPr>
        <p:txBody>
          <a:bodyPr wrap="square" lIns="0" tIns="0" rIns="0" bIns="0" rtlCol="0" anchor="ctr"/>
          <a:lstStyle/>
          <a:p>
            <a:pPr algn="r" indent="0" marL="0">
              <a:buNone/>
            </a:pPr>
            <a:r>
              <a:rPr lang="en-US" sz="900" dirty="0">
                <a:solidFill>
                  <a:srgbClr val="70707C"/>
                </a:solidFill>
                <a:latin typeface="Calibri" pitchFamily="34" charset="0"/>
                <a:ea typeface="Calibri" pitchFamily="34" charset="-122"/>
                <a:cs typeface="Calibri" pitchFamily="34" charset="-120"/>
              </a:rPr>
              <a:t>La Belgique  ·  FREN 201  ·  Projet Francophonie</a:t>
            </a:r>
            <a:endParaRPr lang="en-US" sz="900" dirty="0"/>
          </a:p>
        </p:txBody>
      </p:sp>
      <p:pic>
        <p:nvPicPr>
          <p:cNvPr id="7" name="Image 0" descr="/tmp/claude-0/-home-user-BOYNT-WORK/856f02cf-0e32-5bfe-bffb-9edb29b314f9/scratchpad/deckimg/bruges.jpg">    </p:cNvPr>
          <p:cNvPicPr>
            <a:picLocks noChangeAspect="1"/>
          </p:cNvPicPr>
          <p:nvPr/>
        </p:nvPicPr>
        <p:blipFill>
          <a:blip r:embed="rId1"/>
          <a:srcRect l="0" r="0" t="0" b="0"/>
          <a:stretch/>
        </p:blipFill>
        <p:spPr>
          <a:xfrm>
            <a:off x="640080" y="1481328"/>
            <a:ext cx="3381146" cy="2468880"/>
          </a:xfrm>
          <a:prstGeom prst="rect">
            <a:avLst/>
          </a:prstGeom>
        </p:spPr>
      </p:pic>
      <p:sp>
        <p:nvSpPr>
          <p:cNvPr id="8" name="Text 5"/>
          <p:cNvSpPr txBox="1"/>
          <p:nvPr/>
        </p:nvSpPr>
        <p:spPr>
          <a:xfrm>
            <a:off x="640080" y="4187952"/>
            <a:ext cx="3381146" cy="274320"/>
          </a:xfrm>
          <a:prstGeom prst="rect">
            <a:avLst/>
          </a:prstGeom>
          <a:noFill/>
          <a:ln/>
        </p:spPr>
        <p:txBody>
          <a:bodyPr wrap="square" lIns="0" tIns="0" rIns="0" bIns="0" rtlCol="0" anchor="ctr"/>
          <a:lstStyle/>
          <a:p>
            <a:pPr indent="0" marL="0">
              <a:buNone/>
            </a:pPr>
            <a:r>
              <a:rPr lang="en-US" sz="1400" b="1" spc="100" kern="0" dirty="0">
                <a:solidFill>
                  <a:srgbClr val="17171B"/>
                </a:solidFill>
                <a:latin typeface="Calibri" pitchFamily="34" charset="0"/>
                <a:ea typeface="Calibri" pitchFamily="34" charset="-122"/>
                <a:cs typeface="Calibri" pitchFamily="34" charset="-120"/>
              </a:rPr>
              <a:t>BRUGES / BRUGGE</a:t>
            </a:r>
            <a:endParaRPr lang="en-US" sz="1400" dirty="0"/>
          </a:p>
        </p:txBody>
      </p:sp>
      <p:sp>
        <p:nvSpPr>
          <p:cNvPr id="9" name="Text 6"/>
          <p:cNvSpPr txBox="1"/>
          <p:nvPr/>
        </p:nvSpPr>
        <p:spPr>
          <a:xfrm>
            <a:off x="640080" y="4517136"/>
            <a:ext cx="3381146" cy="1371600"/>
          </a:xfrm>
          <a:prstGeom prst="rect">
            <a:avLst/>
          </a:prstGeom>
          <a:noFill/>
          <a:ln/>
        </p:spPr>
        <p:txBody>
          <a:bodyPr wrap="square" lIns="0" tIns="0" rIns="0" bIns="0" rtlCol="0" anchor="ctr"/>
          <a:lstStyle/>
          <a:p>
            <a:pPr indent="0" marL="0">
              <a:lnSpc>
                <a:spcPct val="106000"/>
              </a:lnSpc>
              <a:buNone/>
            </a:pPr>
            <a:r>
              <a:rPr lang="en-US" sz="1100" dirty="0">
                <a:solidFill>
                  <a:srgbClr val="3E3E48"/>
                </a:solidFill>
                <a:latin typeface="Calibri" pitchFamily="34" charset="0"/>
                <a:ea typeface="Calibri" pitchFamily="34" charset="-122"/>
                <a:cs typeface="Calibri" pitchFamily="34" charset="-120"/>
              </a:rPr>
              <a:t>The Venice of the North. The entire historic centre is a UNESCO World Heritage site, along with its belfry and its béguinage. Medieval brick gables, canals, and the Groeninge Museum's Flemish Primitives.</a:t>
            </a:r>
            <a:endParaRPr lang="en-US" sz="1100" dirty="0"/>
          </a:p>
        </p:txBody>
      </p:sp>
      <p:pic>
        <p:nvPicPr>
          <p:cNvPr id="10" name="Image 1" descr="/tmp/claude-0/-home-user-BOYNT-WORK/856f02cf-0e32-5bfe-bffb-9edb29b314f9/scratchpad/deckimg/ghent.jpg">    </p:cNvPr>
          <p:cNvPicPr>
            <a:picLocks noChangeAspect="1"/>
          </p:cNvPicPr>
          <p:nvPr/>
        </p:nvPicPr>
        <p:blipFill>
          <a:blip r:embed="rId2"/>
          <a:srcRect l="0" r="0" t="0" b="0"/>
          <a:stretch/>
        </p:blipFill>
        <p:spPr>
          <a:xfrm>
            <a:off x="4405274" y="1481328"/>
            <a:ext cx="3381146" cy="2468880"/>
          </a:xfrm>
          <a:prstGeom prst="rect">
            <a:avLst/>
          </a:prstGeom>
        </p:spPr>
      </p:pic>
      <p:sp>
        <p:nvSpPr>
          <p:cNvPr id="11" name="Text 7"/>
          <p:cNvSpPr txBox="1"/>
          <p:nvPr/>
        </p:nvSpPr>
        <p:spPr>
          <a:xfrm>
            <a:off x="4405274" y="4187952"/>
            <a:ext cx="3381146" cy="274320"/>
          </a:xfrm>
          <a:prstGeom prst="rect">
            <a:avLst/>
          </a:prstGeom>
          <a:noFill/>
          <a:ln/>
        </p:spPr>
        <p:txBody>
          <a:bodyPr wrap="square" lIns="0" tIns="0" rIns="0" bIns="0" rtlCol="0" anchor="ctr"/>
          <a:lstStyle/>
          <a:p>
            <a:pPr indent="0" marL="0">
              <a:buNone/>
            </a:pPr>
            <a:r>
              <a:rPr lang="en-US" sz="1400" b="1" spc="100" kern="0" dirty="0">
                <a:solidFill>
                  <a:srgbClr val="17171B"/>
                </a:solidFill>
                <a:latin typeface="Calibri" pitchFamily="34" charset="0"/>
                <a:ea typeface="Calibri" pitchFamily="34" charset="-122"/>
                <a:cs typeface="Calibri" pitchFamily="34" charset="-120"/>
              </a:rPr>
              <a:t>GAND / GENT</a:t>
            </a:r>
            <a:endParaRPr lang="en-US" sz="1400" dirty="0"/>
          </a:p>
        </p:txBody>
      </p:sp>
      <p:sp>
        <p:nvSpPr>
          <p:cNvPr id="12" name="Text 8"/>
          <p:cNvSpPr txBox="1"/>
          <p:nvPr/>
        </p:nvSpPr>
        <p:spPr>
          <a:xfrm>
            <a:off x="4405274" y="4517136"/>
            <a:ext cx="3381146" cy="1371600"/>
          </a:xfrm>
          <a:prstGeom prst="rect">
            <a:avLst/>
          </a:prstGeom>
          <a:noFill/>
          <a:ln/>
        </p:spPr>
        <p:txBody>
          <a:bodyPr wrap="square" lIns="0" tIns="0" rIns="0" bIns="0" rtlCol="0" anchor="ctr"/>
          <a:lstStyle/>
          <a:p>
            <a:pPr indent="0" marL="0">
              <a:lnSpc>
                <a:spcPct val="106000"/>
              </a:lnSpc>
              <a:buNone/>
            </a:pPr>
            <a:r>
              <a:rPr lang="en-US" sz="1100" dirty="0">
                <a:solidFill>
                  <a:srgbClr val="3E3E48"/>
                </a:solidFill>
                <a:latin typeface="Calibri" pitchFamily="34" charset="0"/>
                <a:ea typeface="Calibri" pitchFamily="34" charset="-122"/>
                <a:cs typeface="Calibri" pitchFamily="34" charset="-120"/>
              </a:rPr>
              <a:t>A working city rather than a museum. The Gravensteen castle, the guild houses of the Graslei, and van Eyck's Ghent Altarpiece in Saint Bavo's Cathedral. A UNESCO Creative City of Music.</a:t>
            </a:r>
            <a:endParaRPr lang="en-US" sz="1100" dirty="0"/>
          </a:p>
        </p:txBody>
      </p:sp>
      <p:pic>
        <p:nvPicPr>
          <p:cNvPr id="13" name="Image 2" descr="/tmp/claude-0/-home-user-BOYNT-WORK/856f02cf-0e32-5bfe-bffb-9edb29b314f9/scratchpad/deckimg/antwerp_station.jpg">    </p:cNvPr>
          <p:cNvPicPr>
            <a:picLocks noChangeAspect="1"/>
          </p:cNvPicPr>
          <p:nvPr/>
        </p:nvPicPr>
        <p:blipFill>
          <a:blip r:embed="rId3"/>
          <a:srcRect l="0" r="0" t="0" b="0"/>
          <a:stretch/>
        </p:blipFill>
        <p:spPr>
          <a:xfrm>
            <a:off x="8170469" y="1481328"/>
            <a:ext cx="3381146" cy="2468880"/>
          </a:xfrm>
          <a:prstGeom prst="rect">
            <a:avLst/>
          </a:prstGeom>
        </p:spPr>
      </p:pic>
      <p:sp>
        <p:nvSpPr>
          <p:cNvPr id="14" name="Text 9"/>
          <p:cNvSpPr txBox="1"/>
          <p:nvPr/>
        </p:nvSpPr>
        <p:spPr>
          <a:xfrm>
            <a:off x="8170469" y="4187952"/>
            <a:ext cx="3381146" cy="274320"/>
          </a:xfrm>
          <a:prstGeom prst="rect">
            <a:avLst/>
          </a:prstGeom>
          <a:noFill/>
          <a:ln/>
        </p:spPr>
        <p:txBody>
          <a:bodyPr wrap="square" lIns="0" tIns="0" rIns="0" bIns="0" rtlCol="0" anchor="ctr"/>
          <a:lstStyle/>
          <a:p>
            <a:pPr indent="0" marL="0">
              <a:buNone/>
            </a:pPr>
            <a:r>
              <a:rPr lang="en-US" sz="1400" b="1" spc="100" kern="0" dirty="0">
                <a:solidFill>
                  <a:srgbClr val="17171B"/>
                </a:solidFill>
                <a:latin typeface="Calibri" pitchFamily="34" charset="0"/>
                <a:ea typeface="Calibri" pitchFamily="34" charset="-122"/>
                <a:cs typeface="Calibri" pitchFamily="34" charset="-120"/>
              </a:rPr>
              <a:t>ANVERS / ANTWERPEN</a:t>
            </a:r>
            <a:endParaRPr lang="en-US" sz="1400" dirty="0"/>
          </a:p>
        </p:txBody>
      </p:sp>
      <p:sp>
        <p:nvSpPr>
          <p:cNvPr id="15" name="Text 10"/>
          <p:cNvSpPr txBox="1"/>
          <p:nvPr/>
        </p:nvSpPr>
        <p:spPr>
          <a:xfrm>
            <a:off x="8170469" y="4517136"/>
            <a:ext cx="3381146" cy="1371600"/>
          </a:xfrm>
          <a:prstGeom prst="rect">
            <a:avLst/>
          </a:prstGeom>
          <a:noFill/>
          <a:ln/>
        </p:spPr>
        <p:txBody>
          <a:bodyPr wrap="square" lIns="0" tIns="0" rIns="0" bIns="0" rtlCol="0" anchor="ctr"/>
          <a:lstStyle/>
          <a:p>
            <a:pPr indent="0" marL="0">
              <a:lnSpc>
                <a:spcPct val="106000"/>
              </a:lnSpc>
              <a:buNone/>
            </a:pPr>
            <a:r>
              <a:rPr lang="en-US" sz="1100" dirty="0">
                <a:solidFill>
                  <a:srgbClr val="3E3E48"/>
                </a:solidFill>
                <a:latin typeface="Calibri" pitchFamily="34" charset="0"/>
                <a:ea typeface="Calibri" pitchFamily="34" charset="-122"/>
                <a:cs typeface="Calibri" pitchFamily="34" charset="-120"/>
              </a:rPr>
              <a:t>Rubens' city and Belgium's port. Central Station is known as the railway cathedral. More than 70 % of the world's rough diamonds still pass through the Antwerp diamond district.</a:t>
            </a:r>
            <a:endParaRPr lang="en-US" sz="1100" dirty="0"/>
          </a:p>
        </p:txBody>
      </p:sp>
      <p:sp>
        <p:nvSpPr>
          <p:cNvPr id="16" name="Text 11"/>
          <p:cNvSpPr txBox="1"/>
          <p:nvPr/>
        </p:nvSpPr>
        <p:spPr>
          <a:xfrm>
            <a:off x="1170432" y="5815584"/>
            <a:ext cx="10381183" cy="274320"/>
          </a:xfrm>
          <a:prstGeom prst="rect">
            <a:avLst/>
          </a:prstGeom>
          <a:noFill/>
          <a:ln/>
        </p:spPr>
        <p:txBody>
          <a:bodyPr wrap="square" lIns="0" tIns="0" rIns="0" bIns="0" rtlCol="0" anchor="ctr"/>
          <a:lstStyle/>
          <a:p>
            <a:pPr indent="0" marL="0">
              <a:buNone/>
            </a:pPr>
            <a:r>
              <a:rPr lang="en-US" sz="1050" i="1" dirty="0">
                <a:solidFill>
                  <a:srgbClr val="70707C"/>
                </a:solidFill>
                <a:latin typeface="Calibri" pitchFamily="34" charset="0"/>
                <a:ea typeface="Calibri" pitchFamily="34" charset="-122"/>
                <a:cs typeface="Calibri" pitchFamily="34" charset="-120"/>
              </a:rPr>
              <a:t>Belgium has 13 UNESCO World Heritage sites in a country the size of Maryland — including 33 of the belfries of Belgium and France, and the Carnival of Binche on the Intangible Heritage list.</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10911535" cy="237744"/>
          </a:xfrm>
          <a:prstGeom prst="rect">
            <a:avLst/>
          </a:prstGeom>
          <a:noFill/>
          <a:ln/>
        </p:spPr>
        <p:txBody>
          <a:bodyPr wrap="square" lIns="0" tIns="0" rIns="0" bIns="0" rtlCol="0" anchor="ctr"/>
          <a:lstStyle/>
          <a:p>
            <a:pPr indent="0" marL="0">
              <a:buNone/>
            </a:pPr>
            <a:r>
              <a:rPr lang="en-US" sz="1150" b="1" spc="220" kern="0" dirty="0">
                <a:solidFill>
                  <a:srgbClr val="E3B23C"/>
                </a:solidFill>
                <a:latin typeface="Calibri" pitchFamily="34" charset="0"/>
                <a:ea typeface="Calibri" pitchFamily="34" charset="-122"/>
                <a:cs typeface="Calibri" pitchFamily="34" charset="-120"/>
              </a:rPr>
              <a:t>INFOS PRATIQUES</a:t>
            </a:r>
            <a:endParaRPr lang="en-US" sz="1150" dirty="0"/>
          </a:p>
        </p:txBody>
      </p:sp>
      <p:sp>
        <p:nvSpPr>
          <p:cNvPr id="3" name="Text 1"/>
          <p:cNvSpPr txBox="1"/>
          <p:nvPr/>
        </p:nvSpPr>
        <p:spPr>
          <a:xfrm>
            <a:off x="640080" y="676656"/>
            <a:ext cx="10911535" cy="603504"/>
          </a:xfrm>
          <a:prstGeom prst="rect">
            <a:avLst/>
          </a:prstGeom>
          <a:noFill/>
          <a:ln/>
        </p:spPr>
        <p:txBody>
          <a:bodyPr wrap="square" lIns="0" tIns="0" rIns="0" bIns="0" rtlCol="0" anchor="ctr"/>
          <a:lstStyle/>
          <a:p>
            <a:pPr indent="0" marL="0">
              <a:buNone/>
            </a:pPr>
            <a:r>
              <a:rPr lang="en-US" sz="3100" b="1" dirty="0">
                <a:solidFill>
                  <a:srgbClr val="17171B"/>
                </a:solidFill>
                <a:latin typeface="Cambria" pitchFamily="34" charset="0"/>
                <a:ea typeface="Cambria" pitchFamily="34" charset="-122"/>
                <a:cs typeface="Cambria" pitchFamily="34" charset="-120"/>
              </a:rPr>
              <a:t>What a visitor needs to know</a:t>
            </a:r>
            <a:endParaRPr lang="en-US" sz="3100" dirty="0"/>
          </a:p>
        </p:txBody>
      </p:sp>
      <p:sp>
        <p:nvSpPr>
          <p:cNvPr id="4" name="Shape 2"/>
          <p:cNvSpPr/>
          <p:nvPr/>
        </p:nvSpPr>
        <p:spPr>
          <a:xfrm>
            <a:off x="640080" y="6163056"/>
            <a:ext cx="384048" cy="384048"/>
          </a:xfrm>
          <a:prstGeom prst="ellipse">
            <a:avLst/>
          </a:prstGeom>
          <a:solidFill>
            <a:srgbClr val="E3B23C"/>
          </a:solidFill>
          <a:ln/>
        </p:spPr>
      </p:sp>
      <p:sp>
        <p:nvSpPr>
          <p:cNvPr id="5" name="Text 3"/>
          <p:cNvSpPr txBox="1"/>
          <p:nvPr/>
        </p:nvSpPr>
        <p:spPr>
          <a:xfrm>
            <a:off x="640080" y="6163056"/>
            <a:ext cx="384048" cy="384048"/>
          </a:xfrm>
          <a:prstGeom prst="rect">
            <a:avLst/>
          </a:prstGeom>
          <a:noFill/>
          <a:ln/>
        </p:spPr>
        <p:txBody>
          <a:bodyPr wrap="square" lIns="0" tIns="0" rIns="0" bIns="0" rtlCol="0" anchor="ctr"/>
          <a:lstStyle/>
          <a:p>
            <a:pPr algn="ctr" indent="0" marL="0">
              <a:buNone/>
            </a:pPr>
            <a:r>
              <a:rPr lang="en-US" sz="1200" b="1" dirty="0">
                <a:solidFill>
                  <a:srgbClr val="17171B"/>
                </a:solidFill>
                <a:latin typeface="Calibri" pitchFamily="34" charset="0"/>
                <a:ea typeface="Calibri" pitchFamily="34" charset="-122"/>
                <a:cs typeface="Calibri" pitchFamily="34" charset="-120"/>
              </a:rPr>
              <a:t>14</a:t>
            </a:r>
            <a:endParaRPr lang="en-US" sz="1200" dirty="0"/>
          </a:p>
        </p:txBody>
      </p:sp>
      <p:sp>
        <p:nvSpPr>
          <p:cNvPr id="6" name="Text 4"/>
          <p:cNvSpPr txBox="1"/>
          <p:nvPr/>
        </p:nvSpPr>
        <p:spPr>
          <a:xfrm>
            <a:off x="6035040" y="6245352"/>
            <a:ext cx="5516575" cy="237744"/>
          </a:xfrm>
          <a:prstGeom prst="rect">
            <a:avLst/>
          </a:prstGeom>
          <a:noFill/>
          <a:ln/>
        </p:spPr>
        <p:txBody>
          <a:bodyPr wrap="square" lIns="0" tIns="0" rIns="0" bIns="0" rtlCol="0" anchor="ctr"/>
          <a:lstStyle/>
          <a:p>
            <a:pPr algn="r" indent="0" marL="0">
              <a:buNone/>
            </a:pPr>
            <a:r>
              <a:rPr lang="en-US" sz="900" dirty="0">
                <a:solidFill>
                  <a:srgbClr val="70707C"/>
                </a:solidFill>
                <a:latin typeface="Calibri" pitchFamily="34" charset="0"/>
                <a:ea typeface="Calibri" pitchFamily="34" charset="-122"/>
                <a:cs typeface="Calibri" pitchFamily="34" charset="-120"/>
              </a:rPr>
              <a:t>La Belgique  ·  FREN 201  ·  Projet Francophonie</a:t>
            </a:r>
            <a:endParaRPr lang="en-US" sz="900" dirty="0"/>
          </a:p>
        </p:txBody>
      </p:sp>
      <p:sp>
        <p:nvSpPr>
          <p:cNvPr id="7" name="Shape 5"/>
          <p:cNvSpPr/>
          <p:nvPr/>
        </p:nvSpPr>
        <p:spPr>
          <a:xfrm>
            <a:off x="640080" y="1499616"/>
            <a:ext cx="420624" cy="420624"/>
          </a:xfrm>
          <a:prstGeom prst="ellipse">
            <a:avLst/>
          </a:prstGeom>
          <a:solidFill>
            <a:srgbClr val="E3B23C"/>
          </a:solidFill>
          <a:ln/>
        </p:spPr>
      </p:sp>
      <p:sp>
        <p:nvSpPr>
          <p:cNvPr id="8" name="Text 6"/>
          <p:cNvSpPr txBox="1"/>
          <p:nvPr/>
        </p:nvSpPr>
        <p:spPr>
          <a:xfrm>
            <a:off x="640080" y="1499616"/>
            <a:ext cx="420624" cy="420624"/>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1</a:t>
            </a:r>
            <a:endParaRPr lang="en-US" sz="1150" dirty="0"/>
          </a:p>
        </p:txBody>
      </p:sp>
      <p:sp>
        <p:nvSpPr>
          <p:cNvPr id="9" name="Text 7"/>
          <p:cNvSpPr txBox="1"/>
          <p:nvPr/>
        </p:nvSpPr>
        <p:spPr>
          <a:xfrm>
            <a:off x="1225296" y="1490472"/>
            <a:ext cx="4687672" cy="256032"/>
          </a:xfrm>
          <a:prstGeom prst="rect">
            <a:avLst/>
          </a:prstGeom>
          <a:noFill/>
          <a:ln/>
        </p:spPr>
        <p:txBody>
          <a:bodyPr wrap="square" lIns="0" tIns="0" rIns="0" bIns="0" rtlCol="0" anchor="ctr"/>
          <a:lstStyle/>
          <a:p>
            <a:pPr indent="0" marL="0">
              <a:buNone/>
            </a:pPr>
            <a:r>
              <a:rPr lang="en-US" sz="1250" b="1" spc="100" kern="0" dirty="0">
                <a:solidFill>
                  <a:srgbClr val="17171B"/>
                </a:solidFill>
                <a:latin typeface="Calibri" pitchFamily="34" charset="0"/>
                <a:ea typeface="Calibri" pitchFamily="34" charset="-122"/>
                <a:cs typeface="Calibri" pitchFamily="34" charset="-120"/>
              </a:rPr>
              <a:t>MONEY</a:t>
            </a:r>
            <a:endParaRPr lang="en-US" sz="1250" dirty="0"/>
          </a:p>
        </p:txBody>
      </p:sp>
      <p:sp>
        <p:nvSpPr>
          <p:cNvPr id="10" name="Text 8"/>
          <p:cNvSpPr txBox="1"/>
          <p:nvPr/>
        </p:nvSpPr>
        <p:spPr>
          <a:xfrm>
            <a:off x="1225296" y="1764792"/>
            <a:ext cx="4687672" cy="786384"/>
          </a:xfrm>
          <a:prstGeom prst="rect">
            <a:avLst/>
          </a:prstGeom>
          <a:noFill/>
          <a:ln/>
        </p:spPr>
        <p:txBody>
          <a:bodyPr wrap="square" lIns="0" tIns="0" rIns="0" bIns="0" rtlCol="0" anchor="ctr"/>
          <a:lstStyle/>
          <a:p>
            <a:pPr indent="0" marL="0">
              <a:lnSpc>
                <a:spcPct val="104000"/>
              </a:lnSpc>
              <a:buNone/>
            </a:pPr>
            <a:r>
              <a:rPr lang="en-US" sz="1050" dirty="0">
                <a:solidFill>
                  <a:srgbClr val="3E3E48"/>
                </a:solidFill>
                <a:latin typeface="Calibri" pitchFamily="34" charset="0"/>
                <a:ea typeface="Calibri" pitchFamily="34" charset="-122"/>
                <a:cs typeface="Calibri" pitchFamily="34" charset="-120"/>
              </a:rPr>
              <a:t>The euro. Cards and contactless are accepted almost everywhere; American Express often is not. Service is included and tipping is not expected.</a:t>
            </a:r>
            <a:endParaRPr lang="en-US" sz="1050" dirty="0"/>
          </a:p>
        </p:txBody>
      </p:sp>
      <p:sp>
        <p:nvSpPr>
          <p:cNvPr id="11" name="Shape 9"/>
          <p:cNvSpPr/>
          <p:nvPr/>
        </p:nvSpPr>
        <p:spPr>
          <a:xfrm>
            <a:off x="6278728" y="1499616"/>
            <a:ext cx="420624" cy="420624"/>
          </a:xfrm>
          <a:prstGeom prst="ellipse">
            <a:avLst/>
          </a:prstGeom>
          <a:solidFill>
            <a:srgbClr val="E3B23C"/>
          </a:solidFill>
          <a:ln/>
        </p:spPr>
      </p:sp>
      <p:sp>
        <p:nvSpPr>
          <p:cNvPr id="12" name="Text 10"/>
          <p:cNvSpPr txBox="1"/>
          <p:nvPr/>
        </p:nvSpPr>
        <p:spPr>
          <a:xfrm>
            <a:off x="6278728" y="1499616"/>
            <a:ext cx="420624" cy="420624"/>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2</a:t>
            </a:r>
            <a:endParaRPr lang="en-US" sz="1150" dirty="0"/>
          </a:p>
        </p:txBody>
      </p:sp>
      <p:sp>
        <p:nvSpPr>
          <p:cNvPr id="13" name="Text 11"/>
          <p:cNvSpPr txBox="1"/>
          <p:nvPr/>
        </p:nvSpPr>
        <p:spPr>
          <a:xfrm>
            <a:off x="6863944" y="1490472"/>
            <a:ext cx="4687672" cy="256032"/>
          </a:xfrm>
          <a:prstGeom prst="rect">
            <a:avLst/>
          </a:prstGeom>
          <a:noFill/>
          <a:ln/>
        </p:spPr>
        <p:txBody>
          <a:bodyPr wrap="square" lIns="0" tIns="0" rIns="0" bIns="0" rtlCol="0" anchor="ctr"/>
          <a:lstStyle/>
          <a:p>
            <a:pPr indent="0" marL="0">
              <a:buNone/>
            </a:pPr>
            <a:r>
              <a:rPr lang="en-US" sz="1250" b="1" spc="100" kern="0" dirty="0">
                <a:solidFill>
                  <a:srgbClr val="17171B"/>
                </a:solidFill>
                <a:latin typeface="Calibri" pitchFamily="34" charset="0"/>
                <a:ea typeface="Calibri" pitchFamily="34" charset="-122"/>
                <a:cs typeface="Calibri" pitchFamily="34" charset="-120"/>
              </a:rPr>
              <a:t>GETTING IN</a:t>
            </a:r>
            <a:endParaRPr lang="en-US" sz="1250" dirty="0"/>
          </a:p>
        </p:txBody>
      </p:sp>
      <p:sp>
        <p:nvSpPr>
          <p:cNvPr id="14" name="Text 12"/>
          <p:cNvSpPr txBox="1"/>
          <p:nvPr/>
        </p:nvSpPr>
        <p:spPr>
          <a:xfrm>
            <a:off x="6863944" y="1764792"/>
            <a:ext cx="4687672" cy="786384"/>
          </a:xfrm>
          <a:prstGeom prst="rect">
            <a:avLst/>
          </a:prstGeom>
          <a:noFill/>
          <a:ln/>
        </p:spPr>
        <p:txBody>
          <a:bodyPr wrap="square" lIns="0" tIns="0" rIns="0" bIns="0" rtlCol="0" anchor="ctr"/>
          <a:lstStyle/>
          <a:p>
            <a:pPr indent="0" marL="0">
              <a:lnSpc>
                <a:spcPct val="104000"/>
              </a:lnSpc>
              <a:buNone/>
            </a:pPr>
            <a:r>
              <a:rPr lang="en-US" sz="1050" dirty="0">
                <a:solidFill>
                  <a:srgbClr val="3E3E48"/>
                </a:solidFill>
                <a:latin typeface="Calibri" pitchFamily="34" charset="0"/>
                <a:ea typeface="Calibri" pitchFamily="34" charset="-122"/>
                <a:cs typeface="Calibri" pitchFamily="34" charset="-120"/>
              </a:rPr>
              <a:t>Belgium is in the Schengen area. Visitors from the US, UK, Canada, Australia and Japan may stay 90 days without a visa; an ETIAS travel authorisation is being introduced. Fly into Brussels (BRU) or Charleroi (CRL).</a:t>
            </a:r>
            <a:endParaRPr lang="en-US" sz="1050" dirty="0"/>
          </a:p>
        </p:txBody>
      </p:sp>
      <p:sp>
        <p:nvSpPr>
          <p:cNvPr id="15" name="Shape 13"/>
          <p:cNvSpPr/>
          <p:nvPr/>
        </p:nvSpPr>
        <p:spPr>
          <a:xfrm>
            <a:off x="640080" y="2688336"/>
            <a:ext cx="420624" cy="420624"/>
          </a:xfrm>
          <a:prstGeom prst="ellipse">
            <a:avLst/>
          </a:prstGeom>
          <a:solidFill>
            <a:srgbClr val="E3B23C"/>
          </a:solidFill>
          <a:ln/>
        </p:spPr>
      </p:sp>
      <p:sp>
        <p:nvSpPr>
          <p:cNvPr id="16" name="Text 14"/>
          <p:cNvSpPr txBox="1"/>
          <p:nvPr/>
        </p:nvSpPr>
        <p:spPr>
          <a:xfrm>
            <a:off x="640080" y="2688336"/>
            <a:ext cx="420624" cy="420624"/>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3</a:t>
            </a:r>
            <a:endParaRPr lang="en-US" sz="1150" dirty="0"/>
          </a:p>
        </p:txBody>
      </p:sp>
      <p:sp>
        <p:nvSpPr>
          <p:cNvPr id="17" name="Text 15"/>
          <p:cNvSpPr txBox="1"/>
          <p:nvPr/>
        </p:nvSpPr>
        <p:spPr>
          <a:xfrm>
            <a:off x="1225296" y="2679192"/>
            <a:ext cx="4687672" cy="256032"/>
          </a:xfrm>
          <a:prstGeom prst="rect">
            <a:avLst/>
          </a:prstGeom>
          <a:noFill/>
          <a:ln/>
        </p:spPr>
        <p:txBody>
          <a:bodyPr wrap="square" lIns="0" tIns="0" rIns="0" bIns="0" rtlCol="0" anchor="ctr"/>
          <a:lstStyle/>
          <a:p>
            <a:pPr indent="0" marL="0">
              <a:buNone/>
            </a:pPr>
            <a:r>
              <a:rPr lang="en-US" sz="1250" b="1" spc="100" kern="0" dirty="0">
                <a:solidFill>
                  <a:srgbClr val="17171B"/>
                </a:solidFill>
                <a:latin typeface="Calibri" pitchFamily="34" charset="0"/>
                <a:ea typeface="Calibri" pitchFamily="34" charset="-122"/>
                <a:cs typeface="Calibri" pitchFamily="34" charset="-120"/>
              </a:rPr>
              <a:t>GETTING AROUND</a:t>
            </a:r>
            <a:endParaRPr lang="en-US" sz="1250" dirty="0"/>
          </a:p>
        </p:txBody>
      </p:sp>
      <p:sp>
        <p:nvSpPr>
          <p:cNvPr id="18" name="Text 16"/>
          <p:cNvSpPr txBox="1"/>
          <p:nvPr/>
        </p:nvSpPr>
        <p:spPr>
          <a:xfrm>
            <a:off x="1225296" y="2953512"/>
            <a:ext cx="4687672" cy="786384"/>
          </a:xfrm>
          <a:prstGeom prst="rect">
            <a:avLst/>
          </a:prstGeom>
          <a:noFill/>
          <a:ln/>
        </p:spPr>
        <p:txBody>
          <a:bodyPr wrap="square" lIns="0" tIns="0" rIns="0" bIns="0" rtlCol="0" anchor="ctr"/>
          <a:lstStyle/>
          <a:p>
            <a:pPr indent="0" marL="0">
              <a:lnSpc>
                <a:spcPct val="104000"/>
              </a:lnSpc>
              <a:buNone/>
            </a:pPr>
            <a:r>
              <a:rPr lang="en-US" sz="1050" dirty="0">
                <a:solidFill>
                  <a:srgbClr val="3E3E48"/>
                </a:solidFill>
                <a:latin typeface="Calibri" pitchFamily="34" charset="0"/>
                <a:ea typeface="Calibri" pitchFamily="34" charset="-122"/>
                <a:cs typeface="Calibri" pitchFamily="34" charset="-120"/>
              </a:rPr>
              <a:t>The rail network is one of the densest in the world and almost nowhere is more than about two hours from anywhere else. Trams and metro in the cities; bicycles everywhere in Flanders.</a:t>
            </a:r>
            <a:endParaRPr lang="en-US" sz="1050" dirty="0"/>
          </a:p>
        </p:txBody>
      </p:sp>
      <p:sp>
        <p:nvSpPr>
          <p:cNvPr id="19" name="Shape 17"/>
          <p:cNvSpPr/>
          <p:nvPr/>
        </p:nvSpPr>
        <p:spPr>
          <a:xfrm>
            <a:off x="6278728" y="2688336"/>
            <a:ext cx="420624" cy="420624"/>
          </a:xfrm>
          <a:prstGeom prst="ellipse">
            <a:avLst/>
          </a:prstGeom>
          <a:solidFill>
            <a:srgbClr val="E3B23C"/>
          </a:solidFill>
          <a:ln/>
        </p:spPr>
      </p:sp>
      <p:sp>
        <p:nvSpPr>
          <p:cNvPr id="20" name="Text 18"/>
          <p:cNvSpPr txBox="1"/>
          <p:nvPr/>
        </p:nvSpPr>
        <p:spPr>
          <a:xfrm>
            <a:off x="6278728" y="2688336"/>
            <a:ext cx="420624" cy="420624"/>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4</a:t>
            </a:r>
            <a:endParaRPr lang="en-US" sz="1150" dirty="0"/>
          </a:p>
        </p:txBody>
      </p:sp>
      <p:sp>
        <p:nvSpPr>
          <p:cNvPr id="21" name="Text 19"/>
          <p:cNvSpPr txBox="1"/>
          <p:nvPr/>
        </p:nvSpPr>
        <p:spPr>
          <a:xfrm>
            <a:off x="6863944" y="2679192"/>
            <a:ext cx="4687672" cy="256032"/>
          </a:xfrm>
          <a:prstGeom prst="rect">
            <a:avLst/>
          </a:prstGeom>
          <a:noFill/>
          <a:ln/>
        </p:spPr>
        <p:txBody>
          <a:bodyPr wrap="square" lIns="0" tIns="0" rIns="0" bIns="0" rtlCol="0" anchor="ctr"/>
          <a:lstStyle/>
          <a:p>
            <a:pPr indent="0" marL="0">
              <a:buNone/>
            </a:pPr>
            <a:r>
              <a:rPr lang="en-US" sz="1250" b="1" spc="100" kern="0" dirty="0">
                <a:solidFill>
                  <a:srgbClr val="17171B"/>
                </a:solidFill>
                <a:latin typeface="Calibri" pitchFamily="34" charset="0"/>
                <a:ea typeface="Calibri" pitchFamily="34" charset="-122"/>
                <a:cs typeface="Calibri" pitchFamily="34" charset="-120"/>
              </a:rPr>
              <a:t>LANGUAGE</a:t>
            </a:r>
            <a:endParaRPr lang="en-US" sz="1250" dirty="0"/>
          </a:p>
        </p:txBody>
      </p:sp>
      <p:sp>
        <p:nvSpPr>
          <p:cNvPr id="22" name="Text 20"/>
          <p:cNvSpPr txBox="1"/>
          <p:nvPr/>
        </p:nvSpPr>
        <p:spPr>
          <a:xfrm>
            <a:off x="6863944" y="2953512"/>
            <a:ext cx="4687672" cy="786384"/>
          </a:xfrm>
          <a:prstGeom prst="rect">
            <a:avLst/>
          </a:prstGeom>
          <a:noFill/>
          <a:ln/>
        </p:spPr>
        <p:txBody>
          <a:bodyPr wrap="square" lIns="0" tIns="0" rIns="0" bIns="0" rtlCol="0" anchor="ctr"/>
          <a:lstStyle/>
          <a:p>
            <a:pPr indent="0" marL="0">
              <a:lnSpc>
                <a:spcPct val="104000"/>
              </a:lnSpc>
              <a:buNone/>
            </a:pPr>
            <a:r>
              <a:rPr lang="en-US" sz="1050" dirty="0">
                <a:solidFill>
                  <a:srgbClr val="3E3E48"/>
                </a:solidFill>
                <a:latin typeface="Calibri" pitchFamily="34" charset="0"/>
                <a:ea typeface="Calibri" pitchFamily="34" charset="-122"/>
                <a:cs typeface="Calibri" pitchFamily="34" charset="-120"/>
              </a:rPr>
              <a:t>French in Wallonia and Brussels, Dutch in Flanders, German in the far east. English is widely spoken in cities. Open in French in Brussels and Wallonia, in Dutch or English in Flanders — the choice of language is never neutral.</a:t>
            </a:r>
            <a:endParaRPr lang="en-US" sz="1050" dirty="0"/>
          </a:p>
        </p:txBody>
      </p:sp>
      <p:sp>
        <p:nvSpPr>
          <p:cNvPr id="23" name="Shape 21"/>
          <p:cNvSpPr/>
          <p:nvPr/>
        </p:nvSpPr>
        <p:spPr>
          <a:xfrm>
            <a:off x="640080" y="3877056"/>
            <a:ext cx="420624" cy="420624"/>
          </a:xfrm>
          <a:prstGeom prst="ellipse">
            <a:avLst/>
          </a:prstGeom>
          <a:solidFill>
            <a:srgbClr val="E3B23C"/>
          </a:solidFill>
          <a:ln/>
        </p:spPr>
      </p:sp>
      <p:sp>
        <p:nvSpPr>
          <p:cNvPr id="24" name="Text 22"/>
          <p:cNvSpPr txBox="1"/>
          <p:nvPr/>
        </p:nvSpPr>
        <p:spPr>
          <a:xfrm>
            <a:off x="640080" y="3877056"/>
            <a:ext cx="420624" cy="420624"/>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5</a:t>
            </a:r>
            <a:endParaRPr lang="en-US" sz="1150" dirty="0"/>
          </a:p>
        </p:txBody>
      </p:sp>
      <p:sp>
        <p:nvSpPr>
          <p:cNvPr id="25" name="Text 23"/>
          <p:cNvSpPr txBox="1"/>
          <p:nvPr/>
        </p:nvSpPr>
        <p:spPr>
          <a:xfrm>
            <a:off x="1225296" y="3867912"/>
            <a:ext cx="4687672" cy="256032"/>
          </a:xfrm>
          <a:prstGeom prst="rect">
            <a:avLst/>
          </a:prstGeom>
          <a:noFill/>
          <a:ln/>
        </p:spPr>
        <p:txBody>
          <a:bodyPr wrap="square" lIns="0" tIns="0" rIns="0" bIns="0" rtlCol="0" anchor="ctr"/>
          <a:lstStyle/>
          <a:p>
            <a:pPr indent="0" marL="0">
              <a:buNone/>
            </a:pPr>
            <a:r>
              <a:rPr lang="en-US" sz="1250" b="1" spc="100" kern="0" dirty="0">
                <a:solidFill>
                  <a:srgbClr val="17171B"/>
                </a:solidFill>
                <a:latin typeface="Calibri" pitchFamily="34" charset="0"/>
                <a:ea typeface="Calibri" pitchFamily="34" charset="-122"/>
                <a:cs typeface="Calibri" pitchFamily="34" charset="-120"/>
              </a:rPr>
              <a:t>WHEN TO GO</a:t>
            </a:r>
            <a:endParaRPr lang="en-US" sz="1250" dirty="0"/>
          </a:p>
        </p:txBody>
      </p:sp>
      <p:sp>
        <p:nvSpPr>
          <p:cNvPr id="26" name="Text 24"/>
          <p:cNvSpPr txBox="1"/>
          <p:nvPr/>
        </p:nvSpPr>
        <p:spPr>
          <a:xfrm>
            <a:off x="1225296" y="4142232"/>
            <a:ext cx="4687672" cy="786384"/>
          </a:xfrm>
          <a:prstGeom prst="rect">
            <a:avLst/>
          </a:prstGeom>
          <a:noFill/>
          <a:ln/>
        </p:spPr>
        <p:txBody>
          <a:bodyPr wrap="square" lIns="0" tIns="0" rIns="0" bIns="0" rtlCol="0" anchor="ctr"/>
          <a:lstStyle/>
          <a:p>
            <a:pPr indent="0" marL="0">
              <a:lnSpc>
                <a:spcPct val="104000"/>
              </a:lnSpc>
              <a:buNone/>
            </a:pPr>
            <a:r>
              <a:rPr lang="en-US" sz="1050" dirty="0">
                <a:solidFill>
                  <a:srgbClr val="3E3E48"/>
                </a:solidFill>
                <a:latin typeface="Calibri" pitchFamily="34" charset="0"/>
                <a:ea typeface="Calibri" pitchFamily="34" charset="-122"/>
                <a:cs typeface="Calibri" pitchFamily="34" charset="-120"/>
              </a:rPr>
              <a:t>May to September for the best weather; December for the Christmas markets. Bring a raincoat in any month — the Belgians have a word for a downpour, une drache.</a:t>
            </a:r>
            <a:endParaRPr lang="en-US" sz="1050" dirty="0"/>
          </a:p>
        </p:txBody>
      </p:sp>
      <p:sp>
        <p:nvSpPr>
          <p:cNvPr id="27" name="Shape 25"/>
          <p:cNvSpPr/>
          <p:nvPr/>
        </p:nvSpPr>
        <p:spPr>
          <a:xfrm>
            <a:off x="6278728" y="3877056"/>
            <a:ext cx="420624" cy="420624"/>
          </a:xfrm>
          <a:prstGeom prst="ellipse">
            <a:avLst/>
          </a:prstGeom>
          <a:solidFill>
            <a:srgbClr val="E3B23C"/>
          </a:solidFill>
          <a:ln/>
        </p:spPr>
      </p:sp>
      <p:sp>
        <p:nvSpPr>
          <p:cNvPr id="28" name="Text 26"/>
          <p:cNvSpPr txBox="1"/>
          <p:nvPr/>
        </p:nvSpPr>
        <p:spPr>
          <a:xfrm>
            <a:off x="6278728" y="3877056"/>
            <a:ext cx="420624" cy="420624"/>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6</a:t>
            </a:r>
            <a:endParaRPr lang="en-US" sz="1150" dirty="0"/>
          </a:p>
        </p:txBody>
      </p:sp>
      <p:sp>
        <p:nvSpPr>
          <p:cNvPr id="29" name="Text 27"/>
          <p:cNvSpPr txBox="1"/>
          <p:nvPr/>
        </p:nvSpPr>
        <p:spPr>
          <a:xfrm>
            <a:off x="6863944" y="3867912"/>
            <a:ext cx="4687672" cy="256032"/>
          </a:xfrm>
          <a:prstGeom prst="rect">
            <a:avLst/>
          </a:prstGeom>
          <a:noFill/>
          <a:ln/>
        </p:spPr>
        <p:txBody>
          <a:bodyPr wrap="square" lIns="0" tIns="0" rIns="0" bIns="0" rtlCol="0" anchor="ctr"/>
          <a:lstStyle/>
          <a:p>
            <a:pPr indent="0" marL="0">
              <a:buNone/>
            </a:pPr>
            <a:r>
              <a:rPr lang="en-US" sz="1250" b="1" spc="100" kern="0" dirty="0">
                <a:solidFill>
                  <a:srgbClr val="17171B"/>
                </a:solidFill>
                <a:latin typeface="Calibri" pitchFamily="34" charset="0"/>
                <a:ea typeface="Calibri" pitchFamily="34" charset="-122"/>
                <a:cs typeface="Calibri" pitchFamily="34" charset="-120"/>
              </a:rPr>
              <a:t>DON'T MISS</a:t>
            </a:r>
            <a:endParaRPr lang="en-US" sz="1250" dirty="0"/>
          </a:p>
        </p:txBody>
      </p:sp>
      <p:sp>
        <p:nvSpPr>
          <p:cNvPr id="30" name="Text 28"/>
          <p:cNvSpPr txBox="1"/>
          <p:nvPr/>
        </p:nvSpPr>
        <p:spPr>
          <a:xfrm>
            <a:off x="6863944" y="4142232"/>
            <a:ext cx="4687672" cy="786384"/>
          </a:xfrm>
          <a:prstGeom prst="rect">
            <a:avLst/>
          </a:prstGeom>
          <a:noFill/>
          <a:ln/>
        </p:spPr>
        <p:txBody>
          <a:bodyPr wrap="square" lIns="0" tIns="0" rIns="0" bIns="0" rtlCol="0" anchor="ctr"/>
          <a:lstStyle/>
          <a:p>
            <a:pPr indent="0" marL="0">
              <a:lnSpc>
                <a:spcPct val="104000"/>
              </a:lnSpc>
              <a:buNone/>
            </a:pPr>
            <a:r>
              <a:rPr lang="en-US" sz="1050" dirty="0">
                <a:solidFill>
                  <a:srgbClr val="3E3E48"/>
                </a:solidFill>
                <a:latin typeface="Calibri" pitchFamily="34" charset="0"/>
                <a:ea typeface="Calibri" pitchFamily="34" charset="-122"/>
                <a:cs typeface="Calibri" pitchFamily="34" charset="-120"/>
              </a:rPr>
              <a:t>The Grand-Place lit up at night  ·  a canal boat in Bruges  ·  a cone of frites from a friterie  ·  a Trappist beer in an abbey café  ·  Dinant on the Meuse.</a:t>
            </a:r>
            <a:endParaRPr lang="en-US" sz="1050" dirty="0"/>
          </a:p>
        </p:txBody>
      </p:sp>
      <p:pic>
        <p:nvPicPr>
          <p:cNvPr id="31" name="Image 0" descr="/tmp/claude-0/-home-user-BOYNT-WORK/856f02cf-0e32-5bfe-bffb-9edb29b314f9/scratchpad/deckimg/dinant.jpg">    </p:cNvPr>
          <p:cNvPicPr>
            <a:picLocks noChangeAspect="1"/>
          </p:cNvPicPr>
          <p:nvPr/>
        </p:nvPicPr>
        <p:blipFill>
          <a:blip r:embed="rId1"/>
          <a:srcRect l="0" r="0" t="0" b="0"/>
          <a:stretch/>
        </p:blipFill>
        <p:spPr>
          <a:xfrm>
            <a:off x="640080" y="5193792"/>
            <a:ext cx="10911535" cy="713232"/>
          </a:xfrm>
          <a:prstGeom prst="rect">
            <a:avLst/>
          </a:prstGeom>
        </p:spPr>
      </p:pic>
      <p:sp>
        <p:nvSpPr>
          <p:cNvPr id="32" name="Text 29"/>
          <p:cNvSpPr txBox="1"/>
          <p:nvPr/>
        </p:nvSpPr>
        <p:spPr>
          <a:xfrm>
            <a:off x="1170432" y="5980176"/>
            <a:ext cx="10381183" cy="274320"/>
          </a:xfrm>
          <a:prstGeom prst="rect">
            <a:avLst/>
          </a:prstGeom>
          <a:noFill/>
          <a:ln/>
        </p:spPr>
        <p:txBody>
          <a:bodyPr wrap="square" lIns="0" tIns="0" rIns="0" bIns="0" rtlCol="0" anchor="ctr"/>
          <a:lstStyle/>
          <a:p>
            <a:pPr indent="0" marL="0">
              <a:buNone/>
            </a:pPr>
            <a:r>
              <a:rPr lang="en-US" sz="1000" i="1" dirty="0">
                <a:solidFill>
                  <a:srgbClr val="70707C"/>
                </a:solidFill>
                <a:latin typeface="Calibri" pitchFamily="34" charset="0"/>
                <a:ea typeface="Calibri" pitchFamily="34" charset="-122"/>
                <a:cs typeface="Calibri" pitchFamily="34" charset="-120"/>
              </a:rPr>
              <a:t>Dinant on the Meuse, in Wallonia — birthplace of Adolphe Sax, inventor of the saxophone.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7171B"/>
        </a:solidFill>
      </p:bgPr>
    </p:bg>
    <p:spTree>
      <p:nvGrpSpPr>
        <p:cNvPr id="1" name=""/>
        <p:cNvGrpSpPr/>
        <p:nvPr/>
      </p:nvGrpSpPr>
      <p:grpSpPr>
        <a:xfrm>
          <a:off x="0" y="0"/>
          <a:ext cx="0" cy="0"/>
          <a:chOff x="0" y="0"/>
          <a:chExt cx="0" cy="0"/>
        </a:xfrm>
      </p:grpSpPr>
      <p:pic>
        <p:nvPicPr>
          <p:cNvPr id="2" name="Image 0" descr="/tmp/claude-0/-home-user-BOYNT-WORK/856f02cf-0e32-5bfe-bffb-9edb29b314f9/scratchpad/deckimg/grandplace.jpg">    </p:cNvPr>
          <p:cNvPicPr>
            <a:picLocks noChangeAspect="1"/>
          </p:cNvPicPr>
          <p:nvPr/>
        </p:nvPicPr>
        <p:blipFill>
          <a:blip r:embed="rId1">
            <a:alphaModFix amt="22000"/>
          </a:blip>
          <a:srcRect l="0" r="0" t="0" b="0"/>
          <a:stretch/>
        </p:blipFill>
        <p:spPr>
          <a:xfrm>
            <a:off x="0" y="0"/>
            <a:ext cx="12191695" cy="6858000"/>
          </a:xfrm>
          <a:prstGeom prst="rect">
            <a:avLst/>
          </a:prstGeom>
        </p:spPr>
      </p:pic>
      <p:sp>
        <p:nvSpPr>
          <p:cNvPr id="3" name="Text 0"/>
          <p:cNvSpPr txBox="1"/>
          <p:nvPr/>
        </p:nvSpPr>
        <p:spPr>
          <a:xfrm>
            <a:off x="640080" y="566928"/>
            <a:ext cx="10911535" cy="274320"/>
          </a:xfrm>
          <a:prstGeom prst="rect">
            <a:avLst/>
          </a:prstGeom>
          <a:noFill/>
          <a:ln/>
        </p:spPr>
        <p:txBody>
          <a:bodyPr wrap="square" lIns="0" tIns="0" rIns="0" bIns="0" rtlCol="0" anchor="ctr"/>
          <a:lstStyle/>
          <a:p>
            <a:pPr indent="0" marL="0">
              <a:buNone/>
            </a:pPr>
            <a:r>
              <a:rPr lang="en-US" sz="1150" b="1" spc="220" kern="0" dirty="0">
                <a:solidFill>
                  <a:srgbClr val="E3B23C"/>
                </a:solidFill>
                <a:latin typeface="Calibri" pitchFamily="34" charset="0"/>
                <a:ea typeface="Calibri" pitchFamily="34" charset="-122"/>
                <a:cs typeface="Calibri" pitchFamily="34" charset="-120"/>
              </a:rPr>
              <a:t>LA BELGIQUE ET LA FRANCOPHONIE</a:t>
            </a:r>
            <a:endParaRPr lang="en-US" sz="1150" dirty="0"/>
          </a:p>
        </p:txBody>
      </p:sp>
      <p:sp>
        <p:nvSpPr>
          <p:cNvPr id="4" name="Text 1"/>
          <p:cNvSpPr txBox="1"/>
          <p:nvPr/>
        </p:nvSpPr>
        <p:spPr>
          <a:xfrm>
            <a:off x="640080" y="896112"/>
            <a:ext cx="10911535" cy="548640"/>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A French-speaking country at the centre of Europe</a:t>
            </a:r>
            <a:endParaRPr lang="en-US" sz="3100" dirty="0"/>
          </a:p>
        </p:txBody>
      </p:sp>
      <p:sp>
        <p:nvSpPr>
          <p:cNvPr id="5" name="Shape 2"/>
          <p:cNvSpPr/>
          <p:nvPr/>
        </p:nvSpPr>
        <p:spPr>
          <a:xfrm>
            <a:off x="640080" y="1828800"/>
            <a:ext cx="3393338" cy="1965960"/>
          </a:xfrm>
          <a:prstGeom prst="roundRect">
            <a:avLst>
              <a:gd name="adj" fmla="val 4186"/>
            </a:avLst>
          </a:prstGeom>
          <a:solidFill>
            <a:srgbClr val="24242C">
              <a:alpha val="88000"/>
            </a:srgbClr>
          </a:solidFill>
          <a:ln w="12700">
            <a:solidFill>
              <a:srgbClr val="42424E"/>
            </a:solidFill>
            <a:prstDash val="solid"/>
          </a:ln>
        </p:spPr>
      </p:sp>
      <p:sp>
        <p:nvSpPr>
          <p:cNvPr id="6" name="Text 3"/>
          <p:cNvSpPr txBox="1"/>
          <p:nvPr/>
        </p:nvSpPr>
        <p:spPr>
          <a:xfrm>
            <a:off x="877824" y="2048256"/>
            <a:ext cx="2917850" cy="548640"/>
          </a:xfrm>
          <a:prstGeom prst="rect">
            <a:avLst/>
          </a:prstGeom>
          <a:noFill/>
          <a:ln/>
        </p:spPr>
        <p:txBody>
          <a:bodyPr wrap="square" lIns="0" tIns="0" rIns="0" bIns="0" rtlCol="0" anchor="ctr"/>
          <a:lstStyle/>
          <a:p>
            <a:pPr indent="0" marL="0">
              <a:buNone/>
            </a:pPr>
            <a:r>
              <a:rPr lang="en-US" sz="2700" b="1" dirty="0">
                <a:solidFill>
                  <a:srgbClr val="E3B23C"/>
                </a:solidFill>
                <a:latin typeface="Cambria" pitchFamily="34" charset="0"/>
                <a:ea typeface="Cambria" pitchFamily="34" charset="-122"/>
                <a:cs typeface="Cambria" pitchFamily="34" charset="-120"/>
              </a:rPr>
              <a:t>≈ 40 %</a:t>
            </a:r>
            <a:endParaRPr lang="en-US" sz="2700" dirty="0"/>
          </a:p>
        </p:txBody>
      </p:sp>
      <p:sp>
        <p:nvSpPr>
          <p:cNvPr id="7" name="Text 4"/>
          <p:cNvSpPr txBox="1"/>
          <p:nvPr/>
        </p:nvSpPr>
        <p:spPr>
          <a:xfrm>
            <a:off x="877824" y="2651760"/>
            <a:ext cx="2917850" cy="1051560"/>
          </a:xfrm>
          <a:prstGeom prst="rect">
            <a:avLst/>
          </a:prstGeom>
          <a:noFill/>
          <a:ln/>
        </p:spPr>
        <p:txBody>
          <a:bodyPr wrap="square" lIns="0" tIns="0" rIns="0" bIns="0" rtlCol="0" anchor="ctr"/>
          <a:lstStyle/>
          <a:p>
            <a:pPr indent="0" marL="0">
              <a:lnSpc>
                <a:spcPct val="106000"/>
              </a:lnSpc>
              <a:buNone/>
            </a:pPr>
            <a:r>
              <a:rPr lang="en-US" sz="1100" dirty="0">
                <a:solidFill>
                  <a:srgbClr val="CFCFD8"/>
                </a:solidFill>
                <a:latin typeface="Calibri" pitchFamily="34" charset="0"/>
                <a:ea typeface="Calibri" pitchFamily="34" charset="-122"/>
                <a:cs typeface="Calibri" pitchFamily="34" charset="-120"/>
              </a:rPr>
              <a:t>of Belgians — roughly 4.5 million people — have French as their mother tongue, concentrated in Wallonia and Brussels.</a:t>
            </a:r>
            <a:endParaRPr lang="en-US" sz="1100" dirty="0"/>
          </a:p>
        </p:txBody>
      </p:sp>
      <p:sp>
        <p:nvSpPr>
          <p:cNvPr id="8" name="Shape 5"/>
          <p:cNvSpPr/>
          <p:nvPr/>
        </p:nvSpPr>
        <p:spPr>
          <a:xfrm>
            <a:off x="4399178" y="1828800"/>
            <a:ext cx="3393338" cy="1965960"/>
          </a:xfrm>
          <a:prstGeom prst="roundRect">
            <a:avLst>
              <a:gd name="adj" fmla="val 4186"/>
            </a:avLst>
          </a:prstGeom>
          <a:solidFill>
            <a:srgbClr val="24242C">
              <a:alpha val="88000"/>
            </a:srgbClr>
          </a:solidFill>
          <a:ln w="12700">
            <a:solidFill>
              <a:srgbClr val="42424E"/>
            </a:solidFill>
            <a:prstDash val="solid"/>
          </a:ln>
        </p:spPr>
      </p:sp>
      <p:sp>
        <p:nvSpPr>
          <p:cNvPr id="9" name="Text 6"/>
          <p:cNvSpPr txBox="1"/>
          <p:nvPr/>
        </p:nvSpPr>
        <p:spPr>
          <a:xfrm>
            <a:off x="4636922" y="2048256"/>
            <a:ext cx="2917850" cy="548640"/>
          </a:xfrm>
          <a:prstGeom prst="rect">
            <a:avLst/>
          </a:prstGeom>
          <a:noFill/>
          <a:ln/>
        </p:spPr>
        <p:txBody>
          <a:bodyPr wrap="square" lIns="0" tIns="0" rIns="0" bIns="0" rtlCol="0" anchor="ctr"/>
          <a:lstStyle/>
          <a:p>
            <a:pPr indent="0" marL="0">
              <a:buNone/>
            </a:pPr>
            <a:r>
              <a:rPr lang="en-US" sz="2700" b="1" dirty="0">
                <a:solidFill>
                  <a:srgbClr val="E3B23C"/>
                </a:solidFill>
                <a:latin typeface="Cambria" pitchFamily="34" charset="0"/>
                <a:ea typeface="Cambria" pitchFamily="34" charset="-122"/>
                <a:cs typeface="Cambria" pitchFamily="34" charset="-120"/>
              </a:rPr>
              <a:t>2 seats</a:t>
            </a:r>
            <a:endParaRPr lang="en-US" sz="2700" dirty="0"/>
          </a:p>
        </p:txBody>
      </p:sp>
      <p:sp>
        <p:nvSpPr>
          <p:cNvPr id="10" name="Text 7"/>
          <p:cNvSpPr txBox="1"/>
          <p:nvPr/>
        </p:nvSpPr>
        <p:spPr>
          <a:xfrm>
            <a:off x="4636922" y="2651760"/>
            <a:ext cx="2917850" cy="1051560"/>
          </a:xfrm>
          <a:prstGeom prst="rect">
            <a:avLst/>
          </a:prstGeom>
          <a:noFill/>
          <a:ln/>
        </p:spPr>
        <p:txBody>
          <a:bodyPr wrap="square" lIns="0" tIns="0" rIns="0" bIns="0" rtlCol="0" anchor="ctr"/>
          <a:lstStyle/>
          <a:p>
            <a:pPr indent="0" marL="0">
              <a:lnSpc>
                <a:spcPct val="106000"/>
              </a:lnSpc>
              <a:buNone/>
            </a:pPr>
            <a:r>
              <a:rPr lang="en-US" sz="1100" dirty="0">
                <a:solidFill>
                  <a:srgbClr val="CFCFD8"/>
                </a:solidFill>
                <a:latin typeface="Calibri" pitchFamily="34" charset="0"/>
                <a:ea typeface="Calibri" pitchFamily="34" charset="-122"/>
                <a:cs typeface="Calibri" pitchFamily="34" charset="-120"/>
              </a:rPr>
              <a:t>Belgium is a founding member of the Organisation internationale de la Francophonie and is represented twice: the Kingdom of Belgium, and the French Community.</a:t>
            </a:r>
            <a:endParaRPr lang="en-US" sz="1100" dirty="0"/>
          </a:p>
        </p:txBody>
      </p:sp>
      <p:sp>
        <p:nvSpPr>
          <p:cNvPr id="11" name="Shape 8"/>
          <p:cNvSpPr/>
          <p:nvPr/>
        </p:nvSpPr>
        <p:spPr>
          <a:xfrm>
            <a:off x="8158277" y="1828800"/>
            <a:ext cx="3393338" cy="1965960"/>
          </a:xfrm>
          <a:prstGeom prst="roundRect">
            <a:avLst>
              <a:gd name="adj" fmla="val 4186"/>
            </a:avLst>
          </a:prstGeom>
          <a:solidFill>
            <a:srgbClr val="24242C">
              <a:alpha val="88000"/>
            </a:srgbClr>
          </a:solidFill>
          <a:ln w="12700">
            <a:solidFill>
              <a:srgbClr val="42424E"/>
            </a:solidFill>
            <a:prstDash val="solid"/>
          </a:ln>
        </p:spPr>
      </p:sp>
      <p:sp>
        <p:nvSpPr>
          <p:cNvPr id="12" name="Text 9"/>
          <p:cNvSpPr txBox="1"/>
          <p:nvPr/>
        </p:nvSpPr>
        <p:spPr>
          <a:xfrm>
            <a:off x="8396021" y="2048256"/>
            <a:ext cx="2917850" cy="548640"/>
          </a:xfrm>
          <a:prstGeom prst="rect">
            <a:avLst/>
          </a:prstGeom>
          <a:noFill/>
          <a:ln/>
        </p:spPr>
        <p:txBody>
          <a:bodyPr wrap="square" lIns="0" tIns="0" rIns="0" bIns="0" rtlCol="0" anchor="ctr"/>
          <a:lstStyle/>
          <a:p>
            <a:pPr indent="0" marL="0">
              <a:buNone/>
            </a:pPr>
            <a:r>
              <a:rPr lang="en-US" sz="2700" b="1" dirty="0">
                <a:solidFill>
                  <a:srgbClr val="E3B23C"/>
                </a:solidFill>
                <a:latin typeface="Cambria" pitchFamily="34" charset="0"/>
                <a:ea typeface="Cambria" pitchFamily="34" charset="-122"/>
                <a:cs typeface="Cambria" pitchFamily="34" charset="-120"/>
              </a:rPr>
              <a:t>septante</a:t>
            </a:r>
            <a:endParaRPr lang="en-US" sz="2700" dirty="0"/>
          </a:p>
        </p:txBody>
      </p:sp>
      <p:sp>
        <p:nvSpPr>
          <p:cNvPr id="13" name="Text 10"/>
          <p:cNvSpPr txBox="1"/>
          <p:nvPr/>
        </p:nvSpPr>
        <p:spPr>
          <a:xfrm>
            <a:off x="8396021" y="2651760"/>
            <a:ext cx="2917850" cy="1051560"/>
          </a:xfrm>
          <a:prstGeom prst="rect">
            <a:avLst/>
          </a:prstGeom>
          <a:noFill/>
          <a:ln/>
        </p:spPr>
        <p:txBody>
          <a:bodyPr wrap="square" lIns="0" tIns="0" rIns="0" bIns="0" rtlCol="0" anchor="ctr"/>
          <a:lstStyle/>
          <a:p>
            <a:pPr indent="0" marL="0">
              <a:lnSpc>
                <a:spcPct val="106000"/>
              </a:lnSpc>
              <a:buNone/>
            </a:pPr>
            <a:r>
              <a:rPr lang="en-US" sz="1100" dirty="0">
                <a:solidFill>
                  <a:srgbClr val="CFCFD8"/>
                </a:solidFill>
                <a:latin typeface="Calibri" pitchFamily="34" charset="0"/>
                <a:ea typeface="Calibri" pitchFamily="34" charset="-122"/>
                <a:cs typeface="Calibri" pitchFamily="34" charset="-120"/>
              </a:rPr>
              <a:t>Belgian French keeps septante for 70 and nonante for 90, where France says soixante-dix and quatre-vingt-dix.</a:t>
            </a:r>
            <a:endParaRPr lang="en-US" sz="1100" dirty="0"/>
          </a:p>
        </p:txBody>
      </p:sp>
      <p:sp>
        <p:nvSpPr>
          <p:cNvPr id="14" name="Text 11"/>
          <p:cNvSpPr txBox="1"/>
          <p:nvPr/>
        </p:nvSpPr>
        <p:spPr>
          <a:xfrm>
            <a:off x="640080" y="4041648"/>
            <a:ext cx="10911535" cy="256032"/>
          </a:xfrm>
          <a:prstGeom prst="rect">
            <a:avLst/>
          </a:prstGeom>
          <a:noFill/>
          <a:ln/>
        </p:spPr>
        <p:txBody>
          <a:bodyPr wrap="square" lIns="0" tIns="0" rIns="0" bIns="0" rtlCol="0" anchor="ctr"/>
          <a:lstStyle/>
          <a:p>
            <a:pPr indent="0" marL="0">
              <a:buNone/>
            </a:pPr>
            <a:r>
              <a:rPr lang="en-US" sz="1100" b="1" spc="120" kern="0" dirty="0">
                <a:solidFill>
                  <a:srgbClr val="E3B23C"/>
                </a:solidFill>
                <a:latin typeface="Calibri" pitchFamily="34" charset="0"/>
                <a:ea typeface="Calibri" pitchFamily="34" charset="-122"/>
                <a:cs typeface="Calibri" pitchFamily="34" charset="-120"/>
              </a:rPr>
              <a:t>A few Belgicismes worth knowing</a:t>
            </a:r>
            <a:endParaRPr lang="en-US" sz="1100" dirty="0"/>
          </a:p>
        </p:txBody>
      </p:sp>
      <p:sp>
        <p:nvSpPr>
          <p:cNvPr id="15" name="Text 12"/>
          <p:cNvSpPr txBox="1"/>
          <p:nvPr/>
        </p:nvSpPr>
        <p:spPr>
          <a:xfrm>
            <a:off x="640080" y="4334256"/>
            <a:ext cx="10911535" cy="365760"/>
          </a:xfrm>
          <a:prstGeom prst="rect">
            <a:avLst/>
          </a:prstGeom>
          <a:noFill/>
          <a:ln/>
        </p:spPr>
        <p:txBody>
          <a:bodyPr wrap="square" lIns="0" tIns="0" rIns="0" bIns="0" rtlCol="0" anchor="ctr"/>
          <a:lstStyle/>
          <a:p>
            <a:pPr indent="0" marL="0">
              <a:buNone/>
            </a:pPr>
            <a:r>
              <a:rPr lang="en-US" sz="1200" dirty="0">
                <a:solidFill>
                  <a:srgbClr val="D6D6DE"/>
                </a:solidFill>
                <a:latin typeface="Calibri" pitchFamily="34" charset="0"/>
                <a:ea typeface="Calibri" pitchFamily="34" charset="-122"/>
                <a:cs typeface="Calibri" pitchFamily="34" charset="-120"/>
              </a:rPr>
              <a:t>un GSM — a mobile phone  ·  une drache — a sudden downpour  ·  faire la file — to queue  ·  savoir used where France would say pouvoir  ·  un kot — a student room</a:t>
            </a:r>
            <a:endParaRPr lang="en-US" sz="1200" dirty="0"/>
          </a:p>
        </p:txBody>
      </p:sp>
      <p:sp>
        <p:nvSpPr>
          <p:cNvPr id="16" name="Shape 13"/>
          <p:cNvSpPr/>
          <p:nvPr/>
        </p:nvSpPr>
        <p:spPr>
          <a:xfrm>
            <a:off x="640080" y="4864608"/>
            <a:ext cx="10911535" cy="1024128"/>
          </a:xfrm>
          <a:prstGeom prst="roundRect">
            <a:avLst>
              <a:gd name="adj" fmla="val 8036"/>
            </a:avLst>
          </a:prstGeom>
          <a:solidFill>
            <a:srgbClr val="E3B23C"/>
          </a:solidFill>
          <a:ln/>
        </p:spPr>
      </p:sp>
      <p:sp>
        <p:nvSpPr>
          <p:cNvPr id="17" name="Text 14"/>
          <p:cNvSpPr txBox="1"/>
          <p:nvPr/>
        </p:nvSpPr>
        <p:spPr>
          <a:xfrm>
            <a:off x="950976" y="5010912"/>
            <a:ext cx="10289743" cy="777240"/>
          </a:xfrm>
          <a:prstGeom prst="rect">
            <a:avLst/>
          </a:prstGeom>
          <a:noFill/>
          <a:ln/>
        </p:spPr>
        <p:txBody>
          <a:bodyPr wrap="square" lIns="0" tIns="0" rIns="0" bIns="0" rtlCol="0" anchor="ctr"/>
          <a:lstStyle/>
          <a:p>
            <a:pPr indent="0" marL="0">
              <a:lnSpc>
                <a:spcPct val="106000"/>
              </a:lnSpc>
              <a:buNone/>
            </a:pPr>
            <a:r>
              <a:rPr lang="en-US" sz="1250" b="1" dirty="0">
                <a:solidFill>
                  <a:srgbClr val="17171B"/>
                </a:solidFill>
                <a:latin typeface="Calibri" pitchFamily="34" charset="0"/>
                <a:ea typeface="Calibri" pitchFamily="34" charset="-122"/>
                <a:cs typeface="Calibri" pitchFamily="34" charset="-120"/>
              </a:rPr>
              <a:t>Belgium is where Germanic and Latin Europe meet. It is a small, young, complicated country that has learned to hold three languages, six parliaments and two thousand years of other people's empires — and it houses the capital of Europe while doing it.</a:t>
            </a:r>
            <a:endParaRPr lang="en-US" sz="1250" dirty="0"/>
          </a:p>
        </p:txBody>
      </p:sp>
      <p:sp>
        <p:nvSpPr>
          <p:cNvPr id="18" name="Shape 15"/>
          <p:cNvSpPr/>
          <p:nvPr/>
        </p:nvSpPr>
        <p:spPr>
          <a:xfrm>
            <a:off x="640080" y="6163056"/>
            <a:ext cx="384048" cy="384048"/>
          </a:xfrm>
          <a:prstGeom prst="ellipse">
            <a:avLst/>
          </a:prstGeom>
          <a:solidFill>
            <a:srgbClr val="E3B23C"/>
          </a:solidFill>
          <a:ln/>
        </p:spPr>
      </p:sp>
      <p:sp>
        <p:nvSpPr>
          <p:cNvPr id="19" name="Text 16"/>
          <p:cNvSpPr txBox="1"/>
          <p:nvPr/>
        </p:nvSpPr>
        <p:spPr>
          <a:xfrm>
            <a:off x="640080" y="6163056"/>
            <a:ext cx="384048" cy="384048"/>
          </a:xfrm>
          <a:prstGeom prst="rect">
            <a:avLst/>
          </a:prstGeom>
          <a:noFill/>
          <a:ln/>
        </p:spPr>
        <p:txBody>
          <a:bodyPr wrap="square" lIns="0" tIns="0" rIns="0" bIns="0" rtlCol="0" anchor="ctr"/>
          <a:lstStyle/>
          <a:p>
            <a:pPr algn="ctr" indent="0" marL="0">
              <a:buNone/>
            </a:pPr>
            <a:r>
              <a:rPr lang="en-US" sz="1200" b="1" dirty="0">
                <a:solidFill>
                  <a:srgbClr val="17171B"/>
                </a:solidFill>
                <a:latin typeface="Calibri" pitchFamily="34" charset="0"/>
                <a:ea typeface="Calibri" pitchFamily="34" charset="-122"/>
                <a:cs typeface="Calibri" pitchFamily="34" charset="-120"/>
              </a:rPr>
              <a:t>15</a:t>
            </a:r>
            <a:endParaRPr lang="en-US" sz="1200" dirty="0"/>
          </a:p>
        </p:txBody>
      </p:sp>
      <p:sp>
        <p:nvSpPr>
          <p:cNvPr id="20" name="Text 17"/>
          <p:cNvSpPr txBox="1"/>
          <p:nvPr/>
        </p:nvSpPr>
        <p:spPr>
          <a:xfrm>
            <a:off x="6035040" y="6245352"/>
            <a:ext cx="5516575" cy="237744"/>
          </a:xfrm>
          <a:prstGeom prst="rect">
            <a:avLst/>
          </a:prstGeom>
          <a:noFill/>
          <a:ln/>
        </p:spPr>
        <p:txBody>
          <a:bodyPr wrap="square" lIns="0" tIns="0" rIns="0" bIns="0" rtlCol="0" anchor="ctr"/>
          <a:lstStyle/>
          <a:p>
            <a:pPr algn="r" indent="0" marL="0">
              <a:buNone/>
            </a:pPr>
            <a:r>
              <a:rPr lang="en-US" sz="900" dirty="0">
                <a:solidFill>
                  <a:srgbClr val="8A8A96"/>
                </a:solidFill>
                <a:latin typeface="Calibri" pitchFamily="34" charset="0"/>
                <a:ea typeface="Calibri" pitchFamily="34" charset="-122"/>
                <a:cs typeface="Calibri" pitchFamily="34" charset="-120"/>
              </a:rPr>
              <a:t>La Belgique  ·  FREN 201  ·  Projet Francophonie</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10911535" cy="237744"/>
          </a:xfrm>
          <a:prstGeom prst="rect">
            <a:avLst/>
          </a:prstGeom>
          <a:noFill/>
          <a:ln/>
        </p:spPr>
        <p:txBody>
          <a:bodyPr wrap="square" lIns="0" tIns="0" rIns="0" bIns="0" rtlCol="0" anchor="ctr"/>
          <a:lstStyle/>
          <a:p>
            <a:pPr indent="0" marL="0">
              <a:buNone/>
            </a:pPr>
            <a:r>
              <a:rPr lang="en-US" sz="1150" b="1" spc="220" kern="0" dirty="0">
                <a:solidFill>
                  <a:srgbClr val="E3B23C"/>
                </a:solidFill>
                <a:latin typeface="Calibri" pitchFamily="34" charset="0"/>
                <a:ea typeface="Calibri" pitchFamily="34" charset="-122"/>
                <a:cs typeface="Calibri" pitchFamily="34" charset="-120"/>
              </a:rPr>
              <a:t>SOURCES</a:t>
            </a:r>
            <a:endParaRPr lang="en-US" sz="1150" dirty="0"/>
          </a:p>
        </p:txBody>
      </p:sp>
      <p:sp>
        <p:nvSpPr>
          <p:cNvPr id="3" name="Text 1"/>
          <p:cNvSpPr txBox="1"/>
          <p:nvPr/>
        </p:nvSpPr>
        <p:spPr>
          <a:xfrm>
            <a:off x="640080" y="676656"/>
            <a:ext cx="10911535" cy="603504"/>
          </a:xfrm>
          <a:prstGeom prst="rect">
            <a:avLst/>
          </a:prstGeom>
          <a:noFill/>
          <a:ln/>
        </p:spPr>
        <p:txBody>
          <a:bodyPr wrap="square" lIns="0" tIns="0" rIns="0" bIns="0" rtlCol="0" anchor="ctr"/>
          <a:lstStyle/>
          <a:p>
            <a:pPr indent="0" marL="0">
              <a:buNone/>
            </a:pPr>
            <a:r>
              <a:rPr lang="en-US" sz="3100" b="1" dirty="0">
                <a:solidFill>
                  <a:srgbClr val="17171B"/>
                </a:solidFill>
                <a:latin typeface="Cambria" pitchFamily="34" charset="0"/>
                <a:ea typeface="Cambria" pitchFamily="34" charset="-122"/>
                <a:cs typeface="Cambria" pitchFamily="34" charset="-120"/>
              </a:rPr>
              <a:t>Where the facts in this presentation come from</a:t>
            </a:r>
            <a:endParaRPr lang="en-US" sz="3100" dirty="0"/>
          </a:p>
        </p:txBody>
      </p:sp>
      <p:sp>
        <p:nvSpPr>
          <p:cNvPr id="4" name="Shape 2"/>
          <p:cNvSpPr/>
          <p:nvPr/>
        </p:nvSpPr>
        <p:spPr>
          <a:xfrm>
            <a:off x="640080" y="6163056"/>
            <a:ext cx="384048" cy="384048"/>
          </a:xfrm>
          <a:prstGeom prst="ellipse">
            <a:avLst/>
          </a:prstGeom>
          <a:solidFill>
            <a:srgbClr val="E3B23C"/>
          </a:solidFill>
          <a:ln/>
        </p:spPr>
      </p:sp>
      <p:sp>
        <p:nvSpPr>
          <p:cNvPr id="5" name="Text 3"/>
          <p:cNvSpPr txBox="1"/>
          <p:nvPr/>
        </p:nvSpPr>
        <p:spPr>
          <a:xfrm>
            <a:off x="640080" y="6163056"/>
            <a:ext cx="384048" cy="384048"/>
          </a:xfrm>
          <a:prstGeom prst="rect">
            <a:avLst/>
          </a:prstGeom>
          <a:noFill/>
          <a:ln/>
        </p:spPr>
        <p:txBody>
          <a:bodyPr wrap="square" lIns="0" tIns="0" rIns="0" bIns="0" rtlCol="0" anchor="ctr"/>
          <a:lstStyle/>
          <a:p>
            <a:pPr algn="ctr" indent="0" marL="0">
              <a:buNone/>
            </a:pPr>
            <a:r>
              <a:rPr lang="en-US" sz="1200" b="1" dirty="0">
                <a:solidFill>
                  <a:srgbClr val="17171B"/>
                </a:solidFill>
                <a:latin typeface="Calibri" pitchFamily="34" charset="0"/>
                <a:ea typeface="Calibri" pitchFamily="34" charset="-122"/>
                <a:cs typeface="Calibri" pitchFamily="34" charset="-120"/>
              </a:rPr>
              <a:t>16</a:t>
            </a:r>
            <a:endParaRPr lang="en-US" sz="1200" dirty="0"/>
          </a:p>
        </p:txBody>
      </p:sp>
      <p:sp>
        <p:nvSpPr>
          <p:cNvPr id="6" name="Text 4"/>
          <p:cNvSpPr txBox="1"/>
          <p:nvPr/>
        </p:nvSpPr>
        <p:spPr>
          <a:xfrm>
            <a:off x="6035040" y="6245352"/>
            <a:ext cx="5516575" cy="237744"/>
          </a:xfrm>
          <a:prstGeom prst="rect">
            <a:avLst/>
          </a:prstGeom>
          <a:noFill/>
          <a:ln/>
        </p:spPr>
        <p:txBody>
          <a:bodyPr wrap="square" lIns="0" tIns="0" rIns="0" bIns="0" rtlCol="0" anchor="ctr"/>
          <a:lstStyle/>
          <a:p>
            <a:pPr algn="r" indent="0" marL="0">
              <a:buNone/>
            </a:pPr>
            <a:r>
              <a:rPr lang="en-US" sz="900" dirty="0">
                <a:solidFill>
                  <a:srgbClr val="70707C"/>
                </a:solidFill>
                <a:latin typeface="Calibri" pitchFamily="34" charset="0"/>
                <a:ea typeface="Calibri" pitchFamily="34" charset="-122"/>
                <a:cs typeface="Calibri" pitchFamily="34" charset="-120"/>
              </a:rPr>
              <a:t>La Belgique  ·  FREN 201  ·  Projet Francophonie</a:t>
            </a:r>
            <a:endParaRPr lang="en-US" sz="900" dirty="0"/>
          </a:p>
        </p:txBody>
      </p:sp>
      <p:sp>
        <p:nvSpPr>
          <p:cNvPr id="7" name="Shape 5"/>
          <p:cNvSpPr/>
          <p:nvPr/>
        </p:nvSpPr>
        <p:spPr>
          <a:xfrm>
            <a:off x="640080" y="1499616"/>
            <a:ext cx="310896" cy="310896"/>
          </a:xfrm>
          <a:prstGeom prst="ellipse">
            <a:avLst/>
          </a:prstGeom>
          <a:solidFill>
            <a:srgbClr val="E3B23C"/>
          </a:solidFill>
          <a:ln/>
        </p:spPr>
      </p:sp>
      <p:sp>
        <p:nvSpPr>
          <p:cNvPr id="8" name="Text 6"/>
          <p:cNvSpPr txBox="1"/>
          <p:nvPr/>
        </p:nvSpPr>
        <p:spPr>
          <a:xfrm>
            <a:off x="640080" y="1499616"/>
            <a:ext cx="310896" cy="310896"/>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1</a:t>
            </a:r>
            <a:endParaRPr lang="en-US" sz="1150" dirty="0"/>
          </a:p>
        </p:txBody>
      </p:sp>
      <p:sp>
        <p:nvSpPr>
          <p:cNvPr id="9" name="Text 7"/>
          <p:cNvSpPr txBox="1"/>
          <p:nvPr/>
        </p:nvSpPr>
        <p:spPr>
          <a:xfrm>
            <a:off x="1097280" y="1481328"/>
            <a:ext cx="4023360" cy="256032"/>
          </a:xfrm>
          <a:prstGeom prst="rect">
            <a:avLst/>
          </a:prstGeom>
          <a:noFill/>
          <a:ln/>
        </p:spPr>
        <p:txBody>
          <a:bodyPr wrap="square" lIns="0" tIns="0" rIns="0" bIns="0" rtlCol="0" anchor="ctr"/>
          <a:lstStyle/>
          <a:p>
            <a:pPr indent="0" marL="0">
              <a:buNone/>
            </a:pPr>
            <a:r>
              <a:rPr lang="en-US" sz="1150" b="1" dirty="0">
                <a:solidFill>
                  <a:srgbClr val="17171B"/>
                </a:solidFill>
                <a:latin typeface="Calibri" pitchFamily="34" charset="0"/>
                <a:ea typeface="Calibri" pitchFamily="34" charset="-122"/>
                <a:cs typeface="Calibri" pitchFamily="34" charset="-120"/>
              </a:rPr>
              <a:t>belgium.be</a:t>
            </a:r>
            <a:endParaRPr lang="en-US" sz="1150" dirty="0"/>
          </a:p>
        </p:txBody>
      </p:sp>
      <p:sp>
        <p:nvSpPr>
          <p:cNvPr id="10" name="Text 8"/>
          <p:cNvSpPr txBox="1"/>
          <p:nvPr/>
        </p:nvSpPr>
        <p:spPr>
          <a:xfrm>
            <a:off x="5212080" y="1481328"/>
            <a:ext cx="6339535" cy="365760"/>
          </a:xfrm>
          <a:prstGeom prst="rect">
            <a:avLst/>
          </a:prstGeom>
          <a:noFill/>
          <a:ln/>
        </p:spPr>
        <p:txBody>
          <a:bodyPr wrap="square" lIns="0" tIns="0" rIns="0" bIns="0" rtlCol="0" anchor="ctr"/>
          <a:lstStyle/>
          <a:p>
            <a:pPr indent="0" marL="0">
              <a:buNone/>
            </a:pPr>
            <a:r>
              <a:rPr lang="en-US" sz="1100" dirty="0">
                <a:solidFill>
                  <a:srgbClr val="3E3E48"/>
                </a:solidFill>
                <a:latin typeface="Calibri" pitchFamily="34" charset="0"/>
                <a:ea typeface="Calibri" pitchFamily="34" charset="-122"/>
                <a:cs typeface="Calibri" pitchFamily="34" charset="-120"/>
              </a:rPr>
              <a:t>The federal government's official portal — history, regions and institutions.</a:t>
            </a:r>
            <a:endParaRPr lang="en-US" sz="1100" dirty="0"/>
          </a:p>
        </p:txBody>
      </p:sp>
      <p:sp>
        <p:nvSpPr>
          <p:cNvPr id="11" name="Shape 9"/>
          <p:cNvSpPr/>
          <p:nvPr/>
        </p:nvSpPr>
        <p:spPr>
          <a:xfrm>
            <a:off x="640080" y="2002536"/>
            <a:ext cx="310896" cy="310896"/>
          </a:xfrm>
          <a:prstGeom prst="ellipse">
            <a:avLst/>
          </a:prstGeom>
          <a:solidFill>
            <a:srgbClr val="E3B23C"/>
          </a:solidFill>
          <a:ln/>
        </p:spPr>
      </p:sp>
      <p:sp>
        <p:nvSpPr>
          <p:cNvPr id="12" name="Text 10"/>
          <p:cNvSpPr txBox="1"/>
          <p:nvPr/>
        </p:nvSpPr>
        <p:spPr>
          <a:xfrm>
            <a:off x="640080" y="2002536"/>
            <a:ext cx="310896" cy="310896"/>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2</a:t>
            </a:r>
            <a:endParaRPr lang="en-US" sz="1150" dirty="0"/>
          </a:p>
        </p:txBody>
      </p:sp>
      <p:sp>
        <p:nvSpPr>
          <p:cNvPr id="13" name="Text 11"/>
          <p:cNvSpPr txBox="1"/>
          <p:nvPr/>
        </p:nvSpPr>
        <p:spPr>
          <a:xfrm>
            <a:off x="1097280" y="1984248"/>
            <a:ext cx="4023360" cy="256032"/>
          </a:xfrm>
          <a:prstGeom prst="rect">
            <a:avLst/>
          </a:prstGeom>
          <a:noFill/>
          <a:ln/>
        </p:spPr>
        <p:txBody>
          <a:bodyPr wrap="square" lIns="0" tIns="0" rIns="0" bIns="0" rtlCol="0" anchor="ctr"/>
          <a:lstStyle/>
          <a:p>
            <a:pPr indent="0" marL="0">
              <a:buNone/>
            </a:pPr>
            <a:r>
              <a:rPr lang="en-US" sz="1150" b="1" dirty="0">
                <a:solidFill>
                  <a:srgbClr val="17171B"/>
                </a:solidFill>
                <a:latin typeface="Calibri" pitchFamily="34" charset="0"/>
                <a:ea typeface="Calibri" pitchFamily="34" charset="-122"/>
                <a:cs typeface="Calibri" pitchFamily="34" charset="-120"/>
              </a:rPr>
              <a:t>monarchie.be</a:t>
            </a:r>
            <a:endParaRPr lang="en-US" sz="1150" dirty="0"/>
          </a:p>
        </p:txBody>
      </p:sp>
      <p:sp>
        <p:nvSpPr>
          <p:cNvPr id="14" name="Text 12"/>
          <p:cNvSpPr txBox="1"/>
          <p:nvPr/>
        </p:nvSpPr>
        <p:spPr>
          <a:xfrm>
            <a:off x="5212080" y="1984248"/>
            <a:ext cx="6339535" cy="365760"/>
          </a:xfrm>
          <a:prstGeom prst="rect">
            <a:avLst/>
          </a:prstGeom>
          <a:noFill/>
          <a:ln/>
        </p:spPr>
        <p:txBody>
          <a:bodyPr wrap="square" lIns="0" tIns="0" rIns="0" bIns="0" rtlCol="0" anchor="ctr"/>
          <a:lstStyle/>
          <a:p>
            <a:pPr indent="0" marL="0">
              <a:buNone/>
            </a:pPr>
            <a:r>
              <a:rPr lang="en-US" sz="1100" dirty="0">
                <a:solidFill>
                  <a:srgbClr val="3E3E48"/>
                </a:solidFill>
                <a:latin typeface="Calibri" pitchFamily="34" charset="0"/>
                <a:ea typeface="Calibri" pitchFamily="34" charset="-122"/>
                <a:cs typeface="Calibri" pitchFamily="34" charset="-120"/>
              </a:rPr>
              <a:t>The Belgian Monarchy — the King's role, duties and family.</a:t>
            </a:r>
            <a:endParaRPr lang="en-US" sz="1100" dirty="0"/>
          </a:p>
        </p:txBody>
      </p:sp>
      <p:sp>
        <p:nvSpPr>
          <p:cNvPr id="15" name="Shape 13"/>
          <p:cNvSpPr/>
          <p:nvPr/>
        </p:nvSpPr>
        <p:spPr>
          <a:xfrm>
            <a:off x="640080" y="2505456"/>
            <a:ext cx="310896" cy="310896"/>
          </a:xfrm>
          <a:prstGeom prst="ellipse">
            <a:avLst/>
          </a:prstGeom>
          <a:solidFill>
            <a:srgbClr val="E3B23C"/>
          </a:solidFill>
          <a:ln/>
        </p:spPr>
      </p:sp>
      <p:sp>
        <p:nvSpPr>
          <p:cNvPr id="16" name="Text 14"/>
          <p:cNvSpPr txBox="1"/>
          <p:nvPr/>
        </p:nvSpPr>
        <p:spPr>
          <a:xfrm>
            <a:off x="640080" y="2505456"/>
            <a:ext cx="310896" cy="310896"/>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3</a:t>
            </a:r>
            <a:endParaRPr lang="en-US" sz="1150" dirty="0"/>
          </a:p>
        </p:txBody>
      </p:sp>
      <p:sp>
        <p:nvSpPr>
          <p:cNvPr id="17" name="Text 15"/>
          <p:cNvSpPr txBox="1"/>
          <p:nvPr/>
        </p:nvSpPr>
        <p:spPr>
          <a:xfrm>
            <a:off x="1097280" y="2487168"/>
            <a:ext cx="4023360" cy="256032"/>
          </a:xfrm>
          <a:prstGeom prst="rect">
            <a:avLst/>
          </a:prstGeom>
          <a:noFill/>
          <a:ln/>
        </p:spPr>
        <p:txBody>
          <a:bodyPr wrap="square" lIns="0" tIns="0" rIns="0" bIns="0" rtlCol="0" anchor="ctr"/>
          <a:lstStyle/>
          <a:p>
            <a:pPr indent="0" marL="0">
              <a:buNone/>
            </a:pPr>
            <a:r>
              <a:rPr lang="en-US" sz="1150" b="1" dirty="0">
                <a:solidFill>
                  <a:srgbClr val="17171B"/>
                </a:solidFill>
                <a:latin typeface="Calibri" pitchFamily="34" charset="0"/>
                <a:ea typeface="Calibri" pitchFamily="34" charset="-122"/>
                <a:cs typeface="Calibri" pitchFamily="34" charset="-120"/>
              </a:rPr>
              <a:t>premier.be  ·  kanselarij.belgium.be</a:t>
            </a:r>
            <a:endParaRPr lang="en-US" sz="1150" dirty="0"/>
          </a:p>
        </p:txBody>
      </p:sp>
      <p:sp>
        <p:nvSpPr>
          <p:cNvPr id="18" name="Text 16"/>
          <p:cNvSpPr txBox="1"/>
          <p:nvPr/>
        </p:nvSpPr>
        <p:spPr>
          <a:xfrm>
            <a:off x="5212080" y="2487168"/>
            <a:ext cx="6339535" cy="365760"/>
          </a:xfrm>
          <a:prstGeom prst="rect">
            <a:avLst/>
          </a:prstGeom>
          <a:noFill/>
          <a:ln/>
        </p:spPr>
        <p:txBody>
          <a:bodyPr wrap="square" lIns="0" tIns="0" rIns="0" bIns="0" rtlCol="0" anchor="ctr"/>
          <a:lstStyle/>
          <a:p>
            <a:pPr indent="0" marL="0">
              <a:buNone/>
            </a:pPr>
            <a:r>
              <a:rPr lang="en-US" sz="1100" dirty="0">
                <a:solidFill>
                  <a:srgbClr val="3E3E48"/>
                </a:solidFill>
                <a:latin typeface="Calibri" pitchFamily="34" charset="0"/>
                <a:ea typeface="Calibri" pitchFamily="34" charset="-122"/>
                <a:cs typeface="Calibri" pitchFamily="34" charset="-120"/>
              </a:rPr>
              <a:t>Office of the Prime Minister — the current federal government.</a:t>
            </a:r>
            <a:endParaRPr lang="en-US" sz="1100" dirty="0"/>
          </a:p>
        </p:txBody>
      </p:sp>
      <p:sp>
        <p:nvSpPr>
          <p:cNvPr id="19" name="Shape 17"/>
          <p:cNvSpPr/>
          <p:nvPr/>
        </p:nvSpPr>
        <p:spPr>
          <a:xfrm>
            <a:off x="640080" y="3008376"/>
            <a:ext cx="310896" cy="310896"/>
          </a:xfrm>
          <a:prstGeom prst="ellipse">
            <a:avLst/>
          </a:prstGeom>
          <a:solidFill>
            <a:srgbClr val="E3B23C"/>
          </a:solidFill>
          <a:ln/>
        </p:spPr>
      </p:sp>
      <p:sp>
        <p:nvSpPr>
          <p:cNvPr id="20" name="Text 18"/>
          <p:cNvSpPr txBox="1"/>
          <p:nvPr/>
        </p:nvSpPr>
        <p:spPr>
          <a:xfrm>
            <a:off x="640080" y="3008376"/>
            <a:ext cx="310896" cy="310896"/>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4</a:t>
            </a:r>
            <a:endParaRPr lang="en-US" sz="1150" dirty="0"/>
          </a:p>
        </p:txBody>
      </p:sp>
      <p:sp>
        <p:nvSpPr>
          <p:cNvPr id="21" name="Text 19"/>
          <p:cNvSpPr txBox="1"/>
          <p:nvPr/>
        </p:nvSpPr>
        <p:spPr>
          <a:xfrm>
            <a:off x="1097280" y="2990088"/>
            <a:ext cx="4023360" cy="256032"/>
          </a:xfrm>
          <a:prstGeom prst="rect">
            <a:avLst/>
          </a:prstGeom>
          <a:noFill/>
          <a:ln/>
        </p:spPr>
        <p:txBody>
          <a:bodyPr wrap="square" lIns="0" tIns="0" rIns="0" bIns="0" rtlCol="0" anchor="ctr"/>
          <a:lstStyle/>
          <a:p>
            <a:pPr indent="0" marL="0">
              <a:buNone/>
            </a:pPr>
            <a:r>
              <a:rPr lang="en-US" sz="1150" b="1" dirty="0">
                <a:solidFill>
                  <a:srgbClr val="17171B"/>
                </a:solidFill>
                <a:latin typeface="Calibri" pitchFamily="34" charset="0"/>
                <a:ea typeface="Calibri" pitchFamily="34" charset="-122"/>
                <a:cs typeface="Calibri" pitchFamily="34" charset="-120"/>
              </a:rPr>
              <a:t>european-union.europa.eu</a:t>
            </a:r>
            <a:endParaRPr lang="en-US" sz="1150" dirty="0"/>
          </a:p>
        </p:txBody>
      </p:sp>
      <p:sp>
        <p:nvSpPr>
          <p:cNvPr id="22" name="Text 20"/>
          <p:cNvSpPr txBox="1"/>
          <p:nvPr/>
        </p:nvSpPr>
        <p:spPr>
          <a:xfrm>
            <a:off x="5212080" y="2990088"/>
            <a:ext cx="6339535" cy="365760"/>
          </a:xfrm>
          <a:prstGeom prst="rect">
            <a:avLst/>
          </a:prstGeom>
          <a:noFill/>
          <a:ln/>
        </p:spPr>
        <p:txBody>
          <a:bodyPr wrap="square" lIns="0" tIns="0" rIns="0" bIns="0" rtlCol="0" anchor="ctr"/>
          <a:lstStyle/>
          <a:p>
            <a:pPr indent="0" marL="0">
              <a:buNone/>
            </a:pPr>
            <a:r>
              <a:rPr lang="en-US" sz="1100" dirty="0">
                <a:solidFill>
                  <a:srgbClr val="3E3E48"/>
                </a:solidFill>
                <a:latin typeface="Calibri" pitchFamily="34" charset="0"/>
                <a:ea typeface="Calibri" pitchFamily="34" charset="-122"/>
                <a:cs typeface="Calibri" pitchFamily="34" charset="-120"/>
              </a:rPr>
              <a:t>European Union country profile: Belgium.</a:t>
            </a:r>
            <a:endParaRPr lang="en-US" sz="1100" dirty="0"/>
          </a:p>
        </p:txBody>
      </p:sp>
      <p:sp>
        <p:nvSpPr>
          <p:cNvPr id="23" name="Shape 21"/>
          <p:cNvSpPr/>
          <p:nvPr/>
        </p:nvSpPr>
        <p:spPr>
          <a:xfrm>
            <a:off x="640080" y="3511296"/>
            <a:ext cx="310896" cy="310896"/>
          </a:xfrm>
          <a:prstGeom prst="ellipse">
            <a:avLst/>
          </a:prstGeom>
          <a:solidFill>
            <a:srgbClr val="E3B23C"/>
          </a:solidFill>
          <a:ln/>
        </p:spPr>
      </p:sp>
      <p:sp>
        <p:nvSpPr>
          <p:cNvPr id="24" name="Text 22"/>
          <p:cNvSpPr txBox="1"/>
          <p:nvPr/>
        </p:nvSpPr>
        <p:spPr>
          <a:xfrm>
            <a:off x="640080" y="3511296"/>
            <a:ext cx="310896" cy="310896"/>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5</a:t>
            </a:r>
            <a:endParaRPr lang="en-US" sz="1150" dirty="0"/>
          </a:p>
        </p:txBody>
      </p:sp>
      <p:sp>
        <p:nvSpPr>
          <p:cNvPr id="25" name="Text 23"/>
          <p:cNvSpPr txBox="1"/>
          <p:nvPr/>
        </p:nvSpPr>
        <p:spPr>
          <a:xfrm>
            <a:off x="1097280" y="3493008"/>
            <a:ext cx="4023360" cy="256032"/>
          </a:xfrm>
          <a:prstGeom prst="rect">
            <a:avLst/>
          </a:prstGeom>
          <a:noFill/>
          <a:ln/>
        </p:spPr>
        <p:txBody>
          <a:bodyPr wrap="square" lIns="0" tIns="0" rIns="0" bIns="0" rtlCol="0" anchor="ctr"/>
          <a:lstStyle/>
          <a:p>
            <a:pPr indent="0" marL="0">
              <a:buNone/>
            </a:pPr>
            <a:r>
              <a:rPr lang="en-US" sz="1150" b="1" dirty="0">
                <a:solidFill>
                  <a:srgbClr val="17171B"/>
                </a:solidFill>
                <a:latin typeface="Calibri" pitchFamily="34" charset="0"/>
                <a:ea typeface="Calibri" pitchFamily="34" charset="-122"/>
                <a:cs typeface="Calibri" pitchFamily="34" charset="-120"/>
              </a:rPr>
              <a:t>whc.unesco.org</a:t>
            </a:r>
            <a:endParaRPr lang="en-US" sz="1150" dirty="0"/>
          </a:p>
        </p:txBody>
      </p:sp>
      <p:sp>
        <p:nvSpPr>
          <p:cNvPr id="26" name="Text 24"/>
          <p:cNvSpPr txBox="1"/>
          <p:nvPr/>
        </p:nvSpPr>
        <p:spPr>
          <a:xfrm>
            <a:off x="5212080" y="3493008"/>
            <a:ext cx="6339535" cy="365760"/>
          </a:xfrm>
          <a:prstGeom prst="rect">
            <a:avLst/>
          </a:prstGeom>
          <a:noFill/>
          <a:ln/>
        </p:spPr>
        <p:txBody>
          <a:bodyPr wrap="square" lIns="0" tIns="0" rIns="0" bIns="0" rtlCol="0" anchor="ctr"/>
          <a:lstStyle/>
          <a:p>
            <a:pPr indent="0" marL="0">
              <a:buNone/>
            </a:pPr>
            <a:r>
              <a:rPr lang="en-US" sz="1100" dirty="0">
                <a:solidFill>
                  <a:srgbClr val="3E3E48"/>
                </a:solidFill>
                <a:latin typeface="Calibri" pitchFamily="34" charset="0"/>
                <a:ea typeface="Calibri" pitchFamily="34" charset="-122"/>
                <a:cs typeface="Calibri" pitchFamily="34" charset="-120"/>
              </a:rPr>
              <a:t>UNESCO World Heritage Centre — Belgium's listed sites and its beer culture.</a:t>
            </a:r>
            <a:endParaRPr lang="en-US" sz="1100" dirty="0"/>
          </a:p>
        </p:txBody>
      </p:sp>
      <p:sp>
        <p:nvSpPr>
          <p:cNvPr id="27" name="Shape 25"/>
          <p:cNvSpPr/>
          <p:nvPr/>
        </p:nvSpPr>
        <p:spPr>
          <a:xfrm>
            <a:off x="640080" y="4014216"/>
            <a:ext cx="310896" cy="310896"/>
          </a:xfrm>
          <a:prstGeom prst="ellipse">
            <a:avLst/>
          </a:prstGeom>
          <a:solidFill>
            <a:srgbClr val="E3B23C"/>
          </a:solidFill>
          <a:ln/>
        </p:spPr>
      </p:sp>
      <p:sp>
        <p:nvSpPr>
          <p:cNvPr id="28" name="Text 26"/>
          <p:cNvSpPr txBox="1"/>
          <p:nvPr/>
        </p:nvSpPr>
        <p:spPr>
          <a:xfrm>
            <a:off x="640080" y="4014216"/>
            <a:ext cx="310896" cy="310896"/>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6</a:t>
            </a:r>
            <a:endParaRPr lang="en-US" sz="1150" dirty="0"/>
          </a:p>
        </p:txBody>
      </p:sp>
      <p:sp>
        <p:nvSpPr>
          <p:cNvPr id="29" name="Text 27"/>
          <p:cNvSpPr txBox="1"/>
          <p:nvPr/>
        </p:nvSpPr>
        <p:spPr>
          <a:xfrm>
            <a:off x="1097280" y="3995928"/>
            <a:ext cx="4023360" cy="256032"/>
          </a:xfrm>
          <a:prstGeom prst="rect">
            <a:avLst/>
          </a:prstGeom>
          <a:noFill/>
          <a:ln/>
        </p:spPr>
        <p:txBody>
          <a:bodyPr wrap="square" lIns="0" tIns="0" rIns="0" bIns="0" rtlCol="0" anchor="ctr"/>
          <a:lstStyle/>
          <a:p>
            <a:pPr indent="0" marL="0">
              <a:buNone/>
            </a:pPr>
            <a:r>
              <a:rPr lang="en-US" sz="1150" b="1" dirty="0">
                <a:solidFill>
                  <a:srgbClr val="17171B"/>
                </a:solidFill>
                <a:latin typeface="Calibri" pitchFamily="34" charset="0"/>
                <a:ea typeface="Calibri" pitchFamily="34" charset="-122"/>
                <a:cs typeface="Calibri" pitchFamily="34" charset="-120"/>
              </a:rPr>
              <a:t>diplomatie.belgium.be</a:t>
            </a:r>
            <a:endParaRPr lang="en-US" sz="1150" dirty="0"/>
          </a:p>
        </p:txBody>
      </p:sp>
      <p:sp>
        <p:nvSpPr>
          <p:cNvPr id="30" name="Text 28"/>
          <p:cNvSpPr txBox="1"/>
          <p:nvPr/>
        </p:nvSpPr>
        <p:spPr>
          <a:xfrm>
            <a:off x="5212080" y="3995928"/>
            <a:ext cx="6339535" cy="365760"/>
          </a:xfrm>
          <a:prstGeom prst="rect">
            <a:avLst/>
          </a:prstGeom>
          <a:noFill/>
          <a:ln/>
        </p:spPr>
        <p:txBody>
          <a:bodyPr wrap="square" lIns="0" tIns="0" rIns="0" bIns="0" rtlCol="0" anchor="ctr"/>
          <a:lstStyle/>
          <a:p>
            <a:pPr indent="0" marL="0">
              <a:buNone/>
            </a:pPr>
            <a:r>
              <a:rPr lang="en-US" sz="1100" dirty="0">
                <a:solidFill>
                  <a:srgbClr val="3E3E48"/>
                </a:solidFill>
                <a:latin typeface="Calibri" pitchFamily="34" charset="0"/>
                <a:ea typeface="Calibri" pitchFamily="34" charset="-122"/>
                <a:cs typeface="Calibri" pitchFamily="34" charset="-120"/>
              </a:rPr>
              <a:t>Belgian Foreign Affairs — Belgium and the Organisation internationale de la Francophonie.</a:t>
            </a:r>
            <a:endParaRPr lang="en-US" sz="1100" dirty="0"/>
          </a:p>
        </p:txBody>
      </p:sp>
      <p:sp>
        <p:nvSpPr>
          <p:cNvPr id="31" name="Shape 29"/>
          <p:cNvSpPr/>
          <p:nvPr/>
        </p:nvSpPr>
        <p:spPr>
          <a:xfrm>
            <a:off x="640080" y="4517136"/>
            <a:ext cx="310896" cy="310896"/>
          </a:xfrm>
          <a:prstGeom prst="ellipse">
            <a:avLst/>
          </a:prstGeom>
          <a:solidFill>
            <a:srgbClr val="E3B23C"/>
          </a:solidFill>
          <a:ln/>
        </p:spPr>
      </p:sp>
      <p:sp>
        <p:nvSpPr>
          <p:cNvPr id="32" name="Text 30"/>
          <p:cNvSpPr txBox="1"/>
          <p:nvPr/>
        </p:nvSpPr>
        <p:spPr>
          <a:xfrm>
            <a:off x="640080" y="4517136"/>
            <a:ext cx="310896" cy="310896"/>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7</a:t>
            </a:r>
            <a:endParaRPr lang="en-US" sz="1150" dirty="0"/>
          </a:p>
        </p:txBody>
      </p:sp>
      <p:sp>
        <p:nvSpPr>
          <p:cNvPr id="33" name="Text 31"/>
          <p:cNvSpPr txBox="1"/>
          <p:nvPr/>
        </p:nvSpPr>
        <p:spPr>
          <a:xfrm>
            <a:off x="1097280" y="4498848"/>
            <a:ext cx="4023360" cy="256032"/>
          </a:xfrm>
          <a:prstGeom prst="rect">
            <a:avLst/>
          </a:prstGeom>
          <a:noFill/>
          <a:ln/>
        </p:spPr>
        <p:txBody>
          <a:bodyPr wrap="square" lIns="0" tIns="0" rIns="0" bIns="0" rtlCol="0" anchor="ctr"/>
          <a:lstStyle/>
          <a:p>
            <a:pPr indent="0" marL="0">
              <a:buNone/>
            </a:pPr>
            <a:r>
              <a:rPr lang="en-US" sz="1150" b="1" dirty="0">
                <a:solidFill>
                  <a:srgbClr val="17171B"/>
                </a:solidFill>
                <a:latin typeface="Calibri" pitchFamily="34" charset="0"/>
                <a:ea typeface="Calibri" pitchFamily="34" charset="-122"/>
                <a:cs typeface="Calibri" pitchFamily="34" charset="-120"/>
              </a:rPr>
              <a:t>Britannica  ·  CIA World Factbook</a:t>
            </a:r>
            <a:endParaRPr lang="en-US" sz="1150" dirty="0"/>
          </a:p>
        </p:txBody>
      </p:sp>
      <p:sp>
        <p:nvSpPr>
          <p:cNvPr id="34" name="Text 32"/>
          <p:cNvSpPr txBox="1"/>
          <p:nvPr/>
        </p:nvSpPr>
        <p:spPr>
          <a:xfrm>
            <a:off x="5212080" y="4498848"/>
            <a:ext cx="6339535" cy="365760"/>
          </a:xfrm>
          <a:prstGeom prst="rect">
            <a:avLst/>
          </a:prstGeom>
          <a:noFill/>
          <a:ln/>
        </p:spPr>
        <p:txBody>
          <a:bodyPr wrap="square" lIns="0" tIns="0" rIns="0" bIns="0" rtlCol="0" anchor="ctr"/>
          <a:lstStyle/>
          <a:p>
            <a:pPr indent="0" marL="0">
              <a:buNone/>
            </a:pPr>
            <a:r>
              <a:rPr lang="en-US" sz="1100" dirty="0">
                <a:solidFill>
                  <a:srgbClr val="3E3E48"/>
                </a:solidFill>
                <a:latin typeface="Calibri" pitchFamily="34" charset="0"/>
                <a:ea typeface="Calibri" pitchFamily="34" charset="-122"/>
                <a:cs typeface="Calibri" pitchFamily="34" charset="-120"/>
              </a:rPr>
              <a:t>Population, area, borders, coastline and general geography.</a:t>
            </a:r>
            <a:endParaRPr lang="en-US" sz="1100" dirty="0"/>
          </a:p>
        </p:txBody>
      </p:sp>
      <p:sp>
        <p:nvSpPr>
          <p:cNvPr id="35" name="Shape 33"/>
          <p:cNvSpPr/>
          <p:nvPr/>
        </p:nvSpPr>
        <p:spPr>
          <a:xfrm>
            <a:off x="640080" y="5020056"/>
            <a:ext cx="310896" cy="310896"/>
          </a:xfrm>
          <a:prstGeom prst="ellipse">
            <a:avLst/>
          </a:prstGeom>
          <a:solidFill>
            <a:srgbClr val="E3B23C"/>
          </a:solidFill>
          <a:ln/>
        </p:spPr>
      </p:sp>
      <p:sp>
        <p:nvSpPr>
          <p:cNvPr id="36" name="Text 34"/>
          <p:cNvSpPr txBox="1"/>
          <p:nvPr/>
        </p:nvSpPr>
        <p:spPr>
          <a:xfrm>
            <a:off x="640080" y="5020056"/>
            <a:ext cx="310896" cy="310896"/>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8</a:t>
            </a:r>
            <a:endParaRPr lang="en-US" sz="1150" dirty="0"/>
          </a:p>
        </p:txBody>
      </p:sp>
      <p:sp>
        <p:nvSpPr>
          <p:cNvPr id="37" name="Text 35"/>
          <p:cNvSpPr txBox="1"/>
          <p:nvPr/>
        </p:nvSpPr>
        <p:spPr>
          <a:xfrm>
            <a:off x="1097280" y="5001768"/>
            <a:ext cx="4023360" cy="256032"/>
          </a:xfrm>
          <a:prstGeom prst="rect">
            <a:avLst/>
          </a:prstGeom>
          <a:noFill/>
          <a:ln/>
        </p:spPr>
        <p:txBody>
          <a:bodyPr wrap="square" lIns="0" tIns="0" rIns="0" bIns="0" rtlCol="0" anchor="ctr"/>
          <a:lstStyle/>
          <a:p>
            <a:pPr indent="0" marL="0">
              <a:buNone/>
            </a:pPr>
            <a:r>
              <a:rPr lang="en-US" sz="1150" b="1" dirty="0">
                <a:solidFill>
                  <a:srgbClr val="17171B"/>
                </a:solidFill>
                <a:latin typeface="Calibri" pitchFamily="34" charset="0"/>
                <a:ea typeface="Calibri" pitchFamily="34" charset="-122"/>
                <a:cs typeface="Calibri" pitchFamily="34" charset="-120"/>
              </a:rPr>
              <a:t>visitflanders.com  ·  visitbruges.be  ·  visitwallonia.be</a:t>
            </a:r>
            <a:endParaRPr lang="en-US" sz="1150" dirty="0"/>
          </a:p>
        </p:txBody>
      </p:sp>
      <p:sp>
        <p:nvSpPr>
          <p:cNvPr id="38" name="Text 36"/>
          <p:cNvSpPr txBox="1"/>
          <p:nvPr/>
        </p:nvSpPr>
        <p:spPr>
          <a:xfrm>
            <a:off x="5212080" y="5001768"/>
            <a:ext cx="6339535" cy="365760"/>
          </a:xfrm>
          <a:prstGeom prst="rect">
            <a:avLst/>
          </a:prstGeom>
          <a:noFill/>
          <a:ln/>
        </p:spPr>
        <p:txBody>
          <a:bodyPr wrap="square" lIns="0" tIns="0" rIns="0" bIns="0" rtlCol="0" anchor="ctr"/>
          <a:lstStyle/>
          <a:p>
            <a:pPr indent="0" marL="0">
              <a:buNone/>
            </a:pPr>
            <a:r>
              <a:rPr lang="en-US" sz="1100" dirty="0">
                <a:solidFill>
                  <a:srgbClr val="3E3E48"/>
                </a:solidFill>
                <a:latin typeface="Calibri" pitchFamily="34" charset="0"/>
                <a:ea typeface="Calibri" pitchFamily="34" charset="-122"/>
                <a:cs typeface="Calibri" pitchFamily="34" charset="-120"/>
              </a:rPr>
              <a:t>Official tourist boards — visitor information.</a:t>
            </a:r>
            <a:endParaRPr lang="en-US" sz="1100" dirty="0"/>
          </a:p>
        </p:txBody>
      </p:sp>
      <p:sp>
        <p:nvSpPr>
          <p:cNvPr id="39" name="Text 37"/>
          <p:cNvSpPr txBox="1"/>
          <p:nvPr/>
        </p:nvSpPr>
        <p:spPr>
          <a:xfrm>
            <a:off x="1170432" y="5705856"/>
            <a:ext cx="10381183" cy="640080"/>
          </a:xfrm>
          <a:prstGeom prst="rect">
            <a:avLst/>
          </a:prstGeom>
          <a:noFill/>
          <a:ln/>
        </p:spPr>
        <p:txBody>
          <a:bodyPr wrap="square" lIns="0" tIns="0" rIns="0" bIns="0" rtlCol="0" anchor="ctr"/>
          <a:lstStyle/>
          <a:p>
            <a:pPr indent="0" marL="0">
              <a:lnSpc>
                <a:spcPct val="106000"/>
              </a:lnSpc>
              <a:buNone/>
            </a:pPr>
            <a:r>
              <a:rPr lang="en-US" sz="1000" i="1" dirty="0">
                <a:solidFill>
                  <a:srgbClr val="70707C"/>
                </a:solidFill>
                <a:latin typeface="Calibri" pitchFamily="34" charset="0"/>
                <a:ea typeface="Calibri" pitchFamily="34" charset="-122"/>
                <a:cs typeface="Calibri" pitchFamily="34" charset="-120"/>
              </a:rPr>
              <a:t>Photographs licensed from Adobe Stock. The map of Europe is the blank outline map supplied with the assignment, with Belgium marked and its neighbours labelled; the map of Belgium's regions was drawn from that same outline. Language and community boundaries are shown approximately.</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Belgique</dc:title>
  <dc:subject>PptxGenJS Presentation</dc:subject>
  <dc:creator>FREN 201 — Projet Francophonie</dc:creator>
  <cp:lastModifiedBy>FREN 201 — Projet Francophonie</cp:lastModifiedBy>
  <cp:revision>1</cp:revision>
  <dcterms:created xsi:type="dcterms:W3CDTF">2026-09-03T21:07:57Z</dcterms:created>
  <dcterms:modified xsi:type="dcterms:W3CDTF">2026-09-03T21:07:57Z</dcterms:modified>
</cp:coreProperties>
</file>