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Petits financiers are small French cakes made with almond flour, egg whites, sugar and brown butter. Today we'll cover their history, when French people eat them, the recipe, and how to make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ancestor of the financier is the visitandine, made by Visitation nuns in Nancy in the 1600s. Around 1890 the Parisian pastry chef Lasne, near the stock exchange, made them rectangular like gold bars, and the busy financiers who bought them gave the cake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Financiers are eaten at goûter (afternoon snack), with coffee or tea, as petits fours after a meal, and as gifts. They're best at room temperature on the day they're baked.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full printable recipe. The next slides go through the ingredients, tools and each step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Financiers use almond flour, a little plain flour, powdered sugar, egg whites and brown butter. The brown butter is the key flavour.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special tool is the rectangular financier mould. Everything else is basic: scale, saucepan, sieve, whisk and bowl, pastry brush, piping bag, spatula, cooling rack and an 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Brown the butter. Melt the butter in a small pan over medium heat. Keep cooking 5–7 min, swirling, until it foams, smells nutty and turns golden-brown. Strain and let cool until just warm. Step 2: Prepare the oven &amp; moulds. Preheat to 200°C / 400°F. Brush the moulds with soft butter so the cakes release easily. Step 3: Mix the dry ingredients. Sift the almond flour, plain flour, powdered sugar and salt into a bowl to remove lumps. Step 4: Add the egg whites. Pour in the egg whites and stir with a whisk until smooth. Don't beat them to foam — just combine.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Add the brown butter. Slowly pour in the warm brown butter (and vanilla), whisking until the batter is glossy. Step 6: Rest the batter. Chill for 30 minutes (or up to overnight). This gives a better rise and texture. Step 7: Fill &amp; top. Spoon or pipe the batter into the moulds about ¾ full. Add flaked almonds or a raspberry if you like. Step 8: Bake &amp; cool. Bake 12–15 min until the edges are golden and the tops spring back. Cool 5 min, then unmould onto a 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tips for success and popular flavour variations.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418"/>
        </a:solidFill>
      </p:bgPr>
    </p:bg>
    <p:spTree>
      <p:nvGrpSpPr>
        <p:cNvPr id="1" name=""/>
        <p:cNvGrpSpPr/>
        <p:nvPr/>
      </p:nvGrpSpPr>
      <p:grpSpPr>
        <a:xfrm>
          <a:off x="0" y="0"/>
          <a:ext cx="0" cy="0"/>
          <a:chOff x="0" y="0"/>
          <a:chExt cx="0" cy="0"/>
        </a:xfrm>
      </p:grpSpPr>
      <p:sp>
        <p:nvSpPr>
          <p:cNvPr id="2" name="Shape 0"/>
          <p:cNvSpPr/>
          <p:nvPr/>
        </p:nvSpPr>
        <p:spPr>
          <a:xfrm>
            <a:off x="7498080" y="2011680"/>
            <a:ext cx="3291840" cy="1188720"/>
          </a:xfrm>
          <a:prstGeom prst="roundRect">
            <a:avLst>
              <a:gd name="adj" fmla="val 6154"/>
            </a:avLst>
          </a:prstGeom>
          <a:solidFill>
            <a:srgbClr val="C8963E"/>
          </a:solidFill>
          <a:ln w="19050">
            <a:solidFill>
              <a:srgbClr val="8A5A2B"/>
            </a:solidFill>
            <a:prstDash val="solid"/>
          </a:ln>
          <a:effectLst>
            <a:outerShdw sx="100000" sy="100000" kx="0" ky="0" algn="bl" rotWithShape="0" blurRad="76200" dist="38100" dir="5400000">
              <a:srgbClr val="000000">
                <a:alpha val="35000"/>
              </a:srgbClr>
            </a:outerShdw>
          </a:effectLst>
        </p:spPr>
      </p:sp>
      <p:sp>
        <p:nvSpPr>
          <p:cNvPr id="3" name="Shape 1"/>
          <p:cNvSpPr/>
          <p:nvPr/>
        </p:nvSpPr>
        <p:spPr>
          <a:xfrm>
            <a:off x="7761427" y="2189988"/>
            <a:ext cx="2765146" cy="416052"/>
          </a:xfrm>
          <a:prstGeom prst="roundRect">
            <a:avLst>
              <a:gd name="adj" fmla="val 10989"/>
            </a:avLst>
          </a:prstGeom>
          <a:solidFill>
            <a:srgbClr val="E0B566"/>
          </a:solidFill>
          <a:ln w="12700">
            <a:solidFill>
              <a:srgbClr val="E0B566"/>
            </a:solidFill>
            <a:prstDash val="solid"/>
          </a:ln>
        </p:spPr>
      </p:sp>
      <p:sp>
        <p:nvSpPr>
          <p:cNvPr id="4" name="Shape 2"/>
          <p:cNvSpPr/>
          <p:nvPr/>
        </p:nvSpPr>
        <p:spPr>
          <a:xfrm>
            <a:off x="8229600" y="3566160"/>
            <a:ext cx="3291840" cy="1188720"/>
          </a:xfrm>
          <a:prstGeom prst="roundRect">
            <a:avLst>
              <a:gd name="adj" fmla="val 6154"/>
            </a:avLst>
          </a:prstGeom>
          <a:solidFill>
            <a:srgbClr val="C8963E"/>
          </a:solidFill>
          <a:ln w="19050">
            <a:solidFill>
              <a:srgbClr val="8A5A2B"/>
            </a:solidFill>
            <a:prstDash val="solid"/>
          </a:ln>
          <a:effectLst>
            <a:outerShdw sx="100000" sy="100000" kx="0" ky="0" algn="bl" rotWithShape="0" blurRad="76200" dist="38100" dir="5400000">
              <a:srgbClr val="000000">
                <a:alpha val="35000"/>
              </a:srgbClr>
            </a:outerShdw>
          </a:effectLst>
        </p:spPr>
      </p:sp>
      <p:sp>
        <p:nvSpPr>
          <p:cNvPr id="5" name="Shape 3"/>
          <p:cNvSpPr/>
          <p:nvPr/>
        </p:nvSpPr>
        <p:spPr>
          <a:xfrm>
            <a:off x="8492947" y="3744468"/>
            <a:ext cx="2765146" cy="416052"/>
          </a:xfrm>
          <a:prstGeom prst="roundRect">
            <a:avLst>
              <a:gd name="adj" fmla="val 10989"/>
            </a:avLst>
          </a:prstGeom>
          <a:solidFill>
            <a:srgbClr val="E0B566"/>
          </a:solidFill>
          <a:ln w="12700">
            <a:solidFill>
              <a:srgbClr val="E0B566"/>
            </a:solidFill>
            <a:prstDash val="solid"/>
          </a:ln>
        </p:spPr>
      </p:sp>
      <p:sp>
        <p:nvSpPr>
          <p:cNvPr id="6" name="Shape 4"/>
          <p:cNvSpPr/>
          <p:nvPr/>
        </p:nvSpPr>
        <p:spPr>
          <a:xfrm>
            <a:off x="6949440" y="4937760"/>
            <a:ext cx="2743200" cy="1005840"/>
          </a:xfrm>
          <a:prstGeom prst="roundRect">
            <a:avLst>
              <a:gd name="adj" fmla="val 7273"/>
            </a:avLst>
          </a:prstGeom>
          <a:solidFill>
            <a:srgbClr val="C8963E"/>
          </a:solidFill>
          <a:ln w="19050">
            <a:solidFill>
              <a:srgbClr val="8A5A2B"/>
            </a:solidFill>
            <a:prstDash val="solid"/>
          </a:ln>
          <a:effectLst>
            <a:outerShdw sx="100000" sy="100000" kx="0" ky="0" algn="bl" rotWithShape="0" blurRad="76200" dist="38100" dir="5400000">
              <a:srgbClr val="000000">
                <a:alpha val="35000"/>
              </a:srgbClr>
            </a:outerShdw>
          </a:effectLst>
        </p:spPr>
      </p:sp>
      <p:sp>
        <p:nvSpPr>
          <p:cNvPr id="7" name="Shape 5"/>
          <p:cNvSpPr/>
          <p:nvPr/>
        </p:nvSpPr>
        <p:spPr>
          <a:xfrm>
            <a:off x="7168896" y="5088636"/>
            <a:ext cx="2304288" cy="352044"/>
          </a:xfrm>
          <a:prstGeom prst="roundRect">
            <a:avLst>
              <a:gd name="adj" fmla="val 12987"/>
            </a:avLst>
          </a:prstGeom>
          <a:solidFill>
            <a:srgbClr val="E0B566"/>
          </a:solidFill>
          <a:ln w="12700">
            <a:solidFill>
              <a:srgbClr val="E0B566"/>
            </a:solidFill>
            <a:prstDash val="solid"/>
          </a:ln>
        </p:spPr>
      </p:sp>
      <p:sp>
        <p:nvSpPr>
          <p:cNvPr id="8" name="Text 6"/>
          <p:cNvSpPr txBox="1"/>
          <p:nvPr/>
        </p:nvSpPr>
        <p:spPr>
          <a:xfrm>
            <a:off x="640080" y="1828800"/>
            <a:ext cx="658368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Petits Financiers</a:t>
            </a:r>
            <a:endParaRPr lang="en-US" sz="5400" dirty="0"/>
          </a:p>
        </p:txBody>
      </p:sp>
      <p:sp>
        <p:nvSpPr>
          <p:cNvPr id="9" name="Text 7"/>
          <p:cNvSpPr txBox="1"/>
          <p:nvPr/>
        </p:nvSpPr>
        <p:spPr>
          <a:xfrm>
            <a:off x="640080" y="3017520"/>
            <a:ext cx="6400800" cy="548640"/>
          </a:xfrm>
          <a:prstGeom prst="rect">
            <a:avLst/>
          </a:prstGeom>
          <a:noFill/>
          <a:ln/>
        </p:spPr>
        <p:txBody>
          <a:bodyPr wrap="square" lIns="0" tIns="0" rIns="0" bIns="0" rtlCol="0" anchor="ctr"/>
          <a:lstStyle/>
          <a:p>
            <a:pPr indent="0" marL="0">
              <a:buNone/>
            </a:pPr>
            <a:r>
              <a:rPr lang="en-US" sz="2200" i="1" dirty="0">
                <a:solidFill>
                  <a:srgbClr val="C8963E"/>
                </a:solidFill>
                <a:latin typeface="Cambria" pitchFamily="34" charset="0"/>
                <a:ea typeface="Cambria" pitchFamily="34" charset="-122"/>
                <a:cs typeface="Cambria" pitchFamily="34" charset="-120"/>
              </a:rPr>
              <a:t>The little golden almond cakes of France</a:t>
            </a:r>
            <a:endParaRPr lang="en-US" sz="2200" dirty="0"/>
          </a:p>
        </p:txBody>
      </p:sp>
      <p:sp>
        <p:nvSpPr>
          <p:cNvPr id="10" name="Text 8"/>
          <p:cNvSpPr txBox="1"/>
          <p:nvPr/>
        </p:nvSpPr>
        <p:spPr>
          <a:xfrm>
            <a:off x="640080" y="4023360"/>
            <a:ext cx="6217920" cy="731520"/>
          </a:xfrm>
          <a:prstGeom prst="rect">
            <a:avLst/>
          </a:prstGeom>
          <a:noFill/>
          <a:ln/>
        </p:spPr>
        <p:txBody>
          <a:bodyPr wrap="square" lIns="0" tIns="0" rIns="0" bIns="0" rtlCol="0" anchor="ctr"/>
          <a:lstStyle/>
          <a:p>
            <a:pPr indent="0" marL="0">
              <a:buNone/>
            </a:pPr>
            <a:r>
              <a:rPr lang="en-US" sz="1500" dirty="0">
                <a:solidFill>
                  <a:srgbClr val="E8DCCB"/>
                </a:solidFill>
                <a:latin typeface="Calibri" pitchFamily="34" charset="0"/>
                <a:ea typeface="Calibri" pitchFamily="34" charset="-122"/>
                <a:cs typeface="Calibri" pitchFamily="34" charset="-120"/>
              </a:rPr>
              <a:t>History  ·  How &amp; when they're eaten  ·  Recipe  ·  Ingredients &amp; tools  ·  Method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800" b="1" dirty="0">
                <a:solidFill>
                  <a:srgbClr val="3B2418"/>
                </a:solidFill>
                <a:latin typeface="Cambria" pitchFamily="34" charset="0"/>
                <a:ea typeface="Cambria" pitchFamily="34" charset="-122"/>
                <a:cs typeface="Cambria" pitchFamily="34" charset="-120"/>
              </a:rPr>
              <a:t>A Brief History</a:t>
            </a:r>
            <a:endParaRPr lang="en-US" sz="38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i="1" dirty="0">
                <a:solidFill>
                  <a:srgbClr val="6E5A4B"/>
                </a:solidFill>
                <a:latin typeface="Calibri" pitchFamily="34" charset="0"/>
                <a:ea typeface="Calibri" pitchFamily="34" charset="-122"/>
                <a:cs typeface="Calibri" pitchFamily="34" charset="-120"/>
              </a:rPr>
              <a:t>From a convent kitchen to the Paris stock exchange</a:t>
            </a:r>
            <a:endParaRPr lang="en-US" sz="1600" dirty="0"/>
          </a:p>
        </p:txBody>
      </p:sp>
      <p:sp>
        <p:nvSpPr>
          <p:cNvPr id="4" name="Shape 2"/>
          <p:cNvSpPr/>
          <p:nvPr/>
        </p:nvSpPr>
        <p:spPr>
          <a:xfrm>
            <a:off x="1051560" y="2331720"/>
            <a:ext cx="8298180" cy="0"/>
          </a:xfrm>
          <a:prstGeom prst="line">
            <a:avLst/>
          </a:prstGeom>
          <a:noFill/>
          <a:ln w="38100">
            <a:solidFill>
              <a:srgbClr val="C8963E"/>
            </a:solidFill>
            <a:prstDash val="solid"/>
          </a:ln>
        </p:spPr>
      </p:sp>
      <p:sp>
        <p:nvSpPr>
          <p:cNvPr id="5" name="Shape 3"/>
          <p:cNvSpPr/>
          <p:nvPr/>
        </p:nvSpPr>
        <p:spPr>
          <a:xfrm>
            <a:off x="594360" y="1874520"/>
            <a:ext cx="914400" cy="914400"/>
          </a:xfrm>
          <a:prstGeom prst="ellipse">
            <a:avLst/>
          </a:prstGeom>
          <a:solidFill>
            <a:srgbClr val="3B2418"/>
          </a:solidFill>
          <a:ln w="12700">
            <a:solidFill>
              <a:srgbClr val="3B2418"/>
            </a:solidFill>
            <a:prstDash val="solid"/>
          </a:ln>
        </p:spPr>
      </p:sp>
      <p:pic>
        <p:nvPicPr>
          <p:cNvPr id="6" name="Image 0" descr="preencoded.png">    </p:cNvPr>
          <p:cNvPicPr>
            <a:picLocks noChangeAspect="1"/>
          </p:cNvPicPr>
          <p:nvPr/>
        </p:nvPicPr>
        <p:blipFill>
          <a:blip r:embed="rId1"/>
          <a:stretch>
            <a:fillRect/>
          </a:stretch>
        </p:blipFill>
        <p:spPr>
          <a:xfrm>
            <a:off x="822960" y="2103120"/>
            <a:ext cx="457200" cy="457200"/>
          </a:xfrm>
          <a:prstGeom prst="rect">
            <a:avLst/>
          </a:prstGeom>
        </p:spPr>
      </p:pic>
      <p:sp>
        <p:nvSpPr>
          <p:cNvPr id="7" name="Text 4"/>
          <p:cNvSpPr txBox="1"/>
          <p:nvPr/>
        </p:nvSpPr>
        <p:spPr>
          <a:xfrm>
            <a:off x="548640" y="2971800"/>
            <a:ext cx="2491740" cy="502920"/>
          </a:xfrm>
          <a:prstGeom prst="rect">
            <a:avLst/>
          </a:prstGeom>
          <a:noFill/>
          <a:ln/>
        </p:spPr>
        <p:txBody>
          <a:bodyPr wrap="square" lIns="0" tIns="0" rIns="0" bIns="0" rtlCol="0" anchor="ctr"/>
          <a:lstStyle/>
          <a:p>
            <a:pPr indent="0" marL="0">
              <a:buNone/>
            </a:pPr>
            <a:r>
              <a:rPr lang="en-US" sz="2400" b="1" dirty="0">
                <a:solidFill>
                  <a:srgbClr val="8A5A2B"/>
                </a:solidFill>
                <a:latin typeface="Cambria" pitchFamily="34" charset="0"/>
                <a:ea typeface="Cambria" pitchFamily="34" charset="-122"/>
                <a:cs typeface="Cambria" pitchFamily="34" charset="-120"/>
              </a:rPr>
              <a:t>1600s</a:t>
            </a:r>
            <a:endParaRPr lang="en-US" sz="2400" dirty="0"/>
          </a:p>
        </p:txBody>
      </p:sp>
      <p:sp>
        <p:nvSpPr>
          <p:cNvPr id="8" name="Text 5"/>
          <p:cNvSpPr txBox="1"/>
          <p:nvPr/>
        </p:nvSpPr>
        <p:spPr>
          <a:xfrm>
            <a:off x="548640" y="3474720"/>
            <a:ext cx="2491740" cy="365760"/>
          </a:xfrm>
          <a:prstGeom prst="rect">
            <a:avLst/>
          </a:prstGeom>
          <a:noFill/>
          <a:ln/>
        </p:spPr>
        <p:txBody>
          <a:bodyPr wrap="square" lIns="0" tIns="0" rIns="0" bIns="0" rtlCol="0" anchor="ctr"/>
          <a:lstStyle/>
          <a:p>
            <a:pPr indent="0" marL="0">
              <a:buNone/>
            </a:pPr>
            <a:r>
              <a:rPr lang="en-US" sz="1500" b="1" dirty="0">
                <a:solidFill>
                  <a:srgbClr val="2A1D15"/>
                </a:solidFill>
                <a:latin typeface="Calibri" pitchFamily="34" charset="0"/>
                <a:ea typeface="Calibri" pitchFamily="34" charset="-122"/>
                <a:cs typeface="Calibri" pitchFamily="34" charset="-120"/>
              </a:rPr>
              <a:t>Nancy, Lorraine</a:t>
            </a:r>
            <a:endParaRPr lang="en-US" sz="1500" dirty="0"/>
          </a:p>
        </p:txBody>
      </p:sp>
      <p:sp>
        <p:nvSpPr>
          <p:cNvPr id="9" name="Text 6"/>
          <p:cNvSpPr txBox="1"/>
          <p:nvPr/>
        </p:nvSpPr>
        <p:spPr>
          <a:xfrm>
            <a:off x="548640" y="3931920"/>
            <a:ext cx="2446020" cy="2011680"/>
          </a:xfrm>
          <a:prstGeom prst="rect">
            <a:avLst/>
          </a:prstGeom>
          <a:noFill/>
          <a:ln/>
        </p:spPr>
        <p:txBody>
          <a:bodyPr wrap="square" lIns="0" tIns="0" rIns="0" bIns="0" rtlCol="0" anchor="t"/>
          <a:lstStyle/>
          <a:p>
            <a:pPr indent="0" marL="0">
              <a:buNone/>
            </a:pPr>
            <a:r>
              <a:rPr lang="en-US" sz="1400" dirty="0">
                <a:solidFill>
                  <a:srgbClr val="6E5A4B"/>
                </a:solidFill>
                <a:latin typeface="Calibri" pitchFamily="34" charset="0"/>
                <a:ea typeface="Calibri" pitchFamily="34" charset="-122"/>
                <a:cs typeface="Calibri" pitchFamily="34" charset="-120"/>
              </a:rPr>
              <a:t>Nuns of the Order of the Visitation bake small almond cakes called "visitandines" — a way to use up leftover egg whites.</a:t>
            </a:r>
            <a:endParaRPr lang="en-US" sz="1400" dirty="0"/>
          </a:p>
        </p:txBody>
      </p:sp>
      <p:sp>
        <p:nvSpPr>
          <p:cNvPr id="10" name="Shape 7"/>
          <p:cNvSpPr/>
          <p:nvPr/>
        </p:nvSpPr>
        <p:spPr>
          <a:xfrm>
            <a:off x="3360420" y="1874520"/>
            <a:ext cx="914400" cy="914400"/>
          </a:xfrm>
          <a:prstGeom prst="ellipse">
            <a:avLst/>
          </a:prstGeom>
          <a:solidFill>
            <a:srgbClr val="3B2418"/>
          </a:solidFill>
          <a:ln w="12700">
            <a:solidFill>
              <a:srgbClr val="3B2418"/>
            </a:solidFill>
            <a:prstDash val="solid"/>
          </a:ln>
        </p:spPr>
      </p:sp>
      <p:pic>
        <p:nvPicPr>
          <p:cNvPr id="11" name="Image 1" descr="preencoded.png">    </p:cNvPr>
          <p:cNvPicPr>
            <a:picLocks noChangeAspect="1"/>
          </p:cNvPicPr>
          <p:nvPr/>
        </p:nvPicPr>
        <p:blipFill>
          <a:blip r:embed="rId2"/>
          <a:stretch>
            <a:fillRect/>
          </a:stretch>
        </p:blipFill>
        <p:spPr>
          <a:xfrm>
            <a:off x="3589020" y="2103120"/>
            <a:ext cx="457200" cy="457200"/>
          </a:xfrm>
          <a:prstGeom prst="rect">
            <a:avLst/>
          </a:prstGeom>
        </p:spPr>
      </p:pic>
      <p:sp>
        <p:nvSpPr>
          <p:cNvPr id="12" name="Text 8"/>
          <p:cNvSpPr txBox="1"/>
          <p:nvPr/>
        </p:nvSpPr>
        <p:spPr>
          <a:xfrm>
            <a:off x="3314700" y="2971800"/>
            <a:ext cx="2491740" cy="502920"/>
          </a:xfrm>
          <a:prstGeom prst="rect">
            <a:avLst/>
          </a:prstGeom>
          <a:noFill/>
          <a:ln/>
        </p:spPr>
        <p:txBody>
          <a:bodyPr wrap="square" lIns="0" tIns="0" rIns="0" bIns="0" rtlCol="0" anchor="ctr"/>
          <a:lstStyle/>
          <a:p>
            <a:pPr indent="0" marL="0">
              <a:buNone/>
            </a:pPr>
            <a:r>
              <a:rPr lang="en-US" sz="2400" b="1" dirty="0">
                <a:solidFill>
                  <a:srgbClr val="8A5A2B"/>
                </a:solidFill>
                <a:latin typeface="Cambria" pitchFamily="34" charset="0"/>
                <a:ea typeface="Cambria" pitchFamily="34" charset="-122"/>
                <a:cs typeface="Cambria" pitchFamily="34" charset="-120"/>
              </a:rPr>
              <a:t>1890</a:t>
            </a:r>
            <a:endParaRPr lang="en-US" sz="2400" dirty="0"/>
          </a:p>
        </p:txBody>
      </p:sp>
      <p:sp>
        <p:nvSpPr>
          <p:cNvPr id="13" name="Text 9"/>
          <p:cNvSpPr txBox="1"/>
          <p:nvPr/>
        </p:nvSpPr>
        <p:spPr>
          <a:xfrm>
            <a:off x="3314700" y="3474720"/>
            <a:ext cx="2491740" cy="365760"/>
          </a:xfrm>
          <a:prstGeom prst="rect">
            <a:avLst/>
          </a:prstGeom>
          <a:noFill/>
          <a:ln/>
        </p:spPr>
        <p:txBody>
          <a:bodyPr wrap="square" lIns="0" tIns="0" rIns="0" bIns="0" rtlCol="0" anchor="ctr"/>
          <a:lstStyle/>
          <a:p>
            <a:pPr indent="0" marL="0">
              <a:buNone/>
            </a:pPr>
            <a:r>
              <a:rPr lang="en-US" sz="1500" b="1" dirty="0">
                <a:solidFill>
                  <a:srgbClr val="2A1D15"/>
                </a:solidFill>
                <a:latin typeface="Calibri" pitchFamily="34" charset="0"/>
                <a:ea typeface="Calibri" pitchFamily="34" charset="-122"/>
                <a:cs typeface="Calibri" pitchFamily="34" charset="-120"/>
              </a:rPr>
              <a:t>Paris</a:t>
            </a:r>
            <a:endParaRPr lang="en-US" sz="1500" dirty="0"/>
          </a:p>
        </p:txBody>
      </p:sp>
      <p:sp>
        <p:nvSpPr>
          <p:cNvPr id="14" name="Text 10"/>
          <p:cNvSpPr txBox="1"/>
          <p:nvPr/>
        </p:nvSpPr>
        <p:spPr>
          <a:xfrm>
            <a:off x="3314700" y="3931920"/>
            <a:ext cx="2446020" cy="2011680"/>
          </a:xfrm>
          <a:prstGeom prst="rect">
            <a:avLst/>
          </a:prstGeom>
          <a:noFill/>
          <a:ln/>
        </p:spPr>
        <p:txBody>
          <a:bodyPr wrap="square" lIns="0" tIns="0" rIns="0" bIns="0" rtlCol="0" anchor="t"/>
          <a:lstStyle/>
          <a:p>
            <a:pPr indent="0" marL="0">
              <a:buNone/>
            </a:pPr>
            <a:r>
              <a:rPr lang="en-US" sz="1400" dirty="0">
                <a:solidFill>
                  <a:srgbClr val="6E5A4B"/>
                </a:solidFill>
                <a:latin typeface="Calibri" pitchFamily="34" charset="0"/>
                <a:ea typeface="Calibri" pitchFamily="34" charset="-122"/>
                <a:cs typeface="Calibri" pitchFamily="34" charset="-120"/>
              </a:rPr>
              <a:t>Pastry chef Lasne, whose shop was near the Paris Bourse (stock exchange), reshapes the cake into a small rectangle.</a:t>
            </a:r>
            <a:endParaRPr lang="en-US" sz="1400" dirty="0"/>
          </a:p>
        </p:txBody>
      </p:sp>
      <p:sp>
        <p:nvSpPr>
          <p:cNvPr id="15" name="Shape 11"/>
          <p:cNvSpPr/>
          <p:nvPr/>
        </p:nvSpPr>
        <p:spPr>
          <a:xfrm>
            <a:off x="6126480" y="1874520"/>
            <a:ext cx="914400" cy="914400"/>
          </a:xfrm>
          <a:prstGeom prst="ellipse">
            <a:avLst/>
          </a:prstGeom>
          <a:solidFill>
            <a:srgbClr val="3B2418"/>
          </a:solidFill>
          <a:ln w="12700">
            <a:solidFill>
              <a:srgbClr val="3B2418"/>
            </a:solidFill>
            <a:prstDash val="solid"/>
          </a:ln>
        </p:spPr>
      </p:sp>
      <p:pic>
        <p:nvPicPr>
          <p:cNvPr id="16" name="Image 2" descr="preencoded.png">    </p:cNvPr>
          <p:cNvPicPr>
            <a:picLocks noChangeAspect="1"/>
          </p:cNvPicPr>
          <p:nvPr/>
        </p:nvPicPr>
        <p:blipFill>
          <a:blip r:embed="rId3"/>
          <a:stretch>
            <a:fillRect/>
          </a:stretch>
        </p:blipFill>
        <p:spPr>
          <a:xfrm>
            <a:off x="6355080" y="2103120"/>
            <a:ext cx="457200" cy="457200"/>
          </a:xfrm>
          <a:prstGeom prst="rect">
            <a:avLst/>
          </a:prstGeom>
        </p:spPr>
      </p:pic>
      <p:sp>
        <p:nvSpPr>
          <p:cNvPr id="17" name="Text 12"/>
          <p:cNvSpPr txBox="1"/>
          <p:nvPr/>
        </p:nvSpPr>
        <p:spPr>
          <a:xfrm>
            <a:off x="6080760" y="2971800"/>
            <a:ext cx="2491740" cy="502920"/>
          </a:xfrm>
          <a:prstGeom prst="rect">
            <a:avLst/>
          </a:prstGeom>
          <a:noFill/>
          <a:ln/>
        </p:spPr>
        <p:txBody>
          <a:bodyPr wrap="square" lIns="0" tIns="0" rIns="0" bIns="0" rtlCol="0" anchor="ctr"/>
          <a:lstStyle/>
          <a:p>
            <a:pPr indent="0" marL="0">
              <a:buNone/>
            </a:pPr>
            <a:r>
              <a:rPr lang="en-US" sz="2400" b="1" dirty="0">
                <a:solidFill>
                  <a:srgbClr val="8A5A2B"/>
                </a:solidFill>
                <a:latin typeface="Cambria" pitchFamily="34" charset="0"/>
                <a:ea typeface="Cambria" pitchFamily="34" charset="-122"/>
                <a:cs typeface="Cambria" pitchFamily="34" charset="-120"/>
              </a:rPr>
              <a:t>The name</a:t>
            </a:r>
            <a:endParaRPr lang="en-US" sz="2400" dirty="0"/>
          </a:p>
        </p:txBody>
      </p:sp>
      <p:sp>
        <p:nvSpPr>
          <p:cNvPr id="18" name="Text 13"/>
          <p:cNvSpPr txBox="1"/>
          <p:nvPr/>
        </p:nvSpPr>
        <p:spPr>
          <a:xfrm>
            <a:off x="6080760" y="3474720"/>
            <a:ext cx="2491740" cy="365760"/>
          </a:xfrm>
          <a:prstGeom prst="rect">
            <a:avLst/>
          </a:prstGeom>
          <a:noFill/>
          <a:ln/>
        </p:spPr>
        <p:txBody>
          <a:bodyPr wrap="square" lIns="0" tIns="0" rIns="0" bIns="0" rtlCol="0" anchor="ctr"/>
          <a:lstStyle/>
          <a:p>
            <a:pPr indent="0" marL="0">
              <a:buNone/>
            </a:pPr>
            <a:r>
              <a:rPr lang="en-US" sz="1500" b="1" dirty="0">
                <a:solidFill>
                  <a:srgbClr val="2A1D15"/>
                </a:solidFill>
                <a:latin typeface="Calibri" pitchFamily="34" charset="0"/>
                <a:ea typeface="Calibri" pitchFamily="34" charset="-122"/>
                <a:cs typeface="Calibri" pitchFamily="34" charset="-120"/>
              </a:rPr>
              <a:t>"Financier"</a:t>
            </a:r>
            <a:endParaRPr lang="en-US" sz="1500" dirty="0"/>
          </a:p>
        </p:txBody>
      </p:sp>
      <p:sp>
        <p:nvSpPr>
          <p:cNvPr id="19" name="Text 14"/>
          <p:cNvSpPr txBox="1"/>
          <p:nvPr/>
        </p:nvSpPr>
        <p:spPr>
          <a:xfrm>
            <a:off x="6080760" y="3931920"/>
            <a:ext cx="2446020" cy="2011680"/>
          </a:xfrm>
          <a:prstGeom prst="rect">
            <a:avLst/>
          </a:prstGeom>
          <a:noFill/>
          <a:ln/>
        </p:spPr>
        <p:txBody>
          <a:bodyPr wrap="square" lIns="0" tIns="0" rIns="0" bIns="0" rtlCol="0" anchor="t"/>
          <a:lstStyle/>
          <a:p>
            <a:pPr indent="0" marL="0">
              <a:buNone/>
            </a:pPr>
            <a:r>
              <a:rPr lang="en-US" sz="1400" dirty="0">
                <a:solidFill>
                  <a:srgbClr val="6E5A4B"/>
                </a:solidFill>
                <a:latin typeface="Calibri" pitchFamily="34" charset="0"/>
                <a:ea typeface="Calibri" pitchFamily="34" charset="-122"/>
                <a:cs typeface="Calibri" pitchFamily="34" charset="-120"/>
              </a:rPr>
              <a:t>Shaped like a gold bar, it was sold to bankers and stockbrokers — a clean snack eaten by hand without soiling suits.</a:t>
            </a:r>
            <a:endParaRPr lang="en-US" sz="1400" dirty="0"/>
          </a:p>
        </p:txBody>
      </p:sp>
      <p:sp>
        <p:nvSpPr>
          <p:cNvPr id="20" name="Shape 15"/>
          <p:cNvSpPr/>
          <p:nvPr/>
        </p:nvSpPr>
        <p:spPr>
          <a:xfrm>
            <a:off x="8892540" y="1874520"/>
            <a:ext cx="914400" cy="914400"/>
          </a:xfrm>
          <a:prstGeom prst="ellipse">
            <a:avLst/>
          </a:prstGeom>
          <a:solidFill>
            <a:srgbClr val="3B2418"/>
          </a:solidFill>
          <a:ln w="12700">
            <a:solidFill>
              <a:srgbClr val="3B2418"/>
            </a:solidFill>
            <a:prstDash val="solid"/>
          </a:ln>
        </p:spPr>
      </p:sp>
      <p:pic>
        <p:nvPicPr>
          <p:cNvPr id="21" name="Image 3" descr="preencoded.png">    </p:cNvPr>
          <p:cNvPicPr>
            <a:picLocks noChangeAspect="1"/>
          </p:cNvPicPr>
          <p:nvPr/>
        </p:nvPicPr>
        <p:blipFill>
          <a:blip r:embed="rId4"/>
          <a:stretch>
            <a:fillRect/>
          </a:stretch>
        </p:blipFill>
        <p:spPr>
          <a:xfrm>
            <a:off x="9121140" y="2103120"/>
            <a:ext cx="457200" cy="457200"/>
          </a:xfrm>
          <a:prstGeom prst="rect">
            <a:avLst/>
          </a:prstGeom>
        </p:spPr>
      </p:pic>
      <p:sp>
        <p:nvSpPr>
          <p:cNvPr id="22" name="Text 16"/>
          <p:cNvSpPr txBox="1"/>
          <p:nvPr/>
        </p:nvSpPr>
        <p:spPr>
          <a:xfrm>
            <a:off x="8846820" y="2971800"/>
            <a:ext cx="2491740" cy="502920"/>
          </a:xfrm>
          <a:prstGeom prst="rect">
            <a:avLst/>
          </a:prstGeom>
          <a:noFill/>
          <a:ln/>
        </p:spPr>
        <p:txBody>
          <a:bodyPr wrap="square" lIns="0" tIns="0" rIns="0" bIns="0" rtlCol="0" anchor="ctr"/>
          <a:lstStyle/>
          <a:p>
            <a:pPr indent="0" marL="0">
              <a:buNone/>
            </a:pPr>
            <a:r>
              <a:rPr lang="en-US" sz="2400" b="1" dirty="0">
                <a:solidFill>
                  <a:srgbClr val="8A5A2B"/>
                </a:solidFill>
                <a:latin typeface="Cambria" pitchFamily="34" charset="0"/>
                <a:ea typeface="Cambria" pitchFamily="34" charset="-122"/>
                <a:cs typeface="Cambria" pitchFamily="34" charset="-120"/>
              </a:rPr>
              <a:t>Today</a:t>
            </a:r>
            <a:endParaRPr lang="en-US" sz="2400" dirty="0"/>
          </a:p>
        </p:txBody>
      </p:sp>
      <p:sp>
        <p:nvSpPr>
          <p:cNvPr id="23" name="Text 17"/>
          <p:cNvSpPr txBox="1"/>
          <p:nvPr/>
        </p:nvSpPr>
        <p:spPr>
          <a:xfrm>
            <a:off x="8846820" y="3474720"/>
            <a:ext cx="2491740" cy="365760"/>
          </a:xfrm>
          <a:prstGeom prst="rect">
            <a:avLst/>
          </a:prstGeom>
          <a:noFill/>
          <a:ln/>
        </p:spPr>
        <p:txBody>
          <a:bodyPr wrap="square" lIns="0" tIns="0" rIns="0" bIns="0" rtlCol="0" anchor="ctr"/>
          <a:lstStyle/>
          <a:p>
            <a:pPr indent="0" marL="0">
              <a:buNone/>
            </a:pPr>
            <a:r>
              <a:rPr lang="en-US" sz="1500" b="1" dirty="0">
                <a:solidFill>
                  <a:srgbClr val="2A1D15"/>
                </a:solidFill>
                <a:latin typeface="Calibri" pitchFamily="34" charset="0"/>
                <a:ea typeface="Calibri" pitchFamily="34" charset="-122"/>
                <a:cs typeface="Calibri" pitchFamily="34" charset="-120"/>
              </a:rPr>
              <a:t>Everywhere</a:t>
            </a:r>
            <a:endParaRPr lang="en-US" sz="1500" dirty="0"/>
          </a:p>
        </p:txBody>
      </p:sp>
      <p:sp>
        <p:nvSpPr>
          <p:cNvPr id="24" name="Text 18"/>
          <p:cNvSpPr txBox="1"/>
          <p:nvPr/>
        </p:nvSpPr>
        <p:spPr>
          <a:xfrm>
            <a:off x="8846820" y="3931920"/>
            <a:ext cx="2446020" cy="2011680"/>
          </a:xfrm>
          <a:prstGeom prst="rect">
            <a:avLst/>
          </a:prstGeom>
          <a:noFill/>
          <a:ln/>
        </p:spPr>
        <p:txBody>
          <a:bodyPr wrap="square" lIns="0" tIns="0" rIns="0" bIns="0" rtlCol="0" anchor="t"/>
          <a:lstStyle/>
          <a:p>
            <a:pPr indent="0" marL="0">
              <a:buNone/>
            </a:pPr>
            <a:r>
              <a:rPr lang="en-US" sz="1400" dirty="0">
                <a:solidFill>
                  <a:srgbClr val="6E5A4B"/>
                </a:solidFill>
                <a:latin typeface="Calibri" pitchFamily="34" charset="0"/>
                <a:ea typeface="Calibri" pitchFamily="34" charset="-122"/>
                <a:cs typeface="Calibri" pitchFamily="34" charset="-120"/>
              </a:rPr>
              <a:t>A classic of French pâtisserie, sold in bakeries and cafés and made in countless flavours.</a:t>
            </a:r>
            <a:endParaRPr lang="en-US" sz="1400" dirty="0"/>
          </a:p>
        </p:txBody>
      </p:sp>
      <p:sp>
        <p:nvSpPr>
          <p:cNvPr id="25" name="Text 19"/>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300" i="1" dirty="0">
                <a:solidFill>
                  <a:srgbClr val="8A5A2B"/>
                </a:solidFill>
                <a:latin typeface="Calibri" pitchFamily="34" charset="0"/>
                <a:ea typeface="Calibri" pitchFamily="34" charset="-122"/>
                <a:cs typeface="Calibri" pitchFamily="34" charset="-120"/>
              </a:rPr>
              <a:t>Fun fact: brown butter (beurre noisette) is what gives financiers their nutty, toasty flavour.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800" b="1" dirty="0">
                <a:solidFill>
                  <a:srgbClr val="3B2418"/>
                </a:solidFill>
                <a:latin typeface="Cambria" pitchFamily="34" charset="0"/>
                <a:ea typeface="Cambria" pitchFamily="34" charset="-122"/>
                <a:cs typeface="Cambria" pitchFamily="34" charset="-120"/>
              </a:rPr>
              <a:t>How &amp; When They're Eaten</a:t>
            </a:r>
            <a:endParaRPr lang="en-US" sz="38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i="1" dirty="0">
                <a:solidFill>
                  <a:srgbClr val="6E5A4B"/>
                </a:solidFill>
                <a:latin typeface="Calibri" pitchFamily="34" charset="0"/>
                <a:ea typeface="Calibri" pitchFamily="34" charset="-122"/>
                <a:cs typeface="Calibri" pitchFamily="34" charset="-120"/>
              </a:rPr>
              <a:t>A small cake for many moments of the French day</a:t>
            </a:r>
            <a:endParaRPr lang="en-US" sz="1600" dirty="0"/>
          </a:p>
        </p:txBody>
      </p:sp>
      <p:sp>
        <p:nvSpPr>
          <p:cNvPr id="4" name="Shape 2"/>
          <p:cNvSpPr/>
          <p:nvPr/>
        </p:nvSpPr>
        <p:spPr>
          <a:xfrm>
            <a:off x="548640" y="1783080"/>
            <a:ext cx="3520440" cy="2148840"/>
          </a:xfrm>
          <a:prstGeom prst="roundRect">
            <a:avLst>
              <a:gd name="adj" fmla="val 5106"/>
            </a:avLst>
          </a:prstGeom>
          <a:solidFill>
            <a:srgbClr val="F6EEE2"/>
          </a:solidFill>
          <a:ln w="12700">
            <a:solidFill>
              <a:srgbClr val="F6EEE2"/>
            </a:solidFill>
            <a:prstDash val="solid"/>
          </a:ln>
        </p:spPr>
      </p:sp>
      <p:sp>
        <p:nvSpPr>
          <p:cNvPr id="5" name="Shape 3"/>
          <p:cNvSpPr/>
          <p:nvPr/>
        </p:nvSpPr>
        <p:spPr>
          <a:xfrm>
            <a:off x="822960" y="2057400"/>
            <a:ext cx="685800" cy="685800"/>
          </a:xfrm>
          <a:prstGeom prst="ellipse">
            <a:avLst/>
          </a:prstGeom>
          <a:solidFill>
            <a:srgbClr val="3B2418"/>
          </a:solidFill>
          <a:ln w="12700">
            <a:solidFill>
              <a:srgbClr val="3B2418"/>
            </a:solidFill>
            <a:prstDash val="solid"/>
          </a:ln>
        </p:spPr>
      </p:sp>
      <p:pic>
        <p:nvPicPr>
          <p:cNvPr id="6" name="Image 0" descr="preencoded.png">    </p:cNvPr>
          <p:cNvPicPr>
            <a:picLocks noChangeAspect="1"/>
          </p:cNvPicPr>
          <p:nvPr/>
        </p:nvPicPr>
        <p:blipFill>
          <a:blip r:embed="rId1"/>
          <a:stretch>
            <a:fillRect/>
          </a:stretch>
        </p:blipFill>
        <p:spPr>
          <a:xfrm>
            <a:off x="994410" y="2228850"/>
            <a:ext cx="342900" cy="342900"/>
          </a:xfrm>
          <a:prstGeom prst="rect">
            <a:avLst/>
          </a:prstGeom>
        </p:spPr>
      </p:pic>
      <p:sp>
        <p:nvSpPr>
          <p:cNvPr id="7" name="Text 4"/>
          <p:cNvSpPr txBox="1"/>
          <p:nvPr/>
        </p:nvSpPr>
        <p:spPr>
          <a:xfrm>
            <a:off x="1691640" y="2057400"/>
            <a:ext cx="2194560" cy="68580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Le goûter</a:t>
            </a:r>
            <a:endParaRPr lang="en-US" sz="1900" dirty="0"/>
          </a:p>
        </p:txBody>
      </p:sp>
      <p:sp>
        <p:nvSpPr>
          <p:cNvPr id="8" name="Text 5"/>
          <p:cNvSpPr txBox="1"/>
          <p:nvPr/>
        </p:nvSpPr>
        <p:spPr>
          <a:xfrm>
            <a:off x="822960" y="2880360"/>
            <a:ext cx="2971800" cy="91440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The 4 o'clock afternoon snack — especially popular with children after school.</a:t>
            </a:r>
            <a:endParaRPr lang="en-US" sz="1400" dirty="0"/>
          </a:p>
        </p:txBody>
      </p:sp>
      <p:sp>
        <p:nvSpPr>
          <p:cNvPr id="9" name="Shape 6"/>
          <p:cNvSpPr/>
          <p:nvPr/>
        </p:nvSpPr>
        <p:spPr>
          <a:xfrm>
            <a:off x="4325112" y="1783080"/>
            <a:ext cx="3520440" cy="2148840"/>
          </a:xfrm>
          <a:prstGeom prst="roundRect">
            <a:avLst>
              <a:gd name="adj" fmla="val 5106"/>
            </a:avLst>
          </a:prstGeom>
          <a:solidFill>
            <a:srgbClr val="F6EEE2"/>
          </a:solidFill>
          <a:ln w="12700">
            <a:solidFill>
              <a:srgbClr val="F6EEE2"/>
            </a:solidFill>
            <a:prstDash val="solid"/>
          </a:ln>
        </p:spPr>
      </p:sp>
      <p:sp>
        <p:nvSpPr>
          <p:cNvPr id="10" name="Shape 7"/>
          <p:cNvSpPr/>
          <p:nvPr/>
        </p:nvSpPr>
        <p:spPr>
          <a:xfrm>
            <a:off x="4599432" y="2057400"/>
            <a:ext cx="685800" cy="685800"/>
          </a:xfrm>
          <a:prstGeom prst="ellipse">
            <a:avLst/>
          </a:prstGeom>
          <a:solidFill>
            <a:srgbClr val="3B2418"/>
          </a:solidFill>
          <a:ln w="12700">
            <a:solidFill>
              <a:srgbClr val="3B2418"/>
            </a:solidFill>
            <a:prstDash val="solid"/>
          </a:ln>
        </p:spPr>
      </p:sp>
      <p:pic>
        <p:nvPicPr>
          <p:cNvPr id="11" name="Image 1" descr="preencoded.png">    </p:cNvPr>
          <p:cNvPicPr>
            <a:picLocks noChangeAspect="1"/>
          </p:cNvPicPr>
          <p:nvPr/>
        </p:nvPicPr>
        <p:blipFill>
          <a:blip r:embed="rId2"/>
          <a:stretch>
            <a:fillRect/>
          </a:stretch>
        </p:blipFill>
        <p:spPr>
          <a:xfrm>
            <a:off x="4770882" y="2228850"/>
            <a:ext cx="342900" cy="342900"/>
          </a:xfrm>
          <a:prstGeom prst="rect">
            <a:avLst/>
          </a:prstGeom>
        </p:spPr>
      </p:pic>
      <p:sp>
        <p:nvSpPr>
          <p:cNvPr id="12" name="Text 8"/>
          <p:cNvSpPr txBox="1"/>
          <p:nvPr/>
        </p:nvSpPr>
        <p:spPr>
          <a:xfrm>
            <a:off x="5468112" y="2057400"/>
            <a:ext cx="2194560" cy="68580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With coffee or tea</a:t>
            </a:r>
            <a:endParaRPr lang="en-US" sz="1900" dirty="0"/>
          </a:p>
        </p:txBody>
      </p:sp>
      <p:sp>
        <p:nvSpPr>
          <p:cNvPr id="13" name="Text 9"/>
          <p:cNvSpPr txBox="1"/>
          <p:nvPr/>
        </p:nvSpPr>
        <p:spPr>
          <a:xfrm>
            <a:off x="4599432" y="2880360"/>
            <a:ext cx="2971800" cy="91440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Served alongside an espresso or a cup of tea in cafés and at home.</a:t>
            </a:r>
            <a:endParaRPr lang="en-US" sz="1400" dirty="0"/>
          </a:p>
        </p:txBody>
      </p:sp>
      <p:sp>
        <p:nvSpPr>
          <p:cNvPr id="14" name="Shape 10"/>
          <p:cNvSpPr/>
          <p:nvPr/>
        </p:nvSpPr>
        <p:spPr>
          <a:xfrm>
            <a:off x="8101584" y="1783080"/>
            <a:ext cx="3520440" cy="2148840"/>
          </a:xfrm>
          <a:prstGeom prst="roundRect">
            <a:avLst>
              <a:gd name="adj" fmla="val 5106"/>
            </a:avLst>
          </a:prstGeom>
          <a:solidFill>
            <a:srgbClr val="F6EEE2"/>
          </a:solidFill>
          <a:ln w="12700">
            <a:solidFill>
              <a:srgbClr val="F6EEE2"/>
            </a:solidFill>
            <a:prstDash val="solid"/>
          </a:ln>
        </p:spPr>
      </p:sp>
      <p:sp>
        <p:nvSpPr>
          <p:cNvPr id="15" name="Shape 11"/>
          <p:cNvSpPr/>
          <p:nvPr/>
        </p:nvSpPr>
        <p:spPr>
          <a:xfrm>
            <a:off x="8375904" y="2057400"/>
            <a:ext cx="685800" cy="685800"/>
          </a:xfrm>
          <a:prstGeom prst="ellipse">
            <a:avLst/>
          </a:prstGeom>
          <a:solidFill>
            <a:srgbClr val="3B2418"/>
          </a:solidFill>
          <a:ln w="12700">
            <a:solidFill>
              <a:srgbClr val="3B2418"/>
            </a:solidFill>
            <a:prstDash val="solid"/>
          </a:ln>
        </p:spPr>
      </p:sp>
      <p:pic>
        <p:nvPicPr>
          <p:cNvPr id="16" name="Image 2" descr="preencoded.png">    </p:cNvPr>
          <p:cNvPicPr>
            <a:picLocks noChangeAspect="1"/>
          </p:cNvPicPr>
          <p:nvPr/>
        </p:nvPicPr>
        <p:blipFill>
          <a:blip r:embed="rId3"/>
          <a:stretch>
            <a:fillRect/>
          </a:stretch>
        </p:blipFill>
        <p:spPr>
          <a:xfrm>
            <a:off x="8547354" y="2228850"/>
            <a:ext cx="342900" cy="342900"/>
          </a:xfrm>
          <a:prstGeom prst="rect">
            <a:avLst/>
          </a:prstGeom>
        </p:spPr>
      </p:pic>
      <p:sp>
        <p:nvSpPr>
          <p:cNvPr id="17" name="Text 12"/>
          <p:cNvSpPr txBox="1"/>
          <p:nvPr/>
        </p:nvSpPr>
        <p:spPr>
          <a:xfrm>
            <a:off x="9244584" y="2057400"/>
            <a:ext cx="2194560" cy="68580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Petits fours</a:t>
            </a:r>
            <a:endParaRPr lang="en-US" sz="1900" dirty="0"/>
          </a:p>
        </p:txBody>
      </p:sp>
      <p:sp>
        <p:nvSpPr>
          <p:cNvPr id="18" name="Text 13"/>
          <p:cNvSpPr txBox="1"/>
          <p:nvPr/>
        </p:nvSpPr>
        <p:spPr>
          <a:xfrm>
            <a:off x="8375904" y="2880360"/>
            <a:ext cx="2971800" cy="91440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Part of the tray of mignardises (tiny sweets) served at the end of a restaurant meal.</a:t>
            </a:r>
            <a:endParaRPr lang="en-US" sz="1400" dirty="0"/>
          </a:p>
        </p:txBody>
      </p:sp>
      <p:sp>
        <p:nvSpPr>
          <p:cNvPr id="19" name="Shape 14"/>
          <p:cNvSpPr/>
          <p:nvPr/>
        </p:nvSpPr>
        <p:spPr>
          <a:xfrm>
            <a:off x="548640" y="4206240"/>
            <a:ext cx="3520440" cy="2148840"/>
          </a:xfrm>
          <a:prstGeom prst="roundRect">
            <a:avLst>
              <a:gd name="adj" fmla="val 5106"/>
            </a:avLst>
          </a:prstGeom>
          <a:solidFill>
            <a:srgbClr val="F6EEE2"/>
          </a:solidFill>
          <a:ln w="12700">
            <a:solidFill>
              <a:srgbClr val="F6EEE2"/>
            </a:solidFill>
            <a:prstDash val="solid"/>
          </a:ln>
        </p:spPr>
      </p:sp>
      <p:sp>
        <p:nvSpPr>
          <p:cNvPr id="20" name="Shape 15"/>
          <p:cNvSpPr/>
          <p:nvPr/>
        </p:nvSpPr>
        <p:spPr>
          <a:xfrm>
            <a:off x="822960" y="4480560"/>
            <a:ext cx="685800" cy="685800"/>
          </a:xfrm>
          <a:prstGeom prst="ellipse">
            <a:avLst/>
          </a:prstGeom>
          <a:solidFill>
            <a:srgbClr val="3B2418"/>
          </a:solidFill>
          <a:ln w="12700">
            <a:solidFill>
              <a:srgbClr val="3B2418"/>
            </a:solidFill>
            <a:prstDash val="solid"/>
          </a:ln>
        </p:spPr>
      </p:sp>
      <p:pic>
        <p:nvPicPr>
          <p:cNvPr id="21" name="Image 3" descr="preencoded.png">    </p:cNvPr>
          <p:cNvPicPr>
            <a:picLocks noChangeAspect="1"/>
          </p:cNvPicPr>
          <p:nvPr/>
        </p:nvPicPr>
        <p:blipFill>
          <a:blip r:embed="rId4"/>
          <a:stretch>
            <a:fillRect/>
          </a:stretch>
        </p:blipFill>
        <p:spPr>
          <a:xfrm>
            <a:off x="994410" y="4652010"/>
            <a:ext cx="342900" cy="342900"/>
          </a:xfrm>
          <a:prstGeom prst="rect">
            <a:avLst/>
          </a:prstGeom>
        </p:spPr>
      </p:pic>
      <p:sp>
        <p:nvSpPr>
          <p:cNvPr id="22" name="Text 16"/>
          <p:cNvSpPr txBox="1"/>
          <p:nvPr/>
        </p:nvSpPr>
        <p:spPr>
          <a:xfrm>
            <a:off x="1691640" y="4480560"/>
            <a:ext cx="2194560" cy="68580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Gifts &amp; celebrations</a:t>
            </a:r>
            <a:endParaRPr lang="en-US" sz="1900" dirty="0"/>
          </a:p>
        </p:txBody>
      </p:sp>
      <p:sp>
        <p:nvSpPr>
          <p:cNvPr id="23" name="Text 17"/>
          <p:cNvSpPr txBox="1"/>
          <p:nvPr/>
        </p:nvSpPr>
        <p:spPr>
          <a:xfrm>
            <a:off x="822960" y="5303520"/>
            <a:ext cx="2971800" cy="91440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Boxed as gifts, served at parties, weddings and buffets.</a:t>
            </a:r>
            <a:endParaRPr lang="en-US" sz="1400" dirty="0"/>
          </a:p>
        </p:txBody>
      </p:sp>
      <p:sp>
        <p:nvSpPr>
          <p:cNvPr id="24" name="Shape 18"/>
          <p:cNvSpPr/>
          <p:nvPr/>
        </p:nvSpPr>
        <p:spPr>
          <a:xfrm>
            <a:off x="4325112" y="4206240"/>
            <a:ext cx="3520440" cy="2148840"/>
          </a:xfrm>
          <a:prstGeom prst="roundRect">
            <a:avLst>
              <a:gd name="adj" fmla="val 5106"/>
            </a:avLst>
          </a:prstGeom>
          <a:solidFill>
            <a:srgbClr val="F6EEE2"/>
          </a:solidFill>
          <a:ln w="12700">
            <a:solidFill>
              <a:srgbClr val="F6EEE2"/>
            </a:solidFill>
            <a:prstDash val="solid"/>
          </a:ln>
        </p:spPr>
      </p:sp>
      <p:sp>
        <p:nvSpPr>
          <p:cNvPr id="25" name="Shape 19"/>
          <p:cNvSpPr/>
          <p:nvPr/>
        </p:nvSpPr>
        <p:spPr>
          <a:xfrm>
            <a:off x="4599432" y="4480560"/>
            <a:ext cx="685800" cy="685800"/>
          </a:xfrm>
          <a:prstGeom prst="ellipse">
            <a:avLst/>
          </a:prstGeom>
          <a:solidFill>
            <a:srgbClr val="3B2418"/>
          </a:solidFill>
          <a:ln w="12700">
            <a:solidFill>
              <a:srgbClr val="3B2418"/>
            </a:solidFill>
            <a:prstDash val="solid"/>
          </a:ln>
        </p:spPr>
      </p:sp>
      <p:pic>
        <p:nvPicPr>
          <p:cNvPr id="26" name="Image 4" descr="preencoded.png">    </p:cNvPr>
          <p:cNvPicPr>
            <a:picLocks noChangeAspect="1"/>
          </p:cNvPicPr>
          <p:nvPr/>
        </p:nvPicPr>
        <p:blipFill>
          <a:blip r:embed="rId5"/>
          <a:stretch>
            <a:fillRect/>
          </a:stretch>
        </p:blipFill>
        <p:spPr>
          <a:xfrm>
            <a:off x="4770882" y="4652010"/>
            <a:ext cx="342900" cy="342900"/>
          </a:xfrm>
          <a:prstGeom prst="rect">
            <a:avLst/>
          </a:prstGeom>
        </p:spPr>
      </p:pic>
      <p:sp>
        <p:nvSpPr>
          <p:cNvPr id="27" name="Text 20"/>
          <p:cNvSpPr txBox="1"/>
          <p:nvPr/>
        </p:nvSpPr>
        <p:spPr>
          <a:xfrm>
            <a:off x="5468112" y="4480560"/>
            <a:ext cx="2194560" cy="68580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On the go</a:t>
            </a:r>
            <a:endParaRPr lang="en-US" sz="1900" dirty="0"/>
          </a:p>
        </p:txBody>
      </p:sp>
      <p:sp>
        <p:nvSpPr>
          <p:cNvPr id="28" name="Text 21"/>
          <p:cNvSpPr txBox="1"/>
          <p:nvPr/>
        </p:nvSpPr>
        <p:spPr>
          <a:xfrm>
            <a:off x="4599432" y="5303520"/>
            <a:ext cx="2971800" cy="91440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Bought from a boulangerie and eaten by hand — no plate or fork needed.</a:t>
            </a:r>
            <a:endParaRPr lang="en-US" sz="1400" dirty="0"/>
          </a:p>
        </p:txBody>
      </p:sp>
      <p:sp>
        <p:nvSpPr>
          <p:cNvPr id="29" name="Shape 22"/>
          <p:cNvSpPr/>
          <p:nvPr/>
        </p:nvSpPr>
        <p:spPr>
          <a:xfrm>
            <a:off x="8101584" y="4206240"/>
            <a:ext cx="3520440" cy="2148840"/>
          </a:xfrm>
          <a:prstGeom prst="roundRect">
            <a:avLst>
              <a:gd name="adj" fmla="val 5106"/>
            </a:avLst>
          </a:prstGeom>
          <a:solidFill>
            <a:srgbClr val="F6EEE2"/>
          </a:solidFill>
          <a:ln w="12700">
            <a:solidFill>
              <a:srgbClr val="F6EEE2"/>
            </a:solidFill>
            <a:prstDash val="solid"/>
          </a:ln>
        </p:spPr>
      </p:sp>
      <p:sp>
        <p:nvSpPr>
          <p:cNvPr id="30" name="Shape 23"/>
          <p:cNvSpPr/>
          <p:nvPr/>
        </p:nvSpPr>
        <p:spPr>
          <a:xfrm>
            <a:off x="8375904" y="4480560"/>
            <a:ext cx="685800" cy="685800"/>
          </a:xfrm>
          <a:prstGeom prst="ellipse">
            <a:avLst/>
          </a:prstGeom>
          <a:solidFill>
            <a:srgbClr val="3B2418"/>
          </a:solidFill>
          <a:ln w="12700">
            <a:solidFill>
              <a:srgbClr val="3B2418"/>
            </a:solidFill>
            <a:prstDash val="solid"/>
          </a:ln>
        </p:spPr>
      </p:sp>
      <p:pic>
        <p:nvPicPr>
          <p:cNvPr id="31" name="Image 5" descr="preencoded.png">    </p:cNvPr>
          <p:cNvPicPr>
            <a:picLocks noChangeAspect="1"/>
          </p:cNvPicPr>
          <p:nvPr/>
        </p:nvPicPr>
        <p:blipFill>
          <a:blip r:embed="rId6"/>
          <a:stretch>
            <a:fillRect/>
          </a:stretch>
        </p:blipFill>
        <p:spPr>
          <a:xfrm>
            <a:off x="8547354" y="4652010"/>
            <a:ext cx="342900" cy="342900"/>
          </a:xfrm>
          <a:prstGeom prst="rect">
            <a:avLst/>
          </a:prstGeom>
        </p:spPr>
      </p:pic>
      <p:sp>
        <p:nvSpPr>
          <p:cNvPr id="32" name="Text 24"/>
          <p:cNvSpPr txBox="1"/>
          <p:nvPr/>
        </p:nvSpPr>
        <p:spPr>
          <a:xfrm>
            <a:off x="9244584" y="4480560"/>
            <a:ext cx="2194560" cy="68580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How to serve</a:t>
            </a:r>
            <a:endParaRPr lang="en-US" sz="1900" dirty="0"/>
          </a:p>
        </p:txBody>
      </p:sp>
      <p:sp>
        <p:nvSpPr>
          <p:cNvPr id="33" name="Text 25"/>
          <p:cNvSpPr txBox="1"/>
          <p:nvPr/>
        </p:nvSpPr>
        <p:spPr>
          <a:xfrm>
            <a:off x="8375904" y="5303520"/>
            <a:ext cx="2971800" cy="91440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At room temperature, ideally the day they're baked: crisp golden edges, soft moist centre.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B2418"/>
        </a:solidFill>
      </p:bgPr>
    </p:bg>
    <p:spTree>
      <p:nvGrpSpPr>
        <p:cNvPr id="1" name=""/>
        <p:cNvGrpSpPr/>
        <p:nvPr/>
      </p:nvGrpSpPr>
      <p:grpSpPr>
        <a:xfrm>
          <a:off x="0" y="0"/>
          <a:ext cx="0" cy="0"/>
          <a:chOff x="0" y="0"/>
          <a:chExt cx="0" cy="0"/>
        </a:xfrm>
      </p:grpSpPr>
      <p:sp>
        <p:nvSpPr>
          <p:cNvPr id="2" name="Shape 0"/>
          <p:cNvSpPr/>
          <p:nvPr/>
        </p:nvSpPr>
        <p:spPr>
          <a:xfrm>
            <a:off x="548640" y="411480"/>
            <a:ext cx="11064240" cy="6035040"/>
          </a:xfrm>
          <a:prstGeom prst="roundRect">
            <a:avLst>
              <a:gd name="adj" fmla="val 2273"/>
            </a:avLst>
          </a:prstGeom>
          <a:solidFill>
            <a:srgbClr val="FFFFFF"/>
          </a:solidFill>
          <a:ln w="25400">
            <a:solidFill>
              <a:srgbClr val="C8963E"/>
            </a:solidFill>
            <a:prstDash val="solid"/>
          </a:ln>
          <a:effectLst>
            <a:outerShdw sx="100000" sy="100000" kx="0" ky="0" algn="bl" rotWithShape="0" blurRad="127000" dist="50800" dir="5400000">
              <a:srgbClr val="000000">
                <a:alpha val="40000"/>
              </a:srgbClr>
            </a:outerShdw>
          </a:effectLst>
        </p:spPr>
      </p:sp>
      <p:sp>
        <p:nvSpPr>
          <p:cNvPr id="3" name="Text 1"/>
          <p:cNvSpPr txBox="1"/>
          <p:nvPr/>
        </p:nvSpPr>
        <p:spPr>
          <a:xfrm>
            <a:off x="914400" y="640080"/>
            <a:ext cx="7315200" cy="640080"/>
          </a:xfrm>
          <a:prstGeom prst="rect">
            <a:avLst/>
          </a:prstGeom>
          <a:noFill/>
          <a:ln/>
        </p:spPr>
        <p:txBody>
          <a:bodyPr wrap="square" lIns="0" tIns="0" rIns="0" bIns="0" rtlCol="0" anchor="ctr"/>
          <a:lstStyle/>
          <a:p>
            <a:pPr indent="0" marL="0">
              <a:buNone/>
            </a:pPr>
            <a:r>
              <a:rPr lang="en-US" sz="3200" b="1" dirty="0">
                <a:solidFill>
                  <a:srgbClr val="3B2418"/>
                </a:solidFill>
                <a:latin typeface="Cambria" pitchFamily="34" charset="0"/>
                <a:ea typeface="Cambria" pitchFamily="34" charset="-122"/>
                <a:cs typeface="Cambria" pitchFamily="34" charset="-120"/>
              </a:rPr>
              <a:t>Recipe Card: Petits Financiers</a:t>
            </a:r>
            <a:endParaRPr lang="en-US" sz="3200" dirty="0"/>
          </a:p>
        </p:txBody>
      </p:sp>
      <p:sp>
        <p:nvSpPr>
          <p:cNvPr id="4" name="Text 2"/>
          <p:cNvSpPr txBox="1"/>
          <p:nvPr/>
        </p:nvSpPr>
        <p:spPr>
          <a:xfrm>
            <a:off x="914400" y="1325880"/>
            <a:ext cx="1645920" cy="457200"/>
          </a:xfrm>
          <a:prstGeom prst="rect">
            <a:avLst/>
          </a:prstGeom>
          <a:noFill/>
          <a:ln/>
        </p:spPr>
        <p:txBody>
          <a:bodyPr wrap="square" lIns="0" tIns="0" rIns="0" bIns="0" rtlCol="0" anchor="ctr"/>
          <a:lstStyle/>
          <a:p>
            <a:pPr indent="0" marL="0">
              <a:buNone/>
            </a:pPr>
            <a:r>
              <a:rPr lang="en-US" sz="2200" b="1" dirty="0">
                <a:solidFill>
                  <a:srgbClr val="C8963E"/>
                </a:solidFill>
                <a:latin typeface="Cambria" pitchFamily="34" charset="0"/>
                <a:ea typeface="Cambria" pitchFamily="34" charset="-122"/>
                <a:cs typeface="Cambria" pitchFamily="34" charset="-120"/>
              </a:rPr>
              <a:t>12</a:t>
            </a:r>
            <a:endParaRPr lang="en-US" sz="2200" dirty="0"/>
          </a:p>
        </p:txBody>
      </p:sp>
      <p:sp>
        <p:nvSpPr>
          <p:cNvPr id="5" name="Text 3"/>
          <p:cNvSpPr txBox="1"/>
          <p:nvPr/>
        </p:nvSpPr>
        <p:spPr>
          <a:xfrm>
            <a:off x="914400" y="1764792"/>
            <a:ext cx="1645920" cy="274320"/>
          </a:xfrm>
          <a:prstGeom prst="rect">
            <a:avLst/>
          </a:prstGeom>
          <a:noFill/>
          <a:ln/>
        </p:spPr>
        <p:txBody>
          <a:bodyPr wrap="square" lIns="0" tIns="0" rIns="0" bIns="0" rtlCol="0" anchor="ctr"/>
          <a:lstStyle/>
          <a:p>
            <a:pPr indent="0" marL="0">
              <a:buNone/>
            </a:pPr>
            <a:r>
              <a:rPr lang="en-US" sz="1200" dirty="0">
                <a:solidFill>
                  <a:srgbClr val="6E5A4B"/>
                </a:solidFill>
                <a:latin typeface="Calibri" pitchFamily="34" charset="0"/>
                <a:ea typeface="Calibri" pitchFamily="34" charset="-122"/>
                <a:cs typeface="Calibri" pitchFamily="34" charset="-120"/>
              </a:rPr>
              <a:t>financiers</a:t>
            </a:r>
            <a:endParaRPr lang="en-US" sz="1200" dirty="0"/>
          </a:p>
        </p:txBody>
      </p:sp>
      <p:sp>
        <p:nvSpPr>
          <p:cNvPr id="6" name="Text 4"/>
          <p:cNvSpPr txBox="1"/>
          <p:nvPr/>
        </p:nvSpPr>
        <p:spPr>
          <a:xfrm>
            <a:off x="2697480" y="1325880"/>
            <a:ext cx="1645920" cy="457200"/>
          </a:xfrm>
          <a:prstGeom prst="rect">
            <a:avLst/>
          </a:prstGeom>
          <a:noFill/>
          <a:ln/>
        </p:spPr>
        <p:txBody>
          <a:bodyPr wrap="square" lIns="0" tIns="0" rIns="0" bIns="0" rtlCol="0" anchor="ctr"/>
          <a:lstStyle/>
          <a:p>
            <a:pPr indent="0" marL="0">
              <a:buNone/>
            </a:pPr>
            <a:r>
              <a:rPr lang="en-US" sz="2200" b="1" dirty="0">
                <a:solidFill>
                  <a:srgbClr val="C8963E"/>
                </a:solidFill>
                <a:latin typeface="Cambria" pitchFamily="34" charset="0"/>
                <a:ea typeface="Cambria" pitchFamily="34" charset="-122"/>
                <a:cs typeface="Cambria" pitchFamily="34" charset="-120"/>
              </a:rPr>
              <a:t>15 min</a:t>
            </a:r>
            <a:endParaRPr lang="en-US" sz="2200" dirty="0"/>
          </a:p>
        </p:txBody>
      </p:sp>
      <p:sp>
        <p:nvSpPr>
          <p:cNvPr id="7" name="Text 5"/>
          <p:cNvSpPr txBox="1"/>
          <p:nvPr/>
        </p:nvSpPr>
        <p:spPr>
          <a:xfrm>
            <a:off x="2697480" y="1764792"/>
            <a:ext cx="1645920" cy="274320"/>
          </a:xfrm>
          <a:prstGeom prst="rect">
            <a:avLst/>
          </a:prstGeom>
          <a:noFill/>
          <a:ln/>
        </p:spPr>
        <p:txBody>
          <a:bodyPr wrap="square" lIns="0" tIns="0" rIns="0" bIns="0" rtlCol="0" anchor="ctr"/>
          <a:lstStyle/>
          <a:p>
            <a:pPr indent="0" marL="0">
              <a:buNone/>
            </a:pPr>
            <a:r>
              <a:rPr lang="en-US" sz="1200" dirty="0">
                <a:solidFill>
                  <a:srgbClr val="6E5A4B"/>
                </a:solidFill>
                <a:latin typeface="Calibri" pitchFamily="34" charset="0"/>
                <a:ea typeface="Calibri" pitchFamily="34" charset="-122"/>
                <a:cs typeface="Calibri" pitchFamily="34" charset="-120"/>
              </a:rPr>
              <a:t>prep</a:t>
            </a:r>
            <a:endParaRPr lang="en-US" sz="1200" dirty="0"/>
          </a:p>
        </p:txBody>
      </p:sp>
      <p:sp>
        <p:nvSpPr>
          <p:cNvPr id="8" name="Text 6"/>
          <p:cNvSpPr txBox="1"/>
          <p:nvPr/>
        </p:nvSpPr>
        <p:spPr>
          <a:xfrm>
            <a:off x="4480560" y="1325880"/>
            <a:ext cx="1645920" cy="457200"/>
          </a:xfrm>
          <a:prstGeom prst="rect">
            <a:avLst/>
          </a:prstGeom>
          <a:noFill/>
          <a:ln/>
        </p:spPr>
        <p:txBody>
          <a:bodyPr wrap="square" lIns="0" tIns="0" rIns="0" bIns="0" rtlCol="0" anchor="ctr"/>
          <a:lstStyle/>
          <a:p>
            <a:pPr indent="0" marL="0">
              <a:buNone/>
            </a:pPr>
            <a:r>
              <a:rPr lang="en-US" sz="2200" b="1" dirty="0">
                <a:solidFill>
                  <a:srgbClr val="C8963E"/>
                </a:solidFill>
                <a:latin typeface="Cambria" pitchFamily="34" charset="0"/>
                <a:ea typeface="Cambria" pitchFamily="34" charset="-122"/>
                <a:cs typeface="Cambria" pitchFamily="34" charset="-120"/>
              </a:rPr>
              <a:t>12–15 min</a:t>
            </a:r>
            <a:endParaRPr lang="en-US" sz="2200" dirty="0"/>
          </a:p>
        </p:txBody>
      </p:sp>
      <p:sp>
        <p:nvSpPr>
          <p:cNvPr id="9" name="Text 7"/>
          <p:cNvSpPr txBox="1"/>
          <p:nvPr/>
        </p:nvSpPr>
        <p:spPr>
          <a:xfrm>
            <a:off x="4480560" y="1764792"/>
            <a:ext cx="1645920" cy="274320"/>
          </a:xfrm>
          <a:prstGeom prst="rect">
            <a:avLst/>
          </a:prstGeom>
          <a:noFill/>
          <a:ln/>
        </p:spPr>
        <p:txBody>
          <a:bodyPr wrap="square" lIns="0" tIns="0" rIns="0" bIns="0" rtlCol="0" anchor="ctr"/>
          <a:lstStyle/>
          <a:p>
            <a:pPr indent="0" marL="0">
              <a:buNone/>
            </a:pPr>
            <a:r>
              <a:rPr lang="en-US" sz="1200" dirty="0">
                <a:solidFill>
                  <a:srgbClr val="6E5A4B"/>
                </a:solidFill>
                <a:latin typeface="Calibri" pitchFamily="34" charset="0"/>
                <a:ea typeface="Calibri" pitchFamily="34" charset="-122"/>
                <a:cs typeface="Calibri" pitchFamily="34" charset="-120"/>
              </a:rPr>
              <a:t>bake</a:t>
            </a:r>
            <a:endParaRPr lang="en-US" sz="1200" dirty="0"/>
          </a:p>
        </p:txBody>
      </p:sp>
      <p:sp>
        <p:nvSpPr>
          <p:cNvPr id="10" name="Text 8"/>
          <p:cNvSpPr txBox="1"/>
          <p:nvPr/>
        </p:nvSpPr>
        <p:spPr>
          <a:xfrm>
            <a:off x="6263640" y="1325880"/>
            <a:ext cx="1645920" cy="457200"/>
          </a:xfrm>
          <a:prstGeom prst="rect">
            <a:avLst/>
          </a:prstGeom>
          <a:noFill/>
          <a:ln/>
        </p:spPr>
        <p:txBody>
          <a:bodyPr wrap="square" lIns="0" tIns="0" rIns="0" bIns="0" rtlCol="0" anchor="ctr"/>
          <a:lstStyle/>
          <a:p>
            <a:pPr indent="0" marL="0">
              <a:buNone/>
            </a:pPr>
            <a:r>
              <a:rPr lang="en-US" sz="2200" b="1" dirty="0">
                <a:solidFill>
                  <a:srgbClr val="C8963E"/>
                </a:solidFill>
                <a:latin typeface="Cambria" pitchFamily="34" charset="0"/>
                <a:ea typeface="Cambria" pitchFamily="34" charset="-122"/>
                <a:cs typeface="Cambria" pitchFamily="34" charset="-120"/>
              </a:rPr>
              <a:t>200°C</a:t>
            </a:r>
            <a:endParaRPr lang="en-US" sz="2200" dirty="0"/>
          </a:p>
        </p:txBody>
      </p:sp>
      <p:sp>
        <p:nvSpPr>
          <p:cNvPr id="11" name="Text 9"/>
          <p:cNvSpPr txBox="1"/>
          <p:nvPr/>
        </p:nvSpPr>
        <p:spPr>
          <a:xfrm>
            <a:off x="6263640" y="1764792"/>
            <a:ext cx="1645920" cy="274320"/>
          </a:xfrm>
          <a:prstGeom prst="rect">
            <a:avLst/>
          </a:prstGeom>
          <a:noFill/>
          <a:ln/>
        </p:spPr>
        <p:txBody>
          <a:bodyPr wrap="square" lIns="0" tIns="0" rIns="0" bIns="0" rtlCol="0" anchor="ctr"/>
          <a:lstStyle/>
          <a:p>
            <a:pPr indent="0" marL="0">
              <a:buNone/>
            </a:pPr>
            <a:r>
              <a:rPr lang="en-US" sz="1200" dirty="0">
                <a:solidFill>
                  <a:srgbClr val="6E5A4B"/>
                </a:solidFill>
                <a:latin typeface="Calibri" pitchFamily="34" charset="0"/>
                <a:ea typeface="Calibri" pitchFamily="34" charset="-122"/>
                <a:cs typeface="Calibri" pitchFamily="34" charset="-120"/>
              </a:rPr>
              <a:t>400°F oven</a:t>
            </a:r>
            <a:endParaRPr lang="en-US" sz="1200" dirty="0"/>
          </a:p>
        </p:txBody>
      </p:sp>
      <p:sp>
        <p:nvSpPr>
          <p:cNvPr id="12" name="Text 10"/>
          <p:cNvSpPr txBox="1"/>
          <p:nvPr/>
        </p:nvSpPr>
        <p:spPr>
          <a:xfrm>
            <a:off x="914400" y="2286000"/>
            <a:ext cx="4023360" cy="411480"/>
          </a:xfrm>
          <a:prstGeom prst="rect">
            <a:avLst/>
          </a:prstGeom>
          <a:noFill/>
          <a:ln/>
        </p:spPr>
        <p:txBody>
          <a:bodyPr wrap="square" lIns="0" tIns="0" rIns="0" bIns="0" rtlCol="0" anchor="ctr"/>
          <a:lstStyle/>
          <a:p>
            <a:pPr indent="0" marL="0">
              <a:buNone/>
            </a:pPr>
            <a:r>
              <a:rPr lang="en-US" sz="2000" b="1" dirty="0">
                <a:solidFill>
                  <a:srgbClr val="8A5A2B"/>
                </a:solidFill>
                <a:latin typeface="Cambria" pitchFamily="34" charset="0"/>
                <a:ea typeface="Cambria" pitchFamily="34" charset="-122"/>
                <a:cs typeface="Cambria" pitchFamily="34" charset="-120"/>
              </a:rPr>
              <a:t>Ingredients</a:t>
            </a:r>
            <a:endParaRPr lang="en-US" sz="2000" dirty="0"/>
          </a:p>
        </p:txBody>
      </p:sp>
      <p:sp>
        <p:nvSpPr>
          <p:cNvPr id="13" name="Text 11"/>
          <p:cNvSpPr txBox="1"/>
          <p:nvPr/>
        </p:nvSpPr>
        <p:spPr>
          <a:xfrm>
            <a:off x="914400" y="274320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125 g (½ cup + 1 tbsp) unsalted butter</a:t>
            </a:r>
            <a:endParaRPr lang="en-US" sz="1400" dirty="0"/>
          </a:p>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100 g (1 cup) almond flour</a:t>
            </a:r>
            <a:endParaRPr lang="en-US" sz="1400" dirty="0"/>
          </a:p>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50 g (⅓ cup) plain flour</a:t>
            </a:r>
            <a:endParaRPr lang="en-US" sz="1400" dirty="0"/>
          </a:p>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150 g (1¼ cups) powdered sugar</a:t>
            </a:r>
            <a:endParaRPr lang="en-US" sz="1400" dirty="0"/>
          </a:p>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4 large egg whites (about 120 g)</a:t>
            </a:r>
            <a:endParaRPr lang="en-US" sz="1400" dirty="0"/>
          </a:p>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1 pinch of salt</a:t>
            </a:r>
            <a:endParaRPr lang="en-US" sz="1400" dirty="0"/>
          </a:p>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½ tsp vanilla extract (optional)</a:t>
            </a:r>
            <a:endParaRPr lang="en-US" sz="1400" dirty="0"/>
          </a:p>
          <a:p>
            <a:pPr marL="342900" indent="-342900">
              <a:spcAft>
                <a:spcPts val="600"/>
              </a:spcAft>
              <a:buSzPct val="100000"/>
              <a:buChar char="•"/>
            </a:pPr>
            <a:r>
              <a:rPr lang="en-US" sz="1400" dirty="0">
                <a:solidFill>
                  <a:srgbClr val="2A1D15"/>
                </a:solidFill>
                <a:latin typeface="Calibri" pitchFamily="34" charset="0"/>
                <a:ea typeface="Calibri" pitchFamily="34" charset="-122"/>
                <a:cs typeface="Calibri" pitchFamily="34" charset="-120"/>
              </a:rPr>
              <a:t>Topping: flaked almonds or raspberries (optional)</a:t>
            </a:r>
            <a:endParaRPr lang="en-US" sz="1400" dirty="0"/>
          </a:p>
        </p:txBody>
      </p:sp>
      <p:sp>
        <p:nvSpPr>
          <p:cNvPr id="14" name="Text 12"/>
          <p:cNvSpPr txBox="1"/>
          <p:nvPr/>
        </p:nvSpPr>
        <p:spPr>
          <a:xfrm>
            <a:off x="5577840" y="2286000"/>
            <a:ext cx="5669280" cy="411480"/>
          </a:xfrm>
          <a:prstGeom prst="rect">
            <a:avLst/>
          </a:prstGeom>
          <a:noFill/>
          <a:ln/>
        </p:spPr>
        <p:txBody>
          <a:bodyPr wrap="square" lIns="0" tIns="0" rIns="0" bIns="0" rtlCol="0" anchor="ctr"/>
          <a:lstStyle/>
          <a:p>
            <a:pPr indent="0" marL="0">
              <a:buNone/>
            </a:pPr>
            <a:r>
              <a:rPr lang="en-US" sz="2000" b="1" dirty="0">
                <a:solidFill>
                  <a:srgbClr val="8A5A2B"/>
                </a:solidFill>
                <a:latin typeface="Cambria" pitchFamily="34" charset="0"/>
                <a:ea typeface="Cambria" pitchFamily="34" charset="-122"/>
                <a:cs typeface="Cambria" pitchFamily="34" charset="-120"/>
              </a:rPr>
              <a:t>Method</a:t>
            </a:r>
            <a:endParaRPr lang="en-US" sz="2000" dirty="0"/>
          </a:p>
        </p:txBody>
      </p:sp>
      <p:sp>
        <p:nvSpPr>
          <p:cNvPr id="15" name="Text 13"/>
          <p:cNvSpPr txBox="1"/>
          <p:nvPr/>
        </p:nvSpPr>
        <p:spPr>
          <a:xfrm>
            <a:off x="5577840" y="2743200"/>
            <a:ext cx="5669280" cy="34747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Brown the butter until nutty and golden; strain and let cool slightly.</a:t>
            </a:r>
            <a:endParaRPr lang="en-US" sz="1400" dirty="0"/>
          </a:p>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Heat oven to 200°C / 400°F. Butter the moulds.</a:t>
            </a:r>
            <a:endParaRPr lang="en-US" sz="1400" dirty="0"/>
          </a:p>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Sift the almond flour, flour, powdered sugar and salt into a bowl.</a:t>
            </a:r>
            <a:endParaRPr lang="en-US" sz="1400" dirty="0"/>
          </a:p>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Stir in the egg whites (unwhipped) until smooth.</a:t>
            </a:r>
            <a:endParaRPr lang="en-US" sz="1400" dirty="0"/>
          </a:p>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Whisk in the warm brown butter (and vanilla).</a:t>
            </a:r>
            <a:endParaRPr lang="en-US" sz="1400" dirty="0"/>
          </a:p>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Rest the batter 30 min in the fridge (optional).</a:t>
            </a:r>
            <a:endParaRPr lang="en-US" sz="1400" dirty="0"/>
          </a:p>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Fill moulds ¾ full; add toppings.</a:t>
            </a:r>
            <a:endParaRPr lang="en-US" sz="1400" dirty="0"/>
          </a:p>
          <a:p>
            <a:pPr marL="342900" indent="-342900">
              <a:spcAft>
                <a:spcPts val="600"/>
              </a:spcAft>
              <a:buSzPct val="100000"/>
              <a:buFont typeface="+mj-lt"/>
              <a:buAutoNum type="arabicPeriod" startAt="1"/>
            </a:pPr>
            <a:r>
              <a:rPr lang="en-US" sz="1400" dirty="0">
                <a:solidFill>
                  <a:srgbClr val="2A1D15"/>
                </a:solidFill>
                <a:latin typeface="Calibri" pitchFamily="34" charset="0"/>
                <a:ea typeface="Calibri" pitchFamily="34" charset="-122"/>
                <a:cs typeface="Calibri" pitchFamily="34" charset="-120"/>
              </a:rPr>
              <a:t>Bake 12–15 min until golden at the edges. Cool 5 min, unmould.</a:t>
            </a:r>
            <a:endParaRPr lang="en-US" sz="1400" dirty="0"/>
          </a:p>
        </p:txBody>
      </p:sp>
      <p:sp>
        <p:nvSpPr>
          <p:cNvPr id="16" name="Shape 14"/>
          <p:cNvSpPr/>
          <p:nvPr/>
        </p:nvSpPr>
        <p:spPr>
          <a:xfrm>
            <a:off x="10332720" y="731520"/>
            <a:ext cx="914400" cy="914400"/>
          </a:xfrm>
          <a:prstGeom prst="ellipse">
            <a:avLst/>
          </a:prstGeom>
          <a:solidFill>
            <a:srgbClr val="3B2418"/>
          </a:solidFill>
          <a:ln w="12700">
            <a:solidFill>
              <a:srgbClr val="3B2418"/>
            </a:solidFill>
            <a:prstDash val="solid"/>
          </a:ln>
        </p:spPr>
      </p:sp>
      <p:pic>
        <p:nvPicPr>
          <p:cNvPr id="17" name="Image 0" descr="preencoded.png">    </p:cNvPr>
          <p:cNvPicPr>
            <a:picLocks noChangeAspect="1"/>
          </p:cNvPicPr>
          <p:nvPr/>
        </p:nvPicPr>
        <p:blipFill>
          <a:blip r:embed="rId1"/>
          <a:stretch>
            <a:fillRect/>
          </a:stretch>
        </p:blipFill>
        <p:spPr>
          <a:xfrm>
            <a:off x="10561320" y="960120"/>
            <a:ext cx="4572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800" b="1" dirty="0">
                <a:solidFill>
                  <a:srgbClr val="3B2418"/>
                </a:solidFill>
                <a:latin typeface="Cambria" pitchFamily="34" charset="0"/>
                <a:ea typeface="Cambria" pitchFamily="34" charset="-122"/>
                <a:cs typeface="Cambria" pitchFamily="34" charset="-120"/>
              </a:rPr>
              <a:t>The Ingredients</a:t>
            </a:r>
            <a:endParaRPr lang="en-US" sz="38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i="1" dirty="0">
                <a:solidFill>
                  <a:srgbClr val="6E5A4B"/>
                </a:solidFill>
                <a:latin typeface="Calibri" pitchFamily="34" charset="0"/>
                <a:ea typeface="Calibri" pitchFamily="34" charset="-122"/>
                <a:cs typeface="Calibri" pitchFamily="34" charset="-120"/>
              </a:rPr>
              <a:t>Only six basic ingredients — each one has a job</a:t>
            </a:r>
            <a:endParaRPr lang="en-US" sz="1600" dirty="0"/>
          </a:p>
        </p:txBody>
      </p:sp>
      <p:sp>
        <p:nvSpPr>
          <p:cNvPr id="4" name="Shape 2"/>
          <p:cNvSpPr/>
          <p:nvPr/>
        </p:nvSpPr>
        <p:spPr>
          <a:xfrm>
            <a:off x="548640" y="1874520"/>
            <a:ext cx="868680" cy="868680"/>
          </a:xfrm>
          <a:prstGeom prst="ellipse">
            <a:avLst/>
          </a:prstGeom>
          <a:solidFill>
            <a:srgbClr val="C8963E"/>
          </a:solidFill>
          <a:ln w="12700">
            <a:solidFill>
              <a:srgbClr val="C8963E"/>
            </a:solidFill>
            <a:prstDash val="solid"/>
          </a:ln>
        </p:spPr>
      </p:sp>
      <p:pic>
        <p:nvPicPr>
          <p:cNvPr id="5" name="Image 0" descr="preencoded.png">    </p:cNvPr>
          <p:cNvPicPr>
            <a:picLocks noChangeAspect="1"/>
          </p:cNvPicPr>
          <p:nvPr/>
        </p:nvPicPr>
        <p:blipFill>
          <a:blip r:embed="rId1"/>
          <a:stretch>
            <a:fillRect/>
          </a:stretch>
        </p:blipFill>
        <p:spPr>
          <a:xfrm>
            <a:off x="765810" y="2091690"/>
            <a:ext cx="434340" cy="434340"/>
          </a:xfrm>
          <a:prstGeom prst="rect">
            <a:avLst/>
          </a:prstGeom>
        </p:spPr>
      </p:pic>
      <p:sp>
        <p:nvSpPr>
          <p:cNvPr id="6" name="Text 3"/>
          <p:cNvSpPr txBox="1"/>
          <p:nvPr/>
        </p:nvSpPr>
        <p:spPr>
          <a:xfrm>
            <a:off x="1645920" y="1828800"/>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Brown butter</a:t>
            </a:r>
            <a:pPr indent="0" marL="0">
              <a:buNone/>
            </a:pPr>
            <a:r>
              <a:rPr lang="en-US" sz="1500" b="1" dirty="0">
                <a:solidFill>
                  <a:srgbClr val="8A5A2B"/>
                </a:solidFill>
                <a:latin typeface="Calibri" pitchFamily="34" charset="0"/>
                <a:ea typeface="Calibri" pitchFamily="34" charset="-122"/>
                <a:cs typeface="Calibri" pitchFamily="34" charset="-120"/>
              </a:rPr>
              <a:t>   125 g</a:t>
            </a:r>
            <a:endParaRPr lang="en-US" sz="1900" dirty="0"/>
          </a:p>
        </p:txBody>
      </p:sp>
      <p:sp>
        <p:nvSpPr>
          <p:cNvPr id="7" name="Text 4"/>
          <p:cNvSpPr txBox="1"/>
          <p:nvPr/>
        </p:nvSpPr>
        <p:spPr>
          <a:xfrm>
            <a:off x="1645920" y="2258568"/>
            <a:ext cx="4297680" cy="7772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Butter cooked until the milk solids toast. Gives the signature nutty flavour.</a:t>
            </a:r>
            <a:endParaRPr lang="en-US" sz="1400" dirty="0"/>
          </a:p>
        </p:txBody>
      </p:sp>
      <p:sp>
        <p:nvSpPr>
          <p:cNvPr id="8" name="Shape 5"/>
          <p:cNvSpPr/>
          <p:nvPr/>
        </p:nvSpPr>
        <p:spPr>
          <a:xfrm>
            <a:off x="6217920" y="1874520"/>
            <a:ext cx="868680" cy="868680"/>
          </a:xfrm>
          <a:prstGeom prst="ellipse">
            <a:avLst/>
          </a:prstGeom>
          <a:solidFill>
            <a:srgbClr val="C8963E"/>
          </a:solidFill>
          <a:ln w="12700">
            <a:solidFill>
              <a:srgbClr val="C8963E"/>
            </a:solidFill>
            <a:prstDash val="solid"/>
          </a:ln>
        </p:spPr>
      </p:sp>
      <p:pic>
        <p:nvPicPr>
          <p:cNvPr id="9" name="Image 1" descr="preencoded.png">    </p:cNvPr>
          <p:cNvPicPr>
            <a:picLocks noChangeAspect="1"/>
          </p:cNvPicPr>
          <p:nvPr/>
        </p:nvPicPr>
        <p:blipFill>
          <a:blip r:embed="rId2"/>
          <a:stretch>
            <a:fillRect/>
          </a:stretch>
        </p:blipFill>
        <p:spPr>
          <a:xfrm>
            <a:off x="6435090" y="2091690"/>
            <a:ext cx="434340" cy="434340"/>
          </a:xfrm>
          <a:prstGeom prst="rect">
            <a:avLst/>
          </a:prstGeom>
        </p:spPr>
      </p:pic>
      <p:sp>
        <p:nvSpPr>
          <p:cNvPr id="10" name="Text 6"/>
          <p:cNvSpPr txBox="1"/>
          <p:nvPr/>
        </p:nvSpPr>
        <p:spPr>
          <a:xfrm>
            <a:off x="7315200" y="1828800"/>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Almond flour</a:t>
            </a:r>
            <a:pPr indent="0" marL="0">
              <a:buNone/>
            </a:pPr>
            <a:r>
              <a:rPr lang="en-US" sz="1500" b="1" dirty="0">
                <a:solidFill>
                  <a:srgbClr val="8A5A2B"/>
                </a:solidFill>
                <a:latin typeface="Calibri" pitchFamily="34" charset="0"/>
                <a:ea typeface="Calibri" pitchFamily="34" charset="-122"/>
                <a:cs typeface="Calibri" pitchFamily="34" charset="-120"/>
              </a:rPr>
              <a:t>   100 g</a:t>
            </a:r>
            <a:endParaRPr lang="en-US" sz="1900" dirty="0"/>
          </a:p>
        </p:txBody>
      </p:sp>
      <p:sp>
        <p:nvSpPr>
          <p:cNvPr id="11" name="Text 7"/>
          <p:cNvSpPr txBox="1"/>
          <p:nvPr/>
        </p:nvSpPr>
        <p:spPr>
          <a:xfrm>
            <a:off x="7315200" y="2258568"/>
            <a:ext cx="4297680" cy="7772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Finely ground almonds. Makes the cake moist, rich and tender.</a:t>
            </a:r>
            <a:endParaRPr lang="en-US" sz="1400" dirty="0"/>
          </a:p>
        </p:txBody>
      </p:sp>
      <p:sp>
        <p:nvSpPr>
          <p:cNvPr id="12" name="Shape 8"/>
          <p:cNvSpPr/>
          <p:nvPr/>
        </p:nvSpPr>
        <p:spPr>
          <a:xfrm>
            <a:off x="548640" y="3383280"/>
            <a:ext cx="868680" cy="868680"/>
          </a:xfrm>
          <a:prstGeom prst="ellipse">
            <a:avLst/>
          </a:prstGeom>
          <a:solidFill>
            <a:srgbClr val="C8963E"/>
          </a:solidFill>
          <a:ln w="12700">
            <a:solidFill>
              <a:srgbClr val="C8963E"/>
            </a:solidFill>
            <a:prstDash val="solid"/>
          </a:ln>
        </p:spPr>
      </p:sp>
      <p:pic>
        <p:nvPicPr>
          <p:cNvPr id="13" name="Image 2" descr="preencoded.png">    </p:cNvPr>
          <p:cNvPicPr>
            <a:picLocks noChangeAspect="1"/>
          </p:cNvPicPr>
          <p:nvPr/>
        </p:nvPicPr>
        <p:blipFill>
          <a:blip r:embed="rId3"/>
          <a:stretch>
            <a:fillRect/>
          </a:stretch>
        </p:blipFill>
        <p:spPr>
          <a:xfrm>
            <a:off x="765810" y="3600450"/>
            <a:ext cx="434340" cy="434340"/>
          </a:xfrm>
          <a:prstGeom prst="rect">
            <a:avLst/>
          </a:prstGeom>
        </p:spPr>
      </p:pic>
      <p:sp>
        <p:nvSpPr>
          <p:cNvPr id="14" name="Text 9"/>
          <p:cNvSpPr txBox="1"/>
          <p:nvPr/>
        </p:nvSpPr>
        <p:spPr>
          <a:xfrm>
            <a:off x="1645920" y="3337560"/>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Plain flour</a:t>
            </a:r>
            <a:pPr indent="0" marL="0">
              <a:buNone/>
            </a:pPr>
            <a:r>
              <a:rPr lang="en-US" sz="1500" b="1" dirty="0">
                <a:solidFill>
                  <a:srgbClr val="8A5A2B"/>
                </a:solidFill>
                <a:latin typeface="Calibri" pitchFamily="34" charset="0"/>
                <a:ea typeface="Calibri" pitchFamily="34" charset="-122"/>
                <a:cs typeface="Calibri" pitchFamily="34" charset="-120"/>
              </a:rPr>
              <a:t>   50 g</a:t>
            </a:r>
            <a:endParaRPr lang="en-US" sz="1900" dirty="0"/>
          </a:p>
        </p:txBody>
      </p:sp>
      <p:sp>
        <p:nvSpPr>
          <p:cNvPr id="15" name="Text 10"/>
          <p:cNvSpPr txBox="1"/>
          <p:nvPr/>
        </p:nvSpPr>
        <p:spPr>
          <a:xfrm>
            <a:off x="1645920" y="3767328"/>
            <a:ext cx="4297680" cy="7772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A small amount holds the cake together.</a:t>
            </a:r>
            <a:endParaRPr lang="en-US" sz="1400" dirty="0"/>
          </a:p>
        </p:txBody>
      </p:sp>
      <p:sp>
        <p:nvSpPr>
          <p:cNvPr id="16" name="Shape 11"/>
          <p:cNvSpPr/>
          <p:nvPr/>
        </p:nvSpPr>
        <p:spPr>
          <a:xfrm>
            <a:off x="6217920" y="3383280"/>
            <a:ext cx="868680" cy="868680"/>
          </a:xfrm>
          <a:prstGeom prst="ellipse">
            <a:avLst/>
          </a:prstGeom>
          <a:solidFill>
            <a:srgbClr val="C8963E"/>
          </a:solidFill>
          <a:ln w="12700">
            <a:solidFill>
              <a:srgbClr val="C8963E"/>
            </a:solidFill>
            <a:prstDash val="solid"/>
          </a:ln>
        </p:spPr>
      </p:sp>
      <p:pic>
        <p:nvPicPr>
          <p:cNvPr id="17" name="Image 3" descr="preencoded.png">    </p:cNvPr>
          <p:cNvPicPr>
            <a:picLocks noChangeAspect="1"/>
          </p:cNvPicPr>
          <p:nvPr/>
        </p:nvPicPr>
        <p:blipFill>
          <a:blip r:embed="rId4"/>
          <a:stretch>
            <a:fillRect/>
          </a:stretch>
        </p:blipFill>
        <p:spPr>
          <a:xfrm>
            <a:off x="6435090" y="3600450"/>
            <a:ext cx="434340" cy="434340"/>
          </a:xfrm>
          <a:prstGeom prst="rect">
            <a:avLst/>
          </a:prstGeom>
        </p:spPr>
      </p:pic>
      <p:sp>
        <p:nvSpPr>
          <p:cNvPr id="18" name="Text 12"/>
          <p:cNvSpPr txBox="1"/>
          <p:nvPr/>
        </p:nvSpPr>
        <p:spPr>
          <a:xfrm>
            <a:off x="7315200" y="3337560"/>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Powdered sugar</a:t>
            </a:r>
            <a:pPr indent="0" marL="0">
              <a:buNone/>
            </a:pPr>
            <a:r>
              <a:rPr lang="en-US" sz="1500" b="1" dirty="0">
                <a:solidFill>
                  <a:srgbClr val="8A5A2B"/>
                </a:solidFill>
                <a:latin typeface="Calibri" pitchFamily="34" charset="0"/>
                <a:ea typeface="Calibri" pitchFamily="34" charset="-122"/>
                <a:cs typeface="Calibri" pitchFamily="34" charset="-120"/>
              </a:rPr>
              <a:t>   150 g</a:t>
            </a:r>
            <a:endParaRPr lang="en-US" sz="1900" dirty="0"/>
          </a:p>
        </p:txBody>
      </p:sp>
      <p:sp>
        <p:nvSpPr>
          <p:cNvPr id="19" name="Text 13"/>
          <p:cNvSpPr txBox="1"/>
          <p:nvPr/>
        </p:nvSpPr>
        <p:spPr>
          <a:xfrm>
            <a:off x="7315200" y="3767328"/>
            <a:ext cx="4297680" cy="7772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Sweetens and helps create the crisp, caramelised crust.</a:t>
            </a:r>
            <a:endParaRPr lang="en-US" sz="1400" dirty="0"/>
          </a:p>
        </p:txBody>
      </p:sp>
      <p:sp>
        <p:nvSpPr>
          <p:cNvPr id="20" name="Shape 14"/>
          <p:cNvSpPr/>
          <p:nvPr/>
        </p:nvSpPr>
        <p:spPr>
          <a:xfrm>
            <a:off x="548640" y="4892040"/>
            <a:ext cx="868680" cy="868680"/>
          </a:xfrm>
          <a:prstGeom prst="ellipse">
            <a:avLst/>
          </a:prstGeom>
          <a:solidFill>
            <a:srgbClr val="C8963E"/>
          </a:solidFill>
          <a:ln w="12700">
            <a:solidFill>
              <a:srgbClr val="C8963E"/>
            </a:solidFill>
            <a:prstDash val="solid"/>
          </a:ln>
        </p:spPr>
      </p:sp>
      <p:pic>
        <p:nvPicPr>
          <p:cNvPr id="21" name="Image 4" descr="preencoded.png">    </p:cNvPr>
          <p:cNvPicPr>
            <a:picLocks noChangeAspect="1"/>
          </p:cNvPicPr>
          <p:nvPr/>
        </p:nvPicPr>
        <p:blipFill>
          <a:blip r:embed="rId5"/>
          <a:stretch>
            <a:fillRect/>
          </a:stretch>
        </p:blipFill>
        <p:spPr>
          <a:xfrm>
            <a:off x="765810" y="5109210"/>
            <a:ext cx="434340" cy="434340"/>
          </a:xfrm>
          <a:prstGeom prst="rect">
            <a:avLst/>
          </a:prstGeom>
        </p:spPr>
      </p:pic>
      <p:sp>
        <p:nvSpPr>
          <p:cNvPr id="22" name="Text 15"/>
          <p:cNvSpPr txBox="1"/>
          <p:nvPr/>
        </p:nvSpPr>
        <p:spPr>
          <a:xfrm>
            <a:off x="1645920" y="4846320"/>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Egg whites</a:t>
            </a:r>
            <a:pPr indent="0" marL="0">
              <a:buNone/>
            </a:pPr>
            <a:r>
              <a:rPr lang="en-US" sz="1500" b="1" dirty="0">
                <a:solidFill>
                  <a:srgbClr val="8A5A2B"/>
                </a:solidFill>
                <a:latin typeface="Calibri" pitchFamily="34" charset="0"/>
                <a:ea typeface="Calibri" pitchFamily="34" charset="-122"/>
                <a:cs typeface="Calibri" pitchFamily="34" charset="-120"/>
              </a:rPr>
              <a:t>   4 large</a:t>
            </a:r>
            <a:endParaRPr lang="en-US" sz="1900" dirty="0"/>
          </a:p>
        </p:txBody>
      </p:sp>
      <p:sp>
        <p:nvSpPr>
          <p:cNvPr id="23" name="Text 16"/>
          <p:cNvSpPr txBox="1"/>
          <p:nvPr/>
        </p:nvSpPr>
        <p:spPr>
          <a:xfrm>
            <a:off x="1645920" y="5276088"/>
            <a:ext cx="4297680" cy="7772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Bind everything. Only whites are used — no yolks, no whisking needed.</a:t>
            </a:r>
            <a:endParaRPr lang="en-US" sz="1400" dirty="0"/>
          </a:p>
        </p:txBody>
      </p:sp>
      <p:sp>
        <p:nvSpPr>
          <p:cNvPr id="24" name="Shape 17"/>
          <p:cNvSpPr/>
          <p:nvPr/>
        </p:nvSpPr>
        <p:spPr>
          <a:xfrm>
            <a:off x="6217920" y="4892040"/>
            <a:ext cx="868680" cy="868680"/>
          </a:xfrm>
          <a:prstGeom prst="ellipse">
            <a:avLst/>
          </a:prstGeom>
          <a:solidFill>
            <a:srgbClr val="C8963E"/>
          </a:solidFill>
          <a:ln w="12700">
            <a:solidFill>
              <a:srgbClr val="C8963E"/>
            </a:solidFill>
            <a:prstDash val="solid"/>
          </a:ln>
        </p:spPr>
      </p:sp>
      <p:pic>
        <p:nvPicPr>
          <p:cNvPr id="25" name="Image 5" descr="preencoded.png">    </p:cNvPr>
          <p:cNvPicPr>
            <a:picLocks noChangeAspect="1"/>
          </p:cNvPicPr>
          <p:nvPr/>
        </p:nvPicPr>
        <p:blipFill>
          <a:blip r:embed="rId6"/>
          <a:stretch>
            <a:fillRect/>
          </a:stretch>
        </p:blipFill>
        <p:spPr>
          <a:xfrm>
            <a:off x="6435090" y="5109210"/>
            <a:ext cx="434340" cy="434340"/>
          </a:xfrm>
          <a:prstGeom prst="rect">
            <a:avLst/>
          </a:prstGeom>
        </p:spPr>
      </p:pic>
      <p:sp>
        <p:nvSpPr>
          <p:cNvPr id="26" name="Text 18"/>
          <p:cNvSpPr txBox="1"/>
          <p:nvPr/>
        </p:nvSpPr>
        <p:spPr>
          <a:xfrm>
            <a:off x="7315200" y="4846320"/>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Salt &amp; vanilla</a:t>
            </a:r>
            <a:pPr indent="0" marL="0">
              <a:buNone/>
            </a:pPr>
            <a:r>
              <a:rPr lang="en-US" sz="1500" b="1" dirty="0">
                <a:solidFill>
                  <a:srgbClr val="8A5A2B"/>
                </a:solidFill>
                <a:latin typeface="Calibri" pitchFamily="34" charset="0"/>
                <a:ea typeface="Calibri" pitchFamily="34" charset="-122"/>
                <a:cs typeface="Calibri" pitchFamily="34" charset="-120"/>
              </a:rPr>
              <a:t>   pinch / ½ tsp</a:t>
            </a:r>
            <a:endParaRPr lang="en-US" sz="1900" dirty="0"/>
          </a:p>
        </p:txBody>
      </p:sp>
      <p:sp>
        <p:nvSpPr>
          <p:cNvPr id="27" name="Text 19"/>
          <p:cNvSpPr txBox="1"/>
          <p:nvPr/>
        </p:nvSpPr>
        <p:spPr>
          <a:xfrm>
            <a:off x="7315200" y="5276088"/>
            <a:ext cx="4297680" cy="7772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Balance the sweetness and round out the flavour.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EE2"/>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800" b="1" dirty="0">
                <a:solidFill>
                  <a:srgbClr val="3B2418"/>
                </a:solidFill>
                <a:latin typeface="Cambria" pitchFamily="34" charset="0"/>
                <a:ea typeface="Cambria" pitchFamily="34" charset="-122"/>
                <a:cs typeface="Cambria" pitchFamily="34" charset="-120"/>
              </a:rPr>
              <a:t>The Tools You Need</a:t>
            </a:r>
            <a:endParaRPr lang="en-US" sz="38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i="1" dirty="0">
                <a:solidFill>
                  <a:srgbClr val="6E5A4B"/>
                </a:solidFill>
                <a:latin typeface="Calibri" pitchFamily="34" charset="0"/>
                <a:ea typeface="Calibri" pitchFamily="34" charset="-122"/>
                <a:cs typeface="Calibri" pitchFamily="34" charset="-120"/>
              </a:rPr>
              <a:t>Standard kitchen equipment — plus one special mould</a:t>
            </a:r>
            <a:endParaRPr lang="en-US" sz="1600" dirty="0"/>
          </a:p>
        </p:txBody>
      </p:sp>
      <p:sp>
        <p:nvSpPr>
          <p:cNvPr id="4" name="Shape 2"/>
          <p:cNvSpPr/>
          <p:nvPr/>
        </p:nvSpPr>
        <p:spPr>
          <a:xfrm>
            <a:off x="548640" y="1783080"/>
            <a:ext cx="3931920" cy="4480560"/>
          </a:xfrm>
          <a:prstGeom prst="roundRect">
            <a:avLst>
              <a:gd name="adj" fmla="val 3488"/>
            </a:avLst>
          </a:prstGeom>
          <a:solidFill>
            <a:srgbClr val="3B2418"/>
          </a:solidFill>
          <a:ln w="12700">
            <a:solidFill>
              <a:srgbClr val="3B2418"/>
            </a:solidFill>
            <a:prstDash val="solid"/>
          </a:ln>
        </p:spPr>
      </p:sp>
      <p:sp>
        <p:nvSpPr>
          <p:cNvPr id="5" name="Shape 3"/>
          <p:cNvSpPr/>
          <p:nvPr/>
        </p:nvSpPr>
        <p:spPr>
          <a:xfrm>
            <a:off x="914400" y="2148840"/>
            <a:ext cx="3200400" cy="1737360"/>
          </a:xfrm>
          <a:prstGeom prst="roundRect">
            <a:avLst>
              <a:gd name="adj" fmla="val 5263"/>
            </a:avLst>
          </a:prstGeom>
          <a:solidFill>
            <a:srgbClr val="5A3A28"/>
          </a:solidFill>
          <a:ln w="12700">
            <a:solidFill>
              <a:srgbClr val="C8963E"/>
            </a:solidFill>
            <a:prstDash val="solid"/>
          </a:ln>
        </p:spPr>
      </p:sp>
      <p:sp>
        <p:nvSpPr>
          <p:cNvPr id="6" name="Shape 4"/>
          <p:cNvSpPr/>
          <p:nvPr/>
        </p:nvSpPr>
        <p:spPr>
          <a:xfrm>
            <a:off x="1097280" y="2286000"/>
            <a:ext cx="1371600" cy="411480"/>
          </a:xfrm>
          <a:prstGeom prst="roundRect">
            <a:avLst>
              <a:gd name="adj" fmla="val 11111"/>
            </a:avLst>
          </a:prstGeom>
          <a:solidFill>
            <a:srgbClr val="C8963E"/>
          </a:solidFill>
          <a:ln w="12700">
            <a:solidFill>
              <a:srgbClr val="8A5A2B"/>
            </a:solidFill>
            <a:prstDash val="solid"/>
          </a:ln>
        </p:spPr>
      </p:sp>
      <p:sp>
        <p:nvSpPr>
          <p:cNvPr id="7" name="Shape 5"/>
          <p:cNvSpPr/>
          <p:nvPr/>
        </p:nvSpPr>
        <p:spPr>
          <a:xfrm>
            <a:off x="2560320" y="2286000"/>
            <a:ext cx="1371600" cy="411480"/>
          </a:xfrm>
          <a:prstGeom prst="roundRect">
            <a:avLst>
              <a:gd name="adj" fmla="val 11111"/>
            </a:avLst>
          </a:prstGeom>
          <a:solidFill>
            <a:srgbClr val="C8963E"/>
          </a:solidFill>
          <a:ln w="12700">
            <a:solidFill>
              <a:srgbClr val="8A5A2B"/>
            </a:solidFill>
            <a:prstDash val="solid"/>
          </a:ln>
        </p:spPr>
      </p:sp>
      <p:sp>
        <p:nvSpPr>
          <p:cNvPr id="8" name="Shape 6"/>
          <p:cNvSpPr/>
          <p:nvPr/>
        </p:nvSpPr>
        <p:spPr>
          <a:xfrm>
            <a:off x="1097280" y="2807208"/>
            <a:ext cx="1371600" cy="411480"/>
          </a:xfrm>
          <a:prstGeom prst="roundRect">
            <a:avLst>
              <a:gd name="adj" fmla="val 11111"/>
            </a:avLst>
          </a:prstGeom>
          <a:solidFill>
            <a:srgbClr val="C8963E"/>
          </a:solidFill>
          <a:ln w="12700">
            <a:solidFill>
              <a:srgbClr val="8A5A2B"/>
            </a:solidFill>
            <a:prstDash val="solid"/>
          </a:ln>
        </p:spPr>
      </p:sp>
      <p:sp>
        <p:nvSpPr>
          <p:cNvPr id="9" name="Shape 7"/>
          <p:cNvSpPr/>
          <p:nvPr/>
        </p:nvSpPr>
        <p:spPr>
          <a:xfrm>
            <a:off x="2560320" y="2807208"/>
            <a:ext cx="1371600" cy="411480"/>
          </a:xfrm>
          <a:prstGeom prst="roundRect">
            <a:avLst>
              <a:gd name="adj" fmla="val 11111"/>
            </a:avLst>
          </a:prstGeom>
          <a:solidFill>
            <a:srgbClr val="C8963E"/>
          </a:solidFill>
          <a:ln w="12700">
            <a:solidFill>
              <a:srgbClr val="8A5A2B"/>
            </a:solidFill>
            <a:prstDash val="solid"/>
          </a:ln>
        </p:spPr>
      </p:sp>
      <p:sp>
        <p:nvSpPr>
          <p:cNvPr id="10" name="Shape 8"/>
          <p:cNvSpPr/>
          <p:nvPr/>
        </p:nvSpPr>
        <p:spPr>
          <a:xfrm>
            <a:off x="1097280" y="3328416"/>
            <a:ext cx="1371600" cy="411480"/>
          </a:xfrm>
          <a:prstGeom prst="roundRect">
            <a:avLst>
              <a:gd name="adj" fmla="val 11111"/>
            </a:avLst>
          </a:prstGeom>
          <a:solidFill>
            <a:srgbClr val="C8963E"/>
          </a:solidFill>
          <a:ln w="12700">
            <a:solidFill>
              <a:srgbClr val="8A5A2B"/>
            </a:solidFill>
            <a:prstDash val="solid"/>
          </a:ln>
        </p:spPr>
      </p:sp>
      <p:sp>
        <p:nvSpPr>
          <p:cNvPr id="11" name="Shape 9"/>
          <p:cNvSpPr/>
          <p:nvPr/>
        </p:nvSpPr>
        <p:spPr>
          <a:xfrm>
            <a:off x="2560320" y="3328416"/>
            <a:ext cx="1371600" cy="411480"/>
          </a:xfrm>
          <a:prstGeom prst="roundRect">
            <a:avLst>
              <a:gd name="adj" fmla="val 11111"/>
            </a:avLst>
          </a:prstGeom>
          <a:solidFill>
            <a:srgbClr val="C8963E"/>
          </a:solidFill>
          <a:ln w="12700">
            <a:solidFill>
              <a:srgbClr val="8A5A2B"/>
            </a:solidFill>
            <a:prstDash val="solid"/>
          </a:ln>
        </p:spPr>
      </p:sp>
      <p:sp>
        <p:nvSpPr>
          <p:cNvPr id="12" name="Text 10"/>
          <p:cNvSpPr txBox="1"/>
          <p:nvPr/>
        </p:nvSpPr>
        <p:spPr>
          <a:xfrm>
            <a:off x="914400" y="4114800"/>
            <a:ext cx="3200400" cy="457200"/>
          </a:xfrm>
          <a:prstGeom prst="rect">
            <a:avLst/>
          </a:prstGeom>
          <a:noFill/>
          <a:ln/>
        </p:spPr>
        <p:txBody>
          <a:bodyPr wrap="square" lIns="0" tIns="0" rIns="0" bIns="0" rtlCol="0" anchor="ctr"/>
          <a:lstStyle/>
          <a:p>
            <a:pPr indent="0" marL="0">
              <a:buNone/>
            </a:pPr>
            <a:r>
              <a:rPr lang="en-US" sz="2100" b="1" dirty="0">
                <a:solidFill>
                  <a:srgbClr val="C8963E"/>
                </a:solidFill>
                <a:latin typeface="Cambria" pitchFamily="34" charset="0"/>
                <a:ea typeface="Cambria" pitchFamily="34" charset="-122"/>
                <a:cs typeface="Cambria" pitchFamily="34" charset="-120"/>
              </a:rPr>
              <a:t>Financier mould</a:t>
            </a:r>
            <a:endParaRPr lang="en-US" sz="2100" dirty="0"/>
          </a:p>
        </p:txBody>
      </p:sp>
      <p:sp>
        <p:nvSpPr>
          <p:cNvPr id="13" name="Text 11"/>
          <p:cNvSpPr txBox="1"/>
          <p:nvPr/>
        </p:nvSpPr>
        <p:spPr>
          <a:xfrm>
            <a:off x="914400" y="4617720"/>
            <a:ext cx="3200400" cy="1463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 tray of small rectangular "gold bar" cavities. No mould? A mini-muffin tin or small silicone moulds work too.</a:t>
            </a:r>
            <a:endParaRPr lang="en-US" sz="1400" dirty="0"/>
          </a:p>
        </p:txBody>
      </p:sp>
      <p:sp>
        <p:nvSpPr>
          <p:cNvPr id="14" name="Shape 12"/>
          <p:cNvSpPr/>
          <p:nvPr/>
        </p:nvSpPr>
        <p:spPr>
          <a:xfrm>
            <a:off x="4892040" y="1783080"/>
            <a:ext cx="731520" cy="731520"/>
          </a:xfrm>
          <a:prstGeom prst="ellipse">
            <a:avLst/>
          </a:prstGeom>
          <a:solidFill>
            <a:srgbClr val="3B2418"/>
          </a:solidFill>
          <a:ln w="12700">
            <a:solidFill>
              <a:srgbClr val="3B2418"/>
            </a:solidFill>
            <a:prstDash val="solid"/>
          </a:ln>
        </p:spPr>
      </p:sp>
      <p:pic>
        <p:nvPicPr>
          <p:cNvPr id="15" name="Image 0" descr="preencoded.png">    </p:cNvPr>
          <p:cNvPicPr>
            <a:picLocks noChangeAspect="1"/>
          </p:cNvPicPr>
          <p:nvPr/>
        </p:nvPicPr>
        <p:blipFill>
          <a:blip r:embed="rId1"/>
          <a:stretch>
            <a:fillRect/>
          </a:stretch>
        </p:blipFill>
        <p:spPr>
          <a:xfrm>
            <a:off x="5074920" y="1965960"/>
            <a:ext cx="365760" cy="365760"/>
          </a:xfrm>
          <a:prstGeom prst="rect">
            <a:avLst/>
          </a:prstGeom>
        </p:spPr>
      </p:pic>
      <p:sp>
        <p:nvSpPr>
          <p:cNvPr id="16" name="Text 13"/>
          <p:cNvSpPr txBox="1"/>
          <p:nvPr/>
        </p:nvSpPr>
        <p:spPr>
          <a:xfrm>
            <a:off x="5760720" y="1801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Kitchen scale</a:t>
            </a:r>
            <a:endParaRPr lang="en-US" sz="1600" dirty="0"/>
          </a:p>
        </p:txBody>
      </p:sp>
      <p:sp>
        <p:nvSpPr>
          <p:cNvPr id="17" name="Text 14"/>
          <p:cNvSpPr txBox="1"/>
          <p:nvPr/>
        </p:nvSpPr>
        <p:spPr>
          <a:xfrm>
            <a:off x="5760720" y="2148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For accurate measuring</a:t>
            </a:r>
            <a:endParaRPr lang="en-US" sz="1300" dirty="0"/>
          </a:p>
        </p:txBody>
      </p:sp>
      <p:sp>
        <p:nvSpPr>
          <p:cNvPr id="18" name="Shape 15"/>
          <p:cNvSpPr/>
          <p:nvPr/>
        </p:nvSpPr>
        <p:spPr>
          <a:xfrm>
            <a:off x="8275320" y="1783080"/>
            <a:ext cx="731520" cy="731520"/>
          </a:xfrm>
          <a:prstGeom prst="ellipse">
            <a:avLst/>
          </a:prstGeom>
          <a:solidFill>
            <a:srgbClr val="3B2418"/>
          </a:solidFill>
          <a:ln w="12700">
            <a:solidFill>
              <a:srgbClr val="3B2418"/>
            </a:solidFill>
            <a:prstDash val="solid"/>
          </a:ln>
        </p:spPr>
      </p:sp>
      <p:pic>
        <p:nvPicPr>
          <p:cNvPr id="19" name="Image 1" descr="preencoded.png">    </p:cNvPr>
          <p:cNvPicPr>
            <a:picLocks noChangeAspect="1"/>
          </p:cNvPicPr>
          <p:nvPr/>
        </p:nvPicPr>
        <p:blipFill>
          <a:blip r:embed="rId2"/>
          <a:stretch>
            <a:fillRect/>
          </a:stretch>
        </p:blipFill>
        <p:spPr>
          <a:xfrm>
            <a:off x="8458200" y="1965960"/>
            <a:ext cx="365760" cy="365760"/>
          </a:xfrm>
          <a:prstGeom prst="rect">
            <a:avLst/>
          </a:prstGeom>
        </p:spPr>
      </p:pic>
      <p:sp>
        <p:nvSpPr>
          <p:cNvPr id="20" name="Text 16"/>
          <p:cNvSpPr txBox="1"/>
          <p:nvPr/>
        </p:nvSpPr>
        <p:spPr>
          <a:xfrm>
            <a:off x="9144000" y="1801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Small saucepan</a:t>
            </a:r>
            <a:endParaRPr lang="en-US" sz="1600" dirty="0"/>
          </a:p>
        </p:txBody>
      </p:sp>
      <p:sp>
        <p:nvSpPr>
          <p:cNvPr id="21" name="Text 17"/>
          <p:cNvSpPr txBox="1"/>
          <p:nvPr/>
        </p:nvSpPr>
        <p:spPr>
          <a:xfrm>
            <a:off x="9144000" y="2148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Light-coloured, to see the butter brown</a:t>
            </a:r>
            <a:endParaRPr lang="en-US" sz="1300" dirty="0"/>
          </a:p>
        </p:txBody>
      </p:sp>
      <p:sp>
        <p:nvSpPr>
          <p:cNvPr id="22" name="Shape 18"/>
          <p:cNvSpPr/>
          <p:nvPr/>
        </p:nvSpPr>
        <p:spPr>
          <a:xfrm>
            <a:off x="4892040" y="2926080"/>
            <a:ext cx="731520" cy="731520"/>
          </a:xfrm>
          <a:prstGeom prst="ellipse">
            <a:avLst/>
          </a:prstGeom>
          <a:solidFill>
            <a:srgbClr val="3B2418"/>
          </a:solidFill>
          <a:ln w="12700">
            <a:solidFill>
              <a:srgbClr val="3B2418"/>
            </a:solidFill>
            <a:prstDash val="solid"/>
          </a:ln>
        </p:spPr>
      </p:sp>
      <p:pic>
        <p:nvPicPr>
          <p:cNvPr id="23" name="Image 2" descr="preencoded.png">    </p:cNvPr>
          <p:cNvPicPr>
            <a:picLocks noChangeAspect="1"/>
          </p:cNvPicPr>
          <p:nvPr/>
        </p:nvPicPr>
        <p:blipFill>
          <a:blip r:embed="rId3"/>
          <a:stretch>
            <a:fillRect/>
          </a:stretch>
        </p:blipFill>
        <p:spPr>
          <a:xfrm>
            <a:off x="5074920" y="3108960"/>
            <a:ext cx="365760" cy="365760"/>
          </a:xfrm>
          <a:prstGeom prst="rect">
            <a:avLst/>
          </a:prstGeom>
        </p:spPr>
      </p:pic>
      <p:sp>
        <p:nvSpPr>
          <p:cNvPr id="24" name="Text 19"/>
          <p:cNvSpPr txBox="1"/>
          <p:nvPr/>
        </p:nvSpPr>
        <p:spPr>
          <a:xfrm>
            <a:off x="5760720" y="2944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Fine sieve</a:t>
            </a:r>
            <a:endParaRPr lang="en-US" sz="1600" dirty="0"/>
          </a:p>
        </p:txBody>
      </p:sp>
      <p:sp>
        <p:nvSpPr>
          <p:cNvPr id="25" name="Text 20"/>
          <p:cNvSpPr txBox="1"/>
          <p:nvPr/>
        </p:nvSpPr>
        <p:spPr>
          <a:xfrm>
            <a:off x="5760720" y="3291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Sift dry ingredients &amp; strain butter</a:t>
            </a:r>
            <a:endParaRPr lang="en-US" sz="1300" dirty="0"/>
          </a:p>
        </p:txBody>
      </p:sp>
      <p:sp>
        <p:nvSpPr>
          <p:cNvPr id="26" name="Shape 21"/>
          <p:cNvSpPr/>
          <p:nvPr/>
        </p:nvSpPr>
        <p:spPr>
          <a:xfrm>
            <a:off x="8275320" y="2926080"/>
            <a:ext cx="731520" cy="731520"/>
          </a:xfrm>
          <a:prstGeom prst="ellipse">
            <a:avLst/>
          </a:prstGeom>
          <a:solidFill>
            <a:srgbClr val="3B2418"/>
          </a:solidFill>
          <a:ln w="12700">
            <a:solidFill>
              <a:srgbClr val="3B2418"/>
            </a:solidFill>
            <a:prstDash val="solid"/>
          </a:ln>
        </p:spPr>
      </p:sp>
      <p:pic>
        <p:nvPicPr>
          <p:cNvPr id="27" name="Image 3" descr="preencoded.png">    </p:cNvPr>
          <p:cNvPicPr>
            <a:picLocks noChangeAspect="1"/>
          </p:cNvPicPr>
          <p:nvPr/>
        </p:nvPicPr>
        <p:blipFill>
          <a:blip r:embed="rId4"/>
          <a:stretch>
            <a:fillRect/>
          </a:stretch>
        </p:blipFill>
        <p:spPr>
          <a:xfrm>
            <a:off x="8458200" y="3108960"/>
            <a:ext cx="365760" cy="365760"/>
          </a:xfrm>
          <a:prstGeom prst="rect">
            <a:avLst/>
          </a:prstGeom>
        </p:spPr>
      </p:pic>
      <p:sp>
        <p:nvSpPr>
          <p:cNvPr id="28" name="Text 22"/>
          <p:cNvSpPr txBox="1"/>
          <p:nvPr/>
        </p:nvSpPr>
        <p:spPr>
          <a:xfrm>
            <a:off x="9144000" y="2944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Whisk &amp; bowl</a:t>
            </a:r>
            <a:endParaRPr lang="en-US" sz="1600" dirty="0"/>
          </a:p>
        </p:txBody>
      </p:sp>
      <p:sp>
        <p:nvSpPr>
          <p:cNvPr id="29" name="Text 23"/>
          <p:cNvSpPr txBox="1"/>
          <p:nvPr/>
        </p:nvSpPr>
        <p:spPr>
          <a:xfrm>
            <a:off x="9144000" y="3291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To mix the batter</a:t>
            </a:r>
            <a:endParaRPr lang="en-US" sz="1300" dirty="0"/>
          </a:p>
        </p:txBody>
      </p:sp>
      <p:sp>
        <p:nvSpPr>
          <p:cNvPr id="30" name="Shape 24"/>
          <p:cNvSpPr/>
          <p:nvPr/>
        </p:nvSpPr>
        <p:spPr>
          <a:xfrm>
            <a:off x="4892040" y="4069080"/>
            <a:ext cx="731520" cy="731520"/>
          </a:xfrm>
          <a:prstGeom prst="ellipse">
            <a:avLst/>
          </a:prstGeom>
          <a:solidFill>
            <a:srgbClr val="3B2418"/>
          </a:solidFill>
          <a:ln w="12700">
            <a:solidFill>
              <a:srgbClr val="3B2418"/>
            </a:solidFill>
            <a:prstDash val="solid"/>
          </a:ln>
        </p:spPr>
      </p:sp>
      <p:pic>
        <p:nvPicPr>
          <p:cNvPr id="31" name="Image 4" descr="preencoded.png">    </p:cNvPr>
          <p:cNvPicPr>
            <a:picLocks noChangeAspect="1"/>
          </p:cNvPicPr>
          <p:nvPr/>
        </p:nvPicPr>
        <p:blipFill>
          <a:blip r:embed="rId5"/>
          <a:stretch>
            <a:fillRect/>
          </a:stretch>
        </p:blipFill>
        <p:spPr>
          <a:xfrm>
            <a:off x="5074920" y="4251960"/>
            <a:ext cx="365760" cy="365760"/>
          </a:xfrm>
          <a:prstGeom prst="rect">
            <a:avLst/>
          </a:prstGeom>
        </p:spPr>
      </p:pic>
      <p:sp>
        <p:nvSpPr>
          <p:cNvPr id="32" name="Text 25"/>
          <p:cNvSpPr txBox="1"/>
          <p:nvPr/>
        </p:nvSpPr>
        <p:spPr>
          <a:xfrm>
            <a:off x="5760720" y="4087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Pastry brush</a:t>
            </a:r>
            <a:endParaRPr lang="en-US" sz="1600" dirty="0"/>
          </a:p>
        </p:txBody>
      </p:sp>
      <p:sp>
        <p:nvSpPr>
          <p:cNvPr id="33" name="Text 26"/>
          <p:cNvSpPr txBox="1"/>
          <p:nvPr/>
        </p:nvSpPr>
        <p:spPr>
          <a:xfrm>
            <a:off x="5760720" y="4434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To butter the moulds</a:t>
            </a:r>
            <a:endParaRPr lang="en-US" sz="1300" dirty="0"/>
          </a:p>
        </p:txBody>
      </p:sp>
      <p:sp>
        <p:nvSpPr>
          <p:cNvPr id="34" name="Shape 27"/>
          <p:cNvSpPr/>
          <p:nvPr/>
        </p:nvSpPr>
        <p:spPr>
          <a:xfrm>
            <a:off x="8275320" y="4069080"/>
            <a:ext cx="731520" cy="731520"/>
          </a:xfrm>
          <a:prstGeom prst="ellipse">
            <a:avLst/>
          </a:prstGeom>
          <a:solidFill>
            <a:srgbClr val="3B2418"/>
          </a:solidFill>
          <a:ln w="12700">
            <a:solidFill>
              <a:srgbClr val="3B2418"/>
            </a:solidFill>
            <a:prstDash val="solid"/>
          </a:ln>
        </p:spPr>
      </p:sp>
      <p:pic>
        <p:nvPicPr>
          <p:cNvPr id="35" name="Image 5" descr="preencoded.png">    </p:cNvPr>
          <p:cNvPicPr>
            <a:picLocks noChangeAspect="1"/>
          </p:cNvPicPr>
          <p:nvPr/>
        </p:nvPicPr>
        <p:blipFill>
          <a:blip r:embed="rId6"/>
          <a:stretch>
            <a:fillRect/>
          </a:stretch>
        </p:blipFill>
        <p:spPr>
          <a:xfrm>
            <a:off x="8458200" y="4251960"/>
            <a:ext cx="365760" cy="365760"/>
          </a:xfrm>
          <a:prstGeom prst="rect">
            <a:avLst/>
          </a:prstGeom>
        </p:spPr>
      </p:pic>
      <p:sp>
        <p:nvSpPr>
          <p:cNvPr id="36" name="Text 28"/>
          <p:cNvSpPr txBox="1"/>
          <p:nvPr/>
        </p:nvSpPr>
        <p:spPr>
          <a:xfrm>
            <a:off x="9144000" y="4087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Piping bag or spoon</a:t>
            </a:r>
            <a:endParaRPr lang="en-US" sz="1600" dirty="0"/>
          </a:p>
        </p:txBody>
      </p:sp>
      <p:sp>
        <p:nvSpPr>
          <p:cNvPr id="37" name="Text 29"/>
          <p:cNvSpPr txBox="1"/>
          <p:nvPr/>
        </p:nvSpPr>
        <p:spPr>
          <a:xfrm>
            <a:off x="9144000" y="4434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To fill the moulds neatly</a:t>
            </a:r>
            <a:endParaRPr lang="en-US" sz="1300" dirty="0"/>
          </a:p>
        </p:txBody>
      </p:sp>
      <p:sp>
        <p:nvSpPr>
          <p:cNvPr id="38" name="Shape 30"/>
          <p:cNvSpPr/>
          <p:nvPr/>
        </p:nvSpPr>
        <p:spPr>
          <a:xfrm>
            <a:off x="4892040" y="5212080"/>
            <a:ext cx="731520" cy="731520"/>
          </a:xfrm>
          <a:prstGeom prst="ellipse">
            <a:avLst/>
          </a:prstGeom>
          <a:solidFill>
            <a:srgbClr val="3B2418"/>
          </a:solidFill>
          <a:ln w="12700">
            <a:solidFill>
              <a:srgbClr val="3B2418"/>
            </a:solidFill>
            <a:prstDash val="solid"/>
          </a:ln>
        </p:spPr>
      </p:sp>
      <p:pic>
        <p:nvPicPr>
          <p:cNvPr id="39" name="Image 6" descr="preencoded.png">    </p:cNvPr>
          <p:cNvPicPr>
            <a:picLocks noChangeAspect="1"/>
          </p:cNvPicPr>
          <p:nvPr/>
        </p:nvPicPr>
        <p:blipFill>
          <a:blip r:embed="rId7"/>
          <a:stretch>
            <a:fillRect/>
          </a:stretch>
        </p:blipFill>
        <p:spPr>
          <a:xfrm>
            <a:off x="5074920" y="5394960"/>
            <a:ext cx="365760" cy="365760"/>
          </a:xfrm>
          <a:prstGeom prst="rect">
            <a:avLst/>
          </a:prstGeom>
        </p:spPr>
      </p:pic>
      <p:sp>
        <p:nvSpPr>
          <p:cNvPr id="40" name="Text 31"/>
          <p:cNvSpPr txBox="1"/>
          <p:nvPr/>
        </p:nvSpPr>
        <p:spPr>
          <a:xfrm>
            <a:off x="5760720" y="5230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Spatula</a:t>
            </a:r>
            <a:endParaRPr lang="en-US" sz="1600" dirty="0"/>
          </a:p>
        </p:txBody>
      </p:sp>
      <p:sp>
        <p:nvSpPr>
          <p:cNvPr id="41" name="Text 32"/>
          <p:cNvSpPr txBox="1"/>
          <p:nvPr/>
        </p:nvSpPr>
        <p:spPr>
          <a:xfrm>
            <a:off x="5760720" y="5577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Scrape the bowl, loosen the cakes</a:t>
            </a:r>
            <a:endParaRPr lang="en-US" sz="1300" dirty="0"/>
          </a:p>
        </p:txBody>
      </p:sp>
      <p:sp>
        <p:nvSpPr>
          <p:cNvPr id="42" name="Shape 33"/>
          <p:cNvSpPr/>
          <p:nvPr/>
        </p:nvSpPr>
        <p:spPr>
          <a:xfrm>
            <a:off x="8275320" y="5212080"/>
            <a:ext cx="731520" cy="731520"/>
          </a:xfrm>
          <a:prstGeom prst="ellipse">
            <a:avLst/>
          </a:prstGeom>
          <a:solidFill>
            <a:srgbClr val="3B2418"/>
          </a:solidFill>
          <a:ln w="12700">
            <a:solidFill>
              <a:srgbClr val="3B2418"/>
            </a:solidFill>
            <a:prstDash val="solid"/>
          </a:ln>
        </p:spPr>
      </p:sp>
      <p:pic>
        <p:nvPicPr>
          <p:cNvPr id="43" name="Image 7" descr="preencoded.png">    </p:cNvPr>
          <p:cNvPicPr>
            <a:picLocks noChangeAspect="1"/>
          </p:cNvPicPr>
          <p:nvPr/>
        </p:nvPicPr>
        <p:blipFill>
          <a:blip r:embed="rId8"/>
          <a:stretch>
            <a:fillRect/>
          </a:stretch>
        </p:blipFill>
        <p:spPr>
          <a:xfrm>
            <a:off x="8458200" y="5394960"/>
            <a:ext cx="365760" cy="365760"/>
          </a:xfrm>
          <a:prstGeom prst="rect">
            <a:avLst/>
          </a:prstGeom>
        </p:spPr>
      </p:pic>
      <p:sp>
        <p:nvSpPr>
          <p:cNvPr id="44" name="Text 34"/>
          <p:cNvSpPr txBox="1"/>
          <p:nvPr/>
        </p:nvSpPr>
        <p:spPr>
          <a:xfrm>
            <a:off x="9144000" y="5230368"/>
            <a:ext cx="2423160" cy="365760"/>
          </a:xfrm>
          <a:prstGeom prst="rect">
            <a:avLst/>
          </a:prstGeom>
          <a:noFill/>
          <a:ln/>
        </p:spPr>
        <p:txBody>
          <a:bodyPr wrap="square" lIns="0" tIns="0" rIns="0" bIns="0" rtlCol="0" anchor="ctr"/>
          <a:lstStyle/>
          <a:p>
            <a:pPr indent="0" marL="0">
              <a:buNone/>
            </a:pPr>
            <a:r>
              <a:rPr lang="en-US" sz="1600" b="1" dirty="0">
                <a:solidFill>
                  <a:srgbClr val="3B2418"/>
                </a:solidFill>
                <a:latin typeface="Calibri" pitchFamily="34" charset="0"/>
                <a:ea typeface="Calibri" pitchFamily="34" charset="-122"/>
                <a:cs typeface="Calibri" pitchFamily="34" charset="-120"/>
              </a:rPr>
              <a:t>Cooling rack &amp; oven</a:t>
            </a:r>
            <a:endParaRPr lang="en-US" sz="1600" dirty="0"/>
          </a:p>
        </p:txBody>
      </p:sp>
      <p:sp>
        <p:nvSpPr>
          <p:cNvPr id="45" name="Text 35"/>
          <p:cNvSpPr txBox="1"/>
          <p:nvPr/>
        </p:nvSpPr>
        <p:spPr>
          <a:xfrm>
            <a:off x="9144000" y="5577840"/>
            <a:ext cx="2423160" cy="502920"/>
          </a:xfrm>
          <a:prstGeom prst="rect">
            <a:avLst/>
          </a:prstGeom>
          <a:noFill/>
          <a:ln/>
        </p:spPr>
        <p:txBody>
          <a:bodyPr wrap="square" lIns="0" tIns="0" rIns="0" bIns="0" rtlCol="0" anchor="t"/>
          <a:lstStyle/>
          <a:p>
            <a:pPr indent="0" marL="0">
              <a:buNone/>
            </a:pPr>
            <a:r>
              <a:rPr lang="en-US" sz="1300" dirty="0">
                <a:solidFill>
                  <a:srgbClr val="6E5A4B"/>
                </a:solidFill>
                <a:latin typeface="Calibri" pitchFamily="34" charset="0"/>
                <a:ea typeface="Calibri" pitchFamily="34" charset="-122"/>
                <a:cs typeface="Calibri" pitchFamily="34" charset="-120"/>
              </a:rPr>
              <a:t>Bake at 200°C, then cool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800" b="1" dirty="0">
                <a:solidFill>
                  <a:srgbClr val="3B2418"/>
                </a:solidFill>
                <a:latin typeface="Cambria" pitchFamily="34" charset="0"/>
                <a:ea typeface="Cambria" pitchFamily="34" charset="-122"/>
                <a:cs typeface="Cambria" pitchFamily="34" charset="-120"/>
              </a:rPr>
              <a:t>How to Make Them (1/2)</a:t>
            </a:r>
            <a:endParaRPr lang="en-US" sz="38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i="1" dirty="0">
                <a:solidFill>
                  <a:srgbClr val="6E5A4B"/>
                </a:solidFill>
                <a:latin typeface="Calibri" pitchFamily="34" charset="0"/>
                <a:ea typeface="Calibri" pitchFamily="34" charset="-122"/>
                <a:cs typeface="Calibri" pitchFamily="34" charset="-120"/>
              </a:rPr>
              <a:t>Steps 1–4: brown butter and batter base</a:t>
            </a:r>
            <a:endParaRPr lang="en-US" sz="1600" dirty="0"/>
          </a:p>
        </p:txBody>
      </p:sp>
      <p:sp>
        <p:nvSpPr>
          <p:cNvPr id="4" name="Shape 2"/>
          <p:cNvSpPr/>
          <p:nvPr/>
        </p:nvSpPr>
        <p:spPr>
          <a:xfrm>
            <a:off x="548640" y="1783080"/>
            <a:ext cx="2606040" cy="4480560"/>
          </a:xfrm>
          <a:prstGeom prst="roundRect">
            <a:avLst>
              <a:gd name="adj" fmla="val 4211"/>
            </a:avLst>
          </a:prstGeom>
          <a:solidFill>
            <a:srgbClr val="F6EEE2"/>
          </a:solidFill>
          <a:ln w="12700">
            <a:solidFill>
              <a:srgbClr val="F6EEE2"/>
            </a:solidFill>
            <a:prstDash val="solid"/>
          </a:ln>
        </p:spPr>
      </p:sp>
      <p:sp>
        <p:nvSpPr>
          <p:cNvPr id="5" name="Shape 3"/>
          <p:cNvSpPr/>
          <p:nvPr/>
        </p:nvSpPr>
        <p:spPr>
          <a:xfrm>
            <a:off x="777240" y="2057400"/>
            <a:ext cx="731520" cy="731520"/>
          </a:xfrm>
          <a:prstGeom prst="ellipse">
            <a:avLst/>
          </a:prstGeom>
          <a:solidFill>
            <a:srgbClr val="3B2418"/>
          </a:solidFill>
          <a:ln w="12700">
            <a:solidFill>
              <a:srgbClr val="3B2418"/>
            </a:solidFill>
            <a:prstDash val="solid"/>
          </a:ln>
        </p:spPr>
      </p:sp>
      <p:sp>
        <p:nvSpPr>
          <p:cNvPr id="6" name="Text 4"/>
          <p:cNvSpPr txBox="1"/>
          <p:nvPr/>
        </p:nvSpPr>
        <p:spPr>
          <a:xfrm>
            <a:off x="77724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1</a:t>
            </a:r>
            <a:endParaRPr lang="en-US" sz="2600" dirty="0"/>
          </a:p>
        </p:txBody>
      </p:sp>
      <p:pic>
        <p:nvPicPr>
          <p:cNvPr id="7" name="Image 0" descr="preencoded.png">    </p:cNvPr>
          <p:cNvPicPr>
            <a:picLocks noChangeAspect="1"/>
          </p:cNvPicPr>
          <p:nvPr/>
        </p:nvPicPr>
        <p:blipFill>
          <a:blip r:embed="rId1"/>
          <a:stretch>
            <a:fillRect/>
          </a:stretch>
        </p:blipFill>
        <p:spPr>
          <a:xfrm>
            <a:off x="2240280" y="2148840"/>
            <a:ext cx="594360" cy="594360"/>
          </a:xfrm>
          <a:prstGeom prst="rect">
            <a:avLst/>
          </a:prstGeom>
        </p:spPr>
      </p:pic>
      <p:sp>
        <p:nvSpPr>
          <p:cNvPr id="8" name="Text 5"/>
          <p:cNvSpPr txBox="1"/>
          <p:nvPr/>
        </p:nvSpPr>
        <p:spPr>
          <a:xfrm>
            <a:off x="77724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Brown the butter</a:t>
            </a:r>
            <a:endParaRPr lang="en-US" sz="1800" dirty="0"/>
          </a:p>
        </p:txBody>
      </p:sp>
      <p:sp>
        <p:nvSpPr>
          <p:cNvPr id="9" name="Text 6"/>
          <p:cNvSpPr txBox="1"/>
          <p:nvPr/>
        </p:nvSpPr>
        <p:spPr>
          <a:xfrm>
            <a:off x="77724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Melt the butter in a small pan over medium heat. Keep cooking 5–7 min, swirling, until it foams, smells nutty and turns golden-brown. Strain and let cool until just warm.</a:t>
            </a:r>
            <a:endParaRPr lang="en-US" sz="1400" dirty="0"/>
          </a:p>
        </p:txBody>
      </p:sp>
      <p:sp>
        <p:nvSpPr>
          <p:cNvPr id="10" name="Shape 7"/>
          <p:cNvSpPr/>
          <p:nvPr/>
        </p:nvSpPr>
        <p:spPr>
          <a:xfrm>
            <a:off x="3383280" y="1783080"/>
            <a:ext cx="2606040" cy="4480560"/>
          </a:xfrm>
          <a:prstGeom prst="roundRect">
            <a:avLst>
              <a:gd name="adj" fmla="val 4211"/>
            </a:avLst>
          </a:prstGeom>
          <a:solidFill>
            <a:srgbClr val="F6EEE2"/>
          </a:solidFill>
          <a:ln w="12700">
            <a:solidFill>
              <a:srgbClr val="F6EEE2"/>
            </a:solidFill>
            <a:prstDash val="solid"/>
          </a:ln>
        </p:spPr>
      </p:sp>
      <p:sp>
        <p:nvSpPr>
          <p:cNvPr id="11" name="Shape 8"/>
          <p:cNvSpPr/>
          <p:nvPr/>
        </p:nvSpPr>
        <p:spPr>
          <a:xfrm>
            <a:off x="3611880" y="2057400"/>
            <a:ext cx="731520" cy="731520"/>
          </a:xfrm>
          <a:prstGeom prst="ellipse">
            <a:avLst/>
          </a:prstGeom>
          <a:solidFill>
            <a:srgbClr val="3B2418"/>
          </a:solidFill>
          <a:ln w="12700">
            <a:solidFill>
              <a:srgbClr val="3B2418"/>
            </a:solidFill>
            <a:prstDash val="solid"/>
          </a:ln>
        </p:spPr>
      </p:sp>
      <p:sp>
        <p:nvSpPr>
          <p:cNvPr id="12" name="Text 9"/>
          <p:cNvSpPr txBox="1"/>
          <p:nvPr/>
        </p:nvSpPr>
        <p:spPr>
          <a:xfrm>
            <a:off x="361188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2</a:t>
            </a:r>
            <a:endParaRPr lang="en-US" sz="2600" dirty="0"/>
          </a:p>
        </p:txBody>
      </p:sp>
      <p:pic>
        <p:nvPicPr>
          <p:cNvPr id="13" name="Image 1" descr="preencoded.png">    </p:cNvPr>
          <p:cNvPicPr>
            <a:picLocks noChangeAspect="1"/>
          </p:cNvPicPr>
          <p:nvPr/>
        </p:nvPicPr>
        <p:blipFill>
          <a:blip r:embed="rId2"/>
          <a:stretch>
            <a:fillRect/>
          </a:stretch>
        </p:blipFill>
        <p:spPr>
          <a:xfrm>
            <a:off x="5074920" y="2148840"/>
            <a:ext cx="594360" cy="594360"/>
          </a:xfrm>
          <a:prstGeom prst="rect">
            <a:avLst/>
          </a:prstGeom>
        </p:spPr>
      </p:pic>
      <p:sp>
        <p:nvSpPr>
          <p:cNvPr id="14" name="Text 10"/>
          <p:cNvSpPr txBox="1"/>
          <p:nvPr/>
        </p:nvSpPr>
        <p:spPr>
          <a:xfrm>
            <a:off x="361188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Prepare the oven &amp; moulds</a:t>
            </a:r>
            <a:endParaRPr lang="en-US" sz="1800" dirty="0"/>
          </a:p>
        </p:txBody>
      </p:sp>
      <p:sp>
        <p:nvSpPr>
          <p:cNvPr id="15" name="Text 11"/>
          <p:cNvSpPr txBox="1"/>
          <p:nvPr/>
        </p:nvSpPr>
        <p:spPr>
          <a:xfrm>
            <a:off x="361188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Preheat to 200°C / 400°F. Brush the moulds with soft butter so the cakes release easily.</a:t>
            </a:r>
            <a:endParaRPr lang="en-US" sz="1400" dirty="0"/>
          </a:p>
        </p:txBody>
      </p:sp>
      <p:sp>
        <p:nvSpPr>
          <p:cNvPr id="16" name="Shape 12"/>
          <p:cNvSpPr/>
          <p:nvPr/>
        </p:nvSpPr>
        <p:spPr>
          <a:xfrm>
            <a:off x="6217920" y="1783080"/>
            <a:ext cx="2606040" cy="4480560"/>
          </a:xfrm>
          <a:prstGeom prst="roundRect">
            <a:avLst>
              <a:gd name="adj" fmla="val 4211"/>
            </a:avLst>
          </a:prstGeom>
          <a:solidFill>
            <a:srgbClr val="F6EEE2"/>
          </a:solidFill>
          <a:ln w="12700">
            <a:solidFill>
              <a:srgbClr val="F6EEE2"/>
            </a:solidFill>
            <a:prstDash val="solid"/>
          </a:ln>
        </p:spPr>
      </p:sp>
      <p:sp>
        <p:nvSpPr>
          <p:cNvPr id="17" name="Shape 13"/>
          <p:cNvSpPr/>
          <p:nvPr/>
        </p:nvSpPr>
        <p:spPr>
          <a:xfrm>
            <a:off x="6446520" y="2057400"/>
            <a:ext cx="731520" cy="731520"/>
          </a:xfrm>
          <a:prstGeom prst="ellipse">
            <a:avLst/>
          </a:prstGeom>
          <a:solidFill>
            <a:srgbClr val="3B2418"/>
          </a:solidFill>
          <a:ln w="12700">
            <a:solidFill>
              <a:srgbClr val="3B2418"/>
            </a:solidFill>
            <a:prstDash val="solid"/>
          </a:ln>
        </p:spPr>
      </p:sp>
      <p:sp>
        <p:nvSpPr>
          <p:cNvPr id="18" name="Text 14"/>
          <p:cNvSpPr txBox="1"/>
          <p:nvPr/>
        </p:nvSpPr>
        <p:spPr>
          <a:xfrm>
            <a:off x="644652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3</a:t>
            </a:r>
            <a:endParaRPr lang="en-US" sz="2600" dirty="0"/>
          </a:p>
        </p:txBody>
      </p:sp>
      <p:pic>
        <p:nvPicPr>
          <p:cNvPr id="19" name="Image 2" descr="preencoded.png">    </p:cNvPr>
          <p:cNvPicPr>
            <a:picLocks noChangeAspect="1"/>
          </p:cNvPicPr>
          <p:nvPr/>
        </p:nvPicPr>
        <p:blipFill>
          <a:blip r:embed="rId3"/>
          <a:stretch>
            <a:fillRect/>
          </a:stretch>
        </p:blipFill>
        <p:spPr>
          <a:xfrm>
            <a:off x="7909560" y="2148840"/>
            <a:ext cx="594360" cy="594360"/>
          </a:xfrm>
          <a:prstGeom prst="rect">
            <a:avLst/>
          </a:prstGeom>
        </p:spPr>
      </p:pic>
      <p:sp>
        <p:nvSpPr>
          <p:cNvPr id="20" name="Text 15"/>
          <p:cNvSpPr txBox="1"/>
          <p:nvPr/>
        </p:nvSpPr>
        <p:spPr>
          <a:xfrm>
            <a:off x="644652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Mix the dry ingredients</a:t>
            </a:r>
            <a:endParaRPr lang="en-US" sz="1800" dirty="0"/>
          </a:p>
        </p:txBody>
      </p:sp>
      <p:sp>
        <p:nvSpPr>
          <p:cNvPr id="21" name="Text 16"/>
          <p:cNvSpPr txBox="1"/>
          <p:nvPr/>
        </p:nvSpPr>
        <p:spPr>
          <a:xfrm>
            <a:off x="644652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Sift the almond flour, plain flour, powdered sugar and salt into a bowl to remove lumps.</a:t>
            </a:r>
            <a:endParaRPr lang="en-US" sz="1400" dirty="0"/>
          </a:p>
        </p:txBody>
      </p:sp>
      <p:sp>
        <p:nvSpPr>
          <p:cNvPr id="22" name="Shape 17"/>
          <p:cNvSpPr/>
          <p:nvPr/>
        </p:nvSpPr>
        <p:spPr>
          <a:xfrm>
            <a:off x="9052560" y="1783080"/>
            <a:ext cx="2606040" cy="4480560"/>
          </a:xfrm>
          <a:prstGeom prst="roundRect">
            <a:avLst>
              <a:gd name="adj" fmla="val 4211"/>
            </a:avLst>
          </a:prstGeom>
          <a:solidFill>
            <a:srgbClr val="F6EEE2"/>
          </a:solidFill>
          <a:ln w="12700">
            <a:solidFill>
              <a:srgbClr val="F6EEE2"/>
            </a:solidFill>
            <a:prstDash val="solid"/>
          </a:ln>
        </p:spPr>
      </p:sp>
      <p:sp>
        <p:nvSpPr>
          <p:cNvPr id="23" name="Shape 18"/>
          <p:cNvSpPr/>
          <p:nvPr/>
        </p:nvSpPr>
        <p:spPr>
          <a:xfrm>
            <a:off x="9281160" y="2057400"/>
            <a:ext cx="731520" cy="731520"/>
          </a:xfrm>
          <a:prstGeom prst="ellipse">
            <a:avLst/>
          </a:prstGeom>
          <a:solidFill>
            <a:srgbClr val="3B2418"/>
          </a:solidFill>
          <a:ln w="12700">
            <a:solidFill>
              <a:srgbClr val="3B2418"/>
            </a:solidFill>
            <a:prstDash val="solid"/>
          </a:ln>
        </p:spPr>
      </p:sp>
      <p:sp>
        <p:nvSpPr>
          <p:cNvPr id="24" name="Text 19"/>
          <p:cNvSpPr txBox="1"/>
          <p:nvPr/>
        </p:nvSpPr>
        <p:spPr>
          <a:xfrm>
            <a:off x="928116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4</a:t>
            </a:r>
            <a:endParaRPr lang="en-US" sz="2600" dirty="0"/>
          </a:p>
        </p:txBody>
      </p:sp>
      <p:pic>
        <p:nvPicPr>
          <p:cNvPr id="25" name="Image 3" descr="preencoded.png">    </p:cNvPr>
          <p:cNvPicPr>
            <a:picLocks noChangeAspect="1"/>
          </p:cNvPicPr>
          <p:nvPr/>
        </p:nvPicPr>
        <p:blipFill>
          <a:blip r:embed="rId4"/>
          <a:stretch>
            <a:fillRect/>
          </a:stretch>
        </p:blipFill>
        <p:spPr>
          <a:xfrm>
            <a:off x="10744200" y="2148840"/>
            <a:ext cx="594360" cy="594360"/>
          </a:xfrm>
          <a:prstGeom prst="rect">
            <a:avLst/>
          </a:prstGeom>
        </p:spPr>
      </p:pic>
      <p:sp>
        <p:nvSpPr>
          <p:cNvPr id="26" name="Text 20"/>
          <p:cNvSpPr txBox="1"/>
          <p:nvPr/>
        </p:nvSpPr>
        <p:spPr>
          <a:xfrm>
            <a:off x="928116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Add the egg whites</a:t>
            </a:r>
            <a:endParaRPr lang="en-US" sz="1800" dirty="0"/>
          </a:p>
        </p:txBody>
      </p:sp>
      <p:sp>
        <p:nvSpPr>
          <p:cNvPr id="27" name="Text 21"/>
          <p:cNvSpPr txBox="1"/>
          <p:nvPr/>
        </p:nvSpPr>
        <p:spPr>
          <a:xfrm>
            <a:off x="928116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Pour in the egg whites and stir with a whisk until smooth. Don't beat them to foam — just combine.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800" b="1" dirty="0">
                <a:solidFill>
                  <a:srgbClr val="3B2418"/>
                </a:solidFill>
                <a:latin typeface="Cambria" pitchFamily="34" charset="0"/>
                <a:ea typeface="Cambria" pitchFamily="34" charset="-122"/>
                <a:cs typeface="Cambria" pitchFamily="34" charset="-120"/>
              </a:rPr>
              <a:t>How to Make Them (2/2)</a:t>
            </a:r>
            <a:endParaRPr lang="en-US" sz="38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indent="0" marL="0">
              <a:buNone/>
            </a:pPr>
            <a:r>
              <a:rPr lang="en-US" sz="1600" i="1" dirty="0">
                <a:solidFill>
                  <a:srgbClr val="6E5A4B"/>
                </a:solidFill>
                <a:latin typeface="Calibri" pitchFamily="34" charset="0"/>
                <a:ea typeface="Calibri" pitchFamily="34" charset="-122"/>
                <a:cs typeface="Calibri" pitchFamily="34" charset="-120"/>
              </a:rPr>
              <a:t>Steps 5–8: finish, fill and bake</a:t>
            </a:r>
            <a:endParaRPr lang="en-US" sz="1600" dirty="0"/>
          </a:p>
        </p:txBody>
      </p:sp>
      <p:sp>
        <p:nvSpPr>
          <p:cNvPr id="4" name="Shape 2"/>
          <p:cNvSpPr/>
          <p:nvPr/>
        </p:nvSpPr>
        <p:spPr>
          <a:xfrm>
            <a:off x="548640" y="1783080"/>
            <a:ext cx="2606040" cy="4480560"/>
          </a:xfrm>
          <a:prstGeom prst="roundRect">
            <a:avLst>
              <a:gd name="adj" fmla="val 4211"/>
            </a:avLst>
          </a:prstGeom>
          <a:solidFill>
            <a:srgbClr val="F6EEE2"/>
          </a:solidFill>
          <a:ln w="12700">
            <a:solidFill>
              <a:srgbClr val="F6EEE2"/>
            </a:solidFill>
            <a:prstDash val="solid"/>
          </a:ln>
        </p:spPr>
      </p:sp>
      <p:sp>
        <p:nvSpPr>
          <p:cNvPr id="5" name="Shape 3"/>
          <p:cNvSpPr/>
          <p:nvPr/>
        </p:nvSpPr>
        <p:spPr>
          <a:xfrm>
            <a:off x="777240" y="2057400"/>
            <a:ext cx="731520" cy="731520"/>
          </a:xfrm>
          <a:prstGeom prst="ellipse">
            <a:avLst/>
          </a:prstGeom>
          <a:solidFill>
            <a:srgbClr val="3B2418"/>
          </a:solidFill>
          <a:ln w="12700">
            <a:solidFill>
              <a:srgbClr val="3B2418"/>
            </a:solidFill>
            <a:prstDash val="solid"/>
          </a:ln>
        </p:spPr>
      </p:sp>
      <p:sp>
        <p:nvSpPr>
          <p:cNvPr id="6" name="Text 4"/>
          <p:cNvSpPr txBox="1"/>
          <p:nvPr/>
        </p:nvSpPr>
        <p:spPr>
          <a:xfrm>
            <a:off x="77724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5</a:t>
            </a:r>
            <a:endParaRPr lang="en-US" sz="2600" dirty="0"/>
          </a:p>
        </p:txBody>
      </p:sp>
      <p:pic>
        <p:nvPicPr>
          <p:cNvPr id="7" name="Image 0" descr="preencoded.png">    </p:cNvPr>
          <p:cNvPicPr>
            <a:picLocks noChangeAspect="1"/>
          </p:cNvPicPr>
          <p:nvPr/>
        </p:nvPicPr>
        <p:blipFill>
          <a:blip r:embed="rId1"/>
          <a:stretch>
            <a:fillRect/>
          </a:stretch>
        </p:blipFill>
        <p:spPr>
          <a:xfrm>
            <a:off x="2240280" y="2148840"/>
            <a:ext cx="594360" cy="594360"/>
          </a:xfrm>
          <a:prstGeom prst="rect">
            <a:avLst/>
          </a:prstGeom>
        </p:spPr>
      </p:pic>
      <p:sp>
        <p:nvSpPr>
          <p:cNvPr id="8" name="Text 5"/>
          <p:cNvSpPr txBox="1"/>
          <p:nvPr/>
        </p:nvSpPr>
        <p:spPr>
          <a:xfrm>
            <a:off x="77724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Add the brown butter</a:t>
            </a:r>
            <a:endParaRPr lang="en-US" sz="1800" dirty="0"/>
          </a:p>
        </p:txBody>
      </p:sp>
      <p:sp>
        <p:nvSpPr>
          <p:cNvPr id="9" name="Text 6"/>
          <p:cNvSpPr txBox="1"/>
          <p:nvPr/>
        </p:nvSpPr>
        <p:spPr>
          <a:xfrm>
            <a:off x="77724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Slowly pour in the warm brown butter (and vanilla), whisking until the batter is glossy.</a:t>
            </a:r>
            <a:endParaRPr lang="en-US" sz="1400" dirty="0"/>
          </a:p>
        </p:txBody>
      </p:sp>
      <p:sp>
        <p:nvSpPr>
          <p:cNvPr id="10" name="Shape 7"/>
          <p:cNvSpPr/>
          <p:nvPr/>
        </p:nvSpPr>
        <p:spPr>
          <a:xfrm>
            <a:off x="3383280" y="1783080"/>
            <a:ext cx="2606040" cy="4480560"/>
          </a:xfrm>
          <a:prstGeom prst="roundRect">
            <a:avLst>
              <a:gd name="adj" fmla="val 4211"/>
            </a:avLst>
          </a:prstGeom>
          <a:solidFill>
            <a:srgbClr val="F6EEE2"/>
          </a:solidFill>
          <a:ln w="12700">
            <a:solidFill>
              <a:srgbClr val="F6EEE2"/>
            </a:solidFill>
            <a:prstDash val="solid"/>
          </a:ln>
        </p:spPr>
      </p:sp>
      <p:sp>
        <p:nvSpPr>
          <p:cNvPr id="11" name="Shape 8"/>
          <p:cNvSpPr/>
          <p:nvPr/>
        </p:nvSpPr>
        <p:spPr>
          <a:xfrm>
            <a:off x="3611880" y="2057400"/>
            <a:ext cx="731520" cy="731520"/>
          </a:xfrm>
          <a:prstGeom prst="ellipse">
            <a:avLst/>
          </a:prstGeom>
          <a:solidFill>
            <a:srgbClr val="3B2418"/>
          </a:solidFill>
          <a:ln w="12700">
            <a:solidFill>
              <a:srgbClr val="3B2418"/>
            </a:solidFill>
            <a:prstDash val="solid"/>
          </a:ln>
        </p:spPr>
      </p:sp>
      <p:sp>
        <p:nvSpPr>
          <p:cNvPr id="12" name="Text 9"/>
          <p:cNvSpPr txBox="1"/>
          <p:nvPr/>
        </p:nvSpPr>
        <p:spPr>
          <a:xfrm>
            <a:off x="361188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6</a:t>
            </a:r>
            <a:endParaRPr lang="en-US" sz="2600" dirty="0"/>
          </a:p>
        </p:txBody>
      </p:sp>
      <p:pic>
        <p:nvPicPr>
          <p:cNvPr id="13" name="Image 1" descr="preencoded.png">    </p:cNvPr>
          <p:cNvPicPr>
            <a:picLocks noChangeAspect="1"/>
          </p:cNvPicPr>
          <p:nvPr/>
        </p:nvPicPr>
        <p:blipFill>
          <a:blip r:embed="rId2"/>
          <a:stretch>
            <a:fillRect/>
          </a:stretch>
        </p:blipFill>
        <p:spPr>
          <a:xfrm>
            <a:off x="5074920" y="2148840"/>
            <a:ext cx="594360" cy="594360"/>
          </a:xfrm>
          <a:prstGeom prst="rect">
            <a:avLst/>
          </a:prstGeom>
        </p:spPr>
      </p:pic>
      <p:sp>
        <p:nvSpPr>
          <p:cNvPr id="14" name="Text 10"/>
          <p:cNvSpPr txBox="1"/>
          <p:nvPr/>
        </p:nvSpPr>
        <p:spPr>
          <a:xfrm>
            <a:off x="361188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Rest the batter</a:t>
            </a:r>
            <a:endParaRPr lang="en-US" sz="1800" dirty="0"/>
          </a:p>
        </p:txBody>
      </p:sp>
      <p:sp>
        <p:nvSpPr>
          <p:cNvPr id="15" name="Text 11"/>
          <p:cNvSpPr txBox="1"/>
          <p:nvPr/>
        </p:nvSpPr>
        <p:spPr>
          <a:xfrm>
            <a:off x="361188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Chill for 30 minutes (or up to overnight). This gives a better rise and texture.</a:t>
            </a:r>
            <a:endParaRPr lang="en-US" sz="1400" dirty="0"/>
          </a:p>
        </p:txBody>
      </p:sp>
      <p:sp>
        <p:nvSpPr>
          <p:cNvPr id="16" name="Shape 12"/>
          <p:cNvSpPr/>
          <p:nvPr/>
        </p:nvSpPr>
        <p:spPr>
          <a:xfrm>
            <a:off x="6217920" y="1783080"/>
            <a:ext cx="2606040" cy="4480560"/>
          </a:xfrm>
          <a:prstGeom prst="roundRect">
            <a:avLst>
              <a:gd name="adj" fmla="val 4211"/>
            </a:avLst>
          </a:prstGeom>
          <a:solidFill>
            <a:srgbClr val="F6EEE2"/>
          </a:solidFill>
          <a:ln w="12700">
            <a:solidFill>
              <a:srgbClr val="F6EEE2"/>
            </a:solidFill>
            <a:prstDash val="solid"/>
          </a:ln>
        </p:spPr>
      </p:sp>
      <p:sp>
        <p:nvSpPr>
          <p:cNvPr id="17" name="Shape 13"/>
          <p:cNvSpPr/>
          <p:nvPr/>
        </p:nvSpPr>
        <p:spPr>
          <a:xfrm>
            <a:off x="6446520" y="2057400"/>
            <a:ext cx="731520" cy="731520"/>
          </a:xfrm>
          <a:prstGeom prst="ellipse">
            <a:avLst/>
          </a:prstGeom>
          <a:solidFill>
            <a:srgbClr val="3B2418"/>
          </a:solidFill>
          <a:ln w="12700">
            <a:solidFill>
              <a:srgbClr val="3B2418"/>
            </a:solidFill>
            <a:prstDash val="solid"/>
          </a:ln>
        </p:spPr>
      </p:sp>
      <p:sp>
        <p:nvSpPr>
          <p:cNvPr id="18" name="Text 14"/>
          <p:cNvSpPr txBox="1"/>
          <p:nvPr/>
        </p:nvSpPr>
        <p:spPr>
          <a:xfrm>
            <a:off x="644652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7</a:t>
            </a:r>
            <a:endParaRPr lang="en-US" sz="2600" dirty="0"/>
          </a:p>
        </p:txBody>
      </p:sp>
      <p:pic>
        <p:nvPicPr>
          <p:cNvPr id="19" name="Image 2" descr="preencoded.png">    </p:cNvPr>
          <p:cNvPicPr>
            <a:picLocks noChangeAspect="1"/>
          </p:cNvPicPr>
          <p:nvPr/>
        </p:nvPicPr>
        <p:blipFill>
          <a:blip r:embed="rId3"/>
          <a:stretch>
            <a:fillRect/>
          </a:stretch>
        </p:blipFill>
        <p:spPr>
          <a:xfrm>
            <a:off x="7909560" y="2148840"/>
            <a:ext cx="594360" cy="594360"/>
          </a:xfrm>
          <a:prstGeom prst="rect">
            <a:avLst/>
          </a:prstGeom>
        </p:spPr>
      </p:pic>
      <p:sp>
        <p:nvSpPr>
          <p:cNvPr id="20" name="Text 15"/>
          <p:cNvSpPr txBox="1"/>
          <p:nvPr/>
        </p:nvSpPr>
        <p:spPr>
          <a:xfrm>
            <a:off x="644652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Fill &amp; top</a:t>
            </a:r>
            <a:endParaRPr lang="en-US" sz="1800" dirty="0"/>
          </a:p>
        </p:txBody>
      </p:sp>
      <p:sp>
        <p:nvSpPr>
          <p:cNvPr id="21" name="Text 16"/>
          <p:cNvSpPr txBox="1"/>
          <p:nvPr/>
        </p:nvSpPr>
        <p:spPr>
          <a:xfrm>
            <a:off x="644652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Spoon or pipe the batter into the moulds about ¾ full. Add flaked almonds or a raspberry if you like.</a:t>
            </a:r>
            <a:endParaRPr lang="en-US" sz="1400" dirty="0"/>
          </a:p>
        </p:txBody>
      </p:sp>
      <p:sp>
        <p:nvSpPr>
          <p:cNvPr id="22" name="Shape 17"/>
          <p:cNvSpPr/>
          <p:nvPr/>
        </p:nvSpPr>
        <p:spPr>
          <a:xfrm>
            <a:off x="9052560" y="1783080"/>
            <a:ext cx="2606040" cy="4480560"/>
          </a:xfrm>
          <a:prstGeom prst="roundRect">
            <a:avLst>
              <a:gd name="adj" fmla="val 4211"/>
            </a:avLst>
          </a:prstGeom>
          <a:solidFill>
            <a:srgbClr val="F6EEE2"/>
          </a:solidFill>
          <a:ln w="12700">
            <a:solidFill>
              <a:srgbClr val="F6EEE2"/>
            </a:solidFill>
            <a:prstDash val="solid"/>
          </a:ln>
        </p:spPr>
      </p:sp>
      <p:sp>
        <p:nvSpPr>
          <p:cNvPr id="23" name="Shape 18"/>
          <p:cNvSpPr/>
          <p:nvPr/>
        </p:nvSpPr>
        <p:spPr>
          <a:xfrm>
            <a:off x="9281160" y="2057400"/>
            <a:ext cx="731520" cy="731520"/>
          </a:xfrm>
          <a:prstGeom prst="ellipse">
            <a:avLst/>
          </a:prstGeom>
          <a:solidFill>
            <a:srgbClr val="3B2418"/>
          </a:solidFill>
          <a:ln w="12700">
            <a:solidFill>
              <a:srgbClr val="3B2418"/>
            </a:solidFill>
            <a:prstDash val="solid"/>
          </a:ln>
        </p:spPr>
      </p:sp>
      <p:sp>
        <p:nvSpPr>
          <p:cNvPr id="24" name="Text 19"/>
          <p:cNvSpPr txBox="1"/>
          <p:nvPr/>
        </p:nvSpPr>
        <p:spPr>
          <a:xfrm>
            <a:off x="9281160" y="2057400"/>
            <a:ext cx="731520" cy="731520"/>
          </a:xfrm>
          <a:prstGeom prst="rect">
            <a:avLst/>
          </a:prstGeom>
          <a:noFill/>
          <a:ln/>
        </p:spPr>
        <p:txBody>
          <a:bodyPr wrap="square" lIns="0" tIns="0" rIns="0" bIns="0" rtlCol="0" anchor="ctr"/>
          <a:lstStyle/>
          <a:p>
            <a:pPr algn="ctr" indent="0" marL="0">
              <a:buNone/>
            </a:pPr>
            <a:r>
              <a:rPr lang="en-US" sz="2600" b="1" dirty="0">
                <a:solidFill>
                  <a:srgbClr val="C8963E"/>
                </a:solidFill>
                <a:latin typeface="Cambria" pitchFamily="34" charset="0"/>
                <a:ea typeface="Cambria" pitchFamily="34" charset="-122"/>
                <a:cs typeface="Cambria" pitchFamily="34" charset="-120"/>
              </a:rPr>
              <a:t>8</a:t>
            </a:r>
            <a:endParaRPr lang="en-US" sz="2600" dirty="0"/>
          </a:p>
        </p:txBody>
      </p:sp>
      <p:pic>
        <p:nvPicPr>
          <p:cNvPr id="25" name="Image 3" descr="preencoded.png">    </p:cNvPr>
          <p:cNvPicPr>
            <a:picLocks noChangeAspect="1"/>
          </p:cNvPicPr>
          <p:nvPr/>
        </p:nvPicPr>
        <p:blipFill>
          <a:blip r:embed="rId4"/>
          <a:stretch>
            <a:fillRect/>
          </a:stretch>
        </p:blipFill>
        <p:spPr>
          <a:xfrm>
            <a:off x="10744200" y="2148840"/>
            <a:ext cx="594360" cy="594360"/>
          </a:xfrm>
          <a:prstGeom prst="rect">
            <a:avLst/>
          </a:prstGeom>
        </p:spPr>
      </p:pic>
      <p:sp>
        <p:nvSpPr>
          <p:cNvPr id="26" name="Text 20"/>
          <p:cNvSpPr txBox="1"/>
          <p:nvPr/>
        </p:nvSpPr>
        <p:spPr>
          <a:xfrm>
            <a:off x="9281160" y="2971800"/>
            <a:ext cx="2194560" cy="731520"/>
          </a:xfrm>
          <a:prstGeom prst="rect">
            <a:avLst/>
          </a:prstGeom>
          <a:noFill/>
          <a:ln/>
        </p:spPr>
        <p:txBody>
          <a:bodyPr wrap="square" lIns="0" tIns="0" rIns="0" bIns="0" rtlCol="0" anchor="t"/>
          <a:lstStyle/>
          <a:p>
            <a:pPr indent="0" marL="0">
              <a:buNone/>
            </a:pPr>
            <a:r>
              <a:rPr lang="en-US" sz="1800" b="1" dirty="0">
                <a:solidFill>
                  <a:srgbClr val="3B2418"/>
                </a:solidFill>
                <a:latin typeface="Cambria" pitchFamily="34" charset="0"/>
                <a:ea typeface="Cambria" pitchFamily="34" charset="-122"/>
                <a:cs typeface="Cambria" pitchFamily="34" charset="-120"/>
              </a:rPr>
              <a:t>Bake &amp; cool</a:t>
            </a:r>
            <a:endParaRPr lang="en-US" sz="1800" dirty="0"/>
          </a:p>
        </p:txBody>
      </p:sp>
      <p:sp>
        <p:nvSpPr>
          <p:cNvPr id="27" name="Text 21"/>
          <p:cNvSpPr txBox="1"/>
          <p:nvPr/>
        </p:nvSpPr>
        <p:spPr>
          <a:xfrm>
            <a:off x="9281160" y="3749040"/>
            <a:ext cx="2194560" cy="2377440"/>
          </a:xfrm>
          <a:prstGeom prst="rect">
            <a:avLst/>
          </a:prstGeom>
          <a:noFill/>
          <a:ln/>
        </p:spPr>
        <p:txBody>
          <a:bodyPr wrap="square" lIns="0" tIns="0" rIns="0" bIns="0" rtlCol="0" anchor="t"/>
          <a:lstStyle/>
          <a:p>
            <a:pPr indent="0" marL="0">
              <a:buNone/>
            </a:pPr>
            <a:r>
              <a:rPr lang="en-US" sz="1400" dirty="0">
                <a:solidFill>
                  <a:srgbClr val="2A1D15"/>
                </a:solidFill>
                <a:latin typeface="Calibri" pitchFamily="34" charset="0"/>
                <a:ea typeface="Calibri" pitchFamily="34" charset="-122"/>
                <a:cs typeface="Calibri" pitchFamily="34" charset="-120"/>
              </a:rPr>
              <a:t>Bake 12–15 min until the edges are golden and the tops spring back. Cool 5 min, then unmould onto a rack.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800" b="1" dirty="0">
                <a:solidFill>
                  <a:srgbClr val="3B2418"/>
                </a:solidFill>
                <a:latin typeface="Cambria" pitchFamily="34" charset="0"/>
                <a:ea typeface="Cambria" pitchFamily="34" charset="-122"/>
                <a:cs typeface="Cambria" pitchFamily="34" charset="-120"/>
              </a:rPr>
              <a:t>Tips &amp; Variations</a:t>
            </a:r>
            <a:endParaRPr lang="en-US" sz="3800" dirty="0"/>
          </a:p>
        </p:txBody>
      </p:sp>
      <p:sp>
        <p:nvSpPr>
          <p:cNvPr id="3" name="Shape 1"/>
          <p:cNvSpPr/>
          <p:nvPr/>
        </p:nvSpPr>
        <p:spPr>
          <a:xfrm>
            <a:off x="548640" y="1371600"/>
            <a:ext cx="5303520" cy="4846320"/>
          </a:xfrm>
          <a:prstGeom prst="roundRect">
            <a:avLst>
              <a:gd name="adj" fmla="val 2264"/>
            </a:avLst>
          </a:prstGeom>
          <a:solidFill>
            <a:srgbClr val="F6EEE2"/>
          </a:solidFill>
          <a:ln w="12700">
            <a:solidFill>
              <a:srgbClr val="F6EEE2"/>
            </a:solidFill>
            <a:prstDash val="solid"/>
          </a:ln>
        </p:spPr>
      </p:sp>
      <p:sp>
        <p:nvSpPr>
          <p:cNvPr id="4" name="Shape 2"/>
          <p:cNvSpPr/>
          <p:nvPr/>
        </p:nvSpPr>
        <p:spPr>
          <a:xfrm>
            <a:off x="868680" y="1645920"/>
            <a:ext cx="685800" cy="685800"/>
          </a:xfrm>
          <a:prstGeom prst="ellipse">
            <a:avLst/>
          </a:prstGeom>
          <a:solidFill>
            <a:srgbClr val="3B2418"/>
          </a:solidFill>
          <a:ln w="12700">
            <a:solidFill>
              <a:srgbClr val="3B2418"/>
            </a:solidFill>
            <a:prstDash val="solid"/>
          </a:ln>
        </p:spPr>
      </p:sp>
      <p:pic>
        <p:nvPicPr>
          <p:cNvPr id="5" name="Image 0" descr="preencoded.png">    </p:cNvPr>
          <p:cNvPicPr>
            <a:picLocks noChangeAspect="1"/>
          </p:cNvPicPr>
          <p:nvPr/>
        </p:nvPicPr>
        <p:blipFill>
          <a:blip r:embed="rId1"/>
          <a:stretch>
            <a:fillRect/>
          </a:stretch>
        </p:blipFill>
        <p:spPr>
          <a:xfrm>
            <a:off x="1040130" y="1817370"/>
            <a:ext cx="342900" cy="342900"/>
          </a:xfrm>
          <a:prstGeom prst="rect">
            <a:avLst/>
          </a:prstGeom>
        </p:spPr>
      </p:pic>
      <p:sp>
        <p:nvSpPr>
          <p:cNvPr id="6" name="Text 3"/>
          <p:cNvSpPr txBox="1"/>
          <p:nvPr/>
        </p:nvSpPr>
        <p:spPr>
          <a:xfrm>
            <a:off x="1737360" y="1645920"/>
            <a:ext cx="3840480" cy="685800"/>
          </a:xfrm>
          <a:prstGeom prst="rect">
            <a:avLst/>
          </a:prstGeom>
          <a:noFill/>
          <a:ln/>
        </p:spPr>
        <p:txBody>
          <a:bodyPr wrap="square" lIns="0" tIns="0" rIns="0" bIns="0" rtlCol="0" anchor="ctr"/>
          <a:lstStyle/>
          <a:p>
            <a:pPr indent="0" marL="0">
              <a:buNone/>
            </a:pPr>
            <a:r>
              <a:rPr lang="en-US" sz="2200" b="1" dirty="0">
                <a:solidFill>
                  <a:srgbClr val="3B2418"/>
                </a:solidFill>
                <a:latin typeface="Cambria" pitchFamily="34" charset="0"/>
                <a:ea typeface="Cambria" pitchFamily="34" charset="-122"/>
                <a:cs typeface="Cambria" pitchFamily="34" charset="-120"/>
              </a:rPr>
              <a:t>Baker's tips</a:t>
            </a:r>
            <a:endParaRPr lang="en-US" sz="2200" dirty="0"/>
          </a:p>
        </p:txBody>
      </p:sp>
      <p:sp>
        <p:nvSpPr>
          <p:cNvPr id="7" name="Text 4"/>
          <p:cNvSpPr txBox="1"/>
          <p:nvPr/>
        </p:nvSpPr>
        <p:spPr>
          <a:xfrm>
            <a:off x="868680" y="2560320"/>
            <a:ext cx="466344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A1D15"/>
                </a:solidFill>
                <a:latin typeface="Calibri" pitchFamily="34" charset="0"/>
                <a:ea typeface="Calibri" pitchFamily="34" charset="-122"/>
                <a:cs typeface="Calibri" pitchFamily="34" charset="-120"/>
              </a:rPr>
              <a:t>Watch the butter closely — it goes from brown to burnt in seconds.</a:t>
            </a:r>
            <a:endParaRPr lang="en-US" sz="1500" dirty="0"/>
          </a:p>
          <a:p>
            <a:pPr marL="342900" indent="-342900">
              <a:spcAft>
                <a:spcPts val="1000"/>
              </a:spcAft>
              <a:buSzPct val="100000"/>
              <a:buChar char="•"/>
            </a:pPr>
            <a:r>
              <a:rPr lang="en-US" sz="1500" dirty="0">
                <a:solidFill>
                  <a:srgbClr val="2A1D15"/>
                </a:solidFill>
                <a:latin typeface="Calibri" pitchFamily="34" charset="0"/>
                <a:ea typeface="Calibri" pitchFamily="34" charset="-122"/>
                <a:cs typeface="Calibri" pitchFamily="34" charset="-120"/>
              </a:rPr>
              <a:t>Leftover yolks? Use them for crème brûlée or custard.</a:t>
            </a:r>
            <a:endParaRPr lang="en-US" sz="1500" dirty="0"/>
          </a:p>
          <a:p>
            <a:pPr marL="342900" indent="-342900">
              <a:spcAft>
                <a:spcPts val="1000"/>
              </a:spcAft>
              <a:buSzPct val="100000"/>
              <a:buChar char="•"/>
            </a:pPr>
            <a:r>
              <a:rPr lang="en-US" sz="1500" dirty="0">
                <a:solidFill>
                  <a:srgbClr val="2A1D15"/>
                </a:solidFill>
                <a:latin typeface="Calibri" pitchFamily="34" charset="0"/>
                <a:ea typeface="Calibri" pitchFamily="34" charset="-122"/>
                <a:cs typeface="Calibri" pitchFamily="34" charset="-120"/>
              </a:rPr>
              <a:t>Don't overfill the moulds; the cakes puff up in the oven.</a:t>
            </a:r>
            <a:endParaRPr lang="en-US" sz="1500" dirty="0"/>
          </a:p>
          <a:p>
            <a:pPr marL="342900" indent="-342900">
              <a:spcAft>
                <a:spcPts val="1000"/>
              </a:spcAft>
              <a:buSzPct val="100000"/>
              <a:buChar char="•"/>
            </a:pPr>
            <a:r>
              <a:rPr lang="en-US" sz="1500" dirty="0">
                <a:solidFill>
                  <a:srgbClr val="2A1D15"/>
                </a:solidFill>
                <a:latin typeface="Calibri" pitchFamily="34" charset="0"/>
                <a:ea typeface="Calibri" pitchFamily="34" charset="-122"/>
                <a:cs typeface="Calibri" pitchFamily="34" charset="-120"/>
              </a:rPr>
              <a:t>Store in an airtight box for 2–3 days, or freeze for a month.</a:t>
            </a:r>
            <a:endParaRPr lang="en-US" sz="1500" dirty="0"/>
          </a:p>
        </p:txBody>
      </p:sp>
      <p:sp>
        <p:nvSpPr>
          <p:cNvPr id="8" name="Shape 5"/>
          <p:cNvSpPr/>
          <p:nvPr/>
        </p:nvSpPr>
        <p:spPr>
          <a:xfrm>
            <a:off x="6309360" y="1463040"/>
            <a:ext cx="822960" cy="822960"/>
          </a:xfrm>
          <a:prstGeom prst="ellipse">
            <a:avLst/>
          </a:prstGeom>
          <a:solidFill>
            <a:srgbClr val="C8963E"/>
          </a:solidFill>
          <a:ln w="12700">
            <a:solidFill>
              <a:srgbClr val="C8963E"/>
            </a:solidFill>
            <a:prstDash val="solid"/>
          </a:ln>
        </p:spPr>
      </p:sp>
      <p:pic>
        <p:nvPicPr>
          <p:cNvPr id="9" name="Image 1" descr="preencoded.png">    </p:cNvPr>
          <p:cNvPicPr>
            <a:picLocks noChangeAspect="1"/>
          </p:cNvPicPr>
          <p:nvPr/>
        </p:nvPicPr>
        <p:blipFill>
          <a:blip r:embed="rId2"/>
          <a:stretch>
            <a:fillRect/>
          </a:stretch>
        </p:blipFill>
        <p:spPr>
          <a:xfrm>
            <a:off x="6515100" y="1668780"/>
            <a:ext cx="411480" cy="411480"/>
          </a:xfrm>
          <a:prstGeom prst="rect">
            <a:avLst/>
          </a:prstGeom>
        </p:spPr>
      </p:pic>
      <p:sp>
        <p:nvSpPr>
          <p:cNvPr id="10" name="Text 6"/>
          <p:cNvSpPr txBox="1"/>
          <p:nvPr/>
        </p:nvSpPr>
        <p:spPr>
          <a:xfrm>
            <a:off x="7315200" y="1444752"/>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Raspberry</a:t>
            </a:r>
            <a:endParaRPr lang="en-US" sz="1900" dirty="0"/>
          </a:p>
        </p:txBody>
      </p:sp>
      <p:sp>
        <p:nvSpPr>
          <p:cNvPr id="11" name="Text 7"/>
          <p:cNvSpPr txBox="1"/>
          <p:nvPr/>
        </p:nvSpPr>
        <p:spPr>
          <a:xfrm>
            <a:off x="7315200" y="1847088"/>
            <a:ext cx="4297680" cy="457200"/>
          </a:xfrm>
          <a:prstGeom prst="rect">
            <a:avLst/>
          </a:prstGeom>
          <a:noFill/>
          <a:ln/>
        </p:spPr>
        <p:txBody>
          <a:bodyPr wrap="square" lIns="0" tIns="0" rIns="0" bIns="0" rtlCol="0" anchor="ctr"/>
          <a:lstStyle/>
          <a:p>
            <a:pPr indent="0" marL="0">
              <a:buNone/>
            </a:pPr>
            <a:r>
              <a:rPr lang="en-US" sz="1400" dirty="0">
                <a:solidFill>
                  <a:srgbClr val="6E5A4B"/>
                </a:solidFill>
                <a:latin typeface="Calibri" pitchFamily="34" charset="0"/>
                <a:ea typeface="Calibri" pitchFamily="34" charset="-122"/>
                <a:cs typeface="Calibri" pitchFamily="34" charset="-120"/>
              </a:rPr>
              <a:t>A fresh raspberry pressed into each cake</a:t>
            </a:r>
            <a:endParaRPr lang="en-US" sz="1400" dirty="0"/>
          </a:p>
        </p:txBody>
      </p:sp>
      <p:sp>
        <p:nvSpPr>
          <p:cNvPr id="12" name="Shape 8"/>
          <p:cNvSpPr/>
          <p:nvPr/>
        </p:nvSpPr>
        <p:spPr>
          <a:xfrm>
            <a:off x="6309360" y="2697480"/>
            <a:ext cx="822960" cy="822960"/>
          </a:xfrm>
          <a:prstGeom prst="ellipse">
            <a:avLst/>
          </a:prstGeom>
          <a:solidFill>
            <a:srgbClr val="C8963E"/>
          </a:solidFill>
          <a:ln w="12700">
            <a:solidFill>
              <a:srgbClr val="C8963E"/>
            </a:solidFill>
            <a:prstDash val="solid"/>
          </a:ln>
        </p:spPr>
      </p:sp>
      <p:pic>
        <p:nvPicPr>
          <p:cNvPr id="13" name="Image 2" descr="preencoded.png">    </p:cNvPr>
          <p:cNvPicPr>
            <a:picLocks noChangeAspect="1"/>
          </p:cNvPicPr>
          <p:nvPr/>
        </p:nvPicPr>
        <p:blipFill>
          <a:blip r:embed="rId3"/>
          <a:stretch>
            <a:fillRect/>
          </a:stretch>
        </p:blipFill>
        <p:spPr>
          <a:xfrm>
            <a:off x="6515100" y="2903220"/>
            <a:ext cx="411480" cy="411480"/>
          </a:xfrm>
          <a:prstGeom prst="rect">
            <a:avLst/>
          </a:prstGeom>
        </p:spPr>
      </p:pic>
      <p:sp>
        <p:nvSpPr>
          <p:cNvPr id="14" name="Text 9"/>
          <p:cNvSpPr txBox="1"/>
          <p:nvPr/>
        </p:nvSpPr>
        <p:spPr>
          <a:xfrm>
            <a:off x="7315200" y="2679192"/>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Chocolate</a:t>
            </a:r>
            <a:endParaRPr lang="en-US" sz="1900" dirty="0"/>
          </a:p>
        </p:txBody>
      </p:sp>
      <p:sp>
        <p:nvSpPr>
          <p:cNvPr id="15" name="Text 10"/>
          <p:cNvSpPr txBox="1"/>
          <p:nvPr/>
        </p:nvSpPr>
        <p:spPr>
          <a:xfrm>
            <a:off x="7315200" y="3081528"/>
            <a:ext cx="4297680" cy="457200"/>
          </a:xfrm>
          <a:prstGeom prst="rect">
            <a:avLst/>
          </a:prstGeom>
          <a:noFill/>
          <a:ln/>
        </p:spPr>
        <p:txBody>
          <a:bodyPr wrap="square" lIns="0" tIns="0" rIns="0" bIns="0" rtlCol="0" anchor="ctr"/>
          <a:lstStyle/>
          <a:p>
            <a:pPr indent="0" marL="0">
              <a:buNone/>
            </a:pPr>
            <a:r>
              <a:rPr lang="en-US" sz="1400" dirty="0">
                <a:solidFill>
                  <a:srgbClr val="6E5A4B"/>
                </a:solidFill>
                <a:latin typeface="Calibri" pitchFamily="34" charset="0"/>
                <a:ea typeface="Calibri" pitchFamily="34" charset="-122"/>
                <a:cs typeface="Calibri" pitchFamily="34" charset="-120"/>
              </a:rPr>
              <a:t>Add cocoa powder or chocolate chips</a:t>
            </a:r>
            <a:endParaRPr lang="en-US" sz="1400" dirty="0"/>
          </a:p>
        </p:txBody>
      </p:sp>
      <p:sp>
        <p:nvSpPr>
          <p:cNvPr id="16" name="Shape 11"/>
          <p:cNvSpPr/>
          <p:nvPr/>
        </p:nvSpPr>
        <p:spPr>
          <a:xfrm>
            <a:off x="6309360" y="3931920"/>
            <a:ext cx="822960" cy="822960"/>
          </a:xfrm>
          <a:prstGeom prst="ellipse">
            <a:avLst/>
          </a:prstGeom>
          <a:solidFill>
            <a:srgbClr val="C8963E"/>
          </a:solidFill>
          <a:ln w="12700">
            <a:solidFill>
              <a:srgbClr val="C8963E"/>
            </a:solidFill>
            <a:prstDash val="solid"/>
          </a:ln>
        </p:spPr>
      </p:sp>
      <p:pic>
        <p:nvPicPr>
          <p:cNvPr id="17" name="Image 3" descr="preencoded.png">    </p:cNvPr>
          <p:cNvPicPr>
            <a:picLocks noChangeAspect="1"/>
          </p:cNvPicPr>
          <p:nvPr/>
        </p:nvPicPr>
        <p:blipFill>
          <a:blip r:embed="rId4"/>
          <a:stretch>
            <a:fillRect/>
          </a:stretch>
        </p:blipFill>
        <p:spPr>
          <a:xfrm>
            <a:off x="6515100" y="4137660"/>
            <a:ext cx="411480" cy="411480"/>
          </a:xfrm>
          <a:prstGeom prst="rect">
            <a:avLst/>
          </a:prstGeom>
        </p:spPr>
      </p:pic>
      <p:sp>
        <p:nvSpPr>
          <p:cNvPr id="18" name="Text 12"/>
          <p:cNvSpPr txBox="1"/>
          <p:nvPr/>
        </p:nvSpPr>
        <p:spPr>
          <a:xfrm>
            <a:off x="7315200" y="3913632"/>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Pistachio or matcha</a:t>
            </a:r>
            <a:endParaRPr lang="en-US" sz="1900" dirty="0"/>
          </a:p>
        </p:txBody>
      </p:sp>
      <p:sp>
        <p:nvSpPr>
          <p:cNvPr id="19" name="Text 13"/>
          <p:cNvSpPr txBox="1"/>
          <p:nvPr/>
        </p:nvSpPr>
        <p:spPr>
          <a:xfrm>
            <a:off x="7315200" y="4315968"/>
            <a:ext cx="4297680" cy="457200"/>
          </a:xfrm>
          <a:prstGeom prst="rect">
            <a:avLst/>
          </a:prstGeom>
          <a:noFill/>
          <a:ln/>
        </p:spPr>
        <p:txBody>
          <a:bodyPr wrap="square" lIns="0" tIns="0" rIns="0" bIns="0" rtlCol="0" anchor="ctr"/>
          <a:lstStyle/>
          <a:p>
            <a:pPr indent="0" marL="0">
              <a:buNone/>
            </a:pPr>
            <a:r>
              <a:rPr lang="en-US" sz="1400" dirty="0">
                <a:solidFill>
                  <a:srgbClr val="6E5A4B"/>
                </a:solidFill>
                <a:latin typeface="Calibri" pitchFamily="34" charset="0"/>
                <a:ea typeface="Calibri" pitchFamily="34" charset="-122"/>
                <a:cs typeface="Calibri" pitchFamily="34" charset="-120"/>
              </a:rPr>
              <a:t>Swap some almond flour for pistachio or add matcha</a:t>
            </a:r>
            <a:endParaRPr lang="en-US" sz="1400" dirty="0"/>
          </a:p>
        </p:txBody>
      </p:sp>
      <p:sp>
        <p:nvSpPr>
          <p:cNvPr id="20" name="Shape 14"/>
          <p:cNvSpPr/>
          <p:nvPr/>
        </p:nvSpPr>
        <p:spPr>
          <a:xfrm>
            <a:off x="6309360" y="5166360"/>
            <a:ext cx="822960" cy="822960"/>
          </a:xfrm>
          <a:prstGeom prst="ellipse">
            <a:avLst/>
          </a:prstGeom>
          <a:solidFill>
            <a:srgbClr val="C8963E"/>
          </a:solidFill>
          <a:ln w="12700">
            <a:solidFill>
              <a:srgbClr val="C8963E"/>
            </a:solidFill>
            <a:prstDash val="solid"/>
          </a:ln>
        </p:spPr>
      </p:sp>
      <p:pic>
        <p:nvPicPr>
          <p:cNvPr id="21" name="Image 4" descr="preencoded.png">    </p:cNvPr>
          <p:cNvPicPr>
            <a:picLocks noChangeAspect="1"/>
          </p:cNvPicPr>
          <p:nvPr/>
        </p:nvPicPr>
        <p:blipFill>
          <a:blip r:embed="rId5"/>
          <a:stretch>
            <a:fillRect/>
          </a:stretch>
        </p:blipFill>
        <p:spPr>
          <a:xfrm>
            <a:off x="6515100" y="5372100"/>
            <a:ext cx="411480" cy="411480"/>
          </a:xfrm>
          <a:prstGeom prst="rect">
            <a:avLst/>
          </a:prstGeom>
        </p:spPr>
      </p:pic>
      <p:sp>
        <p:nvSpPr>
          <p:cNvPr id="22" name="Text 15"/>
          <p:cNvSpPr txBox="1"/>
          <p:nvPr/>
        </p:nvSpPr>
        <p:spPr>
          <a:xfrm>
            <a:off x="7315200" y="5148072"/>
            <a:ext cx="4297680" cy="411480"/>
          </a:xfrm>
          <a:prstGeom prst="rect">
            <a:avLst/>
          </a:prstGeom>
          <a:noFill/>
          <a:ln/>
        </p:spPr>
        <p:txBody>
          <a:bodyPr wrap="square" lIns="0" tIns="0" rIns="0" bIns="0" rtlCol="0" anchor="ctr"/>
          <a:lstStyle/>
          <a:p>
            <a:pPr indent="0" marL="0">
              <a:buNone/>
            </a:pPr>
            <a:r>
              <a:rPr lang="en-US" sz="1900" b="1" dirty="0">
                <a:solidFill>
                  <a:srgbClr val="3B2418"/>
                </a:solidFill>
                <a:latin typeface="Cambria" pitchFamily="34" charset="0"/>
                <a:ea typeface="Cambria" pitchFamily="34" charset="-122"/>
                <a:cs typeface="Cambria" pitchFamily="34" charset="-120"/>
              </a:rPr>
              <a:t>Citrus</a:t>
            </a:r>
            <a:endParaRPr lang="en-US" sz="1900" dirty="0"/>
          </a:p>
        </p:txBody>
      </p:sp>
      <p:sp>
        <p:nvSpPr>
          <p:cNvPr id="23" name="Text 16"/>
          <p:cNvSpPr txBox="1"/>
          <p:nvPr/>
        </p:nvSpPr>
        <p:spPr>
          <a:xfrm>
            <a:off x="7315200" y="5550408"/>
            <a:ext cx="4297680" cy="457200"/>
          </a:xfrm>
          <a:prstGeom prst="rect">
            <a:avLst/>
          </a:prstGeom>
          <a:noFill/>
          <a:ln/>
        </p:spPr>
        <p:txBody>
          <a:bodyPr wrap="square" lIns="0" tIns="0" rIns="0" bIns="0" rtlCol="0" anchor="ctr"/>
          <a:lstStyle/>
          <a:p>
            <a:pPr indent="0" marL="0">
              <a:buNone/>
            </a:pPr>
            <a:r>
              <a:rPr lang="en-US" sz="1400" dirty="0">
                <a:solidFill>
                  <a:srgbClr val="6E5A4B"/>
                </a:solidFill>
                <a:latin typeface="Calibri" pitchFamily="34" charset="0"/>
                <a:ea typeface="Calibri" pitchFamily="34" charset="-122"/>
                <a:cs typeface="Calibri" pitchFamily="34" charset="-120"/>
              </a:rPr>
              <a:t>Add lemon or orange zest to the batter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B2418"/>
        </a:solidFill>
      </p:bgPr>
    </p:bg>
    <p:spTree>
      <p:nvGrpSpPr>
        <p:cNvPr id="1" name=""/>
        <p:cNvGrpSpPr/>
        <p:nvPr/>
      </p:nvGrpSpPr>
      <p:grpSpPr>
        <a:xfrm>
          <a:off x="0" y="0"/>
          <a:ext cx="0" cy="0"/>
          <a:chOff x="0" y="0"/>
          <a:chExt cx="0" cy="0"/>
        </a:xfrm>
      </p:grpSpPr>
      <p:sp>
        <p:nvSpPr>
          <p:cNvPr id="2" name="Shape 0"/>
          <p:cNvSpPr/>
          <p:nvPr/>
        </p:nvSpPr>
        <p:spPr>
          <a:xfrm>
            <a:off x="4297680" y="1280160"/>
            <a:ext cx="1645920" cy="640080"/>
          </a:xfrm>
          <a:prstGeom prst="roundRect">
            <a:avLst>
              <a:gd name="adj" fmla="val 11429"/>
            </a:avLst>
          </a:prstGeom>
          <a:solidFill>
            <a:srgbClr val="C8963E"/>
          </a:solidFill>
          <a:ln w="19050">
            <a:solidFill>
              <a:srgbClr val="8A5A2B"/>
            </a:solidFill>
            <a:prstDash val="solid"/>
          </a:ln>
          <a:effectLst>
            <a:outerShdw sx="100000" sy="100000" kx="0" ky="0" algn="bl" rotWithShape="0" blurRad="76200" dist="38100" dir="5400000">
              <a:srgbClr val="000000">
                <a:alpha val="35000"/>
              </a:srgbClr>
            </a:outerShdw>
          </a:effectLst>
        </p:spPr>
      </p:sp>
      <p:sp>
        <p:nvSpPr>
          <p:cNvPr id="3" name="Shape 1"/>
          <p:cNvSpPr/>
          <p:nvPr/>
        </p:nvSpPr>
        <p:spPr>
          <a:xfrm>
            <a:off x="4429354" y="1376172"/>
            <a:ext cx="1382573" cy="224028"/>
          </a:xfrm>
          <a:prstGeom prst="roundRect">
            <a:avLst>
              <a:gd name="adj" fmla="val 20408"/>
            </a:avLst>
          </a:prstGeom>
          <a:solidFill>
            <a:srgbClr val="E0B566"/>
          </a:solidFill>
          <a:ln w="12700">
            <a:solidFill>
              <a:srgbClr val="E0B566"/>
            </a:solidFill>
            <a:prstDash val="solid"/>
          </a:ln>
        </p:spPr>
      </p:sp>
      <p:sp>
        <p:nvSpPr>
          <p:cNvPr id="4" name="Shape 2"/>
          <p:cNvSpPr/>
          <p:nvPr/>
        </p:nvSpPr>
        <p:spPr>
          <a:xfrm>
            <a:off x="6217920" y="1280160"/>
            <a:ext cx="1645920" cy="640080"/>
          </a:xfrm>
          <a:prstGeom prst="roundRect">
            <a:avLst>
              <a:gd name="adj" fmla="val 11429"/>
            </a:avLst>
          </a:prstGeom>
          <a:solidFill>
            <a:srgbClr val="C8963E"/>
          </a:solidFill>
          <a:ln w="19050">
            <a:solidFill>
              <a:srgbClr val="8A5A2B"/>
            </a:solidFill>
            <a:prstDash val="solid"/>
          </a:ln>
          <a:effectLst>
            <a:outerShdw sx="100000" sy="100000" kx="0" ky="0" algn="bl" rotWithShape="0" blurRad="76200" dist="38100" dir="5400000">
              <a:srgbClr val="000000">
                <a:alpha val="35000"/>
              </a:srgbClr>
            </a:outerShdw>
          </a:effectLst>
        </p:spPr>
      </p:sp>
      <p:sp>
        <p:nvSpPr>
          <p:cNvPr id="5" name="Shape 3"/>
          <p:cNvSpPr/>
          <p:nvPr/>
        </p:nvSpPr>
        <p:spPr>
          <a:xfrm>
            <a:off x="6349594" y="1376172"/>
            <a:ext cx="1382573" cy="224028"/>
          </a:xfrm>
          <a:prstGeom prst="roundRect">
            <a:avLst>
              <a:gd name="adj" fmla="val 20408"/>
            </a:avLst>
          </a:prstGeom>
          <a:solidFill>
            <a:srgbClr val="E0B566"/>
          </a:solidFill>
          <a:ln w="12700">
            <a:solidFill>
              <a:srgbClr val="E0B566"/>
            </a:solidFill>
            <a:prstDash val="solid"/>
          </a:ln>
        </p:spPr>
      </p:sp>
      <p:sp>
        <p:nvSpPr>
          <p:cNvPr id="6" name="Text 4"/>
          <p:cNvSpPr txBox="1"/>
          <p:nvPr/>
        </p:nvSpPr>
        <p:spPr>
          <a:xfrm>
            <a:off x="548640" y="2468880"/>
            <a:ext cx="11064240"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Bon appétit !</a:t>
            </a:r>
            <a:endParaRPr lang="en-US" sz="6000" dirty="0"/>
          </a:p>
        </p:txBody>
      </p:sp>
      <p:sp>
        <p:nvSpPr>
          <p:cNvPr id="7" name="Text 5"/>
          <p:cNvSpPr txBox="1"/>
          <p:nvPr/>
        </p:nvSpPr>
        <p:spPr>
          <a:xfrm>
            <a:off x="1371600" y="3749040"/>
            <a:ext cx="9418320" cy="548640"/>
          </a:xfrm>
          <a:prstGeom prst="rect">
            <a:avLst/>
          </a:prstGeom>
          <a:noFill/>
          <a:ln/>
        </p:spPr>
        <p:txBody>
          <a:bodyPr wrap="square" lIns="0" tIns="0" rIns="0" bIns="0" rtlCol="0" anchor="ctr"/>
          <a:lstStyle/>
          <a:p>
            <a:pPr algn="ctr" indent="0" marL="0">
              <a:buNone/>
            </a:pPr>
            <a:r>
              <a:rPr lang="en-US" sz="2000" i="1" dirty="0">
                <a:solidFill>
                  <a:srgbClr val="C8963E"/>
                </a:solidFill>
                <a:latin typeface="Cambria" pitchFamily="34" charset="0"/>
                <a:ea typeface="Cambria" pitchFamily="34" charset="-122"/>
                <a:cs typeface="Cambria" pitchFamily="34" charset="-120"/>
              </a:rPr>
              <a:t>Simple ingredients, a little brown butter, and a slice of French history in every bite.</a:t>
            </a:r>
            <a:endParaRPr lang="en-US" sz="2000" dirty="0"/>
          </a:p>
        </p:txBody>
      </p:sp>
      <p:sp>
        <p:nvSpPr>
          <p:cNvPr id="8" name="Text 6"/>
          <p:cNvSpPr txBox="1"/>
          <p:nvPr/>
        </p:nvSpPr>
        <p:spPr>
          <a:xfrm>
            <a:off x="548640" y="4937760"/>
            <a:ext cx="11064240" cy="457200"/>
          </a:xfrm>
          <a:prstGeom prst="rect">
            <a:avLst/>
          </a:prstGeom>
          <a:noFill/>
          <a:ln/>
        </p:spPr>
        <p:txBody>
          <a:bodyPr wrap="square" lIns="0" tIns="0" rIns="0" bIns="0" rtlCol="0" anchor="ctr"/>
          <a:lstStyle/>
          <a:p>
            <a:pPr algn="ctr" indent="0" marL="0">
              <a:buNone/>
            </a:pPr>
            <a:r>
              <a:rPr lang="en-US" sz="1800" dirty="0">
                <a:solidFill>
                  <a:srgbClr val="E8DCCB"/>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Petits Financiers</dc:title>
  <dc:subject>PptxGenJS Presentation</dc:subject>
  <dc:creator>PptxGenJS</dc:creator>
  <cp:lastModifiedBy>PptxGenJS</cp:lastModifiedBy>
  <cp:revision>1</cp:revision>
  <dcterms:created xsi:type="dcterms:W3CDTF">2026-09-23T14:14:12Z</dcterms:created>
  <dcterms:modified xsi:type="dcterms:W3CDTF">2026-09-23T14:14:12Z</dcterms:modified>
</cp:coreProperties>
</file>